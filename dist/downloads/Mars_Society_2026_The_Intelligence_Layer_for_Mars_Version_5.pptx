
<file path=[Content_Types].xml><?xml version="1.0" encoding="utf-8"?>
<Types xmlns="http://schemas.openxmlformats.org/package/2006/content-types">
  <Default Extension="xml" ContentType="application/vnd.openxmlformats-package.core-properties+xml"/>
  <Default Extension="png" ContentType="image/png"/>
  <Default Extension="gif" ContentType="image/gif"/>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slides/charts/chart1.xml" ContentType="application/vnd.openxmlformats-officedocument.drawingml.chart+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f94acbf36184ea6" /><Relationship Type="http://schemas.openxmlformats.org/officeDocument/2006/relationships/extended-properties" Target="/docProps/app.xml" Id="Ra9c8c4c34136422c" /><Relationship Type="http://schemas.openxmlformats.org/officeDocument/2006/relationships/officeDocument" Target="/ppt/presentation.xml" Id="R81904448a2354497" /></Relationships>
</file>

<file path=ppt/presentation.xml><?xml version="1.0" encoding="utf-8"?>
<p:presentation xmlns:p="http://schemas.openxmlformats.org/presentationml/2006/main">
  <p:sldMasterIdLst>
    <p:sldMasterId xmlns:r="http://schemas.openxmlformats.org/officeDocument/2006/relationships" id="2147483648" r:id="Ra195b2d179c84897"/>
  </p:sldMasterIdLst>
  <p:notesMasterIdLst>
    <p:notesMasterId xmlns:r="http://schemas.openxmlformats.org/officeDocument/2006/relationships" r:id="Rd2b6c110d6684c66"/>
  </p:notesMasterIdLst>
  <p:sldIdLst>
    <p:sldId xmlns:r="http://schemas.openxmlformats.org/officeDocument/2006/relationships" id="256" r:id="Rc9b923059cda42bb"/>
    <p:sldId xmlns:r="http://schemas.openxmlformats.org/officeDocument/2006/relationships" id="257" r:id="R5235f44e36f74100"/>
    <p:sldId xmlns:r="http://schemas.openxmlformats.org/officeDocument/2006/relationships" id="258" r:id="R80c6a9ec89864f96"/>
    <p:sldId xmlns:r="http://schemas.openxmlformats.org/officeDocument/2006/relationships" id="259" r:id="R841348f353f84e9e"/>
    <p:sldId xmlns:r="http://schemas.openxmlformats.org/officeDocument/2006/relationships" id="260" r:id="Rdf42696d139f449f"/>
    <p:sldId xmlns:r="http://schemas.openxmlformats.org/officeDocument/2006/relationships" id="261" r:id="R56ab98d049074f92"/>
    <p:sldId xmlns:r="http://schemas.openxmlformats.org/officeDocument/2006/relationships" id="262" r:id="R8549142a325c4278"/>
    <p:sldId xmlns:r="http://schemas.openxmlformats.org/officeDocument/2006/relationships" id="263" r:id="R56e602b84d7c491a"/>
    <p:sldId xmlns:r="http://schemas.openxmlformats.org/officeDocument/2006/relationships" id="264" r:id="Rfab28c34920d49cc"/>
    <p:sldId xmlns:r="http://schemas.openxmlformats.org/officeDocument/2006/relationships" id="265" r:id="Rf2090ea495c444d1"/>
    <p:sldId xmlns:r="http://schemas.openxmlformats.org/officeDocument/2006/relationships" id="266" r:id="R4d70f49398744e23"/>
    <p:sldId xmlns:r="http://schemas.openxmlformats.org/officeDocument/2006/relationships" id="267" r:id="Rac90aa50b9cf4574"/>
    <p:sldId xmlns:r="http://schemas.openxmlformats.org/officeDocument/2006/relationships" id="268" r:id="Rf3ccb92c00ff4ed9"/>
    <p:sldId xmlns:r="http://schemas.openxmlformats.org/officeDocument/2006/relationships" id="269" r:id="Rc05c5c2e7f954bbe"/>
    <p:sldId xmlns:r="http://schemas.openxmlformats.org/officeDocument/2006/relationships" id="270" r:id="Rb48a6e339f6a4ecc"/>
    <p:sldId xmlns:r="http://schemas.openxmlformats.org/officeDocument/2006/relationships" id="271" r:id="Rb28fefdf6c9641a3"/>
    <p:sldId xmlns:r="http://schemas.openxmlformats.org/officeDocument/2006/relationships" id="272" r:id="R6713824f118c42fe"/>
    <p:sldId xmlns:r="http://schemas.openxmlformats.org/officeDocument/2006/relationships" id="273" r:id="Rf9b4e52317da40e4"/>
    <p:sldId xmlns:r="http://schemas.openxmlformats.org/officeDocument/2006/relationships" id="274" r:id="R939cc776635d4921"/>
    <p:sldId xmlns:r="http://schemas.openxmlformats.org/officeDocument/2006/relationships" id="275" r:id="Rfc425a92c2044630"/>
    <p:sldId xmlns:r="http://schemas.openxmlformats.org/officeDocument/2006/relationships" id="276" r:id="R31774f64544b40ba"/>
    <p:sldId xmlns:r="http://schemas.openxmlformats.org/officeDocument/2006/relationships" id="277" r:id="R89d0aff1e2cf4c95"/>
    <p:sldId xmlns:r="http://schemas.openxmlformats.org/officeDocument/2006/relationships" id="278" r:id="R654a975d7ba94d4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&#65279;<?xml version="1.0" encoding="utf-8"?><Relationships xmlns="http://schemas.openxmlformats.org/package/2006/relationships"><Relationship Type="http://schemas.openxmlformats.org/officeDocument/2006/relationships/theme" Target="/ppt/theme/theme1.xml" Id="R6e80629cc51a4596" /><Relationship Type="http://schemas.openxmlformats.org/officeDocument/2006/relationships/slideMaster" Target="/ppt/slideMasters/slideMaster1.xml" Id="Ra195b2d179c84897" /><Relationship Type="http://schemas.openxmlformats.org/officeDocument/2006/relationships/notesMaster" Target="/ppt/notesMasters/notesMaster1.xml" Id="Rd2b6c110d6684c66" /><Relationship Type="http://schemas.openxmlformats.org/officeDocument/2006/relationships/presProps" Target="/ppt/presProps.xml" Id="R5f7173aecc414dfa" /><Relationship Type="http://schemas.openxmlformats.org/officeDocument/2006/relationships/viewProps" Target="/ppt/viewProps.xml" Id="R332bed75c8a64df4" /><Relationship Type="http://schemas.openxmlformats.org/officeDocument/2006/relationships/tableStyles" Target="/ppt/tableStyles.xml" Id="Rc654cbcb2a4d49e0" /><Relationship Type="http://schemas.openxmlformats.org/officeDocument/2006/relationships/slide" Target="/ppt/slides/slide1.xml" Id="Rc9b923059cda42bb" /><Relationship Type="http://schemas.openxmlformats.org/officeDocument/2006/relationships/slide" Target="/ppt/slides/slide2.xml" Id="R5235f44e36f74100" /><Relationship Type="http://schemas.openxmlformats.org/officeDocument/2006/relationships/slide" Target="/ppt/slides/slide3.xml" Id="R80c6a9ec89864f96" /><Relationship Type="http://schemas.openxmlformats.org/officeDocument/2006/relationships/slide" Target="/ppt/slides/slide4.xml" Id="R841348f353f84e9e" /><Relationship Type="http://schemas.openxmlformats.org/officeDocument/2006/relationships/slide" Target="/ppt/slides/slide5.xml" Id="Rdf42696d139f449f" /><Relationship Type="http://schemas.openxmlformats.org/officeDocument/2006/relationships/slide" Target="/ppt/slides/slide6.xml" Id="R56ab98d049074f92" /><Relationship Type="http://schemas.openxmlformats.org/officeDocument/2006/relationships/slide" Target="/ppt/slides/slide7.xml" Id="R8549142a325c4278" /><Relationship Type="http://schemas.openxmlformats.org/officeDocument/2006/relationships/slide" Target="/ppt/slides/slide8.xml" Id="R56e602b84d7c491a" /><Relationship Type="http://schemas.openxmlformats.org/officeDocument/2006/relationships/slide" Target="/ppt/slides/slide9.xml" Id="Rfab28c34920d49cc" /><Relationship Type="http://schemas.openxmlformats.org/officeDocument/2006/relationships/slide" Target="/ppt/slides/slide10.xml" Id="Rf2090ea495c444d1" /><Relationship Type="http://schemas.openxmlformats.org/officeDocument/2006/relationships/slide" Target="/ppt/slides/slide11.xml" Id="R4d70f49398744e23" /><Relationship Type="http://schemas.openxmlformats.org/officeDocument/2006/relationships/slide" Target="/ppt/slides/slide12.xml" Id="Rac90aa50b9cf4574" /><Relationship Type="http://schemas.openxmlformats.org/officeDocument/2006/relationships/slide" Target="/ppt/slides/slide13.xml" Id="Rf3ccb92c00ff4ed9" /><Relationship Type="http://schemas.openxmlformats.org/officeDocument/2006/relationships/slide" Target="/ppt/slides/slide14.xml" Id="Rc05c5c2e7f954bbe" /><Relationship Type="http://schemas.openxmlformats.org/officeDocument/2006/relationships/slide" Target="/ppt/slides/slide15.xml" Id="Rb48a6e339f6a4ecc" /><Relationship Type="http://schemas.openxmlformats.org/officeDocument/2006/relationships/slide" Target="/ppt/slides/slide16.xml" Id="Rb28fefdf6c9641a3" /><Relationship Type="http://schemas.openxmlformats.org/officeDocument/2006/relationships/slide" Target="/ppt/slides/slide17.xml" Id="R6713824f118c42fe" /><Relationship Type="http://schemas.openxmlformats.org/officeDocument/2006/relationships/slide" Target="/ppt/slides/slide18.xml" Id="Rf9b4e52317da40e4" /><Relationship Type="http://schemas.openxmlformats.org/officeDocument/2006/relationships/slide" Target="/ppt/slides/slide19.xml" Id="R939cc776635d4921" /><Relationship Type="http://schemas.openxmlformats.org/officeDocument/2006/relationships/slide" Target="/ppt/slides/slide20.xml" Id="Rfc425a92c2044630" /><Relationship Type="http://schemas.openxmlformats.org/officeDocument/2006/relationships/slide" Target="/ppt/slides/slide21.xml" Id="R31774f64544b40ba" /><Relationship Type="http://schemas.openxmlformats.org/officeDocument/2006/relationships/slide" Target="/ppt/slides/slide22.xml" Id="R89d0aff1e2cf4c95" /><Relationship Type="http://schemas.openxmlformats.org/officeDocument/2006/relationships/slide" Target="/ppt/slides/slide23.xml" Id="R654a975d7ba94d4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292987c07d74b5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73902e464f343fb" /><Relationship Type="http://schemas.openxmlformats.org/officeDocument/2006/relationships/notesMaster" Target="/ppt/notesMasters/notesMaster1.xml" Id="R664c135f3eb6477e" /></Relationships>
</file>

<file path=ppt/notesSlides/_rels/notesSlide2.xml.rels>&#65279;<?xml version="1.0" encoding="utf-8"?><Relationships xmlns="http://schemas.openxmlformats.org/package/2006/relationships"><Relationship Type="http://schemas.openxmlformats.org/officeDocument/2006/relationships/slide" Target="/ppt/slides/slide2.xml" Id="R0aef1e8768af4230" /><Relationship Type="http://schemas.openxmlformats.org/officeDocument/2006/relationships/notesMaster" Target="/ppt/notesMasters/notesMaster1.xml" Id="Rf1ab244843c74c91" /></Relationships>
</file>

<file path=ppt/notesSlides/_rels/notesSlide3.xml.rels>&#65279;<?xml version="1.0" encoding="utf-8"?><Relationships xmlns="http://schemas.openxmlformats.org/package/2006/relationships"><Relationship Type="http://schemas.openxmlformats.org/officeDocument/2006/relationships/slide" Target="/ppt/slides/slide3.xml" Id="R9cb6022d57f04c7c" /><Relationship Type="http://schemas.openxmlformats.org/officeDocument/2006/relationships/notesMaster" Target="/ppt/notesMasters/notesMaster1.xml" Id="Raed84f9367954d21" /></Relationships>
</file>

<file path=ppt/notesSlides/_rels/notesSlide4.xml.rels>&#65279;<?xml version="1.0" encoding="utf-8"?><Relationships xmlns="http://schemas.openxmlformats.org/package/2006/relationships"><Relationship Type="http://schemas.openxmlformats.org/officeDocument/2006/relationships/slide" Target="/ppt/slides/slide4.xml" Id="Rbe70a303cc574a88" /><Relationship Type="http://schemas.openxmlformats.org/officeDocument/2006/relationships/notesMaster" Target="/ppt/notesMasters/notesMaster1.xml" Id="Ra496ebf607c348fd" /></Relationships>
</file>

<file path=ppt/notesSlides/_rels/notesSlide5.xml.rels>&#65279;<?xml version="1.0" encoding="utf-8"?><Relationships xmlns="http://schemas.openxmlformats.org/package/2006/relationships"><Relationship Type="http://schemas.openxmlformats.org/officeDocument/2006/relationships/slide" Target="/ppt/slides/slide5.xml" Id="R21493488948849b4" /><Relationship Type="http://schemas.openxmlformats.org/officeDocument/2006/relationships/notesMaster" Target="/ppt/notesMasters/notesMaster1.xml" Id="R2c8dec586b754018" /></Relationships>
</file>

<file path=ppt/notesSlides/_rels/notesSlide6.xml.rels>&#65279;<?xml version="1.0" encoding="utf-8"?><Relationships xmlns="http://schemas.openxmlformats.org/package/2006/relationships"><Relationship Type="http://schemas.openxmlformats.org/officeDocument/2006/relationships/slide" Target="/ppt/slides/slide6.xml" Id="R7e3a456303264ffc" /><Relationship Type="http://schemas.openxmlformats.org/officeDocument/2006/relationships/notesMaster" Target="/ppt/notesMasters/notesMaster1.xml" Id="R820e1c831fc74b66" /></Relationships>
</file>

<file path=ppt/notesSlides/_rels/notesSlide7.xml.rels>&#65279;<?xml version="1.0" encoding="utf-8"?><Relationships xmlns="http://schemas.openxmlformats.org/package/2006/relationships"><Relationship Type="http://schemas.openxmlformats.org/officeDocument/2006/relationships/slide" Target="/ppt/slides/slide7.xml" Id="R993ea2cf43464b6b" /><Relationship Type="http://schemas.openxmlformats.org/officeDocument/2006/relationships/notesMaster" Target="/ppt/notesMasters/notesMaster1.xml" Id="R6fb2dc1f25a14655" /></Relationships>
</file>

<file path=ppt/notesSlides/_rels/notesSlide8.xml.rels>&#65279;<?xml version="1.0" encoding="utf-8"?><Relationships xmlns="http://schemas.openxmlformats.org/package/2006/relationships"><Relationship Type="http://schemas.openxmlformats.org/officeDocument/2006/relationships/slide" Target="/ppt/slides/slide8.xml" Id="Rfb57eb9161a04fea" /><Relationship Type="http://schemas.openxmlformats.org/officeDocument/2006/relationships/notesMaster" Target="/ppt/notesMasters/notesMaster1.xml" Id="R94e37578fcc249c3" /></Relationships>
</file>

<file path=ppt/notesSlides/_rels/notesSlide9.xml.rels>&#65279;<?xml version="1.0" encoding="utf-8"?><Relationships xmlns="http://schemas.openxmlformats.org/package/2006/relationships"><Relationship Type="http://schemas.openxmlformats.org/officeDocument/2006/relationships/slide" Target="/ppt/slides/slide9.xml" Id="R69bb0e8433f04ec3" /><Relationship Type="http://schemas.openxmlformats.org/officeDocument/2006/relationships/notesMaster" Target="/ppt/notesMasters/notesMaster1.xml" Id="Rb5e280169aed46d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526620e55b44809" /><Relationship Type="http://schemas.openxmlformats.org/officeDocument/2006/relationships/notesMaster" Target="/ppt/notesMasters/notesMaster1.xml" Id="R9203f8c02ae1498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18c2a4a3d374924" /><Relationship Type="http://schemas.openxmlformats.org/officeDocument/2006/relationships/notesMaster" Target="/ppt/notesMasters/notesMaster1.xml" Id="R42ff29fcce83488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1dcd7b527944e86" /><Relationship Type="http://schemas.openxmlformats.org/officeDocument/2006/relationships/notesMaster" Target="/ppt/notesMasters/notesMaster1.xml" Id="Rca35687b8ce9490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ad989f649564deb" /><Relationship Type="http://schemas.openxmlformats.org/officeDocument/2006/relationships/notesMaster" Target="/ppt/notesMasters/notesMaster1.xml" Id="Rb3f6fee937894ad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f537a5d3ed44c32" /><Relationship Type="http://schemas.openxmlformats.org/officeDocument/2006/relationships/notesMaster" Target="/ppt/notesMasters/notesMaster1.xml" Id="R3946f3e67258443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2c05f62475b40b1" /><Relationship Type="http://schemas.openxmlformats.org/officeDocument/2006/relationships/notesMaster" Target="/ppt/notesMasters/notesMaster1.xml" Id="R59c949fb1cce40e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695f01336684410" /><Relationship Type="http://schemas.openxmlformats.org/officeDocument/2006/relationships/notesMaster" Target="/ppt/notesMasters/notesMaster1.xml" Id="R72fc138882464a41"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2ccba56ba03c4c8f" /><Relationship Type="http://schemas.openxmlformats.org/officeDocument/2006/relationships/notesMaster" Target="/ppt/notesMasters/notesMaster1.xml" Id="Rbf1556776adf478c"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2544913a29f4394" /><Relationship Type="http://schemas.openxmlformats.org/officeDocument/2006/relationships/notesMaster" Target="/ppt/notesMasters/notesMaster1.xml" Id="R35ee1f07f8614f8e"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fb49909704f4212" /><Relationship Type="http://schemas.openxmlformats.org/officeDocument/2006/relationships/notesMaster" Target="/ppt/notesMasters/notesMaster1.xml" Id="Rc876fcabbfe84831"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24a290bdb49f4fe5" /><Relationship Type="http://schemas.openxmlformats.org/officeDocument/2006/relationships/notesMaster" Target="/ppt/notesMasters/notesMaster1.xml" Id="Rd196d1ac01474bb2"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704d058424dc4315" /><Relationship Type="http://schemas.openxmlformats.org/officeDocument/2006/relationships/notesMaster" Target="/ppt/notesMasters/notesMaster1.xml" Id="R438953df79424f95"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9ea1ab48012546ca" /><Relationship Type="http://schemas.openxmlformats.org/officeDocument/2006/relationships/notesMaster" Target="/ppt/notesMasters/notesMaster1.xml" Id="Rd8c44c77bc544d8f"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b4cad7be4bbc44d5" /><Relationship Type="http://schemas.openxmlformats.org/officeDocument/2006/relationships/notesMaster" Target="/ppt/notesMasters/notesMaster1.xml" Id="Rf626f01705fa4cb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1:00]</a:t>
            </a:r>
          </a:p>
          <a:p xmlns:a="http://schemas.openxmlformats.org/drawingml/2006/main">
            <a:endParaRPr/>
          </a:p>
          <a:p xmlns:a="http://schemas.openxmlformats.org/drawingml/2006/main">
            <a:r>
              <a:t>Mars is not waiting for one discipline at a time. Every meaningful surface system couples science, physical engineering, operations and human survival. The thesis tonight is simple: the next leap is not a larger chatbot. It is an intelligence layer—a governed way for people, AI models, solvers, instruments and robots to work through evidence, design, verification and learning as one system.</a:t>
            </a:r>
          </a:p>
          <a:p xmlns:a="http://schemas.openxmlformats.org/drawingml/2006/main">
            <a:endParaRPr/>
          </a:p>
          <a:p xmlns:a="http://schemas.openxmlformats.org/drawingml/2006/main">
            <a:r>
              <a:t>The harness is the durable part. Models will change rapidly. Mars missions cannot rebuild their operating method every time the model underneath improves. We need persistent memory, explicit work products, traceable handoffs and gates that stronger future intelligence can inherit. The goal is faster learning without counterfeit certainty.</a:t>
            </a:r>
          </a:p>
          <a:p xmlns:a="http://schemas.openxmlformats.org/drawingml/2006/main">
            <a:endParaRPr/>
          </a:p>
          <a:p xmlns:a="http://schemas.openxmlformats.org/drawingml/2006/main">
            <a:r>
              <a:t>[Sources]</a:t>
            </a:r>
          </a:p>
          <a:p xmlns:a="http://schemas.openxmlformats.org/drawingml/2006/main">
            <a:r>
              <a:t>- https://www.marssociety.org/news/2026/03/23/save-the-dates-29th-annual-international-mars-society-convention-at-usc/</a:t>
            </a:r>
          </a:p>
          <a:p xmlns:a="http://schemas.openxmlformats.org/drawingml/2006/main">
            <a:r>
              <a:t>- https://convention.marssociety.org/</a:t>
            </a:r>
          </a:p>
          <a:p xmlns:a="http://schemas.openxmlformats.org/drawingml/2006/main">
            <a:r>
              <a:t>- Bob J Mills, Detailed Initial Chat Summary and Restored Concepts, Mars project record.</a:t>
            </a:r>
          </a:p>
          <a:p xmlns:a="http://schemas.openxmlformats.org/drawingml/2006/main">
            <a:r>
              <a:t>- Visual: original AI-generated Mars settlement image created for this deck.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1:15]</a:t>
            </a:r>
          </a:p>
          <a:p xmlns:a="http://schemas.openxmlformats.org/drawingml/2006/main">
            <a:endParaRPr/>
          </a:p>
          <a:p xmlns:a="http://schemas.openxmlformats.org/drawingml/2006/main">
            <a:r>
              <a:t>Frame the problem as learning latency, not merely compute. Mars teams must turn uncertain observations into defensible action while mass, power, schedule and crew margins keep closing. That requires literature search, data grounding, hypothesis testing, multidisciplinary analysis, review, documentation and physical verification to move as a connected loop.</a:t>
            </a:r>
          </a:p>
          <a:p xmlns:a="http://schemas.openxmlformats.org/drawingml/2006/main">
            <a:endParaRPr/>
          </a:p>
          <a:p xmlns:a="http://schemas.openxmlformats.org/drawingml/2006/main">
            <a:r>
              <a:t>Communications delay makes the problem visible. NASA’s Moon-to-Mars analysis finds one-way delays can reach roughly twenty-one to twenty-three minutes, with representative blackout periods lasting about thirteen to twenty-one days. Earth cannot remain the synchronous brain for every decision. The same constraint appears before launch: science and engineering teams lose time at handoffs, review preparation and rediscovery of prior reasoning.</a:t>
            </a:r>
          </a:p>
          <a:p xmlns:a="http://schemas.openxmlformats.org/drawingml/2006/main">
            <a:endParaRPr/>
          </a:p>
          <a:p xmlns:a="http://schemas.openxmlformats.org/drawingml/2006/main">
            <a:r>
              <a:t>Agentic harnesses do not make physics instantaneous. They compress avoidable waiting by running controlled work in parallel, carrying evidence forward and surfacing broken links early.</a:t>
            </a:r>
          </a:p>
          <a:p xmlns:a="http://schemas.openxmlformats.org/drawingml/2006/main">
            <a:endParaRPr/>
          </a:p>
          <a:p xmlns:a="http://schemas.openxmlformats.org/drawingml/2006/main">
            <a:r>
              <a:t>[Sources]</a:t>
            </a:r>
          </a:p>
          <a:p xmlns:a="http://schemas.openxmlformats.org/drawingml/2006/main">
            <a:r>
              <a:t>- https://www.nasa.gov/wp-content/uploads/2024/01/mars-communications-disruption-and-delay.pdf</a:t>
            </a:r>
          </a:p>
          <a:p xmlns:a="http://schemas.openxmlformats.org/drawingml/2006/main">
            <a:r>
              <a:t>- https://science.nasa.gov/mars/facts/</a:t>
            </a:r>
          </a:p>
          <a:p xmlns:a="http://schemas.openxmlformats.org/drawingml/2006/main">
            <a:r>
              <a:t>- Bob J Mills, Version 4 transcript and restored presentation design record.</a:t>
            </a:r>
          </a:p>
          <a:p xmlns:a="http://schemas.openxmlformats.org/drawingml/2006/main">
            <a:r>
              <a:t>- Visual: original AI-generated Mars mission-control image created for this deck.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1:15]</a:t>
            </a:r>
          </a:p>
          <a:p xmlns:a="http://schemas.openxmlformats.org/drawingml/2006/main">
            <a:endParaRPr/>
          </a:p>
          <a:p xmlns:a="http://schemas.openxmlformats.org/drawingml/2006/main">
            <a:r>
              <a:t>This is the architectural definition. A model is the engine; the harness is the infrastructure surrounding it. That infrastructure is the difference between describing a task and completing it with evidence and accountable control.</a:t>
            </a:r>
          </a:p>
          <a:p xmlns:a="http://schemas.openxmlformats.org/drawingml/2006/main">
            <a:endParaRPr/>
          </a:p>
          <a:p xmlns:a="http://schemas.openxmlformats.org/drawingml/2006/main">
            <a:r>
              <a:t>Walk the seven functions: first, the orchestration loop that plans, executes, inspects and repairs. Second, system instructions that define role and purpose. Third, tool access. Fourth, context management. Fifth, memory and state. Sixth, bounded subagents. Seventh, guardrails and approval controls.</a:t>
            </a:r>
          </a:p>
          <a:p xmlns:a="http://schemas.openxmlformats.org/drawingml/2006/main">
            <a:endParaRPr/>
          </a:p>
          <a:p xmlns:a="http://schemas.openxmlformats.org/drawingml/2006/main">
            <a:r>
              <a:t>The model can change without breaking the process because work-product contracts, ground-truth checks, durable state and authority remain stable. This is why harness design can matter more than the model itself.</a:t>
            </a:r>
          </a:p>
          <a:p xmlns:a="http://schemas.openxmlformats.org/drawingml/2006/main">
            <a:endParaRPr/>
          </a:p>
          <a:p xmlns:a="http://schemas.openxmlformats.org/drawingml/2006/main">
            <a:r>
              <a:t>[Sources]</a:t>
            </a:r>
          </a:p>
          <a:p xmlns:a="http://schemas.openxmlformats.org/drawingml/2006/main">
            <a:r>
              <a:t>- User-supplied agent-harness definition and seven-function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1:15]</a:t>
            </a:r>
          </a:p>
          <a:p xmlns:a="http://schemas.openxmlformats.org/drawingml/2006/main">
            <a:endParaRPr/>
          </a:p>
          <a:p xmlns:a="http://schemas.openxmlformats.org/drawingml/2006/main">
            <a:r>
              <a:t>Named agents are useful for implementation, but they are a fragile architecture. The durable map is the set of capabilities and the evidence each capability must produce. Scientific reasoning, literature grounding, simulation, systems engineering, CAD, FMEA, test planning and governance are skills. A person, model, database, solver, robot or future AGI can perform a skill if it satisfies the contract.</a:t>
            </a:r>
          </a:p>
          <a:p xmlns:a="http://schemas.openxmlformats.org/drawingml/2006/main">
            <a:endParaRPr/>
          </a:p>
          <a:p xmlns:a="http://schemas.openxmlformats.org/drawingml/2006/main">
            <a:r>
              <a:t>This matters on Mars because the executor changes with context. During communications delay, a local model may act. For a nonlinear trade, a deterministic solver should act. For a physical claim, an instrument or chamber test must act. For risk acceptance, authorized mission leadership must act.</a:t>
            </a:r>
          </a:p>
          <a:p xmlns:a="http://schemas.openxmlformats.org/drawingml/2006/main">
            <a:endParaRPr/>
          </a:p>
          <a:p xmlns:a="http://schemas.openxmlformats.org/drawingml/2006/main">
            <a:r>
              <a:t>Skills over agents prevents tool worship. It also makes the handoff auditable: the next stage receives an approved work product, not merely the opinion of a named digital persona.</a:t>
            </a:r>
          </a:p>
          <a:p xmlns:a="http://schemas.openxmlformats.org/drawingml/2006/main">
            <a:endParaRPr/>
          </a:p>
          <a:p xmlns:a="http://schemas.openxmlformats.org/drawingml/2006/main">
            <a:r>
              <a:t>[Sources]</a:t>
            </a:r>
          </a:p>
          <a:p xmlns:a="http://schemas.openxmlformats.org/drawingml/2006/main">
            <a:r>
              <a:t>- Bob J Mills, Detailed Initial Chat Summary and Restored Concepts, section 5.</a:t>
            </a:r>
          </a:p>
          <a:p xmlns:a="http://schemas.openxmlformats.org/drawingml/2006/main">
            <a:r>
              <a:t>- https://github.com/Robertstar2000/Hypatia-Pro</a:t>
            </a:r>
          </a:p>
          <a:p xmlns:a="http://schemas.openxmlformats.org/drawingml/2006/main">
            <a:r>
              <a:t>- https://github.com/Robertstar2000/Intelligent-Engineer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1:15]</a:t>
            </a:r>
          </a:p>
          <a:p xmlns:a="http://schemas.openxmlformats.org/drawingml/2006/main">
            <a:endParaRPr/>
          </a:p>
          <a:p xmlns:a="http://schemas.openxmlformats.org/drawingml/2006/main">
            <a:r>
              <a:t>The architecture uses two connected harnesses because science and engineering have different jobs. Hypatia Pro asks what is supported, uncertain or unresolved. Intelligent Engineer Pro asks how to build within that evidence, how to control risk and how to prove the result.</a:t>
            </a:r>
          </a:p>
          <a:p xmlns:a="http://schemas.openxmlformats.org/drawingml/2006/main">
            <a:endParaRPr/>
          </a:p>
          <a:p xmlns:a="http://schemas.openxmlformats.org/drawingml/2006/main">
            <a:r>
              <a:t>The forward handoff is an Engineering Evidence Package: equations, distributions, operating envelopes, provenance, assumptions, failure thresholds and minimum additional tests. The return handoff is a Research Request Package: a blocked decision, competing hypotheses, variables, Mars boundary conditions, method and acceptance threshold.</a:t>
            </a:r>
          </a:p>
          <a:p xmlns:a="http://schemas.openxmlformats.org/drawingml/2006/main">
            <a:endParaRPr/>
          </a:p>
          <a:p xmlns:a="http://schemas.openxmlformats.org/drawingml/2006/main">
            <a:r>
              <a:t>That return path is essential. It turns “we need more research” into a bounded job that can be executed and reinserted into the same baseline. Verification, manufacturing and operations then generate new evidence. The digital thread keeps the loop continuous across tools, people and future model generations.</a:t>
            </a:r>
          </a:p>
          <a:p xmlns:a="http://schemas.openxmlformats.org/drawingml/2006/main">
            <a:endParaRPr/>
          </a:p>
          <a:p xmlns:a="http://schemas.openxmlformats.org/drawingml/2006/main">
            <a:r>
              <a:t>[Sources]</a:t>
            </a:r>
          </a:p>
          <a:p xmlns:a="http://schemas.openxmlformats.org/drawingml/2006/main">
            <a:r>
              <a:t>- Bob J Mills, Detailed Initial Chat Summary and Restored Concepts, sections 6–8.</a:t>
            </a:r>
          </a:p>
          <a:p xmlns:a="http://schemas.openxmlformats.org/drawingml/2006/main">
            <a:r>
              <a:t>- https://github.com/Robertstar2000/Hypatia-Pro</a:t>
            </a:r>
          </a:p>
          <a:p xmlns:a="http://schemas.openxmlformats.org/drawingml/2006/main">
            <a:r>
              <a:t>- https://github.com/Robertstar2000/Intelligent-Engineer</a:t>
            </a:r>
          </a:p>
          <a:p xmlns:a="http://schemas.openxmlformats.org/drawingml/2006/main">
            <a:r>
              <a:t>- Animated telemetry assets: original AI-generated sprite sheet assembled into GIFs for this deck.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1:20]</a:t>
            </a:r>
          </a:p>
          <a:p xmlns:a="http://schemas.openxmlformats.org/drawingml/2006/main">
            <a:endParaRPr/>
          </a:p>
          <a:p xmlns:a="http://schemas.openxmlformats.org/drawingml/2006/main">
            <a:r>
              <a:t>Hypatia is a scientific-discovery harness, not a fluent literature summarizer. It refines the question, grounds it in prior evidence, generates falsifiable competing hypotheses, defines variables and measurement protocols, obtains evidence, quantifies uncertainty and invites adversarial attack.</a:t>
            </a:r>
          </a:p>
          <a:p xmlns:a="http://schemas.openxmlformats.org/drawingml/2006/main">
            <a:endParaRPr/>
          </a:p>
          <a:p xmlns:a="http://schemas.openxmlformats.org/drawingml/2006/main">
            <a:r>
              <a:t>The governing loop is generate, validate, critique, repair, approve and persist. A model may draft an artifact, but drafting is not promotion. The artifact must survive checks appropriate to its class. A literature claim needs a traceable source. A simulated result needs a model, assumptions and boundary conditions. An empirical claim needs measurement provenance. A failed hypothesis is preserved because negative evidence is part of mission knowledge.</a:t>
            </a:r>
          </a:p>
          <a:p xmlns:a="http://schemas.openxmlformats.org/drawingml/2006/main">
            <a:endParaRPr/>
          </a:p>
          <a:p xmlns:a="http://schemas.openxmlformats.org/drawingml/2006/main">
            <a:r>
              <a:t>The loop can move backward whenever grounding, protocol or inference is weak. That willingness to refuse premature certainty is what makes the output safe enough to become an engineering input.</a:t>
            </a:r>
          </a:p>
          <a:p xmlns:a="http://schemas.openxmlformats.org/drawingml/2006/main">
            <a:endParaRPr/>
          </a:p>
          <a:p xmlns:a="http://schemas.openxmlformats.org/drawingml/2006/main">
            <a:r>
              <a:t>[Sources]</a:t>
            </a:r>
          </a:p>
          <a:p xmlns:a="http://schemas.openxmlformats.org/drawingml/2006/main">
            <a:r>
              <a:t>- Bob J Mills, Detailed Initial Chat Summary and Restored Concepts, section 6.</a:t>
            </a:r>
          </a:p>
          <a:p xmlns:a="http://schemas.openxmlformats.org/drawingml/2006/main">
            <a:r>
              <a:t>- https://github.com/Robertstar2000/Hypatia-Pro</a:t>
            </a:r>
          </a:p>
          <a:p xmlns:a="http://schemas.openxmlformats.org/drawingml/2006/main">
            <a:r>
              <a:t>- Visual: original AI-generated Mars laboratory image created for this deck.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1:20]</a:t>
            </a:r>
          </a:p>
          <a:p xmlns:a="http://schemas.openxmlformats.org/drawingml/2006/main">
            <a:endParaRPr/>
          </a:p>
          <a:p xmlns:a="http://schemas.openxmlformats.org/drawingml/2006/main">
            <a:r>
              <a:t>A mission loses integrity when evidence classes blur. Literature can be authoritative within its scope, but it is not automatically valid at a different pressure, temperature, material or scale. A model can be useful and still be wrong outside its assumptions. A physical measurement can be real and still have uncertainty or limited transferability. An unresolved question is not a defect to hide; it is a work item.</a:t>
            </a:r>
          </a:p>
          <a:p xmlns:a="http://schemas.openxmlformats.org/drawingml/2006/main">
            <a:endParaRPr/>
          </a:p>
          <a:p xmlns:a="http://schemas.openxmlformats.org/drawingml/2006/main">
            <a:r>
              <a:t>The harness attaches status to the claim itself. It also carries source, scope, assumptions, boundary conditions, measurement method, uncertainty and disposition. That allows engineering to use knowledge without pretending it is stronger than it is.</a:t>
            </a:r>
          </a:p>
          <a:p xmlns:a="http://schemas.openxmlformats.org/drawingml/2006/main">
            <a:endParaRPr/>
          </a:p>
          <a:p xmlns:a="http://schemas.openxmlformats.org/drawingml/2006/main">
            <a:r>
              <a:t>This is especially important in AI-generated work. Fluency can erase the visual cues that used to warn us an answer was tentative. Explicit epistemic status puts those cues back into the engineering record and lets later evidence reopen affected requirements and decisions.</a:t>
            </a:r>
          </a:p>
          <a:p xmlns:a="http://schemas.openxmlformats.org/drawingml/2006/main">
            <a:endParaRPr/>
          </a:p>
          <a:p xmlns:a="http://schemas.openxmlformats.org/drawingml/2006/main">
            <a:r>
              <a:t>[Sources]</a:t>
            </a:r>
          </a:p>
          <a:p xmlns:a="http://schemas.openxmlformats.org/drawingml/2006/main">
            <a:r>
              <a:t>- Bob J Mills, Sources, Claims and Replacement Ledger, Mars Version 4 package.</a:t>
            </a:r>
          </a:p>
          <a:p xmlns:a="http://schemas.openxmlformats.org/drawingml/2006/main">
            <a:r>
              <a:t>- https://science.nasa.gov/mars/facts/</a:t>
            </a:r>
          </a:p>
          <a:p xmlns:a="http://schemas.openxmlformats.org/drawingml/2006/main">
            <a:r>
              <a:t>- https://github.com/Robertstar2000/Hypatia-Pro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1:20]</a:t>
            </a:r>
          </a:p>
          <a:p xmlns:a="http://schemas.openxmlformats.org/drawingml/2006/main">
            <a:endParaRPr/>
          </a:p>
          <a:p xmlns:a="http://schemas.openxmlformats.org/drawingml/2006/main">
            <a:r>
              <a:t>Intelligent Engineer Pro takes an approved evidence package and converts it into requirements, architecture alternatives, margins, design analyses, risks, verification methods and controlled review artifacts. It is phase-gated because a fast draft must not become an invisible baseline.</a:t>
            </a:r>
          </a:p>
          <a:p xmlns:a="http://schemas.openxmlformats.org/drawingml/2006/main">
            <a:endParaRPr/>
          </a:p>
          <a:p xmlns:a="http://schemas.openxmlformats.org/drawingml/2006/main">
            <a:r>
              <a:t>The harness supports project definition, requirements and constraints, discipline selection, preliminary and critical design, focused design sprints, multidisciplinary analysis, CAD, FEA, CFD, circuit and process work, DFMA, FMEA, redundancy, manufacturing, maintenance and operations planning. It can generate next-phase seeds, but those seeds remain drafts until reviewed.</a:t>
            </a:r>
          </a:p>
          <a:p xmlns:a="http://schemas.openxmlformats.org/drawingml/2006/main">
            <a:endParaRPr/>
          </a:p>
          <a:p xmlns:a="http://schemas.openxmlformats.org/drawingml/2006/main">
            <a:r>
              <a:t>The important distinction is authorization. A model can propose a requirement or design. The project records what evidence supports it, what assumptions remain, what test will verify it and what authority locks it. That discipline lets automation accelerate engineering without smuggling unreviewed content into the next phase.</a:t>
            </a:r>
          </a:p>
          <a:p xmlns:a="http://schemas.openxmlformats.org/drawingml/2006/main">
            <a:endParaRPr/>
          </a:p>
          <a:p xmlns:a="http://schemas.openxmlformats.org/drawingml/2006/main">
            <a:r>
              <a:t>[Sources]</a:t>
            </a:r>
          </a:p>
          <a:p xmlns:a="http://schemas.openxmlformats.org/drawingml/2006/main">
            <a:r>
              <a:t>- Bob J Mills, Detailed Initial Chat Summary and Restored Concepts, section 6.</a:t>
            </a:r>
          </a:p>
          <a:p xmlns:a="http://schemas.openxmlformats.org/drawingml/2006/main">
            <a:r>
              <a:t>- https://github.com/Robertstar2000/Intelligent-Engineer</a:t>
            </a:r>
          </a:p>
          <a:p xmlns:a="http://schemas.openxmlformats.org/drawingml/2006/main">
            <a:r>
              <a:t>- Visual: original AI-generated Mars engineering and digital-twin image created for this deck.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1:20]</a:t>
            </a:r>
          </a:p>
          <a:p xmlns:a="http://schemas.openxmlformats.org/drawingml/2006/main">
            <a:endParaRPr/>
          </a:p>
          <a:p xmlns:a="http://schemas.openxmlformats.org/drawingml/2006/main">
            <a:r>
              <a:t>The handoff between science and engineering cannot be a prose answer. Engineering needs a structured evidence package containing equations, parameter distributions, operating envelopes, assumptions, failure thresholds, confidence, provenance and the tests still required.</a:t>
            </a:r>
          </a:p>
          <a:p xmlns:a="http://schemas.openxmlformats.org/drawingml/2006/main">
            <a:endParaRPr/>
          </a:p>
          <a:p xmlns:a="http://schemas.openxmlformats.org/drawingml/2006/main">
            <a:r>
              <a:t>Each element is linked. A source supports a bounded claim. The claim defines a parameter or constraint. The parameter supports a requirement or trade. The requirement has a verification method and status. When evidence changes, the digital thread identifies exactly which requirement, model, test or decision is affected.</a:t>
            </a:r>
          </a:p>
          <a:p xmlns:a="http://schemas.openxmlformats.org/drawingml/2006/main">
            <a:endParaRPr/>
          </a:p>
          <a:p xmlns:a="http://schemas.openxmlformats.org/drawingml/2006/main">
            <a:r>
              <a:t>This is where a harness becomes more than workflow automation. It creates machine-readable contracts between disciplines. It allows agents to maintain traceability, detect inconsistencies and reopen focused work before a review. The result is less time reconstructing intent and more time resolving the actual engineering question.</a:t>
            </a:r>
          </a:p>
          <a:p xmlns:a="http://schemas.openxmlformats.org/drawingml/2006/main">
            <a:endParaRPr/>
          </a:p>
          <a:p xmlns:a="http://schemas.openxmlformats.org/drawingml/2006/main">
            <a:r>
              <a:t>[Sources]</a:t>
            </a:r>
          </a:p>
          <a:p xmlns:a="http://schemas.openxmlformats.org/drawingml/2006/main">
            <a:r>
              <a:t>- Bob J Mills, Detailed Initial Chat Summary and Restored Concepts, section 7.</a:t>
            </a:r>
          </a:p>
          <a:p xmlns:a="http://schemas.openxmlformats.org/drawingml/2006/main">
            <a:r>
              <a:t>- https://github.com/Robertstar2000/Hypatia-Pro</a:t>
            </a:r>
          </a:p>
          <a:p xmlns:a="http://schemas.openxmlformats.org/drawingml/2006/main">
            <a:r>
              <a:t>- https://github.com/Robertstar2000/Intelligent-Engineer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1:20]</a:t>
            </a:r>
          </a:p>
          <a:p xmlns:a="http://schemas.openxmlformats.org/drawingml/2006/main">
            <a:endParaRPr/>
          </a:p>
          <a:p xmlns:a="http://schemas.openxmlformats.org/drawingml/2006/main">
            <a:r>
              <a:t>A linear research-to-engineering arrow is incomplete. The real acceleration comes from closing the return path. Research delivers approved evidence. Engineering turns it into requirements and trades. Design or analysis exposes a blocking uncertainty. The harness packages that uncertainty as a precise research request. Targeted evidence returns to the same baseline, the affected decision is updated and engineering continues.</a:t>
            </a:r>
          </a:p>
          <a:p xmlns:a="http://schemas.openxmlformats.org/drawingml/2006/main">
            <a:endParaRPr/>
          </a:p>
          <a:p xmlns:a="http://schemas.openxmlformats.org/drawingml/2006/main">
            <a:r>
              <a:t>Agents can search, simulate, critique, document and maintain links throughout the loop. The key is that they do not erase the issue. They make it explicit and executable. A good Research Request Package names the blocked decision, hypotheses, variables, Mars boundary conditions, method, minimum detectable effect, evidence quality and acceptance threshold.</a:t>
            </a:r>
          </a:p>
          <a:p xmlns:a="http://schemas.openxmlformats.org/drawingml/2006/main">
            <a:endParaRPr/>
          </a:p>
          <a:p xmlns:a="http://schemas.openxmlformats.org/drawingml/2006/main">
            <a:r>
              <a:t>Verification, manufacturing and operations remain part of the same learning system. A failed test or field observation can reopen science, requirements or design without losing the chain of reasoning.</a:t>
            </a:r>
          </a:p>
          <a:p xmlns:a="http://schemas.openxmlformats.org/drawingml/2006/main">
            <a:endParaRPr/>
          </a:p>
          <a:p xmlns:a="http://schemas.openxmlformats.org/drawingml/2006/main">
            <a:r>
              <a:t>[Sources]</a:t>
            </a:r>
          </a:p>
          <a:p xmlns:a="http://schemas.openxmlformats.org/drawingml/2006/main">
            <a:r>
              <a:t>- Bob J Mills, Detailed Initial Chat Summary and Restored Concepts, section 8.</a:t>
            </a:r>
          </a:p>
          <a:p xmlns:a="http://schemas.openxmlformats.org/drawingml/2006/main">
            <a:r>
              <a:t>- https://github.com/Robertstar2000/Hypatia-Pro</a:t>
            </a:r>
          </a:p>
          <a:p xmlns:a="http://schemas.openxmlformats.org/drawingml/2006/main">
            <a:r>
              <a:t>- https://github.com/Robertstar2000/Intelligent-Engineer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1:10]</a:t>
            </a:r>
          </a:p>
          <a:p xmlns:a="http://schemas.openxmlformats.org/drawingml/2006/main">
            <a:endParaRPr/>
          </a:p>
          <a:p xmlns:a="http://schemas.openxmlformats.org/drawingml/2006/main">
            <a:r>
              <a:t>Parallelism is where agentic systems can attack real schedule. One workstream searches evidence and contradictions. Another runs models and sensitivity studies. Another tries to break the preferred conclusion. Another builds traceable artifacts and review material. These tasks can overlap when their interfaces and permissions are defined.</a:t>
            </a:r>
          </a:p>
          <a:p xmlns:a="http://schemas.openxmlformats.org/drawingml/2006/main">
            <a:endParaRPr/>
          </a:p>
          <a:p xmlns:a="http://schemas.openxmlformats.org/drawingml/2006/main">
            <a:r>
              <a:t>The merge gate matters more than the number of agents. Independent outputs must be reconciled, validated, critiqued and approved before they become one package. Parallel work should not create four incompatible truths or hide duplicated assumptions. The harness records dependencies, evidence classes and unresolved conflicts.</a:t>
            </a:r>
          </a:p>
          <a:p xmlns:a="http://schemas.openxmlformats.org/drawingml/2006/main">
            <a:endParaRPr/>
          </a:p>
          <a:p xmlns:a="http://schemas.openxmlformats.org/drawingml/2006/main">
            <a:r>
              <a:t>The result is not “AI worked four times faster.” The defensible claim is narrower: controlled concurrency reduces avoidable waiting and review preparation while preserving the evidence standard. That is a practical way to compress the research–engineering–research issue–completion loop.</a:t>
            </a:r>
          </a:p>
          <a:p xmlns:a="http://schemas.openxmlformats.org/drawingml/2006/main">
            <a:endParaRPr/>
          </a:p>
          <a:p xmlns:a="http://schemas.openxmlformats.org/drawingml/2006/main">
            <a:r>
              <a:t>[Sources]</a:t>
            </a:r>
          </a:p>
          <a:p xmlns:a="http://schemas.openxmlformats.org/drawingml/2006/main">
            <a:r>
              <a:t>- Bob J Mills, Version 4 Change Log and restored presentation design record.</a:t>
            </a:r>
          </a:p>
          <a:p xmlns:a="http://schemas.openxmlformats.org/drawingml/2006/main">
            <a:r>
              <a:t>- https://github.com/Robertstar2000/Hypatia-Pro</a:t>
            </a:r>
          </a:p>
          <a:p xmlns:a="http://schemas.openxmlformats.org/drawingml/2006/main">
            <a:r>
              <a:t>- https://github.com/Robertstar2000/Intelligent-Engineer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1:10]</a:t>
            </a:r>
          </a:p>
          <a:p xmlns:a="http://schemas.openxmlformats.org/drawingml/2006/main">
            <a:endParaRPr/>
          </a:p>
          <a:p xmlns:a="http://schemas.openxmlformats.org/drawingml/2006/main">
            <a:r>
              <a:t>Verification is not the last phase. It begins with the first claim. Every claim needs provenance. Every requirement needs a method. Every uncertainty needs a disposition: analyze it, test it, constrain the design around it or explicitly accept the risk.</a:t>
            </a:r>
          </a:p>
          <a:p xmlns:a="http://schemas.openxmlformats.org/drawingml/2006/main">
            <a:endParaRPr/>
          </a:p>
          <a:p xmlns:a="http://schemas.openxmlformats.org/drawingml/2006/main">
            <a:r>
              <a:t>A harness can maintain the trace matrix continuously. It can identify a source that no longer supports its claim, a changed parameter that invalidates a requirement, a requirement without a method or a test result that does not meet its acceptance criterion. That broken link becomes focused rework before the review, not a surprise during it.</a:t>
            </a:r>
          </a:p>
          <a:p xmlns:a="http://schemas.openxmlformats.org/drawingml/2006/main">
            <a:endParaRPr/>
          </a:p>
          <a:p xmlns:a="http://schemas.openxmlformats.org/drawingml/2006/main">
            <a:r>
              <a:t>AI can help generate tests, check consistency, update FMEA and organize evidence. It cannot claim that a simulation physically validated hardware. Verification is the discipline that separates an impressive demonstration from engineering that can be trusted on Mars.</a:t>
            </a:r>
          </a:p>
          <a:p xmlns:a="http://schemas.openxmlformats.org/drawingml/2006/main">
            <a:endParaRPr/>
          </a:p>
          <a:p xmlns:a="http://schemas.openxmlformats.org/drawingml/2006/main">
            <a:r>
              <a:t>[Sources]</a:t>
            </a:r>
          </a:p>
          <a:p xmlns:a="http://schemas.openxmlformats.org/drawingml/2006/main">
            <a:r>
              <a:t>- Bob J Mills, Detailed Initial Chat Summary and Restored Concepts, section 9.</a:t>
            </a:r>
          </a:p>
          <a:p xmlns:a="http://schemas.openxmlformats.org/drawingml/2006/main">
            <a:r>
              <a:t>- https://ntrs.nasa.gov/citations/20100036405</a:t>
            </a:r>
          </a:p>
          <a:p xmlns:a="http://schemas.openxmlformats.org/drawingml/2006/main">
            <a:r>
              <a:t>- https://github.com/Robertstar2000/Intelligent-Engineer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1:10]</a:t>
            </a:r>
          </a:p>
          <a:p xmlns:a="http://schemas.openxmlformats.org/drawingml/2006/main">
            <a:endParaRPr/>
          </a:p>
          <a:p xmlns:a="http://schemas.openxmlformats.org/drawingml/2006/main">
            <a:r>
              <a:t>The shared digital brain is not a personified super-AI. It is governed mission context: evidence, assumptions, parameters, requirements, decisions, risks, tests, field data and open questions connected in a reusable graph.</a:t>
            </a:r>
          </a:p>
          <a:p xmlns:a="http://schemas.openxmlformats.org/drawingml/2006/main">
            <a:endParaRPr/>
          </a:p>
          <a:p xmlns:a="http://schemas.openxmlformats.org/drawingml/2006/main">
            <a:r>
              <a:t>That memory survives staff changes, model upgrades and tool replacements. It prevents context from disappearing into isolated chats or static reports. It also makes future models more useful because they inherit structured knowledge instead of reconstructing the mission from fragments.</a:t>
            </a:r>
          </a:p>
          <a:p xmlns:a="http://schemas.openxmlformats.org/drawingml/2006/main">
            <a:endParaRPr/>
          </a:p>
          <a:p xmlns:a="http://schemas.openxmlformats.org/drawingml/2006/main">
            <a:r>
              <a:t>Every harness reads and writes through controlled interfaces. Hypatia adds approved evidence and uncertainty. Intelligent Engineer adds requirements, trades and verification. CAD, PLM, simulators, labs and operations add models and results. The digital thread links them. This is how learning compounds across projects: a negative test, failed hypothesis or field observation remains available to prevent repetition and sharpen the next decision.</a:t>
            </a:r>
          </a:p>
          <a:p xmlns:a="http://schemas.openxmlformats.org/drawingml/2006/main">
            <a:endParaRPr/>
          </a:p>
          <a:p xmlns:a="http://schemas.openxmlformats.org/drawingml/2006/main">
            <a:r>
              <a:t>[Sources]</a:t>
            </a:r>
          </a:p>
          <a:p xmlns:a="http://schemas.openxmlformats.org/drawingml/2006/main">
            <a:r>
              <a:t>- Bob J Mills, Detailed Initial Chat Summary and Restored Concepts, section 11.</a:t>
            </a:r>
          </a:p>
          <a:p xmlns:a="http://schemas.openxmlformats.org/drawingml/2006/main">
            <a:r>
              <a:t>- https://github.com/Robertstar2000/Hypatia-Pro</a:t>
            </a:r>
          </a:p>
          <a:p xmlns:a="http://schemas.openxmlformats.org/drawingml/2006/main">
            <a:r>
              <a:t>- https://github.com/Robertstar2000/Intelligent-Engineer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2:00]</a:t>
            </a:r>
          </a:p>
          <a:p xmlns:a="http://schemas.openxmlformats.org/drawingml/2006/main">
            <a:r>
              <a:t/>
            </a:r>
            <a:endParaRPr/>
          </a:p>
          <a:p xmlns:a="http://schemas.openxmlformats.org/drawingml/2006/main">
            <a:r>
              <a:t>This is the mission scenario used to test the connected harnesses. NASA MOXIE is the empirical anchor: it demonstrated solid-oxide carbon-dioxide electrolysis on Mars and reported oxygen purity of at least 98 percent. The settlement-scale figures on this slide are modeled scenario outputs, not NASA-qualified performance.</a:t>
            </a:r>
          </a:p>
          <a:p xmlns:a="http://schemas.openxmlformats.org/drawingml/2006/main">
            <a:r>
              <a:t/>
            </a:r>
            <a:endParaRPr/>
          </a:p>
          <a:p xmlns:a="http://schemas.openxmlformats.org/drawingml/2006/main">
            <a:r>
              <a:t>The scenario assumes 592 tonnes of oxygen over 730 days. The calculation is 592,000 kilograms divided by 17,520 hours, which equals 33.79 kilograms per hour average. The displayed allocation is approximately 585 tonnes for the return-vehicle scenario and 7.4 tonnes for a 12-person crew. The crew value corresponds to roughly 0.845 kilograms per person per day. The 304 kWe figure is the concept-level continuous power estimate produced by the demonstration and requires subsystem-level verification.</a:t>
            </a:r>
          </a:p>
          <a:p xmlns:a="http://schemas.openxmlformats.org/drawingml/2006/main">
            <a:r>
              <a:t/>
            </a:r>
            <a:endParaRPr/>
          </a:p>
          <a:p xmlns:a="http://schemas.openxmlformats.org/drawingml/2006/main">
            <a:r>
              <a:t>The purpose is to show what the harnesses do with an ambitious target: Hypatia tests scientific plausibility and uncertainties; engineering creates a controlled concept; project management turns that concept into work, resources, cost, schedule and tracking.</a:t>
            </a:r>
          </a:p>
          <a:p xmlns:a="http://schemas.openxmlformats.org/drawingml/2006/main">
            <a:r>
              <a:t/>
            </a:r>
            <a:endParaRPr/>
          </a:p>
          <a:p xmlns:a="http://schemas.openxmlformats.org/drawingml/2006/main">
            <a:r>
              <a:t>[Sources]</a:t>
            </a:r>
          </a:p>
          <a:p xmlns:a="http://schemas.openxmlformats.org/drawingml/2006/main">
            <a:r>
              <a:t>- https://www.nasa.gov/missions/mars-2020-perseverance/perseverance-rover/nasas-oxygen-generating-experiment-moxie-completes-mars-mission/</a:t>
            </a:r>
          </a:p>
          <a:p xmlns:a="http://schemas.openxmlformats.org/drawingml/2006/main">
            <a:r>
              <a:t>- Project ARES-SOE demonstration output supplied by Bob J Mills.</a:t>
            </a:r>
          </a:p>
          <a:p xmlns:a="http://schemas.openxmlformats.org/drawingml/2006/main">
            <a:r>
              <a:t>- Calculation: 592,000 kg / (730 days × 24 h/day) = 33.79 kg/h.</a:t>
            </a:r>
          </a:p>
          <a:p xmlns:a="http://schemas.openxmlformats.org/drawingml/2006/main">
            <a:r>
              <a:t>- Calculation: 7,400 kg / (12 people × 730 days) = 0.845 kg/person/day.</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1:40]</a:t>
            </a:r>
          </a:p>
          <a:p xmlns:a="http://schemas.openxmlformats.org/drawingml/2006/main">
            <a:r>
              <a:t/>
            </a:r>
            <a:endParaRPr/>
          </a:p>
          <a:p xmlns:a="http://schemas.openxmlformats.org/drawingml/2006/main">
            <a:r>
              <a:t>Hypatia converts the mission scenario into a scientific program. The visible folder contains the research question, evidence discovery, competing hypotheses, study design, analysis plan, data-acquisition plan, analysis, robustness checks, peer review and publication bundle.</a:t>
            </a:r>
          </a:p>
          <a:p xmlns:a="http://schemas.openxmlformats.org/drawingml/2006/main">
            <a:r>
              <a:t/>
            </a:r>
            <a:endParaRPr/>
          </a:p>
          <a:p xmlns:a="http://schemas.openxmlformats.org/drawingml/2006/main">
            <a:r>
              <a:t>The science conclusion is conditional: scale-up is physically plausible, but the 33.8 kilogram-per-hour architecture is a modeled proposal, not an empirical result. The harness must separate MOXIE measurements from extrapolation and keep stack life, compressor performance, dust rejection, thermal cycling, contamination, oxygen cleanup and storage integration open until evidence closes them.</a:t>
            </a:r>
          </a:p>
          <a:p xmlns:a="http://schemas.openxmlformats.org/drawingml/2006/main">
            <a:r>
              <a:t/>
            </a:r>
            <a:endParaRPr/>
          </a:p>
          <a:p xmlns:a="http://schemas.openxmlformats.org/drawingml/2006/main">
            <a:r>
              <a:t>The durable output is not the prose on screen. It is the evidence package: sources, equations, boundary conditions, uncertainty, competing hypotheses, failed cases and the minimum experiments needed before engineering can lock affected requirements.</a:t>
            </a:r>
          </a:p>
          <a:p xmlns:a="http://schemas.openxmlformats.org/drawingml/2006/main">
            <a:r>
              <a:t/>
            </a:r>
            <a:endParaRPr/>
          </a:p>
          <a:p xmlns:a="http://schemas.openxmlformats.org/drawingml/2006/main">
            <a:r>
              <a:t>[Sources]</a:t>
            </a:r>
          </a:p>
          <a:p xmlns:a="http://schemas.openxmlformats.org/drawingml/2006/main">
            <a:r>
              <a:t>- https://www.nasa.gov/missions/mars-2020-perseverance/perseverance-rover/nasas-oxygen-generating-experiment-moxie-completes-mars-mission/</a:t>
            </a:r>
            <a:endParaRPr/>
          </a:p>
          <a:p xmlns:a="http://schemas.openxmlformats.org/drawingml/2006/main">
            <a:r>
              <a:t>- Project ARES-SOE Hypatia research bundle supplied by Bob J Mills.</a:t>
            </a:r>
          </a:p>
          <a:p xmlns:a="http://schemas.openxmlformats.org/drawingml/2006/main">
            <a:r>
              <a:t>- https://github.com/Robertstar2000/Hypatia-Pro</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1:40]</a:t>
            </a:r>
          </a:p>
          <a:p xmlns:a="http://schemas.openxmlformats.org/drawingml/2006/main">
            <a:r>
              <a:t/>
            </a:r>
            <a:endParaRPr/>
          </a:p>
          <a:p xmlns:a="http://schemas.openxmlformats.org/drawingml/2006/main">
            <a:r>
              <a:t>The engineering harness translates the reviewed science package into a controlled physical-system concept. The visible phases cover feasibility, requirements, preliminary design, critical design, testing, launch, operations and improvement. The example excerpt focuses on vibration monitoring and structural integrity for compressors and rotating equipment.</a:t>
            </a:r>
          </a:p>
          <a:p xmlns:a="http://schemas.openxmlformats.org/drawingml/2006/main">
            <a:r>
              <a:t/>
            </a:r>
            <a:endParaRPr/>
          </a:p>
          <a:p xmlns:a="http://schemas.openxmlformats.org/drawingml/2006/main">
            <a:r>
              <a:t>Terminology matters: SOXE means solid-oxide electrolysis—here, solid-oxide carbon-dioxide electrolysis. The 33.8 kilogram-per-hour production rate and 304 kWe power budget are modeled scenario values. They must remain linked to assumptions, margins and verification methods rather than being presented as demonstrated plant performance.</a:t>
            </a:r>
          </a:p>
          <a:p xmlns:a="http://schemas.openxmlformats.org/drawingml/2006/main">
            <a:r>
              <a:t/>
            </a:r>
            <a:endParaRPr/>
          </a:p>
          <a:p xmlns:a="http://schemas.openxmlformats.org/drawingml/2006/main">
            <a:r>
              <a:t>Engineering must integrate atmospheric acquisition, filtration, compression, electrolysis stacks, heat recovery, oxygen cleanup, liquefaction, storage, transfer, power, autonomy, redundancy and maintainability. Every requirement should identify its supporting evidence, responsible owner, verification method and release authority.</a:t>
            </a:r>
          </a:p>
          <a:p xmlns:a="http://schemas.openxmlformats.org/drawingml/2006/main">
            <a:r>
              <a:t/>
            </a:r>
            <a:endParaRPr/>
          </a:p>
          <a:p xmlns:a="http://schemas.openxmlformats.org/drawingml/2006/main">
            <a:r>
              <a:t>[Sources]</a:t>
            </a:r>
          </a:p>
          <a:p xmlns:a="http://schemas.openxmlformats.org/drawingml/2006/main">
            <a:r>
              <a:t>- Project ARES-SOE engineering and VibraEngineer outputs supplied by Bob J Mills.</a:t>
            </a:r>
            <a:endParaRPr/>
          </a:p>
          <a:p xmlns:a="http://schemas.openxmlformats.org/drawingml/2006/main">
            <a:r>
              <a:t>- https://github.com/Robertstar2000/Intelligent-Engineer</a:t>
            </a:r>
          </a:p>
          <a:p xmlns:a="http://schemas.openxmlformats.org/drawingml/2006/main">
            <a:r>
              <a:t>- https://www.nasa.gov/missions/mars-2020-perseverance/perseverance-rover/nasas-oxygen-generating-experiment-moxie-completes-mars-mission/</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1:40]</a:t>
            </a:r>
          </a:p>
          <a:p xmlns:a="http://schemas.openxmlformats.org/drawingml/2006/main">
            <a:r>
              <a:t/>
            </a:r>
            <a:endParaRPr/>
          </a:p>
          <a:p xmlns:a="http://schemas.openxmlformats.org/drawingml/2006/main">
            <a:r>
              <a:t>The project-management harness converts the engineering baseline into executable work. The WBS now separates atmospheric acquisition, electrolysis stacks, liquefaction and storage, power, integration, verification, deployment and operations without duplicated branches.</a:t>
            </a:r>
          </a:p>
          <a:p xmlns:a="http://schemas.openxmlformats.org/drawingml/2006/main">
            <a:r>
              <a:t/>
            </a:r>
            <a:endParaRPr/>
          </a:p>
          <a:p xmlns:a="http://schemas.openxmlformats.org/drawingml/2006/main">
            <a:r>
              <a:t>The visible package includes a concept proposal, resource and skills plan, SWOT analysis, kickoff briefing, statement of work, design reviews, mass balance, detailed plans and budgets, readiness reviews, task lists, milestones, resources and machine-readable project state.</a:t>
            </a:r>
          </a:p>
          <a:p xmlns:a="http://schemas.openxmlformats.org/drawingml/2006/main">
            <a:r>
              <a:t/>
            </a:r>
            <a:endParaRPr/>
          </a:p>
          <a:p xmlns:a="http://schemas.openxmlformats.org/drawingml/2006/main">
            <a:r>
              <a:t>The 304 kWe value remains a modeled planning input. Cost, schedule and resource outputs are also preliminary until their basis, uncertainty, reserves and approval authority are documented. The project harness should continuously track technical performance, risks, dependencies, decisions, configuration and verification status.</a:t>
            </a:r>
          </a:p>
          <a:p xmlns:a="http://schemas.openxmlformats.org/drawingml/2006/main">
            <a:r>
              <a:t/>
            </a:r>
            <a:endParaRPr/>
          </a:p>
          <a:p xmlns:a="http://schemas.openxmlformats.org/drawingml/2006/main">
            <a:r>
              <a:t>[Sources]</a:t>
            </a:r>
          </a:p>
          <a:p xmlns:a="http://schemas.openxmlformats.org/drawingml/2006/main">
            <a:r>
              <a:t>- Project ARES-SOE program-management package supplied by Bob J Mills.</a:t>
            </a:r>
            <a:endParaRPr/>
          </a:p>
          <a:p xmlns:a="http://schemas.openxmlformats.org/drawingml/2006/main">
            <a:r>
              <a:t>- Project ARES-SOE demonstration output and WBS.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2:00]</a:t>
            </a:r>
          </a:p>
          <a:p xmlns:a="http://schemas.openxmlformats.org/drawingml/2006/main">
            <a:r>
              <a:t/>
            </a:r>
            <a:endParaRPr/>
          </a:p>
          <a:p xmlns:a="http://schemas.openxmlformats.org/drawingml/2006/main">
            <a:r>
              <a:t>This is the central case-study result. Agentic harnesses can create and connect a first-pass research, engineering and project package in hours. That compression applies to searching, drafting, calculating, coordinating, critiquing, traceability and change propagation. It does not eliminate the time required for experiments, hardware development, long-duration testing, independent review or mission qualification.</a:t>
            </a:r>
          </a:p>
          <a:p xmlns:a="http://schemas.openxmlformats.org/drawingml/2006/main">
            <a:r>
              <a:t/>
            </a:r>
            <a:endParaRPr/>
          </a:p>
          <a:p xmlns:a="http://schemas.openxmlformats.org/drawingml/2006/main">
            <a:r>
              <a:t>Each stage has its own work-product contract. Science produces classified evidence and open questions. Engineering produces requirements, trades, designs and verification methods. Project management produces scope, resources, schedule, cost, risks and controls. Approved context moves forward; blocking uncertainties return as bounded research requests.</a:t>
            </a:r>
          </a:p>
          <a:p xmlns:a="http://schemas.openxmlformats.org/drawingml/2006/main">
            <a:r>
              <a:t/>
            </a:r>
            <a:endParaRPr/>
          </a:p>
          <a:p xmlns:a="http://schemas.openxmlformats.org/drawingml/2006/main">
            <a:r>
              <a:t>AI-driven change management can identify affected documents and rerun dependent analyses, but humans retain approval and risk authority. Every step may operate with substantial autonomy or pause for manual review and editing.</a:t>
            </a:r>
          </a:p>
          <a:p xmlns:a="http://schemas.openxmlformats.org/drawingml/2006/main">
            <a:r>
              <a:t/>
            </a:r>
            <a:endParaRPr/>
          </a:p>
          <a:p xmlns:a="http://schemas.openxmlformats.org/drawingml/2006/main">
            <a:r>
              <a:t>[Sources]</a:t>
            </a:r>
          </a:p>
          <a:p xmlns:a="http://schemas.openxmlformats.org/drawingml/2006/main">
            <a:r>
              <a:t>- Project ARES-SOE demonstration outputs supplied by Bob J Mills.</a:t>
            </a:r>
          </a:p>
          <a:p xmlns:a="http://schemas.openxmlformats.org/drawingml/2006/main">
            <a:r>
              <a:t>- Bob J Mills, restored research → engineering → research → completion-loop requirement.</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1:30]</a:t>
            </a:r>
          </a:p>
          <a:p xmlns:a="http://schemas.openxmlformats.org/drawingml/2006/main">
            <a:r>
              <a:t/>
            </a:r>
            <a:endParaRPr/>
          </a:p>
          <a:p xmlns:a="http://schemas.openxmlformats.org/drawingml/2006/main">
            <a:r>
              <a:t>The case study yields five conclusions in each discipline. Science finds scale-up plausible but keeps modeled values, degradation and experiments explicit. Engineering finds that system integration, power, traceability, reliability and the return of blockers dominate the real design problem. Project execution finds that the WBS, estimate basis, risks, change state and approval gates determine whether the concept can become controlled work.</a:t>
            </a:r>
          </a:p>
          <a:p xmlns:a="http://schemas.openxmlformats.org/drawingml/2006/main">
            <a:r>
              <a:t/>
            </a:r>
            <a:endParaRPr/>
          </a:p>
          <a:p xmlns:a="http://schemas.openxmlformats.org/drawingml/2006/main">
            <a:r>
              <a:t>The shared lesson is simple: the harness compresses disciplined concept development. It does not promote a draft into physical truth. Readiness still depends on evidence, testing, independent review and authorized acceptance.</a:t>
            </a:r>
          </a:p>
          <a:p xmlns:a="http://schemas.openxmlformats.org/drawingml/2006/main">
            <a:r>
              <a:t/>
            </a:r>
            <a:endParaRPr/>
          </a:p>
          <a:p xmlns:a="http://schemas.openxmlformats.org/drawingml/2006/main">
            <a:r>
              <a:t>[Sources]</a:t>
            </a:r>
          </a:p>
          <a:p xmlns:a="http://schemas.openxmlformats.org/drawingml/2006/main">
            <a:r>
              <a:t>- Synthesis of Project ARES-SOE research, engineering and project-management demonstration outputs supplied by Bob J Mills.</a:t>
            </a:r>
            <a:endParaRP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1:50]</a:t>
            </a:r>
          </a:p>
          <a:p xmlns:a="http://schemas.openxmlformats.org/drawingml/2006/main">
            <a:endParaRPr/>
          </a:p>
          <a:p xmlns:a="http://schemas.openxmlformats.org/drawingml/2006/main">
            <a:r>
              <a:t>The five application patterns become portable skills. Hypatia structures scientific work. Hyperia performs broad research and synthesis. Intelligent Engineer controls the physical-engineering baseline. Vibe Engineering supports collaborative design. PM Accelerator controls execution and review readiness.</a:t>
            </a:r>
          </a:p>
          <a:p xmlns:a="http://schemas.openxmlformats.org/drawingml/2006/main">
            <a:endParaRPr/>
          </a:p>
          <a:p xmlns:a="http://schemas.openxmlformats.org/drawingml/2006/main">
            <a:r>
              <a:t>Each pack defines a role, decision loop, tool contract, work product, ground-truth checks, memory rules and approval boundaries. Three shared controls—orchestration, validation and mission memory—compose them safely.</a:t>
            </a:r>
          </a:p>
          <a:p xmlns:a="http://schemas.openxmlformats.org/drawingml/2006/main">
            <a:endParaRPr/>
          </a:p>
          <a:p xmlns:a="http://schemas.openxmlformats.org/drawingml/2006/main">
            <a:r>
              <a:t>The core instructions can travel across Codex, Claude Cowork, Hermes and Grok. Placement and invocation differ, and the runtime can execute only the tools and permissions it actually has.</a:t>
            </a:r>
          </a:p>
          <a:p xmlns:a="http://schemas.openxmlformats.org/drawingml/2006/main">
            <a:endParaRPr/>
          </a:p>
          <a:p xmlns:a="http://schemas.openxmlformats.org/drawingml/2006/main">
            <a:r>
              <a:t>This is functional workflow emulation, not a copy of a proprietary interface or a claim of feature parity.</a:t>
            </a:r>
          </a:p>
          <a:p xmlns:a="http://schemas.openxmlformats.org/drawingml/2006/main">
            <a:endParaRPr/>
          </a:p>
          <a:p xmlns:a="http://schemas.openxmlformats.org/drawingml/2006/main">
            <a:r>
              <a:t>[Sources]</a:t>
            </a:r>
          </a:p>
          <a:p xmlns:a="http://schemas.openxmlformats.org/drawingml/2006/main">
            <a:r>
              <a:t>- https://docs.x.ai/build/features/skills-plugins-marketplaces</a:t>
            </a:r>
          </a:p>
          <a:p xmlns:a="http://schemas.openxmlformats.org/drawingml/2006/main">
            <a:r>
              <a:t>- https://github.com/NousResearch/hermes-agent/blob/main/website/docs/user-guide/features/skills.md</a:t>
            </a:r>
          </a:p>
          <a:p xmlns:a="http://schemas.openxmlformats.org/drawingml/2006/main">
            <a:r>
              <a:t>- https://support.claude.com/en/articles/12512198-how-to-create-custom-skills</a:t>
            </a:r>
          </a:p>
          <a:p xmlns:a="http://schemas.openxmlformats.org/drawingml/2006/main">
            <a:r>
              <a:t>- User-supplied SaaS application concepts.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1:40]</a:t>
            </a:r>
          </a:p>
          <a:p xmlns:a="http://schemas.openxmlformats.org/drawingml/2006/main">
            <a:endParaRPr/>
          </a:p>
          <a:p xmlns:a="http://schemas.openxmlformats.org/drawingml/2006/main">
            <a:r>
              <a:t>The practical starting point is not an enterprise transformation. Choose one recurring decision where delay, rework or lost evidence matters. Define the required work products, evidence classes, tools, permissions, validation steps and release authority. Connect only the data and tools needed for that loop.</a:t>
            </a:r>
          </a:p>
          <a:p xmlns:a="http://schemas.openxmlformats.org/drawingml/2006/main">
            <a:endParaRPr/>
          </a:p>
          <a:p xmlns:a="http://schemas.openxmlformats.org/drawingml/2006/main">
            <a:r>
              <a:t>Then compare the harness output against expert work and known failure cases. Can it preserve provenance? Does it distinguish modeled from empirical evidence? Does it expose uncertainty? Can a reviewer reconstruct the decision? Does it fail safely when the evidence is inadequate?</a:t>
            </a:r>
          </a:p>
          <a:p xmlns:a="http://schemas.openxmlformats.org/drawingml/2006/main">
            <a:endParaRPr/>
          </a:p>
          <a:p xmlns:a="http://schemas.openxmlformats.org/drawingml/2006/main">
            <a:r>
              <a:t>Only after that loop survives real pressure should the organization scale to adjacent skills and domains. Most organizations are still moving from chatbot to task agent. The practical next stage is the harness: workflow, memory, tools and gates. Mars-scale learning eventually requires an ecosystem, but reliability is earned one consequential loop at a time.</a:t>
            </a:r>
          </a:p>
          <a:p xmlns:a="http://schemas.openxmlformats.org/drawingml/2006/main">
            <a:endParaRPr/>
          </a:p>
          <a:p xmlns:a="http://schemas.openxmlformats.org/drawingml/2006/main">
            <a:r>
              <a:t>[Sources]</a:t>
            </a:r>
          </a:p>
          <a:p xmlns:a="http://schemas.openxmlformats.org/drawingml/2006/main">
            <a:r>
              <a:t>- Bob J Mills, Version 4 Run of Show and restored adoption model.</a:t>
            </a:r>
          </a:p>
          <a:p xmlns:a="http://schemas.openxmlformats.org/drawingml/2006/main">
            <a:r>
              <a:t>- https://github.com/Robertstar2000/Hypatia-Pro</a:t>
            </a:r>
          </a:p>
          <a:p xmlns:a="http://schemas.openxmlformats.org/drawingml/2006/main">
            <a:r>
              <a:t>- https://github.com/Robertstar2000/Intelligent-Engineer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1:40]</a:t>
            </a:r>
          </a:p>
          <a:p xmlns:a="http://schemas.openxmlformats.org/drawingml/2006/main">
            <a:endParaRPr/>
          </a:p>
          <a:p xmlns:a="http://schemas.openxmlformats.org/drawingml/2006/main">
            <a:r>
              <a:t>Return to the opening promise. Mars is a learning-rate problem, but speed without discipline is not progress. The architecture presented here turns AI into structured engineering capacity: specialized harnesses, durable skills, explicit evidence classes, phase gates, continuous verification, persistent mission memory and a complete return path from engineering uncertainty to targeted science.</a:t>
            </a:r>
          </a:p>
          <a:p xmlns:a="http://schemas.openxmlformats.org/drawingml/2006/main">
            <a:endParaRPr/>
          </a:p>
          <a:p xmlns:a="http://schemas.openxmlformats.org/drawingml/2006/main">
            <a:r>
              <a:t>The model is replaceable. The way the mission defines work, remembers evidence, accepts risk and proves a result must endure. Stronger AI will move more execution into automation. That makes the harness more important, not less, because purpose, authority, provenance and acceptance must remain visible as capability changes.</a:t>
            </a:r>
          </a:p>
          <a:p xmlns:a="http://schemas.openxmlformats.org/drawingml/2006/main">
            <a:endParaRPr/>
          </a:p>
          <a:p xmlns:a="http://schemas.openxmlformats.org/drawingml/2006/main">
            <a:r>
              <a:t>Start with one consequential loop. Make the evidence survive review. Preserve negative results. Let science refuse false certainty. Let engineering return precise questions. Then connect the loops until science, engineering, verification and operations become one learning system.</a:t>
            </a:r>
          </a:p>
          <a:p xmlns:a="http://schemas.openxmlformats.org/drawingml/2006/main">
            <a:endParaRPr/>
          </a:p>
          <a:p xmlns:a="http://schemas.openxmlformats.org/drawingml/2006/main">
            <a:r>
              <a:t>Mars will not be built by a chatbot. It will be built by people and increasingly capable intelligence working through a mission-ready way to learn.</a:t>
            </a:r>
          </a:p>
          <a:p xmlns:a="http://schemas.openxmlformats.org/drawingml/2006/main">
            <a:endParaRPr/>
          </a:p>
          <a:p xmlns:a="http://schemas.openxmlformats.org/drawingml/2006/main">
            <a:r>
              <a:t>[Sources]</a:t>
            </a:r>
          </a:p>
          <a:p xmlns:a="http://schemas.openxmlformats.org/drawingml/2006/main">
            <a:r>
              <a:t>- Bob J Mills, Detailed Initial Chat Summary and Restored Concepts, durable principles and closing frame.</a:t>
            </a:r>
          </a:p>
          <a:p xmlns:a="http://schemas.openxmlformats.org/drawingml/2006/main">
            <a:r>
              <a:t>- https://www.nasa.gov/wp-content/uploads/2024/01/mars-communications-disruption-and-delay.pdf</a:t>
            </a:r>
          </a:p>
          <a:p xmlns:a="http://schemas.openxmlformats.org/drawingml/2006/main">
            <a:r>
              <a:t>- https://www.nasa.gov/missions/mars-2020-perseverance/perseverance-rover/nasas-oxygen-generating-experiment-moxie-completes-mars-mission/</a:t>
            </a:r>
          </a:p>
          <a:p xmlns:a="http://schemas.openxmlformats.org/drawingml/2006/main">
            <a:r>
              <a:t>- https://github.com/Robertstar2000/Hypatia-Pro</a:t>
            </a:r>
          </a:p>
          <a:p xmlns:a="http://schemas.openxmlformats.org/drawingml/2006/main">
            <a:r>
              <a:t>- https://github.com/Robertstar2000/Intelligent-Engineer</a:t>
            </a:r>
          </a:p>
          <a:p xmlns:a="http://schemas.openxmlformats.org/drawingml/2006/main">
            <a:r>
              <a:t>- Visual: original AI-generated closing Mars settlement image created for this deck.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1:40]</a:t>
            </a:r>
          </a:p>
          <a:p xmlns:a="http://schemas.openxmlformats.org/drawingml/2006/main">
            <a:endParaRPr/>
          </a:p>
          <a:p xmlns:a="http://schemas.openxmlformats.org/drawingml/2006/main">
            <a:r>
              <a:t>Return to the opening promise. Mars is a learning-rate problem, but speed without discipline is not progress. The architecture presented here turns AI into structured engineering capacity: specialized harnesses, durable skills, explicit evidence classes, phase gates, continuous verification, persistent mission memory and a complete return path from engineering uncertainty to targeted science.</a:t>
            </a:r>
          </a:p>
          <a:p xmlns:a="http://schemas.openxmlformats.org/drawingml/2006/main">
            <a:endParaRPr/>
          </a:p>
          <a:p xmlns:a="http://schemas.openxmlformats.org/drawingml/2006/main">
            <a:r>
              <a:t>The model is replaceable. The way the mission defines work, remembers evidence, accepts risk and proves a result must endure. Stronger AI will move more execution into automation. That makes the harness more important, not less, because purpose, authority, provenance and acceptance must remain visible as capability changes.</a:t>
            </a:r>
          </a:p>
          <a:p xmlns:a="http://schemas.openxmlformats.org/drawingml/2006/main">
            <a:endParaRPr/>
          </a:p>
          <a:p xmlns:a="http://schemas.openxmlformats.org/drawingml/2006/main">
            <a:r>
              <a:t>Start with one consequential loop. Make the evidence survive review. Preserve negative results. Let science refuse false certainty. Let engineering return precise questions. Then connect the loops until science, engineering, verification and operations become one learning system.</a:t>
            </a:r>
          </a:p>
          <a:p xmlns:a="http://schemas.openxmlformats.org/drawingml/2006/main">
            <a:endParaRPr/>
          </a:p>
          <a:p xmlns:a="http://schemas.openxmlformats.org/drawingml/2006/main">
            <a:r>
              <a:t>Mars will not be built by a chatbot. It will be built by people and increasingly capable intelligence working through a mission-ready way to learn.</a:t>
            </a:r>
          </a:p>
          <a:p xmlns:a="http://schemas.openxmlformats.org/drawingml/2006/main">
            <a:endParaRPr/>
          </a:p>
          <a:p xmlns:a="http://schemas.openxmlformats.org/drawingml/2006/main">
            <a:r>
              <a:t>[Sources]</a:t>
            </a:r>
          </a:p>
          <a:p xmlns:a="http://schemas.openxmlformats.org/drawingml/2006/main">
            <a:r>
              <a:t>- Bob J Mills, Detailed Initial Chat Summary and Restored Concepts, durable principles and closing frame.</a:t>
            </a:r>
          </a:p>
          <a:p xmlns:a="http://schemas.openxmlformats.org/drawingml/2006/main">
            <a:r>
              <a:t>- https://www.nasa.gov/wp-content/uploads/2024/01/mars-communications-disruption-and-delay.pdf</a:t>
            </a:r>
          </a:p>
          <a:p xmlns:a="http://schemas.openxmlformats.org/drawingml/2006/main">
            <a:r>
              <a:t>- https://www.nasa.gov/missions/mars-2020-perseverance/perseverance-rover/nasas-oxygen-generating-experiment-moxie-completes-mars-mission/</a:t>
            </a:r>
          </a:p>
          <a:p xmlns:a="http://schemas.openxmlformats.org/drawingml/2006/main">
            <a:r>
              <a:t>- https://github.com/Robertstar2000/Hypatia-Pro</a:t>
            </a:r>
          </a:p>
          <a:p xmlns:a="http://schemas.openxmlformats.org/drawingml/2006/main">
            <a:r>
              <a:t>- https://github.com/Robertstar2000/Intelligent-Engineer</a:t>
            </a:r>
          </a:p>
          <a:p xmlns:a="http://schemas.openxmlformats.org/drawingml/2006/main">
            <a:r>
              <a:t>- Visual: original AI-generated closing Mars settlement image created for this deck.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ff453b0f90d431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bd54a9554a244e6" /><Relationship Type="http://schemas.openxmlformats.org/officeDocument/2006/relationships/slideLayout" Target="/ppt/slideLayouts/slideLayout1.xml" Id="Rc235f3a38781403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235f3a38781403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6f5f76886f74147" /><Relationship Type="http://schemas.openxmlformats.org/officeDocument/2006/relationships/image" Target="/ppt/media/image.png" Id="R335dbc150131470e" /><Relationship Type="http://schemas.openxmlformats.org/officeDocument/2006/relationships/notesSlide" Target="/ppt/notesSlides/notesSlide1.xml" Id="R584de8f53e27448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54b68b79dd834a28" /><Relationship Type="http://schemas.openxmlformats.org/officeDocument/2006/relationships/image" Target="/ppt/media/image2.png" Id="R7a8a7b7e470845ee" /><Relationship Type="http://schemas.openxmlformats.org/officeDocument/2006/relationships/notesSlide" Target="/ppt/notesSlides/notesSlide2.xml" Id="R9d225deaaf354c6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8ec5c0074d045ca" /><Relationship Type="http://schemas.openxmlformats.org/officeDocument/2006/relationships/notesSlide" Target="/ppt/notesSlides/notesSlide3.xml" Id="Rbe163f4a228c46d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1e9fbfe7dc8436e" /><Relationship Type="http://schemas.openxmlformats.org/officeDocument/2006/relationships/notesSlide" Target="/ppt/notesSlides/notesSlide4.xml" Id="Rdc4bf186971d4b6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296f193cad14ed8" /><Relationship Type="http://schemas.openxmlformats.org/officeDocument/2006/relationships/image" Target="/ppt/media/image.gif" Id="R66da4bf60c0141b2" /><Relationship Type="http://schemas.openxmlformats.org/officeDocument/2006/relationships/notesSlide" Target="/ppt/notesSlides/notesSlide5.xml" Id="R2647bad5f1264c2a"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ea213ea963542b0" /><Relationship Type="http://schemas.openxmlformats.org/officeDocument/2006/relationships/image" Target="/ppt/media/image3.png" Id="R525674882b4f49d8" /><Relationship Type="http://schemas.openxmlformats.org/officeDocument/2006/relationships/notesSlide" Target="/ppt/notesSlides/notesSlide6.xml" Id="R794f7f9b167f4f65"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0f1461ff2b14d60" /><Relationship Type="http://schemas.openxmlformats.org/officeDocument/2006/relationships/notesSlide" Target="/ppt/notesSlides/notesSlide7.xml" Id="Rc8a8279a595347f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5431b8da42bf4ed0" /><Relationship Type="http://schemas.openxmlformats.org/officeDocument/2006/relationships/image" Target="/ppt/media/image4.png" Id="Rcd5aafa7a89d4591" /><Relationship Type="http://schemas.openxmlformats.org/officeDocument/2006/relationships/notesSlide" Target="/ppt/notesSlides/notesSlide8.xml" Id="R78aa356a51bf4b3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456cf583a1df4369" /><Relationship Type="http://schemas.openxmlformats.org/officeDocument/2006/relationships/notesSlide" Target="/ppt/notesSlides/notesSlide9.xml" Id="R0cc13e7dbb4346f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ac6676ce96df4e80" /><Relationship Type="http://schemas.openxmlformats.org/officeDocument/2006/relationships/notesSlide" Target="/ppt/notesSlides/notesSlide10.xml" Id="R7a4fea32d31045a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6ae34649b3ac42ca" /><Relationship Type="http://schemas.openxmlformats.org/officeDocument/2006/relationships/notesSlide" Target="/ppt/notesSlides/notesSlide11.xml" Id="R0584405833aa416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7a85a7fe253f4a07" /><Relationship Type="http://schemas.openxmlformats.org/officeDocument/2006/relationships/notesSlide" Target="/ppt/notesSlides/notesSlide12.xml" Id="R63f7d8c1f00349e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aa495d3b05ed427b" /><Relationship Type="http://schemas.openxmlformats.org/officeDocument/2006/relationships/image" Target="/ppt/media/image5.png" Id="Ra0b13be9b439473d" /><Relationship Type="http://schemas.openxmlformats.org/officeDocument/2006/relationships/notesSlide" Target="/ppt/notesSlides/notesSlide13.xml" Id="Rc33b637e4f23453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de589e437a6c4cad" /><Relationship Type="http://schemas.openxmlformats.org/officeDocument/2006/relationships/image" Target="/ppt/media/image6.png" Id="R2fbdfe0509ac4b89" /><Relationship Type="http://schemas.openxmlformats.org/officeDocument/2006/relationships/chart" Target="/ppt/slides/charts/chart1.xml" Id="R7687f4813db7496f" /><Relationship Type="http://schemas.openxmlformats.org/officeDocument/2006/relationships/notesSlide" Target="/ppt/notesSlides/notesSlide14.xml" Id="Rf27bc3b5c6ac493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214d080be35943e3" /><Relationship Type="http://schemas.openxmlformats.org/officeDocument/2006/relationships/image" Target="/ppt/media/image7.png" Id="Rc85a66de5e054bb6" /><Relationship Type="http://schemas.openxmlformats.org/officeDocument/2006/relationships/image" Target="/ppt/media/image8.png" Id="Rfacc643207e34bf7" /><Relationship Type="http://schemas.openxmlformats.org/officeDocument/2006/relationships/notesSlide" Target="/ppt/notesSlides/notesSlide15.xml" Id="Rb03472b92313456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a7385ae14b2d4914" /><Relationship Type="http://schemas.openxmlformats.org/officeDocument/2006/relationships/image" Target="/ppt/media/image9.png" Id="R6691dd439de449b4" /><Relationship Type="http://schemas.openxmlformats.org/officeDocument/2006/relationships/image" Target="/ppt/media/image10.png" Id="R30376b16062f435e" /><Relationship Type="http://schemas.openxmlformats.org/officeDocument/2006/relationships/notesSlide" Target="/ppt/notesSlides/notesSlide16.xml" Id="R1758cb671e5f47d6"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55c477830fb046c9" /><Relationship Type="http://schemas.openxmlformats.org/officeDocument/2006/relationships/image" Target="/ppt/media/image11.png" Id="Re1d70fa2dcd04551" /><Relationship Type="http://schemas.openxmlformats.org/officeDocument/2006/relationships/image" Target="/ppt/media/image12.png" Id="R00143a6b46a14f53" /><Relationship Type="http://schemas.openxmlformats.org/officeDocument/2006/relationships/notesSlide" Target="/ppt/notesSlides/notesSlide17.xml" Id="R6195232276c347f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a80e15aac9df4ac7" /><Relationship Type="http://schemas.openxmlformats.org/officeDocument/2006/relationships/image" Target="/ppt/media/image.gif" Id="R680df9e086b84849" /><Relationship Type="http://schemas.openxmlformats.org/officeDocument/2006/relationships/notesSlide" Target="/ppt/notesSlides/notesSlide18.xml" Id="Rc590cb4bcf334311"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a9f8ff7d90424246" /><Relationship Type="http://schemas.openxmlformats.org/officeDocument/2006/relationships/image" Target="/ppt/media/image.gif" Id="R882be5c03f1447e3" /><Relationship Type="http://schemas.openxmlformats.org/officeDocument/2006/relationships/notesSlide" Target="/ppt/notesSlides/notesSlide19.xml" Id="R742e31c32c8c47f4"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57103432895a40c3" /><Relationship Type="http://schemas.openxmlformats.org/officeDocument/2006/relationships/image" Target="/ppt/media/image13.png" Id="Ra9b6d063664348a4" /><Relationship Type="http://schemas.openxmlformats.org/officeDocument/2006/relationships/notesSlide" Target="/ppt/notesSlides/notesSlide20.xml" Id="R5c9ae5c431c0416e"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badef3d0c60345c9" /><Relationship Type="http://schemas.openxmlformats.org/officeDocument/2006/relationships/notesSlide" Target="/ppt/notesSlides/notesSlide21.xml" Id="R15f4666b99fd4880"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c105b6c61d934ab1" /><Relationship Type="http://schemas.openxmlformats.org/officeDocument/2006/relationships/image" Target="/ppt/media/image14.png" Id="R418fad112e454264" /><Relationship Type="http://schemas.openxmlformats.org/officeDocument/2006/relationships/notesSlide" Target="/ppt/notesSlides/notesSlide22.xml" Id="Rb9357b371c094e8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e8ee0cffc67147eb" /><Relationship Type="http://schemas.openxmlformats.org/officeDocument/2006/relationships/image" Target="/ppt/media/image15.png" Id="R7eacc78559654174" /><Relationship Type="http://schemas.openxmlformats.org/officeDocument/2006/relationships/hyperlink" Target="https://www.mifeco.com/" TargetMode="External" Id="R4cc2ab5e116b4308" /><Relationship Type="http://schemas.openxmlformats.org/officeDocument/2006/relationships/notesSlide" Target="/ppt/notesSlides/notesSlide23.xml" Id="Re2120c0ed4d14cf7" /></Relationships>
</file>

<file path=ppt/slides/charts/chart1.xml><?xml version="1.0" encoding="utf-8"?>
<c:chartSpace xmlns:c="http://schemas.openxmlformats.org/drawingml/2006/chart">
  <c:lang val="en-US"/>
  <c:roundedCorners val="1"/>
  <c:style val="2"/>
  <c:chart>
    <c:autoTitleDeleted val="1"/>
    <c:plotArea>
      <c:barChart>
        <c:barDir val="bar"/>
        <c:grouping val="clustered"/>
        <c:varyColors val="0"/>
        <c:ser>
          <c:idx val="0"/>
          <c:order val="0"/>
          <c:tx>
            <c:strRef>
              <c:f>Sheet1!$B$1</c:f>
              <c:strCache>
                <c:ptCount val="1"/>
                <c:pt idx="0">
                  <c:v>g/h</c:v>
                </c:pt>
              </c:strCache>
            </c:strRef>
          </c:tx>
          <c:spPr>
            <a:solidFill xmlns:a="http://schemas.openxmlformats.org/drawingml/2006/main">
              <a:srgbClr val="F26B38"/>
            </a:solidFill>
          </c:spPr>
          <c:dPt>
            <c:idx val="0"/>
            <c:invertIfNegative val="0"/>
            <c:spPr>
              <a:solidFill xmlns:a="http://schemas.openxmlformats.org/drawingml/2006/main">
                <a:srgbClr val="8D99A3"/>
              </a:solidFill>
            </c:spPr>
          </c:dPt>
          <c:dPt>
            <c:idx val="1"/>
            <c:invertIfNegative val="0"/>
            <c:spPr>
              <a:solidFill xmlns:a="http://schemas.openxmlformats.org/drawingml/2006/main">
                <a:srgbClr val="F26B38"/>
              </a:solidFill>
            </c:spPr>
          </c:dPt>
          <c:dLbls>
            <c:spPr>
              <a:noFill xmlns:a="http://schemas.openxmlformats.org/drawingml/2006/main"/>
              <a:ln xmlns:a="http://schemas.openxmlformats.org/drawingml/2006/main">
                <a:noFill/>
              </a:ln>
            </c:spPr>
            <c:txPr>
              <a:bodyPr xmlns:a="http://schemas.openxmlformats.org/drawingml/2006/main" anchorCtr="1"/>
              <a:lstStyle xmlns:a="http://schemas.openxmlformats.org/drawingml/2006/main"/>
              <a:p xmlns:a="http://schemas.openxmlformats.org/drawingml/2006/main">
                <a:pPr>
                  <a:defRPr sz="1200" b="1">
                    <a:solidFill>
                      <a:srgbClr val="F4F6F8"/>
                    </a:solidFill>
                  </a:defRPr>
                </a:pPr>
              </a:p>
            </c:txPr>
            <c:dLblPos val="outEnd"/>
            <c:showLegendKey val="0"/>
            <c:showVal val="1"/>
            <c:showCatName val="0"/>
            <c:showSerName val="0"/>
            <c:showPercent val="0"/>
            <c:showBubbleSize val="0"/>
            <c:showLeaderLines val="0"/>
          </c:dLbls>
          <c:cat>
            <c:strRef>
              <c:f>Sheet1!$A$2:$A$3</c:f>
              <c:strCache>
                <c:ptCount val="2"/>
                <c:pt idx="0">
                  <c:v>Crew</c:v>
                </c:pt>
                <c:pt idx="1">
                  <c:v>Ship Refuel</c:v>
                </c:pt>
              </c:strCache>
            </c:strRef>
          </c:cat>
          <c:val>
            <c:numRef>
              <c:f>Sheet1!$B$2:$B$3</c:f>
              <c:numCache>
                <c:formatCode>General</c:formatCode>
                <c:ptCount val="2"/>
                <c:pt idx="0">
                  <c:v>7.4</c:v>
                </c:pt>
                <c:pt idx="1">
                  <c:v>585</c:v>
                </c:pt>
              </c:numCache>
            </c:numRef>
          </c:val>
        </c:ser>
        <c:dLbls>
          <c:dLblPos val="outEnd"/>
          <c:showLegendKey val="0"/>
          <c:showVal val="1"/>
          <c:showCatName val="0"/>
          <c:showSerName val="0"/>
          <c:showPercent val="0"/>
          <c:showBubbleSize val="0"/>
        </c:dLbls>
        <c:gapWidth val="64"/>
        <c:axId val="48650112"/>
        <c:axId val="48672768"/>
      </c:barChart>
      <c:catAx>
        <c:axId val="48650112"/>
        <c:scaling>
          <c:orientation val="minMax"/>
        </c:scaling>
        <c:delete val="0"/>
        <c:axPos val="l"/>
        <c:majorGridlines>
          <c:spPr>
            <a:ln xmlns:a="http://schemas.openxmlformats.org/drawingml/2006/main" w="9525">
              <a:solidFill>
                <a:srgbClr val="35414B"/>
              </a:solidFill>
              <a:prstDash val="dot"/>
            </a:ln>
          </c:spPr>
        </c:majorGridlines>
        <c:title>
          <c:tx>
            <c:rich>
              <a:bodyPr xmlns:a="http://schemas.openxmlformats.org/drawingml/2006/main"/>
              <a:lstStyle xmlns:a="http://schemas.openxmlformats.org/drawingml/2006/main"/>
              <a:p xmlns:a="http://schemas.openxmlformats.org/drawingml/2006/main">
                <a:r>
                  <a:rPr sz="900">
                    <a:solidFill>
                      <a:srgbClr val="8D99A3"/>
                    </a:solidFill>
                  </a:rPr>
                  <a:t>In Tons of O2</a:t>
                </a:r>
              </a:p>
            </c:rich>
          </c:tx>
          <c:overlay val="0"/>
          <c:txPr>
            <a:bodyPr xmlns:a="http://schemas.openxmlformats.org/drawingml/2006/main" anchorCtr="1"/>
            <a:lstStyle xmlns:a="http://schemas.openxmlformats.org/drawingml/2006/main"/>
            <a:p xmlns:a="http://schemas.openxmlformats.org/drawingml/2006/main">
              <a:pPr>
                <a:defRPr sz="900">
                  <a:solidFill>
                    <a:srgbClr val="8D99A3"/>
                  </a:solidFill>
                </a:defRPr>
              </a:pPr>
            </a:p>
          </c:txPr>
        </c:title>
        <c:numFmt formatCode="General" sourceLinked="1"/>
        <c:majorTickMark val="none"/>
        <c:minorTickMark val="none"/>
        <c:tickLblPos val="nextTo"/>
        <c:spPr>
          <a:ln xmlns:a="http://schemas.openxmlformats.org/drawingml/2006/main" w="9525">
            <a:solidFill>
              <a:srgbClr val="35414B"/>
            </a:solidFill>
            <a:prstDash val="solid"/>
          </a:ln>
        </c:spPr>
        <c:txPr>
          <a:bodyPr xmlns:a="http://schemas.openxmlformats.org/drawingml/2006/main" anchorCtr="1"/>
          <a:lstStyle xmlns:a="http://schemas.openxmlformats.org/drawingml/2006/main"/>
          <a:p xmlns:a="http://schemas.openxmlformats.org/drawingml/2006/main">
            <a:pPr>
              <a:defRPr sz="900">
                <a:solidFill>
                  <a:srgbClr val="8D99A3"/>
                </a:solidFill>
              </a:defRPr>
            </a:pPr>
          </a:p>
        </c:txPr>
        <c:crossAx val="48672768"/>
        <c:crosses val="autoZero"/>
        <c:lblOffset val="100"/>
      </c:catAx>
      <c:valAx>
        <c:axId val="48672768"/>
        <c:scaling>
          <c:orientation val="minMax"/>
        </c:scaling>
        <c:delete val="0"/>
        <c:axPos val="b"/>
        <c:numFmt formatCode="General" sourceLinked="1"/>
        <c:majorTickMark val="none"/>
        <c:minorTickMark val="none"/>
        <c:tickLblPos val="nextTo"/>
        <c:spPr>
          <a:ln xmlns:a="http://schemas.openxmlformats.org/drawingml/2006/main" w="0">
            <a:noFill/>
            <a:prstDash val="solid"/>
          </a:ln>
        </c:spPr>
        <c:txPr>
          <a:bodyPr xmlns:a="http://schemas.openxmlformats.org/drawingml/2006/main" anchorCtr="1"/>
          <a:lstStyle xmlns:a="http://schemas.openxmlformats.org/drawingml/2006/main"/>
          <a:p xmlns:a="http://schemas.openxmlformats.org/drawingml/2006/main">
            <a:pPr>
              <a:defRPr sz="1050" b="1">
                <a:solidFill>
                  <a:srgbClr val="D8DEE3"/>
                </a:solidFill>
              </a:defRPr>
            </a:pPr>
          </a:p>
        </c:txPr>
        <c:crossAx val="48650112"/>
        <c:crosses val="autoZero"/>
        <c:crossBetween val="between"/>
      </c:valAx>
      <c:spPr>
        <a:solidFill xmlns:a="http://schemas.openxmlformats.org/drawingml/2006/main">
          <a:srgbClr val="000000">
            <a:alpha val="0"/>
          </a:srgbClr>
        </a:solidFill>
        <a:ln xmlns:a="http://schemas.openxmlformats.org/drawingml/2006/main" w="0">
          <a:noFill/>
          <a:prstDash val="solid"/>
        </a:ln>
      </c:spPr>
    </c:plotArea>
    <c:plotVisOnly val="1"/>
  </c:chart>
  <c:spPr>
    <a:solidFill xmlns:a="http://schemas.openxmlformats.org/drawingml/2006/main">
      <a:srgbClr val="000000">
        <a:alpha val="0"/>
      </a:srgbClr>
    </a:solidFill>
    <a:ln xmlns:a="http://schemas.openxmlformats.org/drawingml/2006/main" w="0">
      <a:noFill/>
      <a:prstDash val="solid"/>
    </a:ln>
  </c:spPr>
</c:chartSpace>
</file>

<file path=ppt/slides/slide1.xml><?xml version="1.0" encoding="utf-8"?>
<p:sld xmlns:p="http://schemas.openxmlformats.org/presentationml/2006/main">
  <p:cSld>
    <p:bg>
      <p:bgPr>
        <a:solidFill xmlns:a="http://schemas.openxmlformats.org/drawingml/2006/main">
          <a:srgbClr val="07090C"/>
        </a:solidFill>
      </p:bgPr>
    </p:bg>
    <p:spTree>
      <p:nvGrpSpPr>
        <p:cNvPr id="1" name=""/>
        <p:cNvGrpSpPr/>
        <p:nvPr/>
      </p:nvGrpSpPr>
      <p:grpSpPr>
        <a:xfrm xmlns:a="http://schemas.openxmlformats.org/drawingml/2006/main"/>
      </p:grpSpPr>
      <p:pic>
        <p:nvPicPr>
          <p:cNvPr id="20" name="Picture 14"/>
          <p:cNvPicPr>
            <a:picLocks xmlns:a="http://schemas.openxmlformats.org/drawingml/2006/main" noChangeAspect="1"/>
          </p:cNvPicPr>
          <p:nvPr/>
        </p:nvPicPr>
        <p:blipFill>
          <a:blip xmlns:r="http://schemas.openxmlformats.org/officeDocument/2006/relationships" xmlns:a="http://schemas.openxmlformats.org/drawingml/2006/main" r:embed="R335dbc150131470e"/>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Rectangle 1">
            <a:extLst xmlns:a="http://schemas.openxmlformats.org/drawingml/2006/main">
              <a:ext uri="{FF2B5EF4-FFF2-40B4-BE49-F238E27FC236}">
                <a16:creationId xmlns:a16="http://schemas.microsoft.com/office/drawing/2014/main" id="{BC731539-EC74-4CAE-8C90-90B5507BC5A8}"/>
              </a:ext>
            </a:extLst>
          </p:cNvPr>
          <p:cNvSpPr>
            <a:spLocks xmlns:a="http://schemas.openxmlformats.org/drawingml/2006/main" noGrp="1"/>
          </p:cNvSpPr>
          <p:nvPr/>
        </p:nvSpPr>
        <p:spPr>
          <a:xfrm xmlns:a="http://schemas.openxmlformats.org/drawingml/2006/main">
            <a:off x="0" y="0"/>
            <a:ext cx="8858250" cy="6858000"/>
          </a:xfrm>
          <a:prstGeom xmlns:a="http://schemas.openxmlformats.org/drawingml/2006/main" prst="rect">
            <a:avLst/>
          </a:prstGeom>
          <a:gradFill xmlns:a="http://schemas.openxmlformats.org/drawingml/2006/main">
            <a:gsLst>
              <a:gs pos="0">
                <a:srgbClr val="07090C"/>
              </a:gs>
              <a:gs pos="52000">
                <a:srgbClr val="07090C">
                  <a:alpha val="96000"/>
                </a:srgbClr>
              </a:gs>
              <a:gs pos="100000">
                <a:srgbClr val="07090C">
                  <a:alpha val="0"/>
                </a:srgbClr>
              </a:gs>
            </a:gsLst>
            <a:lin ang="0"/>
          </a:gra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 name="Rectangle 2">
            <a:extLst xmlns:a="http://schemas.openxmlformats.org/drawingml/2006/main">
              <a:ext uri="{FF2B5EF4-FFF2-40B4-BE49-F238E27FC236}">
                <a16:creationId xmlns:a16="http://schemas.microsoft.com/office/drawing/2014/main" id="{B0FA4B53-DDE4-4094-80E6-D8EEE64A8115}"/>
              </a:ext>
            </a:extLst>
          </p:cNvPr>
          <p:cNvSpPr>
            <a:spLocks xmlns:a="http://schemas.openxmlformats.org/drawingml/2006/main" noGrp="1"/>
          </p:cNvSpPr>
          <p:nvPr/>
        </p:nvSpPr>
        <p:spPr>
          <a:xfrm xmlns:a="http://schemas.openxmlformats.org/drawingml/2006/main">
            <a:off x="609600" y="4381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050" b="1">
                <a:solidFill>
                  <a:srgbClr val="F26B38"/>
                </a:solidFill>
                <a:latin typeface="DejaVu Sans Mono"/>
                <a:ea typeface="DejaVu Sans Mono"/>
                <a:cs typeface="DejaVu Sans Mono"/>
              </a:defRPr>
            </a:pPr>
            <a:r>
              <a:rPr sz="1050" b="1">
                <a:solidFill>
                  <a:srgbClr val="F26B38"/>
                </a:solidFill>
                <a:latin typeface="DejaVu Sans Mono"/>
                <a:ea typeface="DejaVu Sans Mono"/>
                <a:cs typeface="DejaVu Sans Mono"/>
              </a:rPr>
              <a:t>29TH INTERNATIONAL MARS SOCIETY CONVENTION</a:t>
            </a:r>
          </a:p>
        </p:txBody>
      </p:sp>
      <p:sp>
        <p:nvSpPr>
          <p:cNvPr id="4" name="Rectangle 3">
            <a:extLst xmlns:a="http://schemas.openxmlformats.org/drawingml/2006/main">
              <a:ext uri="{FF2B5EF4-FFF2-40B4-BE49-F238E27FC236}">
                <a16:creationId xmlns:a16="http://schemas.microsoft.com/office/drawing/2014/main" id="{60C42635-2EE2-4058-8677-4255CDAFE628}"/>
              </a:ext>
            </a:extLst>
          </p:cNvPr>
          <p:cNvSpPr>
            <a:spLocks xmlns:a="http://schemas.openxmlformats.org/drawingml/2006/main" noGrp="1"/>
          </p:cNvSpPr>
          <p:nvPr/>
        </p:nvSpPr>
        <p:spPr>
          <a:xfrm xmlns:a="http://schemas.openxmlformats.org/drawingml/2006/main">
            <a:off x="609600" y="1200150"/>
            <a:ext cx="657225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83000"/>
              </a:lnSpc>
              <a:buNone/>
              <a:defRPr sz="4650" b="1">
                <a:solidFill>
                  <a:srgbClr val="F4F6F8"/>
                </a:solidFill>
                <a:latin typeface="DejaVu Sans"/>
                <a:ea typeface="DejaVu Sans"/>
                <a:cs typeface="DejaVu Sans"/>
              </a:defRPr>
            </a:pPr>
            <a:r>
              <a:rPr sz="4650" b="1">
                <a:solidFill>
                  <a:srgbClr val="F4F6F8"/>
                </a:solidFill>
                <a:latin typeface="DejaVu Sans"/>
                <a:ea typeface="DejaVu Sans"/>
                <a:cs typeface="DejaVu Sans"/>
              </a:rPr>
              <a:t>THE INTELLIGENCE</a:t>
            </a:r>
          </a:p>
          <a:p xmlns:a="http://schemas.openxmlformats.org/drawingml/2006/main">
            <a:pPr algn="l">
              <a:lnSpc>
                <a:spcPct val="83000"/>
              </a:lnSpc>
              <a:buNone/>
              <a:defRPr sz="4650" b="1">
                <a:solidFill>
                  <a:srgbClr val="F4F6F8"/>
                </a:solidFill>
                <a:latin typeface="DejaVu Sans"/>
                <a:ea typeface="DejaVu Sans"/>
                <a:cs typeface="DejaVu Sans"/>
              </a:defRPr>
            </a:pPr>
            <a:r>
              <a:rPr sz="4650" b="1">
                <a:solidFill>
                  <a:srgbClr val="F4F6F8"/>
                </a:solidFill>
                <a:latin typeface="DejaVu Sans"/>
                <a:ea typeface="DejaVu Sans"/>
                <a:cs typeface="DejaVu Sans"/>
              </a:rPr>
              <a:t>LAYER FOR MARS</a:t>
            </a:r>
          </a:p>
        </p:txBody>
      </p:sp>
      <p:sp>
        <p:nvSpPr>
          <p:cNvPr id="5" name="Rectangle 4">
            <a:extLst xmlns:a="http://schemas.openxmlformats.org/drawingml/2006/main">
              <a:ext uri="{FF2B5EF4-FFF2-40B4-BE49-F238E27FC236}">
                <a16:creationId xmlns:a16="http://schemas.microsoft.com/office/drawing/2014/main" id="{5A869B4C-867C-4D16-AB39-5A92DF316F47}"/>
              </a:ext>
            </a:extLst>
          </p:cNvPr>
          <p:cNvSpPr>
            <a:spLocks xmlns:a="http://schemas.openxmlformats.org/drawingml/2006/main" noGrp="1"/>
          </p:cNvSpPr>
          <p:nvPr/>
        </p:nvSpPr>
        <p:spPr>
          <a:xfrm xmlns:a="http://schemas.openxmlformats.org/drawingml/2006/main">
            <a:off x="647700" y="2810028"/>
            <a:ext cx="5810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a:solidFill>
                  <a:srgbClr val="D8DEE3"/>
                </a:solidFill>
                <a:latin typeface="DejaVu Sans"/>
                <a:ea typeface="DejaVu Sans"/>
                <a:cs typeface="DejaVu Sans"/>
              </a:defRPr>
            </a:pPr>
            <a:r>
              <a:rPr sz="1800" b="0">
                <a:solidFill>
                  <a:srgbClr val="D8DEE3"/>
                </a:solidFill>
                <a:latin typeface="DejaVu Sans"/>
                <a:ea typeface="DejaVu Sans"/>
                <a:cs typeface="DejaVu Sans"/>
              </a:rPr>
              <a:t>Harnessed agentic AI for science, engineering</a:t>
            </a:r>
            <a:r>
              <a:rPr sz="1800" b="0">
                <a:solidFill>
                  <a:srgbClr val="D8DEE3"/>
                </a:solidFill>
                <a:latin typeface="DejaVu Sans"/>
                <a:ea typeface="DejaVu Sans"/>
                <a:cs typeface="DejaVu Sans"/>
              </a:rPr>
              <a:t>,</a:t>
            </a:r>
            <a:r>
              <a:rPr sz="1800" b="0">
                <a:solidFill>
                  <a:srgbClr val="D8DEE3"/>
                </a:solidFill>
                <a:latin typeface="DejaVu Sans"/>
                <a:ea typeface="DejaVu Sans"/>
                <a:cs typeface="DejaVu Sans"/>
              </a:rPr>
              <a:t> </a:t>
            </a:r>
            <a:r>
              <a:rPr sz="1800" b="0">
                <a:solidFill>
                  <a:srgbClr val="D8DEE3"/>
                </a:solidFill>
                <a:latin typeface="DejaVu Sans"/>
                <a:ea typeface="DejaVu Sans"/>
                <a:cs typeface="DejaVu Sans"/>
              </a:rPr>
              <a:t>space transportation, communications and </a:t>
            </a:r>
            <a:r>
              <a:rPr sz="1800" b="0">
                <a:solidFill>
                  <a:srgbClr val="D8DEE3"/>
                </a:solidFill>
                <a:latin typeface="DejaVu Sans"/>
                <a:ea typeface="DejaVu Sans"/>
                <a:cs typeface="DejaVu Sans"/>
              </a:rPr>
              <a:t>settlement</a:t>
            </a:r>
          </a:p>
        </p:txBody>
      </p:sp>
      <p:sp>
        <p:nvSpPr>
          <p:cNvPr id="6" name="Straight Connector 5">
            <a:extLst xmlns:a="http://schemas.openxmlformats.org/drawingml/2006/main">
              <a:ext uri="{FF2B5EF4-FFF2-40B4-BE49-F238E27FC236}">
                <a16:creationId xmlns:a16="http://schemas.microsoft.com/office/drawing/2014/main" id="{C46C4E06-CA3A-47BC-8E92-986A80F6EEEE}"/>
              </a:ext>
            </a:extLst>
          </p:cNvPr>
          <p:cNvSpPr>
            <a:spLocks xmlns:a="http://schemas.openxmlformats.org/drawingml/2006/main" noGrp="1"/>
          </p:cNvSpPr>
          <p:nvPr/>
        </p:nvSpPr>
        <p:spPr>
          <a:xfrm xmlns:a="http://schemas.openxmlformats.org/drawingml/2006/main">
            <a:off x="647700" y="4114800"/>
            <a:ext cx="4953000" cy="0"/>
          </a:xfrm>
          <a:prstGeom xmlns:a="http://schemas.openxmlformats.org/drawingml/2006/main" prst="line">
            <a:avLst/>
          </a:prstGeom>
          <a:noFill xmlns:a="http://schemas.openxmlformats.org/drawingml/2006/main"/>
          <a:ln xmlns:a="http://schemas.openxmlformats.org/drawingml/2006/main" w="28575">
            <a:solidFill>
              <a:srgbClr val="F26B38"/>
            </a:solidFill>
            <a:prstDash val="solid"/>
          </a:ln>
        </p:spPr>
        <p:txBody>
          <a:bodyPr xmlns:a="http://schemas.openxmlformats.org/drawingml/2006/main"/>
          <a:lstStyle xmlns:a="http://schemas.openxmlformats.org/drawingml/2006/main"/>
          <a:p xmlns:a="http://schemas.openxmlformats.org/drawingml/2006/main">
            <a:endParaRPr/>
          </a:p>
        </p:txBody>
      </p:sp>
      <p:sp>
        <p:nvSpPr>
          <p:cNvPr id="7" name="Rectangle: Rounded Corners 6">
            <a:extLst xmlns:a="http://schemas.openxmlformats.org/drawingml/2006/main">
              <a:ext uri="{FF2B5EF4-FFF2-40B4-BE49-F238E27FC236}">
                <a16:creationId xmlns:a16="http://schemas.microsoft.com/office/drawing/2014/main" id="{F96DE93F-762F-40EA-A4F0-86BE1DB7A203}"/>
              </a:ext>
            </a:extLst>
          </p:cNvPr>
          <p:cNvSpPr>
            <a:spLocks xmlns:a="http://schemas.openxmlformats.org/drawingml/2006/main" noGrp="1"/>
          </p:cNvSpPr>
          <p:nvPr/>
        </p:nvSpPr>
        <p:spPr>
          <a:xfrm xmlns:a="http://schemas.openxmlformats.org/drawingml/2006/main">
            <a:off x="647700" y="4400550"/>
            <a:ext cx="1371600" cy="533400"/>
          </a:xfrm>
          <a:prstGeom xmlns:a="http://schemas.openxmlformats.org/drawingml/2006/main" prst="roundRect">
            <a:avLst>
              <a:gd name="adj" fmla="val 28571"/>
            </a:avLst>
          </a:prstGeom>
          <a:solidFill xmlns:a="http://schemas.openxmlformats.org/drawingml/2006/main">
            <a:srgbClr val="0F1A20">
              <a:alpha val="92000"/>
            </a:srgbClr>
          </a:solidFill>
          <a:ln xmlns:a="http://schemas.openxmlformats.org/drawingml/2006/main" w="14288">
            <a:solidFill>
              <a:srgbClr val="39D7FF"/>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275" b="1">
                <a:solidFill>
                  <a:srgbClr val="39D7FF"/>
                </a:solidFill>
                <a:latin typeface="DejaVu Sans"/>
                <a:ea typeface="DejaVu Sans"/>
                <a:cs typeface="DejaVu Sans"/>
              </a:defRPr>
            </a:pPr>
            <a:r>
              <a:rPr sz="1275" b="1">
                <a:solidFill>
                  <a:srgbClr val="39D7FF"/>
                </a:solidFill>
                <a:latin typeface="DejaVu Sans"/>
                <a:ea typeface="DejaVu Sans"/>
                <a:cs typeface="DejaVu Sans"/>
              </a:rPr>
              <a:t>SCIENCE</a:t>
            </a:r>
          </a:p>
        </p:txBody>
      </p:sp>
      <p:sp>
        <p:nvSpPr>
          <p:cNvPr id="8" name="Arrow: Right 7">
            <a:extLst xmlns:a="http://schemas.openxmlformats.org/drawingml/2006/main">
              <a:ext uri="{FF2B5EF4-FFF2-40B4-BE49-F238E27FC236}">
                <a16:creationId xmlns:a16="http://schemas.microsoft.com/office/drawing/2014/main" id="{E19C4ED1-E9EF-4FB7-A328-96C375078945}"/>
              </a:ext>
            </a:extLst>
          </p:cNvPr>
          <p:cNvSpPr>
            <a:spLocks xmlns:a="http://schemas.openxmlformats.org/drawingml/2006/main" noGrp="1"/>
          </p:cNvSpPr>
          <p:nvPr/>
        </p:nvSpPr>
        <p:spPr>
          <a:xfrm xmlns:a="http://schemas.openxmlformats.org/drawingml/2006/main">
            <a:off x="2152650" y="4562475"/>
            <a:ext cx="819150" cy="190500"/>
          </a:xfrm>
          <a:prstGeom xmlns:a="http://schemas.openxmlformats.org/drawingml/2006/main" prst="rightArrow">
            <a:avLst/>
          </a:prstGeom>
          <a:solidFill xmlns:a="http://schemas.openxmlformats.org/drawingml/2006/main">
            <a:srgbClr val="39D7FF">
              <a:alpha val="75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9" name="Rectangle: Rounded Corners 8">
            <a:extLst xmlns:a="http://schemas.openxmlformats.org/drawingml/2006/main">
              <a:ext uri="{FF2B5EF4-FFF2-40B4-BE49-F238E27FC236}">
                <a16:creationId xmlns:a16="http://schemas.microsoft.com/office/drawing/2014/main" id="{16E7A095-83B1-49C0-BA12-74D4C61EE565}"/>
              </a:ext>
            </a:extLst>
          </p:cNvPr>
          <p:cNvSpPr>
            <a:spLocks xmlns:a="http://schemas.openxmlformats.org/drawingml/2006/main" noGrp="1"/>
          </p:cNvSpPr>
          <p:nvPr/>
        </p:nvSpPr>
        <p:spPr>
          <a:xfrm xmlns:a="http://schemas.openxmlformats.org/drawingml/2006/main">
            <a:off x="3105150" y="4400550"/>
            <a:ext cx="1695450" cy="533400"/>
          </a:xfrm>
          <a:prstGeom xmlns:a="http://schemas.openxmlformats.org/drawingml/2006/main" prst="roundRect">
            <a:avLst>
              <a:gd name="adj" fmla="val 28571"/>
            </a:avLst>
          </a:prstGeom>
          <a:solidFill xmlns:a="http://schemas.openxmlformats.org/drawingml/2006/main">
            <a:srgbClr val="191612">
              <a:alpha val="94000"/>
            </a:srgbClr>
          </a:solidFill>
          <a:ln xmlns:a="http://schemas.openxmlformats.org/drawingml/2006/main" w="14288">
            <a:solidFill>
              <a:srgbClr val="F26B38"/>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275" b="1">
                <a:solidFill>
                  <a:srgbClr val="F26B38"/>
                </a:solidFill>
                <a:latin typeface="DejaVu Sans"/>
                <a:ea typeface="DejaVu Sans"/>
                <a:cs typeface="DejaVu Sans"/>
              </a:defRPr>
            </a:pPr>
            <a:r>
              <a:rPr sz="1275" b="1">
                <a:solidFill>
                  <a:srgbClr val="F26B38"/>
                </a:solidFill>
                <a:latin typeface="DejaVu Sans"/>
                <a:ea typeface="DejaVu Sans"/>
                <a:cs typeface="DejaVu Sans"/>
              </a:rPr>
              <a:t>ENGINEERING</a:t>
            </a:r>
          </a:p>
        </p:txBody>
      </p:sp>
      <p:sp>
        <p:nvSpPr>
          <p:cNvPr id="10" name="Arrow: Right 9">
            <a:extLst xmlns:a="http://schemas.openxmlformats.org/drawingml/2006/main">
              <a:ext uri="{FF2B5EF4-FFF2-40B4-BE49-F238E27FC236}">
                <a16:creationId xmlns:a16="http://schemas.microsoft.com/office/drawing/2014/main" id="{5F51F77F-6ED3-47AE-88C5-CB2C4C244FAC}"/>
              </a:ext>
            </a:extLst>
          </p:cNvPr>
          <p:cNvSpPr>
            <a:spLocks xmlns:a="http://schemas.openxmlformats.org/drawingml/2006/main" noGrp="1"/>
          </p:cNvSpPr>
          <p:nvPr/>
        </p:nvSpPr>
        <p:spPr>
          <a:xfrm xmlns:a="http://schemas.openxmlformats.org/drawingml/2006/main">
            <a:off x="4933950" y="4562475"/>
            <a:ext cx="819150" cy="190500"/>
          </a:xfrm>
          <a:prstGeom xmlns:a="http://schemas.openxmlformats.org/drawingml/2006/main" prst="rightArrow">
            <a:avLst/>
          </a:prstGeom>
          <a:solidFill xmlns:a="http://schemas.openxmlformats.org/drawingml/2006/main">
            <a:srgbClr val="F26B38">
              <a:alpha val="75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1" name="Rectangle: Rounded Corners 10">
            <a:extLst xmlns:a="http://schemas.openxmlformats.org/drawingml/2006/main">
              <a:ext uri="{FF2B5EF4-FFF2-40B4-BE49-F238E27FC236}">
                <a16:creationId xmlns:a16="http://schemas.microsoft.com/office/drawing/2014/main" id="{4CA98D05-F35D-42E6-BB37-7DD3D0AF8044}"/>
              </a:ext>
            </a:extLst>
          </p:cNvPr>
          <p:cNvSpPr>
            <a:spLocks xmlns:a="http://schemas.openxmlformats.org/drawingml/2006/main" noGrp="1"/>
          </p:cNvSpPr>
          <p:nvPr/>
        </p:nvSpPr>
        <p:spPr>
          <a:xfrm xmlns:a="http://schemas.openxmlformats.org/drawingml/2006/main">
            <a:off x="5886450" y="4400550"/>
            <a:ext cx="1562100" cy="533400"/>
          </a:xfrm>
          <a:prstGeom xmlns:a="http://schemas.openxmlformats.org/drawingml/2006/main" prst="roundRect">
            <a:avLst>
              <a:gd name="adj" fmla="val 28571"/>
            </a:avLst>
          </a:prstGeom>
          <a:noFill xmlns:a="http://schemas.openxmlformats.org/drawingml/2006/main"/>
          <a:ln xmlns:a="http://schemas.openxmlformats.org/drawingml/2006/main" w="14288">
            <a:solidFill>
              <a:schemeClr val="accent5">
                <a:lumMod val="60000"/>
                <a:lumOff val="40000"/>
              </a:schemeClr>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275" b="1">
                <a:solidFill>
                  <a:srgbClr val="62D6A7"/>
                </a:solidFill>
                <a:latin typeface="DejaVu Sans"/>
                <a:ea typeface="DejaVu Sans"/>
                <a:cs typeface="DejaVu Sans"/>
              </a:defRPr>
            </a:pPr>
            <a:r>
              <a:rPr sz="1275" b="1">
                <a:solidFill>
                  <a:schemeClr val="accent5">
                    <a:lumMod val="60000"/>
                    <a:lumOff val="40000"/>
                  </a:schemeClr>
                </a:solidFill>
                <a:latin typeface="DejaVu Sans"/>
                <a:ea typeface="DejaVu Sans"/>
                <a:cs typeface="DejaVu Sans"/>
              </a:rPr>
              <a:t>BUILD</a:t>
            </a:r>
            <a:endParaRPr sz="1275" b="1">
              <a:solidFill>
                <a:schemeClr val="accent5">
                  <a:lumMod val="60000"/>
                  <a:lumOff val="40000"/>
                </a:schemeClr>
              </a:solidFill>
              <a:latin typeface="DejaVu Sans"/>
              <a:ea typeface="DejaVu Sans"/>
              <a:cs typeface="DejaVu Sans"/>
            </a:endParaRPr>
          </a:p>
        </p:txBody>
      </p:sp>
      <p:sp>
        <p:nvSpPr>
          <p:cNvPr id="12" name="Rectangle 11">
            <a:extLst xmlns:a="http://schemas.openxmlformats.org/drawingml/2006/main">
              <a:ext uri="{FF2B5EF4-FFF2-40B4-BE49-F238E27FC236}">
                <a16:creationId xmlns:a16="http://schemas.microsoft.com/office/drawing/2014/main" id="{C971008F-08C2-4839-9E76-534C0CEE878C}"/>
              </a:ext>
            </a:extLst>
          </p:cNvPr>
          <p:cNvSpPr>
            <a:spLocks xmlns:a="http://schemas.openxmlformats.org/drawingml/2006/main" noGrp="1"/>
          </p:cNvSpPr>
          <p:nvPr/>
        </p:nvSpPr>
        <p:spPr>
          <a:xfrm xmlns:a="http://schemas.openxmlformats.org/drawingml/2006/main">
            <a:off x="647700" y="5791200"/>
            <a:ext cx="619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125" b="1">
                <a:solidFill>
                  <a:srgbClr val="D8DEE3"/>
                </a:solidFill>
                <a:latin typeface="DejaVu Sans Mono"/>
                <a:ea typeface="DejaVu Sans Mono"/>
                <a:cs typeface="DejaVu Sans Mono"/>
              </a:defRPr>
            </a:pPr>
            <a:r>
              <a:rPr sz="1125" b="1">
                <a:solidFill>
                  <a:srgbClr val="D8DEE3"/>
                </a:solidFill>
                <a:latin typeface="DejaVu Sans Mono"/>
                <a:ea typeface="DejaVu Sans Mono"/>
                <a:cs typeface="DejaVu Sans Mono"/>
              </a:rPr>
              <a:t>OCTOBER 22–24, 2026  •  USC, LOS ANGELES</a:t>
            </a:r>
          </a:p>
        </p:txBody>
      </p:sp>
      <p:sp>
        <p:nvSpPr>
          <p:cNvPr id="13" name="Rectangle 12">
            <a:extLst xmlns:a="http://schemas.openxmlformats.org/drawingml/2006/main">
              <a:ext uri="{FF2B5EF4-FFF2-40B4-BE49-F238E27FC236}">
                <a16:creationId xmlns:a16="http://schemas.microsoft.com/office/drawing/2014/main" id="{EF1CBEC0-B754-4CD4-9535-49E6DF09D099}"/>
              </a:ext>
            </a:extLst>
          </p:cNvPr>
          <p:cNvSpPr>
            <a:spLocks xmlns:a="http://schemas.openxmlformats.org/drawingml/2006/main" noGrp="1"/>
          </p:cNvSpPr>
          <p:nvPr/>
        </p:nvSpPr>
        <p:spPr>
          <a:xfrm xmlns:a="http://schemas.openxmlformats.org/drawingml/2006/main">
            <a:off x="647700" y="611505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275" b="1">
                <a:solidFill>
                  <a:srgbClr val="F4F6F8"/>
                </a:solidFill>
                <a:latin typeface="DejaVu Sans"/>
                <a:ea typeface="DejaVu Sans"/>
                <a:cs typeface="DejaVu Sans"/>
              </a:defRPr>
            </a:pPr>
            <a:r>
              <a:rPr sz="1275" b="1">
                <a:solidFill>
                  <a:srgbClr val="F4F6F8"/>
                </a:solidFill>
                <a:latin typeface="DejaVu Sans"/>
                <a:ea typeface="DejaVu Sans"/>
                <a:cs typeface="DejaVu Sans"/>
              </a:rPr>
              <a:t>BOB J MILLS</a:t>
            </a:r>
          </a:p>
        </p:txBody>
      </p:sp>
      <p:sp>
        <p:nvSpPr>
          <p:cNvPr id="16" name="Rectangle: Rounded Corners 15">
            <a:extLst xmlns:a="http://schemas.openxmlformats.org/drawingml/2006/main">
              <a:ext uri="{FF2B5EF4-FFF2-40B4-BE49-F238E27FC236}">
                <a16:creationId xmlns:a16="http://schemas.microsoft.com/office/drawing/2014/main" id="{902598D6-B962-54F1-C901-7C27ADFF4561}"/>
              </a:ext>
            </a:extLst>
          </p:cNvPr>
          <p:cNvSpPr>
            <a:spLocks xmlns:a="http://schemas.openxmlformats.org/drawingml/2006/main" noGrp="1"/>
          </p:cNvSpPr>
          <p:nvPr/>
        </p:nvSpPr>
        <p:spPr>
          <a:xfrm xmlns:a="http://schemas.openxmlformats.org/drawingml/2006/main">
            <a:off x="8477250" y="4391025"/>
            <a:ext cx="1562100" cy="533400"/>
          </a:xfrm>
          <a:prstGeom xmlns:a="http://schemas.openxmlformats.org/drawingml/2006/main" prst="roundRect">
            <a:avLst>
              <a:gd name="adj" fmla="val 28571"/>
            </a:avLst>
          </a:prstGeom>
          <a:noFill xmlns:a="http://schemas.openxmlformats.org/drawingml/2006/main"/>
          <a:ln xmlns:a="http://schemas.openxmlformats.org/drawingml/2006/main" w="14288">
            <a:solidFill>
              <a:srgbClr val="62D6A7"/>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275" b="1">
                <a:solidFill>
                  <a:srgbClr val="62D6A7"/>
                </a:solidFill>
                <a:latin typeface="DejaVu Sans"/>
                <a:ea typeface="DejaVu Sans"/>
                <a:cs typeface="DejaVu Sans"/>
              </a:defRPr>
            </a:pPr>
            <a:r>
              <a:rPr sz="1275" b="1">
                <a:solidFill>
                  <a:srgbClr val="62D6A7"/>
                </a:solidFill>
                <a:latin typeface="DejaVu Sans"/>
                <a:ea typeface="DejaVu Sans"/>
                <a:cs typeface="DejaVu Sans"/>
              </a:rPr>
              <a:t>OPERATIONS</a:t>
            </a:r>
          </a:p>
        </p:txBody>
      </p:sp>
      <p:sp>
        <p:nvSpPr>
          <p:cNvPr id="18" name="Arrow: Right 17">
            <a:extLst xmlns:a="http://schemas.openxmlformats.org/drawingml/2006/main">
              <a:ext uri="{FF2B5EF4-FFF2-40B4-BE49-F238E27FC236}">
                <a16:creationId xmlns:a16="http://schemas.microsoft.com/office/drawing/2014/main" id="{A96BA40F-36DD-F25B-E569-29C5AC0853A5}"/>
              </a:ext>
            </a:extLst>
          </p:cNvPr>
          <p:cNvSpPr>
            <a:spLocks xmlns:a="http://schemas.openxmlformats.org/drawingml/2006/main" noGrp="1"/>
          </p:cNvSpPr>
          <p:nvPr/>
        </p:nvSpPr>
        <p:spPr>
          <a:xfrm xmlns:a="http://schemas.openxmlformats.org/drawingml/2006/main">
            <a:off x="7577421" y="4572000"/>
            <a:ext cx="819150" cy="190500"/>
          </a:xfrm>
          <a:prstGeom xmlns:a="http://schemas.openxmlformats.org/drawingml/2006/main" prst="rightArrow">
            <a:avLst/>
          </a:prstGeom>
          <a:solidFill xmlns:a="http://schemas.openxmlformats.org/drawingml/2006/main">
            <a:schemeClr val="accent5">
              <a:lumMod val="60000"/>
              <a:lumOff val="40000"/>
              <a:alpha val="75000"/>
            </a:scheme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Tree>
    <p:extLst>
      <p:ext uri="{BB962C8B-B14F-4D97-AF65-F5344CB8AC3E}">
        <p14:creationId xmlns:p14="http://schemas.microsoft.com/office/powerpoint/2010/main" val="749810425"/>
      </p:ext>
    </p:extLst>
  </p:cSld>
</p:sld>
</file>

<file path=ppt/slides/slide2.xml><?xml version="1.0" encoding="utf-8"?>
<p:sld xmlns:p="http://schemas.openxmlformats.org/presentationml/2006/main">
  <p:cSld>
    <p:bg>
      <p:bgPr>
        <a:solidFill xmlns:a="http://schemas.openxmlformats.org/drawingml/2006/main">
          <a:srgbClr val="07090C"/>
        </a:solidFill>
      </p:bgPr>
    </p:bg>
    <p:spTree>
      <p:nvGrpSpPr>
        <p:cNvPr id="1" name=""/>
        <p:cNvGrpSpPr/>
        <p:nvPr/>
      </p:nvGrpSpPr>
      <p:grpSpPr>
        <a:xfrm xmlns:a="http://schemas.openxmlformats.org/drawingml/2006/main"/>
      </p:grpSpPr>
      <p:pic>
        <p:nvPicPr>
          <p:cNvPr id="28" name="Picture 27"/>
          <p:cNvPicPr>
            <a:picLocks xmlns:a="http://schemas.openxmlformats.org/drawingml/2006/main" noChangeAspect="1"/>
          </p:cNvPicPr>
          <p:nvPr/>
        </p:nvPicPr>
        <p:blipFill>
          <a:blip xmlns:r="http://schemas.openxmlformats.org/officeDocument/2006/relationships" xmlns:a="http://schemas.openxmlformats.org/drawingml/2006/main" r:embed="R7a8a7b7e470845ee"/>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Rectangle 1">
            <a:extLst xmlns:a="http://schemas.openxmlformats.org/drawingml/2006/main">
              <a:ext uri="{FF2B5EF4-FFF2-40B4-BE49-F238E27FC236}">
                <a16:creationId xmlns:a16="http://schemas.microsoft.com/office/drawing/2014/main" id="{4B5E39E1-A130-46A9-9BF5-A5B4064FFAD5}"/>
              </a:ext>
            </a:extLst>
          </p:cNvPr>
          <p:cNvSpPr>
            <a:spLocks xmlns:a="http://schemas.openxmlformats.org/drawingml/2006/main" noGrp="1"/>
          </p:cNvSpPr>
          <p:nvPr/>
        </p:nvSpPr>
        <p:spPr>
          <a:xfrm xmlns:a="http://schemas.openxmlformats.org/drawingml/2006/main">
            <a:off x="-111056" y="0"/>
            <a:ext cx="7429500" cy="6858000"/>
          </a:xfrm>
          <a:prstGeom xmlns:a="http://schemas.openxmlformats.org/drawingml/2006/main" prst="rect">
            <a:avLst/>
          </a:prstGeom>
          <a:gradFill xmlns:a="http://schemas.openxmlformats.org/drawingml/2006/main">
            <a:gsLst>
              <a:gs pos="0">
                <a:srgbClr val="07090C"/>
              </a:gs>
              <a:gs pos="67000">
                <a:srgbClr val="07090C">
                  <a:alpha val="97000"/>
                </a:srgbClr>
              </a:gs>
              <a:gs pos="100000">
                <a:srgbClr val="07090C">
                  <a:alpha val="0"/>
                </a:srgbClr>
              </a:gs>
            </a:gsLst>
            <a:lin ang="0"/>
          </a:gra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 name="Rectangle 2">
            <a:extLst xmlns:a="http://schemas.openxmlformats.org/drawingml/2006/main">
              <a:ext uri="{FF2B5EF4-FFF2-40B4-BE49-F238E27FC236}">
                <a16:creationId xmlns:a16="http://schemas.microsoft.com/office/drawing/2014/main" id="{87DFCF75-48DD-4B6A-838B-5712F472D29F}"/>
              </a:ext>
            </a:extLst>
          </p:cNvPr>
          <p:cNvSpPr>
            <a:spLocks xmlns:a="http://schemas.openxmlformats.org/drawingml/2006/main" noGrp="1"/>
          </p:cNvSpPr>
          <p:nvPr/>
        </p:nvSpPr>
        <p:spPr>
          <a:xfrm xmlns:a="http://schemas.openxmlformats.org/drawingml/2006/main">
            <a:off x="609600" y="34290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75" b="1">
                <a:solidFill>
                  <a:srgbClr val="F26B38"/>
                </a:solidFill>
                <a:latin typeface="DejaVu Sans Mono"/>
                <a:ea typeface="DejaVu Sans Mono"/>
                <a:cs typeface="DejaVu Sans Mono"/>
              </a:defRPr>
            </a:pPr>
            <a:r>
              <a:rPr sz="975" b="1">
                <a:solidFill>
                  <a:srgbClr val="F26B38"/>
                </a:solidFill>
                <a:latin typeface="DejaVu Sans Mono"/>
                <a:ea typeface="DejaVu Sans Mono"/>
                <a:cs typeface="DejaVu Sans Mono"/>
              </a:rPr>
              <a:t>02  /  MISSION CONSTRAINT</a:t>
            </a:r>
          </a:p>
        </p:txBody>
      </p:sp>
      <p:sp>
        <p:nvSpPr>
          <p:cNvPr id="4" name="Rectangle 3">
            <a:extLst xmlns:a="http://schemas.openxmlformats.org/drawingml/2006/main">
              <a:ext uri="{FF2B5EF4-FFF2-40B4-BE49-F238E27FC236}">
                <a16:creationId xmlns:a16="http://schemas.microsoft.com/office/drawing/2014/main" id="{F76F475D-63B5-456C-A8F1-9E3A063609C6}"/>
              </a:ext>
            </a:extLst>
          </p:cNvPr>
          <p:cNvSpPr>
            <a:spLocks xmlns:a="http://schemas.openxmlformats.org/drawingml/2006/main" noGrp="1"/>
          </p:cNvSpPr>
          <p:nvPr/>
        </p:nvSpPr>
        <p:spPr>
          <a:xfrm xmlns:a="http://schemas.openxmlformats.org/drawingml/2006/main">
            <a:off x="609600" y="723900"/>
            <a:ext cx="619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2625" b="1">
                <a:solidFill>
                  <a:srgbClr val="F4F6F8"/>
                </a:solidFill>
                <a:latin typeface="DejaVu Sans"/>
                <a:ea typeface="DejaVu Sans"/>
                <a:cs typeface="DejaVu Sans"/>
              </a:defRPr>
            </a:pPr>
            <a:r>
              <a:rPr sz="2625" b="1">
                <a:solidFill>
                  <a:srgbClr val="F4F6F8"/>
                </a:solidFill>
                <a:latin typeface="DejaVu Sans"/>
                <a:ea typeface="DejaVu Sans"/>
                <a:cs typeface="DejaVu Sans"/>
              </a:rPr>
              <a:t>Mars is a learning-rate problem</a:t>
            </a:r>
          </a:p>
        </p:txBody>
      </p:sp>
      <p:sp>
        <p:nvSpPr>
          <p:cNvPr id="5" name="Rectangle 4">
            <a:extLst xmlns:a="http://schemas.openxmlformats.org/drawingml/2006/main">
              <a:ext uri="{FF2B5EF4-FFF2-40B4-BE49-F238E27FC236}">
                <a16:creationId xmlns:a16="http://schemas.microsoft.com/office/drawing/2014/main" id="{FCCEA69D-608F-43B8-8170-73D1F3977FA3}"/>
              </a:ext>
            </a:extLst>
          </p:cNvPr>
          <p:cNvSpPr>
            <a:spLocks xmlns:a="http://schemas.openxmlformats.org/drawingml/2006/main" noGrp="1"/>
          </p:cNvSpPr>
          <p:nvPr/>
        </p:nvSpPr>
        <p:spPr>
          <a:xfrm xmlns:a="http://schemas.openxmlformats.org/drawingml/2006/main">
            <a:off x="628650" y="1352550"/>
            <a:ext cx="6039056" cy="1504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1650" b="0">
                <a:solidFill>
                  <a:srgbClr val="D8DEE3"/>
                </a:solidFill>
                <a:latin typeface="DejaVu Sans"/>
                <a:ea typeface="DejaVu Sans"/>
                <a:cs typeface="DejaVu Sans"/>
              </a:defRPr>
            </a:pPr>
            <a:r>
              <a:rPr sz="1650" b="0">
                <a:solidFill>
                  <a:srgbClr val="D8DEE3"/>
                </a:solidFill>
                <a:latin typeface="DejaVu Sans"/>
                <a:ea typeface="DejaVu Sans"/>
                <a:cs typeface="DejaVu Sans"/>
              </a:rPr>
              <a:t>The scarce</a:t>
            </a:r>
            <a:r>
              <a:rPr sz="1650" b="0">
                <a:solidFill>
                  <a:srgbClr val="D8DEE3"/>
                </a:solidFill>
                <a:latin typeface="DejaVu Sans"/>
                <a:ea typeface="DejaVu Sans"/>
                <a:cs typeface="DejaVu Sans"/>
              </a:rPr>
              <a:t>st</a:t>
            </a:r>
            <a:r>
              <a:rPr sz="1650" b="0">
                <a:solidFill>
                  <a:srgbClr val="D8DEE3"/>
                </a:solidFill>
                <a:latin typeface="DejaVu Sans"/>
                <a:ea typeface="DejaVu Sans"/>
                <a:cs typeface="DejaVu Sans"/>
              </a:rPr>
              <a:t> resource is time</a:t>
            </a:r>
            <a:r>
              <a:rPr sz="1650" b="0">
                <a:solidFill>
                  <a:srgbClr val="D8DEE3"/>
                </a:solidFill>
                <a:latin typeface="DejaVu Sans"/>
                <a:ea typeface="DejaVu Sans"/>
                <a:cs typeface="DejaVu Sans"/>
              </a:rPr>
              <a:t> -</a:t>
            </a:r>
            <a:r>
              <a:rPr sz="1650" b="0">
                <a:solidFill>
                  <a:srgbClr val="D8DEE3"/>
                </a:solidFill>
                <a:latin typeface="DejaVu Sans"/>
                <a:ea typeface="DejaVu Sans"/>
                <a:cs typeface="DejaVu Sans"/>
              </a:rPr>
              <a:t> from </a:t>
            </a:r>
            <a:r>
              <a:rPr sz="1650" b="0">
                <a:solidFill>
                  <a:srgbClr val="D8DEE3"/>
                </a:solidFill>
                <a:latin typeface="DejaVu Sans"/>
                <a:ea typeface="DejaVu Sans"/>
                <a:cs typeface="DejaVu Sans"/>
              </a:rPr>
              <a:t>a goal</a:t>
            </a:r>
            <a:r>
              <a:rPr sz="1650" b="0">
                <a:solidFill>
                  <a:srgbClr val="D8DEE3"/>
                </a:solidFill>
                <a:latin typeface="DejaVu Sans"/>
                <a:ea typeface="DejaVu Sans"/>
                <a:cs typeface="DejaVu Sans"/>
              </a:rPr>
              <a:t> to </a:t>
            </a:r>
            <a:r>
              <a:rPr sz="1650" b="0">
                <a:solidFill>
                  <a:srgbClr val="D8DEE3"/>
                </a:solidFill>
                <a:latin typeface="DejaVu Sans"/>
                <a:ea typeface="DejaVu Sans"/>
                <a:cs typeface="DejaVu Sans"/>
              </a:rPr>
              <a:t>execution</a:t>
            </a:r>
            <a:r>
              <a:rPr sz="1650" b="0">
                <a:solidFill>
                  <a:srgbClr val="D8DEE3"/>
                </a:solidFill>
                <a:latin typeface="DejaVu Sans"/>
                <a:ea typeface="DejaVu Sans"/>
                <a:cs typeface="DejaVu Sans"/>
              </a:rPr>
              <a:t>.</a:t>
            </a:r>
            <a:endParaRPr sz="1650" b="0">
              <a:solidFill>
                <a:srgbClr val="D8DEE3"/>
              </a:solidFill>
              <a:latin typeface="DejaVu Sans"/>
              <a:ea typeface="DejaVu Sans"/>
              <a:cs typeface="DejaVu Sans"/>
            </a:endParaRPr>
          </a:p>
          <a:p xmlns:a="http://schemas.openxmlformats.org/drawingml/2006/main">
            <a:pPr algn="l">
              <a:lnSpc>
                <a:spcPct val="108000"/>
              </a:lnSpc>
              <a:buNone/>
              <a:defRPr sz="1650" b="0">
                <a:solidFill>
                  <a:srgbClr val="D8DEE3"/>
                </a:solidFill>
                <a:latin typeface="DejaVu Sans"/>
                <a:ea typeface="DejaVu Sans"/>
                <a:cs typeface="DejaVu Sans"/>
              </a:defRPr>
            </a:pPr>
            <a:endParaRPr sz="1650">
              <a:solidFill>
                <a:srgbClr val="D8DEE3"/>
              </a:solidFill>
              <a:latin typeface="DejaVu Sans"/>
              <a:ea typeface="DejaVu Sans"/>
              <a:cs typeface="DejaVu Sans"/>
            </a:endParaRPr>
          </a:p>
          <a:p xmlns:a="http://schemas.openxmlformats.org/drawingml/2006/main">
            <a:pPr algn="l">
              <a:lnSpc>
                <a:spcPct val="108000"/>
              </a:lnSpc>
              <a:buNone/>
              <a:defRPr sz="1650" b="0">
                <a:solidFill>
                  <a:srgbClr val="D8DEE3"/>
                </a:solidFill>
                <a:latin typeface="DejaVu Sans"/>
                <a:ea typeface="DejaVu Sans"/>
                <a:cs typeface="DejaVu Sans"/>
              </a:defRPr>
            </a:pPr>
            <a:r>
              <a:rPr sz="1650" b="0">
                <a:solidFill>
                  <a:srgbClr val="D8DEE3"/>
                </a:solidFill>
                <a:latin typeface="DejaVu Sans"/>
                <a:ea typeface="DejaVu Sans"/>
                <a:cs typeface="DejaVu Sans"/>
              </a:rPr>
              <a:t>The critical path is having validated science, using the scientific principles for engineering design and executing the physical implementation of the goal</a:t>
            </a:r>
            <a:endParaRPr sz="1650" b="0">
              <a:solidFill>
                <a:srgbClr val="D8DEE3"/>
              </a:solidFill>
              <a:latin typeface="DejaVu Sans"/>
              <a:ea typeface="DejaVu Sans"/>
              <a:cs typeface="DejaVu Sans"/>
            </a:endParaRPr>
          </a:p>
        </p:txBody>
      </p:sp>
      <p:sp>
        <p:nvSpPr>
          <p:cNvPr id="6" name="Straight Connector 5">
            <a:extLst xmlns:a="http://schemas.openxmlformats.org/drawingml/2006/main">
              <a:ext uri="{FF2B5EF4-FFF2-40B4-BE49-F238E27FC236}">
                <a16:creationId xmlns:a16="http://schemas.microsoft.com/office/drawing/2014/main" id="{E3B78FA8-D5F6-4FE4-B5FA-738A8F1B83A9}"/>
              </a:ext>
            </a:extLst>
          </p:cNvPr>
          <p:cNvSpPr>
            <a:spLocks xmlns:a="http://schemas.openxmlformats.org/drawingml/2006/main" noGrp="1"/>
          </p:cNvSpPr>
          <p:nvPr/>
        </p:nvSpPr>
        <p:spPr>
          <a:xfrm xmlns:a="http://schemas.openxmlformats.org/drawingml/2006/main">
            <a:off x="609600" y="1766296"/>
            <a:ext cx="4953000" cy="0"/>
          </a:xfrm>
          <a:prstGeom xmlns:a="http://schemas.openxmlformats.org/drawingml/2006/main" prst="line">
            <a:avLst/>
          </a:prstGeom>
          <a:noFill xmlns:a="http://schemas.openxmlformats.org/drawingml/2006/main"/>
          <a:ln xmlns:a="http://schemas.openxmlformats.org/drawingml/2006/main" w="9525">
            <a:solidFill>
              <a:srgbClr val="35414B"/>
            </a:solidFill>
            <a:prstDash val="solid"/>
          </a:ln>
        </p:spPr>
        <p:txBody>
          <a:bodyPr xmlns:a="http://schemas.openxmlformats.org/drawingml/2006/main"/>
          <a:lstStyle xmlns:a="http://schemas.openxmlformats.org/drawingml/2006/main"/>
          <a:p xmlns:a="http://schemas.openxmlformats.org/drawingml/2006/main">
            <a:endParaRPr/>
          </a:p>
        </p:txBody>
      </p:sp>
      <p:sp>
        <p:nvSpPr>
          <p:cNvPr id="7" name="Oval 6">
            <a:extLst xmlns:a="http://schemas.openxmlformats.org/drawingml/2006/main">
              <a:ext uri="{FF2B5EF4-FFF2-40B4-BE49-F238E27FC236}">
                <a16:creationId xmlns:a16="http://schemas.microsoft.com/office/drawing/2014/main" id="{7ADC2A2D-6CBB-431D-99C8-4CB2B0C6A256}"/>
              </a:ext>
            </a:extLst>
          </p:cNvPr>
          <p:cNvSpPr>
            <a:spLocks xmlns:a="http://schemas.openxmlformats.org/drawingml/2006/main" noGrp="1"/>
          </p:cNvSpPr>
          <p:nvPr/>
        </p:nvSpPr>
        <p:spPr>
          <a:xfrm xmlns:a="http://schemas.openxmlformats.org/drawingml/2006/main">
            <a:off x="809625" y="3133314"/>
            <a:ext cx="285750" cy="285750"/>
          </a:xfrm>
          <a:prstGeom xmlns:a="http://schemas.openxmlformats.org/drawingml/2006/main" prst="ellipse">
            <a:avLst/>
          </a:prstGeom>
          <a:solidFill xmlns:a="http://schemas.openxmlformats.org/drawingml/2006/main">
            <a:srgbClr val="39D7FF"/>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8" name="Rectangle 7">
            <a:extLst xmlns:a="http://schemas.openxmlformats.org/drawingml/2006/main">
              <a:ext uri="{FF2B5EF4-FFF2-40B4-BE49-F238E27FC236}">
                <a16:creationId xmlns:a16="http://schemas.microsoft.com/office/drawing/2014/main" id="{AF8CF435-ABE1-4160-BBD8-39F57B05E1EB}"/>
              </a:ext>
            </a:extLst>
          </p:cNvPr>
          <p:cNvSpPr>
            <a:spLocks xmlns:a="http://schemas.openxmlformats.org/drawingml/2006/main" noGrp="1"/>
          </p:cNvSpPr>
          <p:nvPr/>
        </p:nvSpPr>
        <p:spPr>
          <a:xfrm xmlns:a="http://schemas.openxmlformats.org/drawingml/2006/main">
            <a:off x="666750" y="3561939"/>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1125" b="1">
                <a:solidFill>
                  <a:srgbClr val="39D7FF"/>
                </a:solidFill>
                <a:latin typeface="DejaVu Sans Mono"/>
                <a:ea typeface="DejaVu Sans Mono"/>
                <a:cs typeface="DejaVu Sans Mono"/>
              </a:defRPr>
            </a:pPr>
            <a:r>
              <a:rPr sz="1125" b="1">
                <a:solidFill>
                  <a:srgbClr val="39D7FF"/>
                </a:solidFill>
                <a:latin typeface="DejaVu Sans Mono"/>
                <a:ea typeface="DejaVu Sans Mono"/>
                <a:cs typeface="DejaVu Sans Mono"/>
              </a:rPr>
              <a:t>Understand the science needed</a:t>
            </a:r>
            <a:endParaRPr sz="1125" b="1">
              <a:solidFill>
                <a:srgbClr val="39D7FF"/>
              </a:solidFill>
              <a:latin typeface="DejaVu Sans Mono"/>
              <a:ea typeface="DejaVu Sans Mono"/>
              <a:cs typeface="DejaVu Sans Mono"/>
            </a:endParaRPr>
          </a:p>
        </p:txBody>
      </p:sp>
      <p:sp>
        <p:nvSpPr>
          <p:cNvPr id="9" name="Arrow: Right 8">
            <a:extLst xmlns:a="http://schemas.openxmlformats.org/drawingml/2006/main">
              <a:ext uri="{FF2B5EF4-FFF2-40B4-BE49-F238E27FC236}">
                <a16:creationId xmlns:a16="http://schemas.microsoft.com/office/drawing/2014/main" id="{2860B627-B7C1-4B27-B4F1-5602A65307C4}"/>
              </a:ext>
            </a:extLst>
          </p:cNvPr>
          <p:cNvSpPr>
            <a:spLocks xmlns:a="http://schemas.openxmlformats.org/drawingml/2006/main" noGrp="1"/>
          </p:cNvSpPr>
          <p:nvPr/>
        </p:nvSpPr>
        <p:spPr>
          <a:xfrm xmlns:a="http://schemas.openxmlformats.org/drawingml/2006/main">
            <a:off x="1219200" y="3199989"/>
            <a:ext cx="742950" cy="152400"/>
          </a:xfrm>
          <a:prstGeom xmlns:a="http://schemas.openxmlformats.org/drawingml/2006/main" prst="rightArrow">
            <a:avLst/>
          </a:prstGeom>
          <a:solidFill xmlns:a="http://schemas.openxmlformats.org/drawingml/2006/main">
            <a:srgbClr val="39D7FF">
              <a:alpha val="7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0" name="Oval 9">
            <a:extLst xmlns:a="http://schemas.openxmlformats.org/drawingml/2006/main">
              <a:ext uri="{FF2B5EF4-FFF2-40B4-BE49-F238E27FC236}">
                <a16:creationId xmlns:a16="http://schemas.microsoft.com/office/drawing/2014/main" id="{A21A9D6F-C656-4935-AADA-D67A69E33AA0}"/>
              </a:ext>
            </a:extLst>
          </p:cNvPr>
          <p:cNvSpPr>
            <a:spLocks xmlns:a="http://schemas.openxmlformats.org/drawingml/2006/main" noGrp="1"/>
          </p:cNvSpPr>
          <p:nvPr/>
        </p:nvSpPr>
        <p:spPr>
          <a:xfrm xmlns:a="http://schemas.openxmlformats.org/drawingml/2006/main">
            <a:off x="2352675" y="3133314"/>
            <a:ext cx="285750" cy="285750"/>
          </a:xfrm>
          <a:prstGeom xmlns:a="http://schemas.openxmlformats.org/drawingml/2006/main" prst="ellipse">
            <a:avLst/>
          </a:prstGeom>
          <a:solidFill xmlns:a="http://schemas.openxmlformats.org/drawingml/2006/main">
            <a:srgbClr val="39D7FF"/>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1" name="Rectangle 10">
            <a:extLst xmlns:a="http://schemas.openxmlformats.org/drawingml/2006/main">
              <a:ext uri="{FF2B5EF4-FFF2-40B4-BE49-F238E27FC236}">
                <a16:creationId xmlns:a16="http://schemas.microsoft.com/office/drawing/2014/main" id="{BC791463-B7CE-4C2B-8BF7-783F5FC57A29}"/>
              </a:ext>
            </a:extLst>
          </p:cNvPr>
          <p:cNvSpPr>
            <a:spLocks xmlns:a="http://schemas.openxmlformats.org/drawingml/2006/main" noGrp="1"/>
          </p:cNvSpPr>
          <p:nvPr/>
        </p:nvSpPr>
        <p:spPr>
          <a:xfrm xmlns:a="http://schemas.openxmlformats.org/drawingml/2006/main">
            <a:off x="2209800" y="3561939"/>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1125" b="1">
                <a:solidFill>
                  <a:srgbClr val="39D7FF"/>
                </a:solidFill>
                <a:latin typeface="DejaVu Sans Mono"/>
                <a:ea typeface="DejaVu Sans Mono"/>
                <a:cs typeface="DejaVu Sans Mono"/>
              </a:defRPr>
            </a:pPr>
            <a:r>
              <a:rPr sz="1125" b="1">
                <a:solidFill>
                  <a:srgbClr val="39D7FF"/>
                </a:solidFill>
                <a:latin typeface="DejaVu Sans Mono"/>
                <a:ea typeface="DejaVu Sans Mono"/>
                <a:cs typeface="DejaVu Sans Mono"/>
              </a:rPr>
              <a:t>Design a solution</a:t>
            </a:r>
            <a:endParaRPr sz="1125" b="1">
              <a:solidFill>
                <a:srgbClr val="39D7FF"/>
              </a:solidFill>
              <a:latin typeface="DejaVu Sans Mono"/>
              <a:ea typeface="DejaVu Sans Mono"/>
              <a:cs typeface="DejaVu Sans Mono"/>
            </a:endParaRPr>
          </a:p>
        </p:txBody>
      </p:sp>
      <p:sp>
        <p:nvSpPr>
          <p:cNvPr id="12" name="Arrow: Right 11">
            <a:extLst xmlns:a="http://schemas.openxmlformats.org/drawingml/2006/main">
              <a:ext uri="{FF2B5EF4-FFF2-40B4-BE49-F238E27FC236}">
                <a16:creationId xmlns:a16="http://schemas.microsoft.com/office/drawing/2014/main" id="{61FC6E74-7CAF-4CE0-B648-5DA9CF69BF68}"/>
              </a:ext>
            </a:extLst>
          </p:cNvPr>
          <p:cNvSpPr>
            <a:spLocks xmlns:a="http://schemas.openxmlformats.org/drawingml/2006/main" noGrp="1"/>
          </p:cNvSpPr>
          <p:nvPr/>
        </p:nvSpPr>
        <p:spPr>
          <a:xfrm xmlns:a="http://schemas.openxmlformats.org/drawingml/2006/main">
            <a:off x="2762250" y="3199989"/>
            <a:ext cx="742950" cy="152400"/>
          </a:xfrm>
          <a:prstGeom xmlns:a="http://schemas.openxmlformats.org/drawingml/2006/main" prst="rightArrow">
            <a:avLst/>
          </a:prstGeom>
          <a:solidFill xmlns:a="http://schemas.openxmlformats.org/drawingml/2006/main">
            <a:srgbClr val="39D7FF">
              <a:alpha val="7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3" name="Oval 12">
            <a:extLst xmlns:a="http://schemas.openxmlformats.org/drawingml/2006/main">
              <a:ext uri="{FF2B5EF4-FFF2-40B4-BE49-F238E27FC236}">
                <a16:creationId xmlns:a16="http://schemas.microsoft.com/office/drawing/2014/main" id="{ADE1A772-59A5-457B-BB29-BA9548D0D145}"/>
              </a:ext>
            </a:extLst>
          </p:cNvPr>
          <p:cNvSpPr>
            <a:spLocks xmlns:a="http://schemas.openxmlformats.org/drawingml/2006/main" noGrp="1"/>
          </p:cNvSpPr>
          <p:nvPr/>
        </p:nvSpPr>
        <p:spPr>
          <a:xfrm xmlns:a="http://schemas.openxmlformats.org/drawingml/2006/main">
            <a:off x="3895725" y="3133314"/>
            <a:ext cx="285750" cy="285750"/>
          </a:xfrm>
          <a:prstGeom xmlns:a="http://schemas.openxmlformats.org/drawingml/2006/main" prst="ellipse">
            <a:avLst/>
          </a:prstGeom>
          <a:solidFill xmlns:a="http://schemas.openxmlformats.org/drawingml/2006/main">
            <a:srgbClr val="F26B38"/>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4" name="Rectangle 13">
            <a:extLst xmlns:a="http://schemas.openxmlformats.org/drawingml/2006/main">
              <a:ext uri="{FF2B5EF4-FFF2-40B4-BE49-F238E27FC236}">
                <a16:creationId xmlns:a16="http://schemas.microsoft.com/office/drawing/2014/main" id="{F926617E-DE6E-4351-8170-677AB56B4367}"/>
              </a:ext>
            </a:extLst>
          </p:cNvPr>
          <p:cNvSpPr>
            <a:spLocks xmlns:a="http://schemas.openxmlformats.org/drawingml/2006/main" noGrp="1"/>
          </p:cNvSpPr>
          <p:nvPr/>
        </p:nvSpPr>
        <p:spPr>
          <a:xfrm xmlns:a="http://schemas.openxmlformats.org/drawingml/2006/main">
            <a:off x="3752850" y="3561939"/>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1125" b="1">
                <a:solidFill>
                  <a:srgbClr val="F26B38"/>
                </a:solidFill>
                <a:latin typeface="DejaVu Sans Mono"/>
                <a:ea typeface="DejaVu Sans Mono"/>
                <a:cs typeface="DejaVu Sans Mono"/>
              </a:defRPr>
            </a:pPr>
            <a:r>
              <a:rPr sz="1125" b="1">
                <a:solidFill>
                  <a:srgbClr val="F26B38"/>
                </a:solidFill>
                <a:latin typeface="DejaVu Sans Mono"/>
                <a:ea typeface="DejaVu Sans Mono"/>
                <a:cs typeface="DejaVu Sans Mono"/>
              </a:rPr>
              <a:t>Build the physical reality</a:t>
            </a:r>
            <a:endParaRPr sz="1125" b="1">
              <a:solidFill>
                <a:srgbClr val="F26B38"/>
              </a:solidFill>
              <a:latin typeface="DejaVu Sans Mono"/>
              <a:ea typeface="DejaVu Sans Mono"/>
              <a:cs typeface="DejaVu Sans Mono"/>
            </a:endParaRPr>
          </a:p>
        </p:txBody>
      </p:sp>
      <p:sp>
        <p:nvSpPr>
          <p:cNvPr id="15" name="Arrow: Right 14">
            <a:extLst xmlns:a="http://schemas.openxmlformats.org/drawingml/2006/main">
              <a:ext uri="{FF2B5EF4-FFF2-40B4-BE49-F238E27FC236}">
                <a16:creationId xmlns:a16="http://schemas.microsoft.com/office/drawing/2014/main" id="{043E9515-CAB6-4B19-8421-10C976802354}"/>
              </a:ext>
            </a:extLst>
          </p:cNvPr>
          <p:cNvSpPr>
            <a:spLocks xmlns:a="http://schemas.openxmlformats.org/drawingml/2006/main" noGrp="1"/>
          </p:cNvSpPr>
          <p:nvPr/>
        </p:nvSpPr>
        <p:spPr>
          <a:xfrm xmlns:a="http://schemas.openxmlformats.org/drawingml/2006/main">
            <a:off x="4305300" y="3199989"/>
            <a:ext cx="742950" cy="152400"/>
          </a:xfrm>
          <a:prstGeom xmlns:a="http://schemas.openxmlformats.org/drawingml/2006/main" prst="rightArrow">
            <a:avLst/>
          </a:prstGeom>
          <a:solidFill xmlns:a="http://schemas.openxmlformats.org/drawingml/2006/main">
            <a:srgbClr val="F26B38">
              <a:alpha val="7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6" name="Oval 15">
            <a:extLst xmlns:a="http://schemas.openxmlformats.org/drawingml/2006/main">
              <a:ext uri="{FF2B5EF4-FFF2-40B4-BE49-F238E27FC236}">
                <a16:creationId xmlns:a16="http://schemas.microsoft.com/office/drawing/2014/main" id="{482E9BF4-D80E-415C-8EAC-064F3029C779}"/>
              </a:ext>
            </a:extLst>
          </p:cNvPr>
          <p:cNvSpPr>
            <a:spLocks xmlns:a="http://schemas.openxmlformats.org/drawingml/2006/main" noGrp="1"/>
          </p:cNvSpPr>
          <p:nvPr/>
        </p:nvSpPr>
        <p:spPr>
          <a:xfrm xmlns:a="http://schemas.openxmlformats.org/drawingml/2006/main">
            <a:off x="5438775" y="3133314"/>
            <a:ext cx="285750" cy="285750"/>
          </a:xfrm>
          <a:prstGeom xmlns:a="http://schemas.openxmlformats.org/drawingml/2006/main" prst="ellipse">
            <a:avLst/>
          </a:prstGeom>
          <a:solidFill xmlns:a="http://schemas.openxmlformats.org/drawingml/2006/main">
            <a:srgbClr val="62D6A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7" name="Rectangle 16">
            <a:extLst xmlns:a="http://schemas.openxmlformats.org/drawingml/2006/main">
              <a:ext uri="{FF2B5EF4-FFF2-40B4-BE49-F238E27FC236}">
                <a16:creationId xmlns:a16="http://schemas.microsoft.com/office/drawing/2014/main" id="{85AFEDB8-DAFD-44E2-A126-52A6BF808BBC}"/>
              </a:ext>
            </a:extLst>
          </p:cNvPr>
          <p:cNvSpPr>
            <a:spLocks xmlns:a="http://schemas.openxmlformats.org/drawingml/2006/main" noGrp="1"/>
          </p:cNvSpPr>
          <p:nvPr/>
        </p:nvSpPr>
        <p:spPr>
          <a:xfrm xmlns:a="http://schemas.openxmlformats.org/drawingml/2006/main">
            <a:off x="5010150" y="3694878"/>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1125" b="1">
                <a:solidFill>
                  <a:srgbClr val="62D6A7"/>
                </a:solidFill>
                <a:latin typeface="DejaVu Sans Mono"/>
                <a:ea typeface="DejaVu Sans Mono"/>
                <a:cs typeface="DejaVu Sans Mono"/>
              </a:defRPr>
            </a:pPr>
            <a:r>
              <a:rPr sz="1125" b="1">
                <a:solidFill>
                  <a:srgbClr val="62D6A7"/>
                </a:solidFill>
                <a:latin typeface="DejaVu Sans Mono"/>
                <a:ea typeface="DejaVu Sans Mono"/>
                <a:cs typeface="DejaVu Sans Mono"/>
              </a:rPr>
              <a:t>TEST &amp; </a:t>
            </a:r>
            <a:r>
              <a:rPr sz="1125" b="1">
                <a:solidFill>
                  <a:srgbClr val="62D6A7"/>
                </a:solidFill>
                <a:latin typeface="DejaVu Sans Mono"/>
                <a:ea typeface="DejaVu Sans Mono"/>
                <a:cs typeface="DejaVu Sans Mono"/>
              </a:rPr>
              <a:t>VERIFY</a:t>
            </a:r>
          </a:p>
        </p:txBody>
      </p:sp>
      <p:sp>
        <p:nvSpPr>
          <p:cNvPr id="18" name="Rectangle: Rounded Corners 17">
            <a:extLst xmlns:a="http://schemas.openxmlformats.org/drawingml/2006/main">
              <a:ext uri="{FF2B5EF4-FFF2-40B4-BE49-F238E27FC236}">
                <a16:creationId xmlns:a16="http://schemas.microsoft.com/office/drawing/2014/main" id="{784D3DA6-E482-48BB-B462-51E845616FB5}"/>
              </a:ext>
            </a:extLst>
          </p:cNvPr>
          <p:cNvSpPr>
            <a:spLocks xmlns:a="http://schemas.openxmlformats.org/drawingml/2006/main" noGrp="1"/>
          </p:cNvSpPr>
          <p:nvPr/>
        </p:nvSpPr>
        <p:spPr>
          <a:xfrm xmlns:a="http://schemas.openxmlformats.org/drawingml/2006/main">
            <a:off x="666750" y="4219395"/>
            <a:ext cx="5238750" cy="1080856"/>
          </a:xfrm>
          <a:prstGeom xmlns:a="http://schemas.openxmlformats.org/drawingml/2006/main" prst="roundRect">
            <a:avLst>
              <a:gd name="adj" fmla="val 10227"/>
            </a:avLst>
          </a:prstGeom>
          <a:solidFill xmlns:a="http://schemas.openxmlformats.org/drawingml/2006/main">
            <a:srgbClr val="0C1116">
              <a:alpha val="92000"/>
            </a:srgbClr>
          </a:solidFill>
          <a:ln xmlns:a="http://schemas.openxmlformats.org/drawingml/2006/main" w="11430">
            <a:solidFill>
              <a:srgbClr val="35414B"/>
            </a:solidFill>
            <a:prstDash val="solid"/>
          </a:ln>
        </p:spPr>
        <p:txBody>
          <a:bodyPr xmlns:a="http://schemas.openxmlformats.org/drawingml/2006/main"/>
          <a:lstStyle xmlns:a="http://schemas.openxmlformats.org/drawingml/2006/main"/>
          <a:p xmlns:a="http://schemas.openxmlformats.org/drawingml/2006/main">
            <a:endParaRPr/>
          </a:p>
        </p:txBody>
      </p:sp>
      <p:sp>
        <p:nvSpPr>
          <p:cNvPr id="19" name="Rectangle 18">
            <a:extLst xmlns:a="http://schemas.openxmlformats.org/drawingml/2006/main">
              <a:ext uri="{FF2B5EF4-FFF2-40B4-BE49-F238E27FC236}">
                <a16:creationId xmlns:a16="http://schemas.microsoft.com/office/drawing/2014/main" id="{A3C37A59-C10F-4DC7-A796-15B80C12CCA5}"/>
              </a:ext>
            </a:extLst>
          </p:cNvPr>
          <p:cNvSpPr>
            <a:spLocks xmlns:a="http://schemas.openxmlformats.org/drawingml/2006/main" noGrp="1"/>
          </p:cNvSpPr>
          <p:nvPr/>
        </p:nvSpPr>
        <p:spPr>
          <a:xfrm xmlns:a="http://schemas.openxmlformats.org/drawingml/2006/main">
            <a:off x="1162050" y="4366622"/>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2550" b="1">
                <a:solidFill>
                  <a:srgbClr val="39D7FF"/>
                </a:solidFill>
                <a:latin typeface="DejaVu Sans Mono"/>
                <a:ea typeface="DejaVu Sans Mono"/>
                <a:cs typeface="DejaVu Sans Mono"/>
              </a:defRPr>
            </a:pPr>
            <a:r>
              <a:rPr sz="2000" b="1">
                <a:solidFill>
                  <a:srgbClr val="39D7FF"/>
                </a:solidFill>
                <a:latin typeface="DejaVu Sans Mono"/>
                <a:ea typeface="DejaVu Sans Mono"/>
                <a:cs typeface="DejaVu Sans Mono"/>
              </a:rPr>
              <a:t>Research</a:t>
            </a:r>
          </a:p>
          <a:p xmlns:a="http://schemas.openxmlformats.org/drawingml/2006/main">
            <a:pPr algn="l">
              <a:lnSpc>
                <a:spcPct val="95000"/>
              </a:lnSpc>
              <a:buNone/>
              <a:defRPr sz="2550" b="1">
                <a:solidFill>
                  <a:srgbClr val="39D7FF"/>
                </a:solidFill>
                <a:latin typeface="DejaVu Sans Mono"/>
                <a:ea typeface="DejaVu Sans Mono"/>
                <a:cs typeface="DejaVu Sans Mono"/>
              </a:defRPr>
            </a:pPr>
            <a:r>
              <a:rPr sz="2000" b="1">
                <a:solidFill>
                  <a:srgbClr val="39D7FF"/>
                </a:solidFill>
                <a:latin typeface="DejaVu Sans Mono"/>
                <a:ea typeface="DejaVu Sans Mono"/>
                <a:cs typeface="DejaVu Sans Mono"/>
              </a:rPr>
              <a:t>And </a:t>
            </a:r>
          </a:p>
          <a:p xmlns:a="http://schemas.openxmlformats.org/drawingml/2006/main">
            <a:pPr algn="l">
              <a:lnSpc>
                <a:spcPct val="95000"/>
              </a:lnSpc>
              <a:buNone/>
              <a:defRPr sz="2550" b="1">
                <a:solidFill>
                  <a:srgbClr val="39D7FF"/>
                </a:solidFill>
                <a:latin typeface="DejaVu Sans Mono"/>
                <a:ea typeface="DejaVu Sans Mono"/>
                <a:cs typeface="DejaVu Sans Mono"/>
              </a:defRPr>
            </a:pPr>
            <a:r>
              <a:rPr sz="2000" b="1">
                <a:solidFill>
                  <a:srgbClr val="39D7FF"/>
                </a:solidFill>
                <a:latin typeface="DejaVu Sans Mono"/>
                <a:ea typeface="DejaVu Sans Mono"/>
                <a:cs typeface="DejaVu Sans Mono"/>
              </a:rPr>
              <a:t>Development</a:t>
            </a:r>
            <a:endParaRPr sz="2000" b="1">
              <a:solidFill>
                <a:srgbClr val="39D7FF"/>
              </a:solidFill>
              <a:latin typeface="DejaVu Sans Mono"/>
              <a:ea typeface="DejaVu Sans Mono"/>
              <a:cs typeface="DejaVu Sans Mono"/>
            </a:endParaRPr>
          </a:p>
        </p:txBody>
      </p:sp>
      <p:sp>
        <p:nvSpPr>
          <p:cNvPr id="21" name="Rectangle 20">
            <a:extLst xmlns:a="http://schemas.openxmlformats.org/drawingml/2006/main">
              <a:ext uri="{FF2B5EF4-FFF2-40B4-BE49-F238E27FC236}">
                <a16:creationId xmlns:a16="http://schemas.microsoft.com/office/drawing/2014/main" id="{F1EA9F8C-4506-429D-B384-769D88EA20FA}"/>
              </a:ext>
            </a:extLst>
          </p:cNvPr>
          <p:cNvSpPr>
            <a:spLocks xmlns:a="http://schemas.openxmlformats.org/drawingml/2006/main" noGrp="1"/>
          </p:cNvSpPr>
          <p:nvPr/>
        </p:nvSpPr>
        <p:spPr>
          <a:xfrm xmlns:a="http://schemas.openxmlformats.org/drawingml/2006/main">
            <a:off x="3952875" y="4489753"/>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2550" b="1">
                <a:solidFill>
                  <a:srgbClr val="F26B38"/>
                </a:solidFill>
                <a:latin typeface="DejaVu Sans Mono"/>
                <a:ea typeface="DejaVu Sans Mono"/>
                <a:cs typeface="DejaVu Sans Mono"/>
              </a:defRPr>
            </a:pPr>
            <a:r>
              <a:rPr sz="2000" b="1">
                <a:solidFill>
                  <a:srgbClr val="F26B38"/>
                </a:solidFill>
                <a:latin typeface="DejaVu Sans Mono"/>
                <a:ea typeface="DejaVu Sans Mono"/>
                <a:cs typeface="DejaVu Sans Mono"/>
              </a:rPr>
              <a:t>Proejct</a:t>
            </a:r>
            <a:r>
              <a:rPr sz="2000" b="1">
                <a:solidFill>
                  <a:srgbClr val="F26B38"/>
                </a:solidFill>
                <a:latin typeface="DejaVu Sans Mono"/>
                <a:ea typeface="DejaVu Sans Mono"/>
                <a:cs typeface="DejaVu Sans Mono"/>
              </a:rPr>
              <a:t> </a:t>
            </a:r>
          </a:p>
          <a:p xmlns:a="http://schemas.openxmlformats.org/drawingml/2006/main">
            <a:pPr algn="l">
              <a:lnSpc>
                <a:spcPct val="95000"/>
              </a:lnSpc>
              <a:buNone/>
              <a:defRPr sz="2550" b="1">
                <a:solidFill>
                  <a:srgbClr val="F26B38"/>
                </a:solidFill>
                <a:latin typeface="DejaVu Sans Mono"/>
                <a:ea typeface="DejaVu Sans Mono"/>
                <a:cs typeface="DejaVu Sans Mono"/>
              </a:defRPr>
            </a:pPr>
            <a:r>
              <a:rPr sz="2000" b="1">
                <a:solidFill>
                  <a:srgbClr val="F26B38"/>
                </a:solidFill>
                <a:latin typeface="DejaVu Sans Mono"/>
                <a:ea typeface="DejaVu Sans Mono"/>
                <a:cs typeface="DejaVu Sans Mono"/>
              </a:rPr>
              <a:t>Managment</a:t>
            </a:r>
            <a:endParaRPr sz="2000" b="1">
              <a:solidFill>
                <a:srgbClr val="F26B38"/>
              </a:solidFill>
              <a:latin typeface="DejaVu Sans Mono"/>
              <a:ea typeface="DejaVu Sans Mono"/>
              <a:cs typeface="DejaVu Sans Mono"/>
            </a:endParaRPr>
          </a:p>
        </p:txBody>
      </p:sp>
      <p:sp>
        <p:nvSpPr>
          <p:cNvPr id="23" name="Rectangle 22">
            <a:extLst xmlns:a="http://schemas.openxmlformats.org/drawingml/2006/main">
              <a:ext uri="{FF2B5EF4-FFF2-40B4-BE49-F238E27FC236}">
                <a16:creationId xmlns:a16="http://schemas.microsoft.com/office/drawing/2014/main" id="{A39371BA-4C32-4A37-B380-9B7B0945A0F7}"/>
              </a:ext>
            </a:extLst>
          </p:cNvPr>
          <p:cNvSpPr>
            <a:spLocks xmlns:a="http://schemas.openxmlformats.org/drawingml/2006/main" noGrp="1"/>
          </p:cNvSpPr>
          <p:nvPr/>
        </p:nvSpPr>
        <p:spPr>
          <a:xfrm xmlns:a="http://schemas.openxmlformats.org/drawingml/2006/main">
            <a:off x="666750" y="5715000"/>
            <a:ext cx="5715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350" b="1">
                <a:solidFill>
                  <a:srgbClr val="F4F6F8"/>
                </a:solidFill>
                <a:latin typeface="DejaVu Sans"/>
                <a:ea typeface="DejaVu Sans"/>
                <a:cs typeface="DejaVu Sans"/>
              </a:defRPr>
            </a:pPr>
            <a:r>
              <a:rPr sz="1350" b="1">
                <a:solidFill>
                  <a:srgbClr val="F4F6F8"/>
                </a:solidFill>
                <a:latin typeface="DejaVu Sans"/>
                <a:ea typeface="DejaVu Sans"/>
                <a:cs typeface="DejaVu Sans"/>
              </a:rPr>
              <a:t>A </a:t>
            </a:r>
            <a:r>
              <a:rPr sz="1350" b="1">
                <a:solidFill>
                  <a:srgbClr val="F4F6F8"/>
                </a:solidFill>
                <a:latin typeface="DejaVu Sans"/>
                <a:ea typeface="DejaVu Sans"/>
                <a:cs typeface="DejaVu Sans"/>
              </a:rPr>
              <a:t>Ai agentic </a:t>
            </a:r>
            <a:r>
              <a:rPr sz="1350" b="1">
                <a:solidFill>
                  <a:srgbClr val="F4F6F8"/>
                </a:solidFill>
                <a:latin typeface="DejaVu Sans"/>
                <a:ea typeface="DejaVu Sans"/>
                <a:cs typeface="DejaVu Sans"/>
              </a:rPr>
              <a:t>harness attacks coordination latency while preserving the evidence needed to close decision</a:t>
            </a:r>
            <a:r>
              <a:rPr sz="1350" b="1">
                <a:solidFill>
                  <a:srgbClr val="F4F6F8"/>
                </a:solidFill>
                <a:latin typeface="DejaVu Sans"/>
                <a:ea typeface="DejaVu Sans"/>
                <a:cs typeface="DejaVu Sans"/>
              </a:rPr>
              <a:t>s</a:t>
            </a:r>
            <a:r>
              <a:rPr sz="1350" b="1">
                <a:solidFill>
                  <a:srgbClr val="F4F6F8"/>
                </a:solidFill>
                <a:latin typeface="DejaVu Sans"/>
                <a:ea typeface="DejaVu Sans"/>
                <a:cs typeface="DejaVu Sans"/>
              </a:rPr>
              <a:t>.</a:t>
            </a:r>
          </a:p>
        </p:txBody>
      </p:sp>
      <p:sp>
        <p:nvSpPr>
          <p:cNvPr id="24" name="Rectangle 23">
            <a:extLst xmlns:a="http://schemas.openxmlformats.org/drawingml/2006/main">
              <a:ext uri="{FF2B5EF4-FFF2-40B4-BE49-F238E27FC236}">
                <a16:creationId xmlns:a16="http://schemas.microsoft.com/office/drawing/2014/main" id="{704F5D42-F5BF-4ECA-9A94-5FF7766298C6}"/>
              </a:ext>
            </a:extLst>
          </p:cNvPr>
          <p:cNvSpPr>
            <a:spLocks xmlns:a="http://schemas.openxmlformats.org/drawingml/2006/main" noGrp="1"/>
          </p:cNvSpPr>
          <p:nvPr/>
        </p:nvSpPr>
        <p:spPr>
          <a:xfrm xmlns:a="http://schemas.openxmlformats.org/drawingml/2006/main">
            <a:off x="0" y="6400800"/>
            <a:ext cx="12192000" cy="457200"/>
          </a:xfrm>
          <a:prstGeom xmlns:a="http://schemas.openxmlformats.org/drawingml/2006/main" prst="rect">
            <a:avLst/>
          </a:prstGeom>
          <a:solidFill xmlns:a="http://schemas.openxmlformats.org/drawingml/2006/main">
            <a:srgbClr val="07090C">
              <a:alpha val="76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5" name="Rectangle 24">
            <a:extLst xmlns:a="http://schemas.openxmlformats.org/drawingml/2006/main">
              <a:ext uri="{FF2B5EF4-FFF2-40B4-BE49-F238E27FC236}">
                <a16:creationId xmlns:a16="http://schemas.microsoft.com/office/drawing/2014/main" id="{C206F28C-0C64-4F6A-842F-79EACD4518B6}"/>
              </a:ext>
            </a:extLst>
          </p:cNvPr>
          <p:cNvSpPr>
            <a:spLocks xmlns:a="http://schemas.openxmlformats.org/drawingml/2006/main" noGrp="1"/>
          </p:cNvSpPr>
          <p:nvPr/>
        </p:nvSpPr>
        <p:spPr>
          <a:xfrm xmlns:a="http://schemas.openxmlformats.org/drawingml/2006/main">
            <a:off x="609600" y="6553200"/>
            <a:ext cx="68580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MARS SOCIETY 2026  •  HARNESSED AGENTIC SCIENCE + ENGINEERING</a:t>
            </a:r>
          </a:p>
        </p:txBody>
      </p:sp>
      <p:sp>
        <p:nvSpPr>
          <p:cNvPr id="26" name="Rectangle 25">
            <a:extLst xmlns:a="http://schemas.openxmlformats.org/drawingml/2006/main">
              <a:ext uri="{FF2B5EF4-FFF2-40B4-BE49-F238E27FC236}">
                <a16:creationId xmlns:a16="http://schemas.microsoft.com/office/drawing/2014/main" id="{820DBEB9-F27F-4A15-A7D8-347CFD35A24D}"/>
              </a:ext>
            </a:extLst>
          </p:cNvPr>
          <p:cNvSpPr>
            <a:spLocks xmlns:a="http://schemas.openxmlformats.org/drawingml/2006/main" noGrp="1"/>
          </p:cNvSpPr>
          <p:nvPr/>
        </p:nvSpPr>
        <p:spPr>
          <a:xfrm xmlns:a="http://schemas.openxmlformats.org/drawingml/2006/main">
            <a:off x="9525000" y="6553200"/>
            <a:ext cx="20574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BOB J MILLS     02</a:t>
            </a:r>
          </a:p>
        </p:txBody>
      </p:sp>
    </p:spTree>
    <p:extLst>
      <p:ext uri="{BB962C8B-B14F-4D97-AF65-F5344CB8AC3E}">
        <p14:creationId xmlns:p14="http://schemas.microsoft.com/office/powerpoint/2010/main" val="1255319208"/>
      </p:ext>
    </p:extLst>
  </p:cSld>
</p:sld>
</file>

<file path=ppt/slides/slide3.xml><?xml version="1.0" encoding="utf-8"?>
<p:sld xmlns:p="http://schemas.openxmlformats.org/presentationml/2006/main">
  <p:cSld>
    <p:bg>
      <p:bgPr>
        <a:solidFill xmlns:a="http://schemas.openxmlformats.org/drawingml/2006/main">
          <a:srgbClr val="07090C"/>
        </a:solidFill>
      </p:bgPr>
    </p:bg>
    <p:spTree>
      <p:nvGrpSpPr>
        <p:cNvPr id="1" name=""/>
        <p:cNvGrpSpPr/>
        <p:nvPr/>
      </p:nvGrpSpPr>
      <p:grpSpPr>
        <a:xfrm xmlns:a="http://schemas.openxmlformats.org/drawingml/2006/main"/>
      </p:grpSpPr>
      <p:sp>
        <p:nvSpPr>
          <p:cNvPr id="35" name="Rectangle 34">
            <a:extLst xmlns:a="http://schemas.openxmlformats.org/drawingml/2006/main">
              <a:ext uri="{FF2B5EF4-FFF2-40B4-BE49-F238E27FC236}">
                <a16:creationId xmlns:a16="http://schemas.microsoft.com/office/drawing/2014/main" id="{31FA1995-487E-4366-BE17-9B32CAECA8C1}"/>
              </a:ext>
            </a:extLst>
          </p:cNvPr>
          <p:cNvSpPr>
            <a:spLocks xmlns:a="http://schemas.openxmlformats.org/drawingml/2006/main" noGrp="1"/>
          </p:cNvSpPr>
          <p:nvPr/>
        </p:nvSpPr>
        <p:spPr>
          <a:xfrm xmlns:a="http://schemas.openxmlformats.org/drawingml/2006/main">
            <a:off x="609600" y="3429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75" b="1">
                <a:solidFill>
                  <a:srgbClr val="F26B38"/>
                </a:solidFill>
                <a:latin typeface="DejaVu Sans Mono"/>
                <a:ea typeface="DejaVu Sans Mono"/>
                <a:cs typeface="DejaVu Sans Mono"/>
              </a:defRPr>
            </a:pPr>
            <a:r>
              <a:rPr sz="975" b="1">
                <a:solidFill>
                  <a:srgbClr val="F26B38"/>
                </a:solidFill>
                <a:latin typeface="DejaVu Sans Mono"/>
                <a:ea typeface="DejaVu Sans Mono"/>
                <a:cs typeface="DejaVu Sans Mono"/>
              </a:rPr>
              <a:t>03  /  DESIGN RULE</a:t>
            </a:r>
          </a:p>
        </p:txBody>
      </p:sp>
      <p:sp>
        <p:nvSpPr>
          <p:cNvPr id="2" name="Rectangle 1">
            <a:extLst xmlns:a="http://schemas.openxmlformats.org/drawingml/2006/main">
              <a:ext uri="{FF2B5EF4-FFF2-40B4-BE49-F238E27FC236}">
                <a16:creationId xmlns:a16="http://schemas.microsoft.com/office/drawing/2014/main" id="{1A269685-ADB1-4481-BC73-C864F7874BCD}"/>
              </a:ext>
            </a:extLst>
          </p:cNvPr>
          <p:cNvSpPr>
            <a:spLocks xmlns:a="http://schemas.openxmlformats.org/drawingml/2006/main" noGrp="1"/>
          </p:cNvSpPr>
          <p:nvPr/>
        </p:nvSpPr>
        <p:spPr>
          <a:xfrm xmlns:a="http://schemas.openxmlformats.org/drawingml/2006/main">
            <a:off x="609600" y="647700"/>
            <a:ext cx="10972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0000"/>
              </a:lnSpc>
              <a:buNone/>
              <a:defRPr sz="2625" b="1">
                <a:solidFill>
                  <a:srgbClr val="F4F6F8"/>
                </a:solidFill>
                <a:latin typeface="DejaVu Sans"/>
                <a:ea typeface="DejaVu Sans"/>
                <a:cs typeface="DejaVu Sans"/>
              </a:defRPr>
            </a:pPr>
            <a:r>
              <a:rPr sz="2625" b="1">
                <a:solidFill>
                  <a:srgbClr val="F4F6F8"/>
                </a:solidFill>
                <a:latin typeface="DejaVu Sans"/>
                <a:ea typeface="DejaVu Sans"/>
                <a:cs typeface="DejaVu Sans"/>
              </a:rPr>
              <a:t>Seven functions turn a model into a mission harness</a:t>
            </a:r>
          </a:p>
        </p:txBody>
      </p:sp>
      <p:sp>
        <p:nvSpPr>
          <p:cNvPr id="3" name="Rectangle 2">
            <a:extLst xmlns:a="http://schemas.openxmlformats.org/drawingml/2006/main">
              <a:ext uri="{FF2B5EF4-FFF2-40B4-BE49-F238E27FC236}">
                <a16:creationId xmlns:a16="http://schemas.microsoft.com/office/drawing/2014/main" id="{C3516197-4703-4D20-98E2-40D49192D417}"/>
              </a:ext>
            </a:extLst>
          </p:cNvPr>
          <p:cNvSpPr>
            <a:spLocks xmlns:a="http://schemas.openxmlformats.org/drawingml/2006/main" noGrp="1"/>
          </p:cNvSpPr>
          <p:nvPr/>
        </p:nvSpPr>
        <p:spPr>
          <a:xfrm xmlns:a="http://schemas.openxmlformats.org/drawingml/2006/main">
            <a:off x="628650" y="1238250"/>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25" b="0">
                <a:solidFill>
                  <a:srgbClr val="8D99A3"/>
                </a:solidFill>
                <a:latin typeface="DejaVu Sans"/>
                <a:ea typeface="DejaVu Sans"/>
                <a:cs typeface="DejaVu Sans"/>
              </a:defRPr>
            </a:pPr>
            <a:r>
              <a:rPr sz="1425" b="0">
                <a:solidFill>
                  <a:srgbClr val="8D99A3"/>
                </a:solidFill>
                <a:latin typeface="DejaVu Sans"/>
                <a:ea typeface="DejaVu Sans"/>
                <a:cs typeface="DejaVu Sans"/>
              </a:rPr>
              <a:t>The model supplies reasoning. Seven surrounding functions make its work executable, reviewable and durable.</a:t>
            </a:r>
          </a:p>
        </p:txBody>
      </p:sp>
      <p:sp>
        <p:nvSpPr>
          <p:cNvPr id="4" name="Straight Connector 3">
            <a:extLst xmlns:a="http://schemas.openxmlformats.org/drawingml/2006/main">
              <a:ext uri="{FF2B5EF4-FFF2-40B4-BE49-F238E27FC236}">
                <a16:creationId xmlns:a16="http://schemas.microsoft.com/office/drawing/2014/main" id="{C50070E4-3364-4F83-A611-F65CE6CEAE17}"/>
              </a:ext>
            </a:extLst>
          </p:cNvPr>
          <p:cNvSpPr>
            <a:spLocks xmlns:a="http://schemas.openxmlformats.org/drawingml/2006/main" noGrp="1"/>
          </p:cNvSpPr>
          <p:nvPr/>
        </p:nvSpPr>
        <p:spPr>
          <a:xfrm xmlns:a="http://schemas.openxmlformats.org/drawingml/2006/main">
            <a:off x="609600" y="1676400"/>
            <a:ext cx="10972800" cy="0"/>
          </a:xfrm>
          <a:prstGeom xmlns:a="http://schemas.openxmlformats.org/drawingml/2006/main" prst="line">
            <a:avLst/>
          </a:prstGeom>
          <a:noFill xmlns:a="http://schemas.openxmlformats.org/drawingml/2006/main"/>
          <a:ln xmlns:a="http://schemas.openxmlformats.org/drawingml/2006/main" w="9525">
            <a:solidFill>
              <a:srgbClr val="35414B"/>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Rectangle: Rounded Corners 4">
            <a:extLst xmlns:a="http://schemas.openxmlformats.org/drawingml/2006/main">
              <a:ext uri="{FF2B5EF4-FFF2-40B4-BE49-F238E27FC236}">
                <a16:creationId xmlns:a16="http://schemas.microsoft.com/office/drawing/2014/main" id="{B22468E2-1C8C-44B8-B681-C9C26BA7B25D}"/>
              </a:ext>
            </a:extLst>
          </p:cNvPr>
          <p:cNvSpPr>
            <a:spLocks xmlns:a="http://schemas.openxmlformats.org/drawingml/2006/main" noGrp="1"/>
          </p:cNvSpPr>
          <p:nvPr/>
        </p:nvSpPr>
        <p:spPr>
          <a:xfrm xmlns:a="http://schemas.openxmlformats.org/drawingml/2006/main">
            <a:off x="1809750" y="2057400"/>
            <a:ext cx="3429000" cy="495300"/>
          </a:xfrm>
          <a:prstGeom xmlns:a="http://schemas.openxmlformats.org/drawingml/2006/main" prst="roundRect">
            <a:avLst>
              <a:gd name="adj" fmla="val 26923"/>
            </a:avLst>
          </a:prstGeom>
          <a:solidFill xmlns:a="http://schemas.openxmlformats.org/drawingml/2006/main">
            <a:srgbClr val="111820"/>
          </a:solidFill>
          <a:ln xmlns:a="http://schemas.openxmlformats.org/drawingml/2006/main" w="13335">
            <a:solidFill>
              <a:schemeClr val="bg1">
                <a:alpha val="70000"/>
              </a:schemeClr>
            </a:solidFill>
            <a:prstDash val="solid"/>
          </a:ln>
        </p:spPr>
        <p:txBody>
          <a:bodyPr xmlns:a="http://schemas.openxmlformats.org/drawingml/2006/main"/>
          <a:lstStyle xmlns:a="http://schemas.openxmlformats.org/drawingml/2006/main"/>
          <a:p xmlns:a="http://schemas.openxmlformats.org/drawingml/2006/main">
            <a:endParaRPr/>
          </a:p>
        </p:txBody>
      </p:sp>
      <p:sp>
        <p:nvSpPr>
          <p:cNvPr id="6" name="Rectangle 5">
            <a:extLst xmlns:a="http://schemas.openxmlformats.org/drawingml/2006/main">
              <a:ext uri="{FF2B5EF4-FFF2-40B4-BE49-F238E27FC236}">
                <a16:creationId xmlns:a16="http://schemas.microsoft.com/office/drawing/2014/main" id="{CC9895A5-E4B1-4593-A1CB-0C98405E97B4}"/>
              </a:ext>
            </a:extLst>
          </p:cNvPr>
          <p:cNvSpPr>
            <a:spLocks xmlns:a="http://schemas.openxmlformats.org/drawingml/2006/main" noGrp="1"/>
          </p:cNvSpPr>
          <p:nvPr/>
        </p:nvSpPr>
        <p:spPr>
          <a:xfrm xmlns:a="http://schemas.openxmlformats.org/drawingml/2006/main">
            <a:off x="1924050" y="2190750"/>
            <a:ext cx="32004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1200" b="1">
                <a:solidFill>
                  <a:srgbClr val="F26B38"/>
                </a:solidFill>
                <a:latin typeface="DejaVu Sans Mono"/>
                <a:ea typeface="DejaVu Sans Mono"/>
                <a:cs typeface="DejaVu Sans Mono"/>
              </a:defRPr>
            </a:pPr>
            <a:r>
              <a:rPr sz="1200" b="1">
                <a:solidFill>
                  <a:schemeClr val="bg1"/>
                </a:solidFill>
                <a:latin typeface="DejaVu Sans Mono"/>
                <a:ea typeface="DejaVu Sans Mono"/>
                <a:cs typeface="DejaVu Sans Mono"/>
              </a:rPr>
              <a:t>ROLE + PURPOSE + ACCOUNTABILITY</a:t>
            </a:r>
          </a:p>
        </p:txBody>
      </p:sp>
      <p:sp>
        <p:nvSpPr>
          <p:cNvPr id="7" name="Rectangle: Rounded Corners 6">
            <a:extLst xmlns:a="http://schemas.openxmlformats.org/drawingml/2006/main">
              <a:ext uri="{FF2B5EF4-FFF2-40B4-BE49-F238E27FC236}">
                <a16:creationId xmlns:a16="http://schemas.microsoft.com/office/drawing/2014/main" id="{14031FD1-5700-4278-9AC2-F69BC674B8C0}"/>
              </a:ext>
            </a:extLst>
          </p:cNvPr>
          <p:cNvSpPr>
            <a:spLocks xmlns:a="http://schemas.openxmlformats.org/drawingml/2006/main" noGrp="1"/>
          </p:cNvSpPr>
          <p:nvPr/>
        </p:nvSpPr>
        <p:spPr>
          <a:xfrm xmlns:a="http://schemas.openxmlformats.org/drawingml/2006/main">
            <a:off x="2095500" y="2743200"/>
            <a:ext cx="3905250" cy="495300"/>
          </a:xfrm>
          <a:prstGeom xmlns:a="http://schemas.openxmlformats.org/drawingml/2006/main" prst="roundRect">
            <a:avLst>
              <a:gd name="adj" fmla="val 26923"/>
            </a:avLst>
          </a:prstGeom>
          <a:solidFill xmlns:a="http://schemas.openxmlformats.org/drawingml/2006/main">
            <a:srgbClr val="111820"/>
          </a:solidFill>
          <a:ln xmlns:a="http://schemas.openxmlformats.org/drawingml/2006/main" w="13335">
            <a:solidFill>
              <a:srgbClr val="F4F6F8">
                <a:alpha val="70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8" name="Rectangle 7">
            <a:extLst xmlns:a="http://schemas.openxmlformats.org/drawingml/2006/main">
              <a:ext uri="{FF2B5EF4-FFF2-40B4-BE49-F238E27FC236}">
                <a16:creationId xmlns:a16="http://schemas.microsoft.com/office/drawing/2014/main" id="{BC305707-CB1C-4ADC-96E3-21118C2530E1}"/>
              </a:ext>
            </a:extLst>
          </p:cNvPr>
          <p:cNvSpPr>
            <a:spLocks xmlns:a="http://schemas.openxmlformats.org/drawingml/2006/main" noGrp="1"/>
          </p:cNvSpPr>
          <p:nvPr/>
        </p:nvSpPr>
        <p:spPr>
          <a:xfrm xmlns:a="http://schemas.openxmlformats.org/drawingml/2006/main">
            <a:off x="2209800" y="2876550"/>
            <a:ext cx="3676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1200" b="1">
                <a:solidFill>
                  <a:srgbClr val="F4F6F8"/>
                </a:solidFill>
                <a:latin typeface="DejaVu Sans Mono"/>
                <a:ea typeface="DejaVu Sans Mono"/>
                <a:cs typeface="DejaVu Sans Mono"/>
              </a:defRPr>
            </a:pPr>
            <a:r>
              <a:rPr sz="1200" b="1">
                <a:solidFill>
                  <a:srgbClr val="F4F6F8"/>
                </a:solidFill>
                <a:latin typeface="DejaVu Sans Mono"/>
                <a:ea typeface="DejaVu Sans Mono"/>
                <a:cs typeface="DejaVu Sans Mono"/>
              </a:rPr>
              <a:t>1 LOOP  •  2 INSTRUCTIONS  •  3 TOOL ACCESS  •  4 CONTEXT</a:t>
            </a:r>
          </a:p>
        </p:txBody>
      </p:sp>
      <p:sp>
        <p:nvSpPr>
          <p:cNvPr id="9" name="Rectangle: Rounded Corners 8">
            <a:extLst xmlns:a="http://schemas.openxmlformats.org/drawingml/2006/main">
              <a:ext uri="{FF2B5EF4-FFF2-40B4-BE49-F238E27FC236}">
                <a16:creationId xmlns:a16="http://schemas.microsoft.com/office/drawing/2014/main" id="{620124A0-1C34-4412-9682-E39646C6B061}"/>
              </a:ext>
            </a:extLst>
          </p:cNvPr>
          <p:cNvSpPr>
            <a:spLocks xmlns:a="http://schemas.openxmlformats.org/drawingml/2006/main" noGrp="1"/>
          </p:cNvSpPr>
          <p:nvPr/>
        </p:nvSpPr>
        <p:spPr>
          <a:xfrm xmlns:a="http://schemas.openxmlformats.org/drawingml/2006/main">
            <a:off x="2381250" y="3429000"/>
            <a:ext cx="4381500" cy="495300"/>
          </a:xfrm>
          <a:prstGeom xmlns:a="http://schemas.openxmlformats.org/drawingml/2006/main" prst="roundRect">
            <a:avLst>
              <a:gd name="adj" fmla="val 26923"/>
            </a:avLst>
          </a:prstGeom>
          <a:solidFill xmlns:a="http://schemas.openxmlformats.org/drawingml/2006/main">
            <a:srgbClr val="111820"/>
          </a:solidFill>
          <a:ln xmlns:a="http://schemas.openxmlformats.org/drawingml/2006/main" w="13335">
            <a:solidFill>
              <a:srgbClr val="39D7FF">
                <a:alpha val="70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10" name="Rectangle 9">
            <a:extLst xmlns:a="http://schemas.openxmlformats.org/drawingml/2006/main">
              <a:ext uri="{FF2B5EF4-FFF2-40B4-BE49-F238E27FC236}">
                <a16:creationId xmlns:a16="http://schemas.microsoft.com/office/drawing/2014/main" id="{CBD0737E-4DD0-4129-98D4-763E38E56FB6}"/>
              </a:ext>
            </a:extLst>
          </p:cNvPr>
          <p:cNvSpPr>
            <a:spLocks xmlns:a="http://schemas.openxmlformats.org/drawingml/2006/main" noGrp="1"/>
          </p:cNvSpPr>
          <p:nvPr/>
        </p:nvSpPr>
        <p:spPr>
          <a:xfrm xmlns:a="http://schemas.openxmlformats.org/drawingml/2006/main">
            <a:off x="2421411" y="3517867"/>
            <a:ext cx="42672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1200" b="1">
                <a:solidFill>
                  <a:srgbClr val="39D7FF"/>
                </a:solidFill>
                <a:latin typeface="DejaVu Sans Mono"/>
                <a:ea typeface="DejaVu Sans Mono"/>
                <a:cs typeface="DejaVu Sans Mono"/>
              </a:defRPr>
            </a:pPr>
            <a:r>
              <a:rPr sz="1200" b="1">
                <a:solidFill>
                  <a:srgbClr val="39D7FF"/>
                </a:solidFill>
                <a:latin typeface="DejaVu Sans Mono"/>
                <a:ea typeface="DejaVu Sans Mono"/>
                <a:cs typeface="DejaVu Sans Mono"/>
              </a:rPr>
              <a:t>5 MEMORY + STATE  •  6 SUBAGENT</a:t>
            </a:r>
            <a:r>
              <a:rPr sz="1200" b="1">
                <a:solidFill>
                  <a:srgbClr val="39D7FF"/>
                </a:solidFill>
                <a:latin typeface="DejaVu Sans Mono"/>
                <a:ea typeface="DejaVu Sans Mono"/>
                <a:cs typeface="DejaVu Sans Mono"/>
              </a:rPr>
              <a:t> IDENITY</a:t>
            </a:r>
            <a:r>
              <a:rPr sz="1200" b="1">
                <a:solidFill>
                  <a:srgbClr val="39D7FF"/>
                </a:solidFill>
                <a:latin typeface="DejaVu Sans Mono"/>
                <a:ea typeface="DejaVu Sans Mono"/>
                <a:cs typeface="DejaVu Sans Mono"/>
              </a:rPr>
              <a:t>  </a:t>
            </a:r>
            <a:endParaRPr sz="1200" b="1">
              <a:solidFill>
                <a:srgbClr val="39D7FF"/>
              </a:solidFill>
              <a:latin typeface="DejaVu Sans Mono"/>
              <a:ea typeface="DejaVu Sans Mono"/>
              <a:cs typeface="DejaVu Sans Mono"/>
            </a:endParaRPr>
          </a:p>
          <a:p xmlns:a="http://schemas.openxmlformats.org/drawingml/2006/main">
            <a:pPr algn="ctr">
              <a:lnSpc>
                <a:spcPct val="95000"/>
              </a:lnSpc>
              <a:buNone/>
              <a:defRPr sz="1200" b="1">
                <a:solidFill>
                  <a:srgbClr val="39D7FF"/>
                </a:solidFill>
                <a:latin typeface="DejaVu Sans Mono"/>
                <a:ea typeface="DejaVu Sans Mono"/>
                <a:cs typeface="DejaVu Sans Mono"/>
              </a:defRPr>
            </a:pPr>
            <a:r>
              <a:rPr sz="1200" b="1">
                <a:solidFill>
                  <a:srgbClr val="39D7FF"/>
                </a:solidFill>
                <a:latin typeface="DejaVu Sans Mono"/>
                <a:ea typeface="DejaVu Sans Mono"/>
                <a:cs typeface="DejaVu Sans Mono"/>
              </a:rPr>
              <a:t>• </a:t>
            </a:r>
            <a:r>
              <a:rPr sz="1200" b="1">
                <a:solidFill>
                  <a:srgbClr val="39D7FF"/>
                </a:solidFill>
                <a:latin typeface="DejaVu Sans Mono"/>
                <a:ea typeface="DejaVu Sans Mono"/>
                <a:cs typeface="DejaVu Sans Mono"/>
              </a:rPr>
              <a:t>6 SKILLS </a:t>
            </a:r>
            <a:r>
              <a:rPr sz="1200" b="1">
                <a:solidFill>
                  <a:srgbClr val="39D7FF"/>
                </a:solidFill>
                <a:latin typeface="DejaVu Sans Mono"/>
                <a:ea typeface="DejaVu Sans Mono"/>
                <a:cs typeface="DejaVu Sans Mono"/>
              </a:rPr>
              <a:t>•</a:t>
            </a:r>
            <a:r>
              <a:rPr sz="1200" b="1">
                <a:solidFill>
                  <a:srgbClr val="39D7FF"/>
                </a:solidFill>
                <a:latin typeface="DejaVu Sans Mono"/>
                <a:ea typeface="DejaVu Sans Mono"/>
                <a:cs typeface="DejaVu Sans Mono"/>
              </a:rPr>
              <a:t> 7 GUARDRAILS + </a:t>
            </a:r>
            <a:r>
              <a:rPr sz="1200" b="1">
                <a:solidFill>
                  <a:srgbClr val="39D7FF"/>
                </a:solidFill>
                <a:latin typeface="DejaVu Sans Mono"/>
                <a:ea typeface="DejaVu Sans Mono"/>
                <a:cs typeface="DejaVu Sans Mono"/>
              </a:rPr>
              <a:t>• 8 </a:t>
            </a:r>
            <a:r>
              <a:rPr sz="1200" b="1">
                <a:solidFill>
                  <a:srgbClr val="39D7FF"/>
                </a:solidFill>
                <a:latin typeface="DejaVu Sans Mono"/>
                <a:ea typeface="DejaVu Sans Mono"/>
                <a:cs typeface="DejaVu Sans Mono"/>
              </a:rPr>
              <a:t>APPROVAL</a:t>
            </a:r>
            <a:r>
              <a:rPr sz="1200" b="1">
                <a:solidFill>
                  <a:srgbClr val="39D7FF"/>
                </a:solidFill>
                <a:latin typeface="DejaVu Sans Mono"/>
                <a:ea typeface="DejaVu Sans Mono"/>
                <a:cs typeface="DejaVu Sans Mono"/>
              </a:rPr>
              <a:t> GATES</a:t>
            </a:r>
            <a:endParaRPr sz="1200" b="1">
              <a:solidFill>
                <a:srgbClr val="39D7FF"/>
              </a:solidFill>
              <a:latin typeface="DejaVu Sans Mono"/>
              <a:ea typeface="DejaVu Sans Mono"/>
              <a:cs typeface="DejaVu Sans Mono"/>
            </a:endParaRPr>
          </a:p>
        </p:txBody>
      </p:sp>
      <p:sp>
        <p:nvSpPr>
          <p:cNvPr id="11" name="Rectangle: Rounded Corners 10">
            <a:extLst xmlns:a="http://schemas.openxmlformats.org/drawingml/2006/main">
              <a:ext uri="{FF2B5EF4-FFF2-40B4-BE49-F238E27FC236}">
                <a16:creationId xmlns:a16="http://schemas.microsoft.com/office/drawing/2014/main" id="{F5B123AC-C67A-45F4-BF8C-BF06D1B0C8B4}"/>
              </a:ext>
            </a:extLst>
          </p:cNvPr>
          <p:cNvSpPr>
            <a:spLocks xmlns:a="http://schemas.openxmlformats.org/drawingml/2006/main" noGrp="1"/>
          </p:cNvSpPr>
          <p:nvPr/>
        </p:nvSpPr>
        <p:spPr>
          <a:xfrm xmlns:a="http://schemas.openxmlformats.org/drawingml/2006/main">
            <a:off x="2667000" y="4114800"/>
            <a:ext cx="4762500" cy="495300"/>
          </a:xfrm>
          <a:prstGeom xmlns:a="http://schemas.openxmlformats.org/drawingml/2006/main" prst="roundRect">
            <a:avLst>
              <a:gd name="adj" fmla="val 26923"/>
            </a:avLst>
          </a:prstGeom>
          <a:solidFill xmlns:a="http://schemas.openxmlformats.org/drawingml/2006/main">
            <a:srgbClr val="111820"/>
          </a:solidFill>
          <a:ln xmlns:a="http://schemas.openxmlformats.org/drawingml/2006/main" w="13335">
            <a:solidFill>
              <a:srgbClr val="00B0F0">
                <a:alpha val="70000"/>
              </a:srgbClr>
            </a:solidFill>
            <a:prstDash val="solid"/>
          </a:ln>
        </p:spPr>
        <p:txBody>
          <a:bodyPr xmlns:a="http://schemas.openxmlformats.org/drawingml/2006/main"/>
          <a:lstStyle xmlns:a="http://schemas.openxmlformats.org/drawingml/2006/main"/>
          <a:p xmlns:a="http://schemas.openxmlformats.org/drawingml/2006/main">
            <a:endParaRPr>
              <a:solidFill>
                <a:schemeClr val="accent1">
                  <a:lumMod val="60000"/>
                  <a:lumOff val="40000"/>
                </a:schemeClr>
              </a:solidFill>
            </a:endParaRPr>
          </a:p>
        </p:txBody>
      </p:sp>
      <p:sp>
        <p:nvSpPr>
          <p:cNvPr id="12" name="Rectangle 11">
            <a:extLst xmlns:a="http://schemas.openxmlformats.org/drawingml/2006/main">
              <a:ext uri="{FF2B5EF4-FFF2-40B4-BE49-F238E27FC236}">
                <a16:creationId xmlns:a16="http://schemas.microsoft.com/office/drawing/2014/main" id="{5D3982D1-2FAE-4B8B-85DD-AF9A0562C284}"/>
              </a:ext>
            </a:extLst>
          </p:cNvPr>
          <p:cNvSpPr>
            <a:spLocks xmlns:a="http://schemas.openxmlformats.org/drawingml/2006/main" noGrp="1"/>
          </p:cNvSpPr>
          <p:nvPr/>
        </p:nvSpPr>
        <p:spPr>
          <a:xfrm xmlns:a="http://schemas.openxmlformats.org/drawingml/2006/main">
            <a:off x="2781300" y="4248150"/>
            <a:ext cx="4533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1200" b="1">
                <a:solidFill>
                  <a:srgbClr val="62D6A7"/>
                </a:solidFill>
                <a:latin typeface="DejaVu Sans Mono"/>
                <a:ea typeface="DejaVu Sans Mono"/>
                <a:cs typeface="DejaVu Sans Mono"/>
              </a:defRPr>
            </a:pPr>
            <a:r>
              <a:rPr sz="1200" b="1">
                <a:solidFill>
                  <a:srgbClr val="39D7FF"/>
                </a:solidFill>
                <a:latin typeface="DejaVu Sans Mono"/>
                <a:ea typeface="DejaVu Sans Mono"/>
                <a:cs typeface="DejaVu Sans Mono"/>
              </a:rPr>
              <a:t>•  9</a:t>
            </a:r>
            <a:r>
              <a:rPr sz="1200" b="1">
                <a:solidFill>
                  <a:schemeClr val="accent1">
                    <a:lumMod val="60000"/>
                    <a:lumOff val="40000"/>
                  </a:schemeClr>
                </a:solidFill>
                <a:latin typeface="DejaVu Sans Mono"/>
                <a:ea typeface="DejaVu Sans Mono"/>
                <a:cs typeface="DejaVu Sans Mono"/>
              </a:rPr>
              <a:t>GROUND TRUTH  •  </a:t>
            </a:r>
            <a:r>
              <a:rPr sz="1200" b="1">
                <a:solidFill>
                  <a:schemeClr val="accent1">
                    <a:lumMod val="60000"/>
                    <a:lumOff val="40000"/>
                  </a:schemeClr>
                </a:solidFill>
                <a:latin typeface="DejaVu Sans Mono"/>
                <a:ea typeface="DejaVu Sans Mono"/>
                <a:cs typeface="DejaVu Sans Mono"/>
              </a:rPr>
              <a:t>10 </a:t>
            </a:r>
            <a:r>
              <a:rPr sz="1200" b="1">
                <a:solidFill>
                  <a:schemeClr val="accent1">
                    <a:lumMod val="60000"/>
                    <a:lumOff val="40000"/>
                  </a:schemeClr>
                </a:solidFill>
                <a:latin typeface="DejaVu Sans Mono"/>
                <a:ea typeface="DejaVu Sans Mono"/>
                <a:cs typeface="DejaVu Sans Mono"/>
              </a:rPr>
              <a:t>WORK-PRODUCT CONTRACTS  </a:t>
            </a:r>
            <a:endParaRPr sz="1200" b="1">
              <a:solidFill>
                <a:schemeClr val="accent1">
                  <a:lumMod val="60000"/>
                  <a:lumOff val="40000"/>
                </a:schemeClr>
              </a:solidFill>
              <a:latin typeface="DejaVu Sans Mono"/>
              <a:ea typeface="DejaVu Sans Mono"/>
              <a:cs typeface="DejaVu Sans Mono"/>
            </a:endParaRPr>
          </a:p>
          <a:p xmlns:a="http://schemas.openxmlformats.org/drawingml/2006/main">
            <a:pPr algn="ctr">
              <a:lnSpc>
                <a:spcPct val="95000"/>
              </a:lnSpc>
              <a:buNone/>
              <a:defRPr sz="1200" b="1">
                <a:solidFill>
                  <a:srgbClr val="62D6A7"/>
                </a:solidFill>
                <a:latin typeface="DejaVu Sans Mono"/>
                <a:ea typeface="DejaVu Sans Mono"/>
                <a:cs typeface="DejaVu Sans Mono"/>
              </a:defRPr>
            </a:pPr>
            <a:r>
              <a:rPr sz="1200" b="1">
                <a:solidFill>
                  <a:schemeClr val="accent1">
                    <a:lumMod val="60000"/>
                    <a:lumOff val="40000"/>
                  </a:schemeClr>
                </a:solidFill>
                <a:latin typeface="DejaVu Sans Mono"/>
                <a:ea typeface="DejaVu Sans Mono"/>
                <a:cs typeface="DejaVu Sans Mono"/>
              </a:rPr>
              <a:t>•  </a:t>
            </a:r>
            <a:r>
              <a:rPr sz="1200" b="1">
                <a:solidFill>
                  <a:schemeClr val="accent1">
                    <a:lumMod val="60000"/>
                    <a:lumOff val="40000"/>
                  </a:schemeClr>
                </a:solidFill>
                <a:latin typeface="DejaVu Sans Mono"/>
                <a:ea typeface="DejaVu Sans Mono"/>
                <a:cs typeface="DejaVu Sans Mono"/>
              </a:rPr>
              <a:t>11 </a:t>
            </a:r>
            <a:r>
              <a:rPr sz="1200" b="1">
                <a:solidFill>
                  <a:schemeClr val="accent1">
                    <a:lumMod val="60000"/>
                    <a:lumOff val="40000"/>
                  </a:schemeClr>
                </a:solidFill>
                <a:latin typeface="DejaVu Sans Mono"/>
                <a:ea typeface="DejaVu Sans Mono"/>
                <a:cs typeface="DejaVu Sans Mono"/>
              </a:rPr>
              <a:t>DURABLE STATE</a:t>
            </a:r>
          </a:p>
        </p:txBody>
      </p:sp>
      <p:sp>
        <p:nvSpPr>
          <p:cNvPr id="13" name="Rectangle: Rounded Corners 12">
            <a:extLst xmlns:a="http://schemas.openxmlformats.org/drawingml/2006/main">
              <a:ext uri="{FF2B5EF4-FFF2-40B4-BE49-F238E27FC236}">
                <a16:creationId xmlns:a16="http://schemas.microsoft.com/office/drawing/2014/main" id="{DDF7E78F-96F5-4D3A-9CE6-A6ABDE037D99}"/>
              </a:ext>
            </a:extLst>
          </p:cNvPr>
          <p:cNvSpPr>
            <a:spLocks xmlns:a="http://schemas.openxmlformats.org/drawingml/2006/main" noGrp="1"/>
          </p:cNvSpPr>
          <p:nvPr/>
        </p:nvSpPr>
        <p:spPr>
          <a:xfrm xmlns:a="http://schemas.openxmlformats.org/drawingml/2006/main">
            <a:off x="2952750" y="4800600"/>
            <a:ext cx="5143500" cy="495300"/>
          </a:xfrm>
          <a:prstGeom xmlns:a="http://schemas.openxmlformats.org/drawingml/2006/main" prst="roundRect">
            <a:avLst>
              <a:gd name="adj" fmla="val 26923"/>
            </a:avLst>
          </a:prstGeom>
          <a:solidFill xmlns:a="http://schemas.openxmlformats.org/drawingml/2006/main">
            <a:srgbClr val="201A0E"/>
          </a:solidFill>
          <a:ln xmlns:a="http://schemas.openxmlformats.org/drawingml/2006/main" w="13335">
            <a:solidFill>
              <a:srgbClr val="FFC857">
                <a:alpha val="70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14" name="Rectangle 13">
            <a:extLst xmlns:a="http://schemas.openxmlformats.org/drawingml/2006/main">
              <a:ext uri="{FF2B5EF4-FFF2-40B4-BE49-F238E27FC236}">
                <a16:creationId xmlns:a16="http://schemas.microsoft.com/office/drawing/2014/main" id="{24E953EF-83C5-48FA-83B2-77AC80F7D2A8}"/>
              </a:ext>
            </a:extLst>
          </p:cNvPr>
          <p:cNvSpPr>
            <a:spLocks xmlns:a="http://schemas.openxmlformats.org/drawingml/2006/main" noGrp="1"/>
          </p:cNvSpPr>
          <p:nvPr/>
        </p:nvSpPr>
        <p:spPr>
          <a:xfrm xmlns:a="http://schemas.openxmlformats.org/drawingml/2006/main">
            <a:off x="3067050" y="4889463"/>
            <a:ext cx="4914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1200" b="1">
                <a:solidFill>
                  <a:srgbClr val="FFC857"/>
                </a:solidFill>
                <a:latin typeface="DejaVu Sans Mono"/>
                <a:ea typeface="DejaVu Sans Mono"/>
                <a:cs typeface="DejaVu Sans Mono"/>
              </a:defRPr>
            </a:pPr>
            <a:r>
              <a:rPr sz="1200" b="1">
                <a:solidFill>
                  <a:srgbClr val="FFC857"/>
                </a:solidFill>
                <a:latin typeface="DejaVu Sans Mono"/>
                <a:ea typeface="DejaVu Sans Mono"/>
                <a:cs typeface="DejaVu Sans Mono"/>
              </a:rPr>
              <a:t>MODELS </a:t>
            </a:r>
            <a:r>
              <a:rPr sz="1200" b="1">
                <a:solidFill>
                  <a:srgbClr val="FFC857"/>
                </a:solidFill>
                <a:latin typeface="DejaVu Sans Mono"/>
                <a:ea typeface="DejaVu Sans Mono"/>
                <a:cs typeface="DejaVu Sans Mono"/>
              </a:rPr>
              <a:t>and</a:t>
            </a:r>
            <a:r>
              <a:rPr sz="1200" b="1">
                <a:solidFill>
                  <a:srgbClr val="FFC857"/>
                </a:solidFill>
                <a:latin typeface="DejaVu Sans Mono"/>
                <a:ea typeface="DejaVu Sans Mono"/>
                <a:cs typeface="DejaVu Sans Mono"/>
              </a:rPr>
              <a:t> AGENTS </a:t>
            </a:r>
            <a:r>
              <a:rPr sz="1200" b="1">
                <a:solidFill>
                  <a:srgbClr val="FFC857"/>
                </a:solidFill>
                <a:latin typeface="DejaVu Sans Mono"/>
                <a:ea typeface="DejaVu Sans Mono"/>
                <a:cs typeface="DejaVu Sans Mono"/>
              </a:rPr>
              <a:t>are</a:t>
            </a:r>
            <a:r>
              <a:rPr sz="1200" b="1">
                <a:solidFill>
                  <a:srgbClr val="FFC857"/>
                </a:solidFill>
                <a:latin typeface="DejaVu Sans Mono"/>
                <a:ea typeface="DejaVu Sans Mono"/>
                <a:cs typeface="DejaVu Sans Mono"/>
              </a:rPr>
              <a:t> SWAPPABLE</a:t>
            </a:r>
            <a:r>
              <a:rPr sz="1200" b="1">
                <a:solidFill>
                  <a:srgbClr val="FFC857"/>
                </a:solidFill>
                <a:latin typeface="DejaVu Sans Mono"/>
                <a:ea typeface="DejaVu Sans Mono"/>
                <a:cs typeface="DejaVu Sans Mono"/>
              </a:rPr>
              <a:t> </a:t>
            </a:r>
          </a:p>
          <a:p xmlns:a="http://schemas.openxmlformats.org/drawingml/2006/main">
            <a:pPr algn="ctr">
              <a:lnSpc>
                <a:spcPct val="95000"/>
              </a:lnSpc>
              <a:buNone/>
              <a:defRPr sz="1200" b="1">
                <a:solidFill>
                  <a:srgbClr val="FFC857"/>
                </a:solidFill>
                <a:latin typeface="DejaVu Sans Mono"/>
                <a:ea typeface="DejaVu Sans Mono"/>
                <a:cs typeface="DejaVu Sans Mono"/>
              </a:defRPr>
            </a:pPr>
            <a:r>
              <a:rPr sz="1200" b="1">
                <a:solidFill>
                  <a:srgbClr val="FFC857"/>
                </a:solidFill>
                <a:latin typeface="DejaVu Sans Mono"/>
                <a:ea typeface="DejaVu Sans Mono"/>
                <a:cs typeface="DejaVu Sans Mono"/>
              </a:rPr>
              <a:t>And are quickly advancing</a:t>
            </a:r>
            <a:endParaRPr sz="1200" b="1">
              <a:solidFill>
                <a:srgbClr val="FFC857"/>
              </a:solidFill>
              <a:latin typeface="DejaVu Sans Mono"/>
              <a:ea typeface="DejaVu Sans Mono"/>
              <a:cs typeface="DejaVu Sans Mono"/>
            </a:endParaRPr>
          </a:p>
        </p:txBody>
      </p:sp>
      <p:sp>
        <p:nvSpPr>
          <p:cNvPr id="15" name="Rectangle 14">
            <a:extLst xmlns:a="http://schemas.openxmlformats.org/drawingml/2006/main">
              <a:ext uri="{FF2B5EF4-FFF2-40B4-BE49-F238E27FC236}">
                <a16:creationId xmlns:a16="http://schemas.microsoft.com/office/drawing/2014/main" id="{7F57F3C5-9B86-45C4-9B8B-A5C6879E3374}"/>
              </a:ext>
            </a:extLst>
          </p:cNvPr>
          <p:cNvSpPr>
            <a:spLocks xmlns:a="http://schemas.openxmlformats.org/drawingml/2006/main" noGrp="1"/>
          </p:cNvSpPr>
          <p:nvPr/>
        </p:nvSpPr>
        <p:spPr>
          <a:xfrm xmlns:a="http://schemas.openxmlformats.org/drawingml/2006/main">
            <a:off x="704850" y="2362200"/>
            <a:ext cx="8382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5000"/>
              </a:lnSpc>
              <a:buNone/>
              <a:defRPr sz="1125" b="1">
                <a:solidFill>
                  <a:srgbClr val="39D7FF"/>
                </a:solidFill>
                <a:latin typeface="DejaVu Sans Mono"/>
                <a:ea typeface="DejaVu Sans Mono"/>
                <a:cs typeface="DejaVu Sans Mono"/>
              </a:defRPr>
            </a:pPr>
            <a:r>
              <a:rPr sz="1125" b="1">
                <a:solidFill>
                  <a:srgbClr val="39D7FF"/>
                </a:solidFill>
                <a:latin typeface="DejaVu Sans Mono"/>
                <a:ea typeface="DejaVu Sans Mono"/>
                <a:cs typeface="DejaVu Sans Mono"/>
              </a:rPr>
              <a:t>DURABLE</a:t>
            </a:r>
          </a:p>
        </p:txBody>
      </p:sp>
      <p:sp>
        <p:nvSpPr>
          <p:cNvPr id="16" name="Straight Connector 15">
            <a:extLst xmlns:a="http://schemas.openxmlformats.org/drawingml/2006/main">
              <a:ext uri="{FF2B5EF4-FFF2-40B4-BE49-F238E27FC236}">
                <a16:creationId xmlns:a16="http://schemas.microsoft.com/office/drawing/2014/main" id="{F80FF17D-0461-45CC-9696-5B5D1A4CABEA}"/>
              </a:ext>
            </a:extLst>
          </p:cNvPr>
          <p:cNvSpPr>
            <a:spLocks xmlns:a="http://schemas.openxmlformats.org/drawingml/2006/main" noGrp="1"/>
          </p:cNvSpPr>
          <p:nvPr/>
        </p:nvSpPr>
        <p:spPr>
          <a:xfrm xmlns:a="http://schemas.openxmlformats.org/drawingml/2006/main">
            <a:off x="1581150" y="2114550"/>
            <a:ext cx="0" cy="0"/>
          </a:xfrm>
          <a:prstGeom xmlns:a="http://schemas.openxmlformats.org/drawingml/2006/main" prst="line">
            <a:avLst/>
          </a:prstGeom>
          <a:noFill xmlns:a="http://schemas.openxmlformats.org/drawingml/2006/main"/>
          <a:ln xmlns:a="http://schemas.openxmlformats.org/drawingml/2006/main" w="38100">
            <a:solidFill>
              <a:srgbClr val="39D7FF"/>
            </a:solidFill>
            <a:prstDash val="solid"/>
          </a:ln>
        </p:spPr>
        <p:txBody>
          <a:bodyPr xmlns:a="http://schemas.openxmlformats.org/drawingml/2006/main"/>
          <a:lstStyle xmlns:a="http://schemas.openxmlformats.org/drawingml/2006/main"/>
          <a:p xmlns:a="http://schemas.openxmlformats.org/drawingml/2006/main">
            <a:endParaRPr/>
          </a:p>
        </p:txBody>
      </p:sp>
      <p:sp>
        <p:nvSpPr>
          <p:cNvPr id="17" name="Rectangle 16">
            <a:extLst xmlns:a="http://schemas.openxmlformats.org/drawingml/2006/main">
              <a:ext uri="{FF2B5EF4-FFF2-40B4-BE49-F238E27FC236}">
                <a16:creationId xmlns:a16="http://schemas.microsoft.com/office/drawing/2014/main" id="{87423C49-5993-4A5D-B0A9-C40E40864651}"/>
              </a:ext>
            </a:extLst>
          </p:cNvPr>
          <p:cNvSpPr>
            <a:spLocks xmlns:a="http://schemas.openxmlformats.org/drawingml/2006/main" noGrp="1"/>
          </p:cNvSpPr>
          <p:nvPr/>
        </p:nvSpPr>
        <p:spPr>
          <a:xfrm xmlns:a="http://schemas.openxmlformats.org/drawingml/2006/main">
            <a:off x="1562100" y="2114550"/>
            <a:ext cx="38100" cy="2457450"/>
          </a:xfrm>
          <a:prstGeom xmlns:a="http://schemas.openxmlformats.org/drawingml/2006/main" prst="rect">
            <a:avLst/>
          </a:prstGeom>
          <a:solidFill xmlns:a="http://schemas.openxmlformats.org/drawingml/2006/main">
            <a:srgbClr val="39D7FF"/>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8" name="Rectangle 17">
            <a:extLst xmlns:a="http://schemas.openxmlformats.org/drawingml/2006/main">
              <a:ext uri="{FF2B5EF4-FFF2-40B4-BE49-F238E27FC236}">
                <a16:creationId xmlns:a16="http://schemas.microsoft.com/office/drawing/2014/main" id="{EC8C0378-94C5-43C6-91AE-F49488AABDDA}"/>
              </a:ext>
            </a:extLst>
          </p:cNvPr>
          <p:cNvSpPr>
            <a:spLocks xmlns:a="http://schemas.openxmlformats.org/drawingml/2006/main" noGrp="1"/>
          </p:cNvSpPr>
          <p:nvPr/>
        </p:nvSpPr>
        <p:spPr>
          <a:xfrm xmlns:a="http://schemas.openxmlformats.org/drawingml/2006/main">
            <a:off x="685800" y="4953000"/>
            <a:ext cx="8763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975" b="1">
                <a:solidFill>
                  <a:srgbClr val="FFC857"/>
                </a:solidFill>
                <a:latin typeface="DejaVu Sans Mono"/>
                <a:ea typeface="DejaVu Sans Mono"/>
                <a:cs typeface="DejaVu Sans Mono"/>
              </a:defRPr>
            </a:pPr>
            <a:r>
              <a:rPr sz="975" b="1">
                <a:solidFill>
                  <a:srgbClr val="FFC857"/>
                </a:solidFill>
                <a:latin typeface="DejaVu Sans Mono"/>
                <a:ea typeface="DejaVu Sans Mono"/>
                <a:cs typeface="DejaVu Sans Mono"/>
              </a:rPr>
              <a:t>REPLACEABLE</a:t>
            </a:r>
          </a:p>
        </p:txBody>
      </p:sp>
      <p:sp>
        <p:nvSpPr>
          <p:cNvPr id="19" name="Rectangle 18">
            <a:extLst xmlns:a="http://schemas.openxmlformats.org/drawingml/2006/main">
              <a:ext uri="{FF2B5EF4-FFF2-40B4-BE49-F238E27FC236}">
                <a16:creationId xmlns:a16="http://schemas.microsoft.com/office/drawing/2014/main" id="{B22ECC55-6185-4152-B30C-F2438DE28DAD}"/>
              </a:ext>
            </a:extLst>
          </p:cNvPr>
          <p:cNvSpPr>
            <a:spLocks xmlns:a="http://schemas.openxmlformats.org/drawingml/2006/main" noGrp="1"/>
          </p:cNvSpPr>
          <p:nvPr/>
        </p:nvSpPr>
        <p:spPr>
          <a:xfrm xmlns:a="http://schemas.openxmlformats.org/drawingml/2006/main">
            <a:off x="1562100" y="4762500"/>
            <a:ext cx="38100" cy="552450"/>
          </a:xfrm>
          <a:prstGeom xmlns:a="http://schemas.openxmlformats.org/drawingml/2006/main" prst="rect">
            <a:avLst/>
          </a:prstGeom>
          <a:solidFill xmlns:a="http://schemas.openxmlformats.org/drawingml/2006/main">
            <a:srgbClr val="FFC85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0" name="Straight Connector 19">
            <a:extLst xmlns:a="http://schemas.openxmlformats.org/drawingml/2006/main">
              <a:ext uri="{FF2B5EF4-FFF2-40B4-BE49-F238E27FC236}">
                <a16:creationId xmlns:a16="http://schemas.microsoft.com/office/drawing/2014/main" id="{178756E9-401D-4D3B-B13C-7A57594F970E}"/>
              </a:ext>
            </a:extLst>
          </p:cNvPr>
          <p:cNvSpPr>
            <a:spLocks xmlns:a="http://schemas.openxmlformats.org/drawingml/2006/main" noGrp="1"/>
          </p:cNvSpPr>
          <p:nvPr/>
        </p:nvSpPr>
        <p:spPr>
          <a:xfrm xmlns:a="http://schemas.openxmlformats.org/drawingml/2006/main">
            <a:off x="8507834" y="2400300"/>
            <a:ext cx="0" cy="0"/>
          </a:xfrm>
          <a:prstGeom xmlns:a="http://schemas.openxmlformats.org/drawingml/2006/main" prst="line">
            <a:avLst/>
          </a:prstGeom>
          <a:noFill xmlns:a="http://schemas.openxmlformats.org/drawingml/2006/main"/>
          <a:ln xmlns:a="http://schemas.openxmlformats.org/drawingml/2006/main" w="19050">
            <a:solidFill>
              <a:srgbClr val="35414B"/>
            </a:solidFill>
            <a:prstDash val="solid"/>
          </a:ln>
        </p:spPr>
        <p:txBody>
          <a:bodyPr xmlns:a="http://schemas.openxmlformats.org/drawingml/2006/main"/>
          <a:lstStyle xmlns:a="http://schemas.openxmlformats.org/drawingml/2006/main"/>
          <a:p xmlns:a="http://schemas.openxmlformats.org/drawingml/2006/main">
            <a:endParaRPr/>
          </a:p>
        </p:txBody>
      </p:sp>
      <p:sp>
        <p:nvSpPr>
          <p:cNvPr id="21" name="Rectangle 20">
            <a:extLst xmlns:a="http://schemas.openxmlformats.org/drawingml/2006/main">
              <a:ext uri="{FF2B5EF4-FFF2-40B4-BE49-F238E27FC236}">
                <a16:creationId xmlns:a16="http://schemas.microsoft.com/office/drawing/2014/main" id="{3A4CAF2D-DA17-49DC-8B50-99C585F6F50D}"/>
              </a:ext>
            </a:extLst>
          </p:cNvPr>
          <p:cNvSpPr>
            <a:spLocks xmlns:a="http://schemas.openxmlformats.org/drawingml/2006/main" noGrp="1"/>
          </p:cNvSpPr>
          <p:nvPr/>
        </p:nvSpPr>
        <p:spPr>
          <a:xfrm xmlns:a="http://schemas.openxmlformats.org/drawingml/2006/main">
            <a:off x="8488784" y="2324100"/>
            <a:ext cx="28575" cy="2667000"/>
          </a:xfrm>
          <a:prstGeom xmlns:a="http://schemas.openxmlformats.org/drawingml/2006/main" prst="rect">
            <a:avLst/>
          </a:prstGeom>
          <a:solidFill xmlns:a="http://schemas.openxmlformats.org/drawingml/2006/main">
            <a:srgbClr val="35414B"/>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2" name="Oval 21">
            <a:extLst xmlns:a="http://schemas.openxmlformats.org/drawingml/2006/main">
              <a:ext uri="{FF2B5EF4-FFF2-40B4-BE49-F238E27FC236}">
                <a16:creationId xmlns:a16="http://schemas.microsoft.com/office/drawing/2014/main" id="{2E430F77-97E0-4AF7-93D4-EBB8FC3EB4B0}"/>
              </a:ext>
            </a:extLst>
          </p:cNvPr>
          <p:cNvSpPr>
            <a:spLocks xmlns:a="http://schemas.openxmlformats.org/drawingml/2006/main" noGrp="1"/>
          </p:cNvSpPr>
          <p:nvPr/>
        </p:nvSpPr>
        <p:spPr>
          <a:xfrm xmlns:a="http://schemas.openxmlformats.org/drawingml/2006/main">
            <a:off x="8422109" y="2466975"/>
            <a:ext cx="171450" cy="171450"/>
          </a:xfrm>
          <a:prstGeom xmlns:a="http://schemas.openxmlformats.org/drawingml/2006/main" prst="ellipse">
            <a:avLst/>
          </a:prstGeom>
          <a:solidFill xmlns:a="http://schemas.openxmlformats.org/drawingml/2006/main">
            <a:srgbClr val="8D99A3"/>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3" name="Rectangle 22">
            <a:extLst xmlns:a="http://schemas.openxmlformats.org/drawingml/2006/main">
              <a:ext uri="{FF2B5EF4-FFF2-40B4-BE49-F238E27FC236}">
                <a16:creationId xmlns:a16="http://schemas.microsoft.com/office/drawing/2014/main" id="{3ED3DA19-E862-44F9-9DCD-E9079F2658CE}"/>
              </a:ext>
            </a:extLst>
          </p:cNvPr>
          <p:cNvSpPr>
            <a:spLocks xmlns:a="http://schemas.openxmlformats.org/drawingml/2006/main" noGrp="1"/>
          </p:cNvSpPr>
          <p:nvPr/>
        </p:nvSpPr>
        <p:spPr>
          <a:xfrm xmlns:a="http://schemas.openxmlformats.org/drawingml/2006/main">
            <a:off x="8793584" y="2266950"/>
            <a:ext cx="952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75" b="1">
                <a:solidFill>
                  <a:srgbClr val="8D99A3"/>
                </a:solidFill>
                <a:latin typeface="DejaVu Sans Mono"/>
                <a:ea typeface="DejaVu Sans Mono"/>
                <a:cs typeface="DejaVu Sans Mono"/>
              </a:defRPr>
            </a:pPr>
            <a:r>
              <a:rPr sz="975" b="1">
                <a:solidFill>
                  <a:srgbClr val="8D99A3"/>
                </a:solidFill>
                <a:latin typeface="DejaVu Sans Mono"/>
                <a:ea typeface="DejaVu Sans Mono"/>
                <a:cs typeface="DejaVu Sans Mono"/>
              </a:rPr>
              <a:t>2026</a:t>
            </a:r>
          </a:p>
        </p:txBody>
      </p:sp>
      <p:sp>
        <p:nvSpPr>
          <p:cNvPr id="24" name="Rectangle 23">
            <a:extLst xmlns:a="http://schemas.openxmlformats.org/drawingml/2006/main">
              <a:ext uri="{FF2B5EF4-FFF2-40B4-BE49-F238E27FC236}">
                <a16:creationId xmlns:a16="http://schemas.microsoft.com/office/drawing/2014/main" id="{0B58358E-3C12-4D92-8503-60E499D50564}"/>
              </a:ext>
            </a:extLst>
          </p:cNvPr>
          <p:cNvSpPr>
            <a:spLocks xmlns:a="http://schemas.openxmlformats.org/drawingml/2006/main" noGrp="1"/>
          </p:cNvSpPr>
          <p:nvPr/>
        </p:nvSpPr>
        <p:spPr>
          <a:xfrm xmlns:a="http://schemas.openxmlformats.org/drawingml/2006/main">
            <a:off x="8793584" y="2552700"/>
            <a:ext cx="2571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575" b="1">
                <a:solidFill>
                  <a:srgbClr val="F4F6F8"/>
                </a:solidFill>
                <a:latin typeface="DejaVu Sans"/>
                <a:ea typeface="DejaVu Sans"/>
                <a:cs typeface="DejaVu Sans"/>
              </a:defRPr>
            </a:pPr>
            <a:r>
              <a:rPr sz="1575" b="1">
                <a:solidFill>
                  <a:srgbClr val="F4F6F8"/>
                </a:solidFill>
                <a:latin typeface="DejaVu Sans"/>
                <a:ea typeface="DejaVu Sans"/>
                <a:cs typeface="DejaVu Sans"/>
              </a:rPr>
              <a:t>GENERAL LLM</a:t>
            </a:r>
          </a:p>
        </p:txBody>
      </p:sp>
      <p:sp>
        <p:nvSpPr>
          <p:cNvPr id="25" name="Oval 24">
            <a:extLst xmlns:a="http://schemas.openxmlformats.org/drawingml/2006/main">
              <a:ext uri="{FF2B5EF4-FFF2-40B4-BE49-F238E27FC236}">
                <a16:creationId xmlns:a16="http://schemas.microsoft.com/office/drawing/2014/main" id="{03F0BF95-C48B-4EB9-95FC-BD9FA71682E4}"/>
              </a:ext>
            </a:extLst>
          </p:cNvPr>
          <p:cNvSpPr>
            <a:spLocks xmlns:a="http://schemas.openxmlformats.org/drawingml/2006/main" noGrp="1"/>
          </p:cNvSpPr>
          <p:nvPr/>
        </p:nvSpPr>
        <p:spPr>
          <a:xfrm xmlns:a="http://schemas.openxmlformats.org/drawingml/2006/main">
            <a:off x="8422109" y="3609975"/>
            <a:ext cx="171450" cy="171450"/>
          </a:xfrm>
          <a:prstGeom xmlns:a="http://schemas.openxmlformats.org/drawingml/2006/main" prst="ellipse">
            <a:avLst/>
          </a:prstGeom>
          <a:solidFill xmlns:a="http://schemas.openxmlformats.org/drawingml/2006/main">
            <a:srgbClr val="39D7FF"/>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6" name="Rectangle 25">
            <a:extLst xmlns:a="http://schemas.openxmlformats.org/drawingml/2006/main">
              <a:ext uri="{FF2B5EF4-FFF2-40B4-BE49-F238E27FC236}">
                <a16:creationId xmlns:a16="http://schemas.microsoft.com/office/drawing/2014/main" id="{3ED6E4A8-3F30-480A-90FB-CD61A5B33841}"/>
              </a:ext>
            </a:extLst>
          </p:cNvPr>
          <p:cNvSpPr>
            <a:spLocks xmlns:a="http://schemas.openxmlformats.org/drawingml/2006/main" noGrp="1"/>
          </p:cNvSpPr>
          <p:nvPr/>
        </p:nvSpPr>
        <p:spPr>
          <a:xfrm xmlns:a="http://schemas.openxmlformats.org/drawingml/2006/main">
            <a:off x="8793584" y="3409950"/>
            <a:ext cx="952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75" b="1">
                <a:solidFill>
                  <a:srgbClr val="39D7FF"/>
                </a:solidFill>
                <a:latin typeface="DejaVu Sans Mono"/>
                <a:ea typeface="DejaVu Sans Mono"/>
                <a:cs typeface="DejaVu Sans Mono"/>
              </a:defRPr>
            </a:pPr>
            <a:r>
              <a:rPr sz="975" b="1">
                <a:solidFill>
                  <a:srgbClr val="39D7FF"/>
                </a:solidFill>
                <a:latin typeface="DejaVu Sans Mono"/>
                <a:ea typeface="DejaVu Sans Mono"/>
                <a:cs typeface="DejaVu Sans Mono"/>
              </a:rPr>
              <a:t>NEXT</a:t>
            </a:r>
          </a:p>
        </p:txBody>
      </p:sp>
      <p:sp>
        <p:nvSpPr>
          <p:cNvPr id="27" name="Rectangle 26">
            <a:extLst xmlns:a="http://schemas.openxmlformats.org/drawingml/2006/main">
              <a:ext uri="{FF2B5EF4-FFF2-40B4-BE49-F238E27FC236}">
                <a16:creationId xmlns:a16="http://schemas.microsoft.com/office/drawing/2014/main" id="{04537398-F5F5-43A1-9C29-053E592BD4D0}"/>
              </a:ext>
            </a:extLst>
          </p:cNvPr>
          <p:cNvSpPr>
            <a:spLocks xmlns:a="http://schemas.openxmlformats.org/drawingml/2006/main" noGrp="1"/>
          </p:cNvSpPr>
          <p:nvPr/>
        </p:nvSpPr>
        <p:spPr>
          <a:xfrm xmlns:a="http://schemas.openxmlformats.org/drawingml/2006/main">
            <a:off x="8793584" y="3695700"/>
            <a:ext cx="2571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575" b="1">
                <a:solidFill>
                  <a:srgbClr val="F4F6F8"/>
                </a:solidFill>
                <a:latin typeface="DejaVu Sans"/>
                <a:ea typeface="DejaVu Sans"/>
                <a:cs typeface="DejaVu Sans"/>
              </a:defRPr>
            </a:pPr>
            <a:r>
              <a:rPr sz="1575" b="1">
                <a:solidFill>
                  <a:schemeClr val="accent4"/>
                </a:solidFill>
                <a:latin typeface="DejaVu Sans"/>
                <a:ea typeface="DejaVu Sans"/>
                <a:cs typeface="DejaVu Sans"/>
              </a:rPr>
              <a:t>SPECIALIST </a:t>
            </a:r>
            <a:r>
              <a:rPr sz="1575" b="1">
                <a:solidFill>
                  <a:schemeClr val="accent4"/>
                </a:solidFill>
                <a:latin typeface="DejaVu Sans"/>
                <a:ea typeface="DejaVu Sans"/>
                <a:cs typeface="DejaVu Sans"/>
              </a:rPr>
              <a:t>HARNESS </a:t>
            </a:r>
            <a:endParaRPr sz="1575" b="1">
              <a:solidFill>
                <a:schemeClr val="accent4"/>
              </a:solidFill>
              <a:latin typeface="DejaVu Sans"/>
              <a:ea typeface="DejaVu Sans"/>
              <a:cs typeface="DejaVu Sans"/>
            </a:endParaRPr>
          </a:p>
        </p:txBody>
      </p:sp>
      <p:sp>
        <p:nvSpPr>
          <p:cNvPr id="28" name="Oval 27">
            <a:extLst xmlns:a="http://schemas.openxmlformats.org/drawingml/2006/main">
              <a:ext uri="{FF2B5EF4-FFF2-40B4-BE49-F238E27FC236}">
                <a16:creationId xmlns:a16="http://schemas.microsoft.com/office/drawing/2014/main" id="{81991EE6-EF4A-4C1E-A8AF-239910D7D19D}"/>
              </a:ext>
            </a:extLst>
          </p:cNvPr>
          <p:cNvSpPr>
            <a:spLocks xmlns:a="http://schemas.openxmlformats.org/drawingml/2006/main" noGrp="1"/>
          </p:cNvSpPr>
          <p:nvPr/>
        </p:nvSpPr>
        <p:spPr>
          <a:xfrm xmlns:a="http://schemas.openxmlformats.org/drawingml/2006/main">
            <a:off x="8422109" y="4752975"/>
            <a:ext cx="171450" cy="171450"/>
          </a:xfrm>
          <a:prstGeom xmlns:a="http://schemas.openxmlformats.org/drawingml/2006/main" prst="ellipse">
            <a:avLst/>
          </a:prstGeom>
          <a:solidFill xmlns:a="http://schemas.openxmlformats.org/drawingml/2006/main">
            <a:srgbClr val="F26B38"/>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9" name="Rectangle 28">
            <a:extLst xmlns:a="http://schemas.openxmlformats.org/drawingml/2006/main">
              <a:ext uri="{FF2B5EF4-FFF2-40B4-BE49-F238E27FC236}">
                <a16:creationId xmlns:a16="http://schemas.microsoft.com/office/drawing/2014/main" id="{851BC6A6-F7CB-4EEF-A125-AB52A22E04F5}"/>
              </a:ext>
            </a:extLst>
          </p:cNvPr>
          <p:cNvSpPr>
            <a:spLocks xmlns:a="http://schemas.openxmlformats.org/drawingml/2006/main" noGrp="1"/>
          </p:cNvSpPr>
          <p:nvPr/>
        </p:nvSpPr>
        <p:spPr>
          <a:xfrm xmlns:a="http://schemas.openxmlformats.org/drawingml/2006/main">
            <a:off x="8793584" y="4552950"/>
            <a:ext cx="952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75" b="1">
                <a:solidFill>
                  <a:srgbClr val="F26B38"/>
                </a:solidFill>
                <a:latin typeface="DejaVu Sans Mono"/>
                <a:ea typeface="DejaVu Sans Mono"/>
                <a:cs typeface="DejaVu Sans Mono"/>
              </a:defRPr>
            </a:pPr>
            <a:r>
              <a:rPr sz="975" b="1">
                <a:solidFill>
                  <a:srgbClr val="F26B38"/>
                </a:solidFill>
                <a:latin typeface="DejaVu Sans Mono"/>
                <a:ea typeface="DejaVu Sans Mono"/>
                <a:cs typeface="DejaVu Sans Mono"/>
              </a:rPr>
              <a:t>FUTURE</a:t>
            </a:r>
          </a:p>
        </p:txBody>
      </p:sp>
      <p:sp>
        <p:nvSpPr>
          <p:cNvPr id="30" name="Rectangle 29">
            <a:extLst xmlns:a="http://schemas.openxmlformats.org/drawingml/2006/main">
              <a:ext uri="{FF2B5EF4-FFF2-40B4-BE49-F238E27FC236}">
                <a16:creationId xmlns:a16="http://schemas.microsoft.com/office/drawing/2014/main" id="{3A00125A-6EDA-42E1-A18C-AA048A22EAEA}"/>
              </a:ext>
            </a:extLst>
          </p:cNvPr>
          <p:cNvSpPr>
            <a:spLocks xmlns:a="http://schemas.openxmlformats.org/drawingml/2006/main" noGrp="1"/>
          </p:cNvSpPr>
          <p:nvPr/>
        </p:nvSpPr>
        <p:spPr>
          <a:xfrm xmlns:a="http://schemas.openxmlformats.org/drawingml/2006/main">
            <a:off x="8793584" y="4838700"/>
            <a:ext cx="2571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575" b="1">
                <a:solidFill>
                  <a:srgbClr val="F4F6F8"/>
                </a:solidFill>
                <a:latin typeface="DejaVu Sans"/>
                <a:ea typeface="DejaVu Sans"/>
                <a:cs typeface="DejaVu Sans"/>
              </a:defRPr>
            </a:pPr>
            <a:r>
              <a:rPr sz="1575" b="1">
                <a:solidFill>
                  <a:schemeClr val="accent2">
                    <a:lumMod val="75000"/>
                  </a:schemeClr>
                </a:solidFill>
                <a:latin typeface="DejaVu Sans"/>
                <a:ea typeface="DejaVu Sans"/>
                <a:cs typeface="DejaVu Sans"/>
              </a:rPr>
              <a:t>The </a:t>
            </a:r>
            <a:r>
              <a:rPr sz="1575" b="1">
                <a:solidFill>
                  <a:schemeClr val="accent2">
                    <a:lumMod val="75000"/>
                  </a:schemeClr>
                </a:solidFill>
                <a:latin typeface="DejaVu Sans"/>
                <a:ea typeface="DejaVu Sans"/>
                <a:cs typeface="DejaVu Sans"/>
              </a:rPr>
              <a:t>AGI /</a:t>
            </a:r>
            <a:r>
              <a:rPr sz="1575" b="1">
                <a:solidFill>
                  <a:schemeClr val="accent2">
                    <a:lumMod val="75000"/>
                  </a:schemeClr>
                </a:solidFill>
                <a:latin typeface="DejaVu Sans"/>
                <a:ea typeface="DejaVu Sans"/>
                <a:cs typeface="DejaVu Sans"/>
              </a:rPr>
              <a:t> SGI path</a:t>
            </a:r>
            <a:endParaRPr sz="1575" b="1">
              <a:solidFill>
                <a:schemeClr val="accent2">
                  <a:lumMod val="75000"/>
                </a:schemeClr>
              </a:solidFill>
              <a:latin typeface="DejaVu Sans"/>
              <a:ea typeface="DejaVu Sans"/>
              <a:cs typeface="DejaVu Sans"/>
            </a:endParaRPr>
          </a:p>
        </p:txBody>
      </p:sp>
      <p:sp>
        <p:nvSpPr>
          <p:cNvPr id="31" name="Rectangle 30">
            <a:extLst xmlns:a="http://schemas.openxmlformats.org/drawingml/2006/main">
              <a:ext uri="{FF2B5EF4-FFF2-40B4-BE49-F238E27FC236}">
                <a16:creationId xmlns:a16="http://schemas.microsoft.com/office/drawing/2014/main" id="{FE397565-4BA1-40B8-A2F3-50E434409107}"/>
              </a:ext>
            </a:extLst>
          </p:cNvPr>
          <p:cNvSpPr>
            <a:spLocks xmlns:a="http://schemas.openxmlformats.org/drawingml/2006/main" noGrp="1"/>
          </p:cNvSpPr>
          <p:nvPr/>
        </p:nvSpPr>
        <p:spPr>
          <a:xfrm xmlns:a="http://schemas.openxmlformats.org/drawingml/2006/main">
            <a:off x="2056164" y="5562599"/>
            <a:ext cx="5792642"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350" b="0">
                <a:solidFill>
                  <a:srgbClr val="D8DEE3"/>
                </a:solidFill>
                <a:latin typeface="DejaVu Sans"/>
                <a:ea typeface="DejaVu Sans"/>
                <a:cs typeface="DejaVu Sans"/>
              </a:defRPr>
            </a:pPr>
            <a:r>
              <a:rPr sz="1350" b="0">
                <a:solidFill>
                  <a:srgbClr val="D8DEE3"/>
                </a:solidFill>
                <a:latin typeface="DejaVu Sans"/>
                <a:ea typeface="DejaVu Sans"/>
                <a:cs typeface="DejaVu Sans"/>
              </a:rPr>
              <a:t>Stable </a:t>
            </a:r>
            <a:r>
              <a:rPr sz="1350" b="0">
                <a:solidFill>
                  <a:srgbClr val="D8DEE3"/>
                </a:solidFill>
                <a:latin typeface="DejaVu Sans"/>
                <a:ea typeface="DejaVu Sans"/>
                <a:cs typeface="DejaVu Sans"/>
              </a:rPr>
              <a:t>Skills, </a:t>
            </a:r>
            <a:r>
              <a:rPr sz="1350">
                <a:solidFill>
                  <a:srgbClr val="D8DEE3"/>
                </a:solidFill>
                <a:latin typeface="DejaVu Sans"/>
                <a:ea typeface="DejaVu Sans"/>
                <a:cs typeface="DejaVu Sans"/>
              </a:rPr>
              <a:t>C</a:t>
            </a:r>
            <a:r>
              <a:rPr sz="1350" b="0">
                <a:solidFill>
                  <a:srgbClr val="D8DEE3"/>
                </a:solidFill>
                <a:latin typeface="DejaVu Sans"/>
                <a:ea typeface="DejaVu Sans"/>
                <a:cs typeface="DejaVu Sans"/>
              </a:rPr>
              <a:t>ontracts and </a:t>
            </a:r>
            <a:r>
              <a:rPr sz="1350" b="0">
                <a:solidFill>
                  <a:srgbClr val="D8DEE3"/>
                </a:solidFill>
                <a:latin typeface="DejaVu Sans"/>
                <a:ea typeface="DejaVu Sans"/>
                <a:cs typeface="DejaVu Sans"/>
              </a:rPr>
              <a:t>Consistent A</a:t>
            </a:r>
            <a:r>
              <a:rPr sz="1350" b="0">
                <a:solidFill>
                  <a:srgbClr val="D8DEE3"/>
                </a:solidFill>
                <a:latin typeface="DejaVu Sans"/>
                <a:ea typeface="DejaVu Sans"/>
                <a:cs typeface="DejaVu Sans"/>
              </a:rPr>
              <a:t>pproval authority let every stronger </a:t>
            </a:r>
            <a:r>
              <a:rPr sz="1350" b="0">
                <a:solidFill>
                  <a:srgbClr val="D8DEE3"/>
                </a:solidFill>
                <a:latin typeface="DejaVu Sans"/>
                <a:ea typeface="DejaVu Sans"/>
                <a:cs typeface="DejaVu Sans"/>
              </a:rPr>
              <a:t>future </a:t>
            </a:r>
            <a:r>
              <a:rPr sz="1350">
                <a:solidFill>
                  <a:srgbClr val="D8DEE3"/>
                </a:solidFill>
                <a:latin typeface="DejaVu Sans"/>
                <a:ea typeface="DejaVu Sans"/>
                <a:cs typeface="DejaVu Sans"/>
              </a:rPr>
              <a:t>Ai </a:t>
            </a:r>
            <a:r>
              <a:rPr sz="1350" b="0">
                <a:solidFill>
                  <a:srgbClr val="D8DEE3"/>
                </a:solidFill>
                <a:latin typeface="DejaVu Sans"/>
                <a:ea typeface="DejaVu Sans"/>
                <a:cs typeface="DejaVu Sans"/>
              </a:rPr>
              <a:t>model inherit a mission-ready way to </a:t>
            </a:r>
            <a:r>
              <a:rPr sz="1350" b="0">
                <a:solidFill>
                  <a:srgbClr val="D8DEE3"/>
                </a:solidFill>
                <a:latin typeface="DejaVu Sans"/>
                <a:ea typeface="DejaVu Sans"/>
                <a:cs typeface="DejaVu Sans"/>
              </a:rPr>
              <a:t>continue the </a:t>
            </a:r>
            <a:r>
              <a:rPr sz="1350" b="0">
                <a:solidFill>
                  <a:srgbClr val="D8DEE3"/>
                </a:solidFill>
                <a:latin typeface="DejaVu Sans"/>
                <a:ea typeface="DejaVu Sans"/>
                <a:cs typeface="DejaVu Sans"/>
              </a:rPr>
              <a:t>work.</a:t>
            </a:r>
          </a:p>
        </p:txBody>
      </p:sp>
      <p:sp>
        <p:nvSpPr>
          <p:cNvPr id="32" name="Rectangle 31">
            <a:extLst xmlns:a="http://schemas.openxmlformats.org/drawingml/2006/main">
              <a:ext uri="{FF2B5EF4-FFF2-40B4-BE49-F238E27FC236}">
                <a16:creationId xmlns:a16="http://schemas.microsoft.com/office/drawing/2014/main" id="{9097D924-DC0A-4891-B170-1BD9B594177E}"/>
              </a:ext>
            </a:extLst>
          </p:cNvPr>
          <p:cNvSpPr>
            <a:spLocks xmlns:a="http://schemas.openxmlformats.org/drawingml/2006/main" noGrp="1"/>
          </p:cNvSpPr>
          <p:nvPr/>
        </p:nvSpPr>
        <p:spPr>
          <a:xfrm xmlns:a="http://schemas.openxmlformats.org/drawingml/2006/main">
            <a:off x="0" y="6400800"/>
            <a:ext cx="12192000" cy="457200"/>
          </a:xfrm>
          <a:prstGeom xmlns:a="http://schemas.openxmlformats.org/drawingml/2006/main" prst="rect">
            <a:avLst/>
          </a:prstGeom>
          <a:solidFill xmlns:a="http://schemas.openxmlformats.org/drawingml/2006/main">
            <a:srgbClr val="07090C">
              <a:alpha val="76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3" name="Rectangle 32">
            <a:extLst xmlns:a="http://schemas.openxmlformats.org/drawingml/2006/main">
              <a:ext uri="{FF2B5EF4-FFF2-40B4-BE49-F238E27FC236}">
                <a16:creationId xmlns:a16="http://schemas.microsoft.com/office/drawing/2014/main" id="{5D023356-B471-43FE-9A00-0242BC2DD638}"/>
              </a:ext>
            </a:extLst>
          </p:cNvPr>
          <p:cNvSpPr>
            <a:spLocks xmlns:a="http://schemas.openxmlformats.org/drawingml/2006/main" noGrp="1"/>
          </p:cNvSpPr>
          <p:nvPr/>
        </p:nvSpPr>
        <p:spPr>
          <a:xfrm xmlns:a="http://schemas.openxmlformats.org/drawingml/2006/main">
            <a:off x="609600" y="6553200"/>
            <a:ext cx="68580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MARS SOCIETY 2026  •  HARNESSED AGENTIC SCIENCE + ENGINEERING</a:t>
            </a:r>
          </a:p>
        </p:txBody>
      </p:sp>
      <p:sp>
        <p:nvSpPr>
          <p:cNvPr id="34" name="Rectangle 33">
            <a:extLst xmlns:a="http://schemas.openxmlformats.org/drawingml/2006/main">
              <a:ext uri="{FF2B5EF4-FFF2-40B4-BE49-F238E27FC236}">
                <a16:creationId xmlns:a16="http://schemas.microsoft.com/office/drawing/2014/main" id="{879CAD44-E4EE-4F4A-B31B-2B99DA20218E}"/>
              </a:ext>
            </a:extLst>
          </p:cNvPr>
          <p:cNvSpPr>
            <a:spLocks xmlns:a="http://schemas.openxmlformats.org/drawingml/2006/main" noGrp="1"/>
          </p:cNvSpPr>
          <p:nvPr/>
        </p:nvSpPr>
        <p:spPr>
          <a:xfrm xmlns:a="http://schemas.openxmlformats.org/drawingml/2006/main">
            <a:off x="9525000" y="6553200"/>
            <a:ext cx="20574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BOB J MILLS     03</a:t>
            </a:r>
          </a:p>
        </p:txBody>
      </p:sp>
    </p:spTree>
    <p:extLst>
      <p:ext uri="{BB962C8B-B14F-4D97-AF65-F5344CB8AC3E}">
        <p14:creationId xmlns:p14="http://schemas.microsoft.com/office/powerpoint/2010/main" val="1183335745"/>
      </p:ext>
    </p:extLst>
  </p:cSld>
</p:sld>
</file>

<file path=ppt/slides/slide4.xml><?xml version="1.0" encoding="utf-8"?>
<p:sld xmlns:p="http://schemas.openxmlformats.org/presentationml/2006/main">
  <p:cSld>
    <p:bg>
      <p:bgPr>
        <a:solidFill xmlns:a="http://schemas.openxmlformats.org/drawingml/2006/main">
          <a:srgbClr val="07090C"/>
        </a:solidFill>
      </p:bgPr>
    </p:bg>
    <p:spTree>
      <p:nvGrpSpPr>
        <p:cNvPr id="1" name=""/>
        <p:cNvGrpSpPr/>
        <p:nvPr/>
      </p:nvGrpSpPr>
      <p:grpSpPr>
        <a:xfrm xmlns:a="http://schemas.openxmlformats.org/drawingml/2006/main"/>
      </p:grpSpPr>
      <p:sp>
        <p:nvSpPr>
          <p:cNvPr id="112" name="Straight Connector 111">
            <a:extLst xmlns:a="http://schemas.openxmlformats.org/drawingml/2006/main">
              <a:ext uri="{FF2B5EF4-FFF2-40B4-BE49-F238E27FC236}">
                <a16:creationId xmlns:a16="http://schemas.microsoft.com/office/drawing/2014/main" id="{7405838B-A5B9-4BD2-89C6-89E327629DDE}"/>
              </a:ext>
            </a:extLst>
          </p:cNvPr>
          <p:cNvSpPr>
            <a:spLocks xmlns:a="http://schemas.openxmlformats.org/drawingml/2006/main" noGrp="1"/>
          </p:cNvSpPr>
          <p:nvPr/>
        </p:nvSpPr>
        <p:spPr>
          <a:xfrm xmlns:a="http://schemas.openxmlformats.org/drawingml/2006/main">
            <a:off x="6143776" y="2778607"/>
            <a:ext cx="0" cy="1757976"/>
          </a:xfrm>
          <a:prstGeom xmlns:a="http://schemas.openxmlformats.org/drawingml/2006/main" prst="line">
            <a:avLst/>
          </a:prstGeom>
          <a:ln xmlns:a="http://schemas.openxmlformats.org/drawingml/2006/main">
            <a:solidFill>
              <a:srgbClr val="FFC000"/>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31" name="Rectangle 30">
            <a:extLst xmlns:a="http://schemas.openxmlformats.org/drawingml/2006/main">
              <a:ext uri="{FF2B5EF4-FFF2-40B4-BE49-F238E27FC236}">
                <a16:creationId xmlns:a16="http://schemas.microsoft.com/office/drawing/2014/main" id="{6D26A5E7-8BC4-4130-A7E9-E7143E71FCFB}"/>
              </a:ext>
            </a:extLst>
          </p:cNvPr>
          <p:cNvSpPr>
            <a:spLocks xmlns:a="http://schemas.openxmlformats.org/drawingml/2006/main" noGrp="1"/>
          </p:cNvSpPr>
          <p:nvPr/>
        </p:nvSpPr>
        <p:spPr>
          <a:xfrm xmlns:a="http://schemas.openxmlformats.org/drawingml/2006/main">
            <a:off x="609600" y="3429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75" b="1">
                <a:solidFill>
                  <a:srgbClr val="F26B38"/>
                </a:solidFill>
                <a:latin typeface="DejaVu Sans Mono"/>
                <a:ea typeface="DejaVu Sans Mono"/>
                <a:cs typeface="DejaVu Sans Mono"/>
              </a:defRPr>
            </a:pPr>
            <a:r>
              <a:rPr sz="975" b="1">
                <a:solidFill>
                  <a:srgbClr val="F26B38"/>
                </a:solidFill>
                <a:latin typeface="DejaVu Sans Mono"/>
                <a:ea typeface="DejaVu Sans Mono"/>
                <a:cs typeface="DejaVu Sans Mono"/>
              </a:rPr>
              <a:t>04  /  CAPABILITY MAP</a:t>
            </a:r>
          </a:p>
        </p:txBody>
      </p:sp>
      <p:sp>
        <p:nvSpPr>
          <p:cNvPr id="2" name="Rectangle 1">
            <a:extLst xmlns:a="http://schemas.openxmlformats.org/drawingml/2006/main">
              <a:ext uri="{FF2B5EF4-FFF2-40B4-BE49-F238E27FC236}">
                <a16:creationId xmlns:a16="http://schemas.microsoft.com/office/drawing/2014/main" id="{13928B07-3B7B-4076-B70F-789D2989B77C}"/>
              </a:ext>
            </a:extLst>
          </p:cNvPr>
          <p:cNvSpPr>
            <a:spLocks xmlns:a="http://schemas.openxmlformats.org/drawingml/2006/main" noGrp="1"/>
          </p:cNvSpPr>
          <p:nvPr/>
        </p:nvSpPr>
        <p:spPr>
          <a:xfrm xmlns:a="http://schemas.openxmlformats.org/drawingml/2006/main">
            <a:off x="609600" y="647700"/>
            <a:ext cx="10972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0000"/>
              </a:lnSpc>
              <a:buNone/>
              <a:defRPr sz="2625" b="1">
                <a:solidFill>
                  <a:srgbClr val="F4F6F8"/>
                </a:solidFill>
                <a:latin typeface="DejaVu Sans"/>
                <a:ea typeface="DejaVu Sans"/>
                <a:cs typeface="DejaVu Sans"/>
              </a:defRPr>
            </a:pPr>
            <a:r>
              <a:rPr sz="2625" b="1">
                <a:solidFill>
                  <a:srgbClr val="F4F6F8"/>
                </a:solidFill>
                <a:latin typeface="DejaVu Sans"/>
                <a:ea typeface="DejaVu Sans"/>
                <a:cs typeface="DejaVu Sans"/>
              </a:rPr>
              <a:t>Skills </a:t>
            </a:r>
            <a:r>
              <a:rPr sz="2625" b="1">
                <a:solidFill>
                  <a:srgbClr val="F4F6F8"/>
                </a:solidFill>
                <a:latin typeface="DejaVu Sans"/>
                <a:ea typeface="DejaVu Sans"/>
                <a:cs typeface="DejaVu Sans"/>
              </a:rPr>
              <a:t>&amp; Agent identity </a:t>
            </a:r>
            <a:r>
              <a:rPr sz="2625" b="1">
                <a:solidFill>
                  <a:srgbClr val="F4F6F8"/>
                </a:solidFill>
                <a:latin typeface="DejaVu Sans"/>
                <a:ea typeface="DejaVu Sans"/>
                <a:cs typeface="DejaVu Sans"/>
              </a:rPr>
              <a:t>are durable</a:t>
            </a:r>
            <a:r>
              <a:rPr sz="2625" b="1">
                <a:solidFill>
                  <a:srgbClr val="F4F6F8"/>
                </a:solidFill>
                <a:latin typeface="DejaVu Sans"/>
                <a:ea typeface="DejaVu Sans"/>
                <a:cs typeface="DejaVu Sans"/>
              </a:rPr>
              <a:t> </a:t>
            </a:r>
            <a:endParaRPr sz="2625" b="1">
              <a:solidFill>
                <a:srgbClr val="F4F6F8"/>
              </a:solidFill>
              <a:latin typeface="DejaVu Sans"/>
              <a:ea typeface="DejaVu Sans"/>
              <a:cs typeface="DejaVu Sans"/>
            </a:endParaRPr>
          </a:p>
        </p:txBody>
      </p:sp>
      <p:sp>
        <p:nvSpPr>
          <p:cNvPr id="3" name="Rectangle 2">
            <a:extLst xmlns:a="http://schemas.openxmlformats.org/drawingml/2006/main">
              <a:ext uri="{FF2B5EF4-FFF2-40B4-BE49-F238E27FC236}">
                <a16:creationId xmlns:a16="http://schemas.microsoft.com/office/drawing/2014/main" id="{B30F2812-CDC2-47B2-A270-78A9026A259B}"/>
              </a:ext>
            </a:extLst>
          </p:cNvPr>
          <p:cNvSpPr>
            <a:spLocks xmlns:a="http://schemas.openxmlformats.org/drawingml/2006/main" noGrp="1"/>
          </p:cNvSpPr>
          <p:nvPr/>
        </p:nvSpPr>
        <p:spPr>
          <a:xfrm xmlns:a="http://schemas.openxmlformats.org/drawingml/2006/main">
            <a:off x="628650" y="1238250"/>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25" b="0">
                <a:solidFill>
                  <a:srgbClr val="8D99A3"/>
                </a:solidFill>
                <a:latin typeface="DejaVu Sans"/>
                <a:ea typeface="DejaVu Sans"/>
                <a:cs typeface="DejaVu Sans"/>
              </a:defRPr>
            </a:pPr>
            <a:r>
              <a:rPr sz="1425" b="0">
                <a:solidFill>
                  <a:srgbClr val="8D99A3"/>
                </a:solidFill>
                <a:latin typeface="DejaVu Sans"/>
                <a:ea typeface="DejaVu Sans"/>
                <a:cs typeface="DejaVu Sans"/>
              </a:rPr>
              <a:t>Define the capability, evidence and work product first. Then assign the best executor available.</a:t>
            </a:r>
          </a:p>
        </p:txBody>
      </p:sp>
      <p:sp>
        <p:nvSpPr>
          <p:cNvPr id="4" name="Straight Connector 3">
            <a:extLst xmlns:a="http://schemas.openxmlformats.org/drawingml/2006/main">
              <a:ext uri="{FF2B5EF4-FFF2-40B4-BE49-F238E27FC236}">
                <a16:creationId xmlns:a16="http://schemas.microsoft.com/office/drawing/2014/main" id="{1CF877C0-5DB9-4F19-B146-270A496DBB48}"/>
              </a:ext>
            </a:extLst>
          </p:cNvPr>
          <p:cNvSpPr>
            <a:spLocks xmlns:a="http://schemas.openxmlformats.org/drawingml/2006/main" noGrp="1"/>
          </p:cNvSpPr>
          <p:nvPr/>
        </p:nvSpPr>
        <p:spPr>
          <a:xfrm xmlns:a="http://schemas.openxmlformats.org/drawingml/2006/main">
            <a:off x="609600" y="1676400"/>
            <a:ext cx="10972800" cy="0"/>
          </a:xfrm>
          <a:prstGeom xmlns:a="http://schemas.openxmlformats.org/drawingml/2006/main" prst="line">
            <a:avLst/>
          </a:prstGeom>
          <a:noFill xmlns:a="http://schemas.openxmlformats.org/drawingml/2006/main"/>
          <a:ln xmlns:a="http://schemas.openxmlformats.org/drawingml/2006/main" w="9525">
            <a:solidFill>
              <a:srgbClr val="35414B"/>
            </a:solidFill>
            <a:prstDash val="solid"/>
          </a:ln>
        </p:spPr>
        <p:txBody>
          <a:bodyPr xmlns:a="http://schemas.openxmlformats.org/drawingml/2006/main"/>
          <a:lstStyle xmlns:a="http://schemas.openxmlformats.org/drawingml/2006/main"/>
          <a:p xmlns:a="http://schemas.openxmlformats.org/drawingml/2006/main">
            <a:endParaRPr/>
          </a:p>
        </p:txBody>
      </p:sp>
      <p:sp>
        <p:nvSpPr>
          <p:cNvPr id="10" name="Rectangle: Rounded Corners 9">
            <a:extLst xmlns:a="http://schemas.openxmlformats.org/drawingml/2006/main">
              <a:ext uri="{FF2B5EF4-FFF2-40B4-BE49-F238E27FC236}">
                <a16:creationId xmlns:a16="http://schemas.microsoft.com/office/drawing/2014/main" id="{0F42444F-D71D-49E3-BDFD-CE6CB8BE4964}"/>
              </a:ext>
            </a:extLst>
          </p:cNvPr>
          <p:cNvSpPr>
            <a:spLocks xmlns:a="http://schemas.openxmlformats.org/drawingml/2006/main" noGrp="1"/>
          </p:cNvSpPr>
          <p:nvPr/>
        </p:nvSpPr>
        <p:spPr>
          <a:xfrm xmlns:a="http://schemas.openxmlformats.org/drawingml/2006/main">
            <a:off x="1428750" y="2038350"/>
            <a:ext cx="1943100" cy="685800"/>
          </a:xfrm>
          <a:prstGeom xmlns:a="http://schemas.openxmlformats.org/drawingml/2006/main" prst="roundRect">
            <a:avLst>
              <a:gd name="adj" fmla="val 22222"/>
            </a:avLst>
          </a:prstGeom>
          <a:solidFill xmlns:a="http://schemas.openxmlformats.org/drawingml/2006/main">
            <a:srgbClr val="11171C"/>
          </a:solidFill>
          <a:ln xmlns:a="http://schemas.openxmlformats.org/drawingml/2006/main" w="14288">
            <a:solidFill>
              <a:srgbClr val="F26B38"/>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425" b="1">
                <a:solidFill>
                  <a:srgbClr val="F26B38"/>
                </a:solidFill>
                <a:latin typeface="DejaVu Sans"/>
                <a:ea typeface="DejaVu Sans"/>
                <a:cs typeface="DejaVu Sans"/>
              </a:defRPr>
            </a:pPr>
            <a:r>
              <a:rPr sz="1425" b="1">
                <a:solidFill>
                  <a:srgbClr val="F26B38"/>
                </a:solidFill>
                <a:latin typeface="DejaVu Sans"/>
                <a:ea typeface="DejaVu Sans"/>
                <a:cs typeface="DejaVu Sans"/>
              </a:rPr>
              <a:t>HUMAN</a:t>
            </a:r>
          </a:p>
        </p:txBody>
      </p:sp>
      <p:sp>
        <p:nvSpPr>
          <p:cNvPr id="11" name="Rectangle 10">
            <a:extLst xmlns:a="http://schemas.openxmlformats.org/drawingml/2006/main">
              <a:ext uri="{FF2B5EF4-FFF2-40B4-BE49-F238E27FC236}">
                <a16:creationId xmlns:a16="http://schemas.microsoft.com/office/drawing/2014/main" id="{F7353855-18C3-4093-8C59-CE38422F179C}"/>
              </a:ext>
            </a:extLst>
          </p:cNvPr>
          <p:cNvSpPr>
            <a:spLocks xmlns:a="http://schemas.openxmlformats.org/drawingml/2006/main" noGrp="1"/>
          </p:cNvSpPr>
          <p:nvPr/>
        </p:nvSpPr>
        <p:spPr>
          <a:xfrm xmlns:a="http://schemas.openxmlformats.org/drawingml/2006/main">
            <a:off x="1428750" y="2819400"/>
            <a:ext cx="1943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1125" b="0">
                <a:solidFill>
                  <a:srgbClr val="8D99A3"/>
                </a:solidFill>
                <a:latin typeface="DejaVu Sans"/>
                <a:ea typeface="DejaVu Sans"/>
                <a:cs typeface="DejaVu Sans"/>
              </a:defRPr>
            </a:pPr>
            <a:r>
              <a:rPr sz="1125" b="0">
                <a:solidFill>
                  <a:srgbClr val="8D99A3"/>
                </a:solidFill>
                <a:latin typeface="DejaVu Sans"/>
                <a:ea typeface="DejaVu Sans"/>
                <a:cs typeface="DejaVu Sans"/>
              </a:rPr>
              <a:t>intent • creativity • risk</a:t>
            </a:r>
          </a:p>
        </p:txBody>
      </p:sp>
      <p:sp>
        <p:nvSpPr>
          <p:cNvPr id="12" name="Rectangle: Rounded Corners 11">
            <a:extLst xmlns:a="http://schemas.openxmlformats.org/drawingml/2006/main">
              <a:ext uri="{FF2B5EF4-FFF2-40B4-BE49-F238E27FC236}">
                <a16:creationId xmlns:a16="http://schemas.microsoft.com/office/drawing/2014/main" id="{942E3AA5-AD11-4C65-805A-CD21A819B762}"/>
              </a:ext>
            </a:extLst>
          </p:cNvPr>
          <p:cNvSpPr>
            <a:spLocks xmlns:a="http://schemas.openxmlformats.org/drawingml/2006/main" noGrp="1"/>
          </p:cNvSpPr>
          <p:nvPr/>
        </p:nvSpPr>
        <p:spPr>
          <a:xfrm xmlns:a="http://schemas.openxmlformats.org/drawingml/2006/main">
            <a:off x="1877613" y="3443287"/>
            <a:ext cx="1943100" cy="685800"/>
          </a:xfrm>
          <a:prstGeom xmlns:a="http://schemas.openxmlformats.org/drawingml/2006/main" prst="roundRect">
            <a:avLst>
              <a:gd name="adj" fmla="val 22222"/>
            </a:avLst>
          </a:prstGeom>
          <a:solidFill xmlns:a="http://schemas.openxmlformats.org/drawingml/2006/main">
            <a:srgbClr val="11171C"/>
          </a:solidFill>
          <a:ln xmlns:a="http://schemas.openxmlformats.org/drawingml/2006/main" w="14288">
            <a:solidFill>
              <a:srgbClr val="39D7FF"/>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425" b="1">
                <a:solidFill>
                  <a:srgbClr val="39D7FF"/>
                </a:solidFill>
                <a:latin typeface="DejaVu Sans"/>
                <a:ea typeface="DejaVu Sans"/>
                <a:cs typeface="DejaVu Sans"/>
              </a:defRPr>
            </a:pPr>
            <a:r>
              <a:rPr sz="1425" b="1">
                <a:solidFill>
                  <a:srgbClr val="39D7FF"/>
                </a:solidFill>
                <a:latin typeface="DejaVu Sans"/>
                <a:ea typeface="DejaVu Sans"/>
                <a:cs typeface="DejaVu Sans"/>
              </a:rPr>
              <a:t>AI MODEL</a:t>
            </a:r>
            <a:r>
              <a:rPr sz="1425" b="1">
                <a:solidFill>
                  <a:srgbClr val="39D7FF"/>
                </a:solidFill>
                <a:latin typeface="DejaVu Sans"/>
                <a:ea typeface="DejaVu Sans"/>
                <a:cs typeface="DejaVu Sans"/>
              </a:rPr>
              <a:t>S</a:t>
            </a:r>
            <a:endParaRPr sz="1425" b="1">
              <a:solidFill>
                <a:srgbClr val="39D7FF"/>
              </a:solidFill>
              <a:latin typeface="DejaVu Sans"/>
              <a:ea typeface="DejaVu Sans"/>
              <a:cs typeface="DejaVu Sans"/>
            </a:endParaRPr>
          </a:p>
        </p:txBody>
      </p:sp>
      <p:sp>
        <p:nvSpPr>
          <p:cNvPr id="14" name="Rectangle: Rounded Corners 13">
            <a:extLst xmlns:a="http://schemas.openxmlformats.org/drawingml/2006/main">
              <a:ext uri="{FF2B5EF4-FFF2-40B4-BE49-F238E27FC236}">
                <a16:creationId xmlns:a16="http://schemas.microsoft.com/office/drawing/2014/main" id="{611CFFA2-72A6-4553-AB2F-51B6ADB74676}"/>
              </a:ext>
            </a:extLst>
          </p:cNvPr>
          <p:cNvSpPr>
            <a:spLocks xmlns:a="http://schemas.openxmlformats.org/drawingml/2006/main" noGrp="1"/>
          </p:cNvSpPr>
          <p:nvPr/>
        </p:nvSpPr>
        <p:spPr>
          <a:xfrm xmlns:a="http://schemas.openxmlformats.org/drawingml/2006/main">
            <a:off x="4634299" y="2092818"/>
            <a:ext cx="1943100" cy="685800"/>
          </a:xfrm>
          <a:prstGeom xmlns:a="http://schemas.openxmlformats.org/drawingml/2006/main" prst="roundRect">
            <a:avLst>
              <a:gd name="adj" fmla="val 22222"/>
            </a:avLst>
          </a:prstGeom>
          <a:solidFill xmlns:a="http://schemas.openxmlformats.org/drawingml/2006/main">
            <a:srgbClr val="11171C"/>
          </a:solidFill>
          <a:ln xmlns:a="http://schemas.openxmlformats.org/drawingml/2006/main" w="14288">
            <a:solidFill>
              <a:srgbClr val="62D6A7"/>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425" b="1">
                <a:solidFill>
                  <a:srgbClr val="62D6A7"/>
                </a:solidFill>
                <a:latin typeface="DejaVu Sans"/>
                <a:ea typeface="DejaVu Sans"/>
                <a:cs typeface="DejaVu Sans"/>
              </a:defRPr>
            </a:pPr>
            <a:r>
              <a:rPr sz="1425" b="1">
                <a:solidFill>
                  <a:srgbClr val="62D6A7"/>
                </a:solidFill>
                <a:latin typeface="DejaVu Sans"/>
                <a:ea typeface="DejaVu Sans"/>
                <a:cs typeface="DejaVu Sans"/>
              </a:rPr>
              <a:t>Harness</a:t>
            </a:r>
          </a:p>
          <a:p xmlns:a="http://schemas.openxmlformats.org/drawingml/2006/main">
            <a:pPr algn="ctr">
              <a:lnSpc>
                <a:spcPct val="90000"/>
              </a:lnSpc>
              <a:buNone/>
              <a:defRPr sz="1425" b="1">
                <a:solidFill>
                  <a:srgbClr val="62D6A7"/>
                </a:solidFill>
                <a:latin typeface="DejaVu Sans"/>
                <a:ea typeface="DejaVu Sans"/>
                <a:cs typeface="DejaVu Sans"/>
              </a:defRPr>
            </a:pPr>
            <a:r>
              <a:rPr sz="1425" b="1">
                <a:solidFill>
                  <a:srgbClr val="62D6A7"/>
                </a:solidFill>
                <a:latin typeface="DejaVu Sans"/>
                <a:ea typeface="DejaVu Sans"/>
                <a:cs typeface="DejaVu Sans"/>
              </a:rPr>
              <a:t>Hermes, Grok Bot, etc.</a:t>
            </a:r>
            <a:endParaRPr sz="1425" b="1">
              <a:solidFill>
                <a:srgbClr val="62D6A7"/>
              </a:solidFill>
              <a:latin typeface="DejaVu Sans"/>
              <a:ea typeface="DejaVu Sans"/>
              <a:cs typeface="DejaVu Sans"/>
            </a:endParaRPr>
          </a:p>
        </p:txBody>
      </p:sp>
      <p:sp>
        <p:nvSpPr>
          <p:cNvPr id="16" name="Rectangle: Rounded Corners 15">
            <a:extLst xmlns:a="http://schemas.openxmlformats.org/drawingml/2006/main">
              <a:ext uri="{FF2B5EF4-FFF2-40B4-BE49-F238E27FC236}">
                <a16:creationId xmlns:a16="http://schemas.microsoft.com/office/drawing/2014/main" id="{FAC67B21-3FE2-4060-BE6D-7D8442B7E02A}"/>
              </a:ext>
            </a:extLst>
          </p:cNvPr>
          <p:cNvSpPr>
            <a:spLocks xmlns:a="http://schemas.openxmlformats.org/drawingml/2006/main" noGrp="1"/>
          </p:cNvSpPr>
          <p:nvPr/>
        </p:nvSpPr>
        <p:spPr>
          <a:xfrm xmlns:a="http://schemas.openxmlformats.org/drawingml/2006/main">
            <a:off x="5220626" y="2943399"/>
            <a:ext cx="2246973" cy="441007"/>
          </a:xfrm>
          <a:prstGeom xmlns:a="http://schemas.openxmlformats.org/drawingml/2006/main" prst="roundRect">
            <a:avLst>
              <a:gd name="adj" fmla="val 22222"/>
            </a:avLst>
          </a:prstGeom>
          <a:solidFill xmlns:a="http://schemas.openxmlformats.org/drawingml/2006/main">
            <a:srgbClr val="11171C"/>
          </a:solidFill>
          <a:ln xmlns:a="http://schemas.openxmlformats.org/drawingml/2006/main" w="14288">
            <a:solidFill>
              <a:srgbClr val="FFC857"/>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425" b="1">
                <a:solidFill>
                  <a:srgbClr val="FFC857"/>
                </a:solidFill>
                <a:latin typeface="DejaVu Sans"/>
                <a:ea typeface="DejaVu Sans"/>
                <a:cs typeface="DejaVu Sans"/>
              </a:defRPr>
            </a:pPr>
            <a:r>
              <a:rPr sz="1200" b="1">
                <a:solidFill>
                  <a:srgbClr val="FFC857"/>
                </a:solidFill>
                <a:latin typeface="DejaVu Sans"/>
                <a:ea typeface="DejaVu Sans"/>
                <a:cs typeface="DejaVu Sans"/>
              </a:rPr>
              <a:t>Science – Specialized Harness</a:t>
            </a:r>
            <a:endParaRPr sz="1200" b="1">
              <a:solidFill>
                <a:srgbClr val="FFC857"/>
              </a:solidFill>
              <a:latin typeface="DejaVu Sans"/>
              <a:ea typeface="DejaVu Sans"/>
              <a:cs typeface="DejaVu Sans"/>
            </a:endParaRPr>
          </a:p>
        </p:txBody>
      </p:sp>
      <p:sp>
        <p:nvSpPr>
          <p:cNvPr id="18" name="Rectangle 17">
            <a:extLst xmlns:a="http://schemas.openxmlformats.org/drawingml/2006/main">
              <a:ext uri="{FF2B5EF4-FFF2-40B4-BE49-F238E27FC236}">
                <a16:creationId xmlns:a16="http://schemas.microsoft.com/office/drawing/2014/main" id="{F99EF94A-BF27-4AF2-A1F3-EFD3098F65BF}"/>
              </a:ext>
            </a:extLst>
          </p:cNvPr>
          <p:cNvSpPr>
            <a:spLocks xmlns:a="http://schemas.openxmlformats.org/drawingml/2006/main" noGrp="1"/>
          </p:cNvSpPr>
          <p:nvPr/>
        </p:nvSpPr>
        <p:spPr>
          <a:xfrm xmlns:a="http://schemas.openxmlformats.org/drawingml/2006/main">
            <a:off x="666750" y="5638800"/>
            <a:ext cx="1809750" cy="57150"/>
          </a:xfrm>
          <a:prstGeom xmlns:a="http://schemas.openxmlformats.org/drawingml/2006/main" prst="rect">
            <a:avLst/>
          </a:prstGeom>
          <a:solidFill xmlns:a="http://schemas.openxmlformats.org/drawingml/2006/main">
            <a:srgbClr val="FFC000"/>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9" name="Rectangle 18">
            <a:extLst xmlns:a="http://schemas.openxmlformats.org/drawingml/2006/main">
              <a:ext uri="{FF2B5EF4-FFF2-40B4-BE49-F238E27FC236}">
                <a16:creationId xmlns:a16="http://schemas.microsoft.com/office/drawing/2014/main" id="{29D94360-47AC-4C56-AFC2-034CD2A55F62}"/>
              </a:ext>
            </a:extLst>
          </p:cNvPr>
          <p:cNvSpPr>
            <a:spLocks xmlns:a="http://schemas.openxmlformats.org/drawingml/2006/main" noGrp="1"/>
          </p:cNvSpPr>
          <p:nvPr/>
        </p:nvSpPr>
        <p:spPr>
          <a:xfrm xmlns:a="http://schemas.openxmlformats.org/drawingml/2006/main">
            <a:off x="666750" y="5791200"/>
            <a:ext cx="1809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1050" b="1">
                <a:solidFill>
                  <a:srgbClr val="39D7FF"/>
                </a:solidFill>
                <a:latin typeface="DejaVu Sans Mono"/>
                <a:ea typeface="DejaVu Sans Mono"/>
                <a:cs typeface="DejaVu Sans Mono"/>
              </a:defRPr>
            </a:pPr>
            <a:r>
              <a:rPr sz="1050" b="1">
                <a:solidFill>
                  <a:srgbClr val="FFC000"/>
                </a:solidFill>
                <a:latin typeface="DejaVu Sans Mono"/>
                <a:ea typeface="DejaVu Sans Mono"/>
                <a:cs typeface="DejaVu Sans Mono"/>
              </a:rPr>
              <a:t>DISCOVERY</a:t>
            </a:r>
          </a:p>
        </p:txBody>
      </p:sp>
      <p:sp>
        <p:nvSpPr>
          <p:cNvPr id="22" name="Rectangle 21">
            <a:extLst xmlns:a="http://schemas.openxmlformats.org/drawingml/2006/main">
              <a:ext uri="{FF2B5EF4-FFF2-40B4-BE49-F238E27FC236}">
                <a16:creationId xmlns:a16="http://schemas.microsoft.com/office/drawing/2014/main" id="{DF54546F-6B33-44D4-94A7-689832305402}"/>
              </a:ext>
            </a:extLst>
          </p:cNvPr>
          <p:cNvSpPr>
            <a:spLocks xmlns:a="http://schemas.openxmlformats.org/drawingml/2006/main" noGrp="1"/>
          </p:cNvSpPr>
          <p:nvPr/>
        </p:nvSpPr>
        <p:spPr>
          <a:xfrm xmlns:a="http://schemas.openxmlformats.org/drawingml/2006/main">
            <a:off x="2730122" y="5638800"/>
            <a:ext cx="1809750" cy="57150"/>
          </a:xfrm>
          <a:prstGeom xmlns:a="http://schemas.openxmlformats.org/drawingml/2006/main" prst="rect">
            <a:avLst/>
          </a:prstGeom>
          <a:solidFill xmlns:a="http://schemas.openxmlformats.org/drawingml/2006/main">
            <a:srgbClr val="FFC000"/>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3" name="Rectangle 22">
            <a:extLst xmlns:a="http://schemas.openxmlformats.org/drawingml/2006/main">
              <a:ext uri="{FF2B5EF4-FFF2-40B4-BE49-F238E27FC236}">
                <a16:creationId xmlns:a16="http://schemas.microsoft.com/office/drawing/2014/main" id="{017278AD-9483-43B1-A78E-726C932D33B8}"/>
              </a:ext>
            </a:extLst>
          </p:cNvPr>
          <p:cNvSpPr>
            <a:spLocks xmlns:a="http://schemas.openxmlformats.org/drawingml/2006/main" noGrp="1"/>
          </p:cNvSpPr>
          <p:nvPr/>
        </p:nvSpPr>
        <p:spPr>
          <a:xfrm xmlns:a="http://schemas.openxmlformats.org/drawingml/2006/main">
            <a:off x="2730122" y="5791200"/>
            <a:ext cx="1809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1050" b="1">
                <a:solidFill>
                  <a:srgbClr val="F26B38"/>
                </a:solidFill>
                <a:latin typeface="DejaVu Sans Mono"/>
                <a:ea typeface="DejaVu Sans Mono"/>
                <a:cs typeface="DejaVu Sans Mono"/>
              </a:defRPr>
            </a:pPr>
            <a:r>
              <a:rPr sz="1050" b="1">
                <a:solidFill>
                  <a:srgbClr val="FFC000"/>
                </a:solidFill>
                <a:latin typeface="DejaVu Sans Mono"/>
                <a:ea typeface="DejaVu Sans Mono"/>
                <a:cs typeface="DejaVu Sans Mono"/>
              </a:rPr>
              <a:t>ENGINEERING</a:t>
            </a:r>
          </a:p>
        </p:txBody>
      </p:sp>
      <p:sp>
        <p:nvSpPr>
          <p:cNvPr id="24" name="Rectangle 23">
            <a:extLst xmlns:a="http://schemas.openxmlformats.org/drawingml/2006/main">
              <a:ext uri="{FF2B5EF4-FFF2-40B4-BE49-F238E27FC236}">
                <a16:creationId xmlns:a16="http://schemas.microsoft.com/office/drawing/2014/main" id="{D6E0A8F1-8987-41FC-9D26-E24062ADBE6D}"/>
              </a:ext>
            </a:extLst>
          </p:cNvPr>
          <p:cNvSpPr>
            <a:spLocks xmlns:a="http://schemas.openxmlformats.org/drawingml/2006/main" noGrp="1"/>
          </p:cNvSpPr>
          <p:nvPr/>
        </p:nvSpPr>
        <p:spPr>
          <a:xfrm xmlns:a="http://schemas.openxmlformats.org/drawingml/2006/main">
            <a:off x="4787419" y="5638800"/>
            <a:ext cx="1809750" cy="57150"/>
          </a:xfrm>
          <a:prstGeom xmlns:a="http://schemas.openxmlformats.org/drawingml/2006/main" prst="rect">
            <a:avLst/>
          </a:prstGeom>
          <a:solidFill xmlns:a="http://schemas.openxmlformats.org/drawingml/2006/main">
            <a:srgbClr val="FFC000"/>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5" name="Rectangle 24">
            <a:extLst xmlns:a="http://schemas.openxmlformats.org/drawingml/2006/main">
              <a:ext uri="{FF2B5EF4-FFF2-40B4-BE49-F238E27FC236}">
                <a16:creationId xmlns:a16="http://schemas.microsoft.com/office/drawing/2014/main" id="{064CE8CC-F7BB-4195-9371-D2B78674B040}"/>
              </a:ext>
            </a:extLst>
          </p:cNvPr>
          <p:cNvSpPr>
            <a:spLocks xmlns:a="http://schemas.openxmlformats.org/drawingml/2006/main" noGrp="1"/>
          </p:cNvSpPr>
          <p:nvPr/>
        </p:nvSpPr>
        <p:spPr>
          <a:xfrm xmlns:a="http://schemas.openxmlformats.org/drawingml/2006/main">
            <a:off x="4787419" y="5791200"/>
            <a:ext cx="1809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1050" b="1">
                <a:solidFill>
                  <a:srgbClr val="62D6A7"/>
                </a:solidFill>
                <a:latin typeface="DejaVu Sans Mono"/>
                <a:ea typeface="DejaVu Sans Mono"/>
                <a:cs typeface="DejaVu Sans Mono"/>
              </a:defRPr>
            </a:pPr>
            <a:r>
              <a:rPr sz="1050" b="1">
                <a:solidFill>
                  <a:srgbClr val="FFC000"/>
                </a:solidFill>
                <a:latin typeface="DejaVu Sans Mono"/>
                <a:ea typeface="DejaVu Sans Mono"/>
                <a:cs typeface="DejaVu Sans Mono"/>
              </a:rPr>
              <a:t>BUILD</a:t>
            </a:r>
            <a:endParaRPr sz="1050" b="1">
              <a:solidFill>
                <a:srgbClr val="FFC000"/>
              </a:solidFill>
              <a:latin typeface="DejaVu Sans Mono"/>
              <a:ea typeface="DejaVu Sans Mono"/>
              <a:cs typeface="DejaVu Sans Mono"/>
            </a:endParaRPr>
          </a:p>
        </p:txBody>
      </p:sp>
      <p:sp>
        <p:nvSpPr>
          <p:cNvPr id="26" name="Rectangle 25">
            <a:extLst xmlns:a="http://schemas.openxmlformats.org/drawingml/2006/main">
              <a:ext uri="{FF2B5EF4-FFF2-40B4-BE49-F238E27FC236}">
                <a16:creationId xmlns:a16="http://schemas.microsoft.com/office/drawing/2014/main" id="{10335DAF-149B-4E61-9A52-E7197F399DC6}"/>
              </a:ext>
            </a:extLst>
          </p:cNvPr>
          <p:cNvSpPr>
            <a:spLocks xmlns:a="http://schemas.openxmlformats.org/drawingml/2006/main" noGrp="1"/>
          </p:cNvSpPr>
          <p:nvPr/>
        </p:nvSpPr>
        <p:spPr>
          <a:xfrm xmlns:a="http://schemas.openxmlformats.org/drawingml/2006/main">
            <a:off x="6978169" y="5638800"/>
            <a:ext cx="1809750" cy="57150"/>
          </a:xfrm>
          <a:prstGeom xmlns:a="http://schemas.openxmlformats.org/drawingml/2006/main" prst="rect">
            <a:avLst/>
          </a:prstGeom>
          <a:solidFill xmlns:a="http://schemas.openxmlformats.org/drawingml/2006/main">
            <a:srgbClr val="FFC85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7" name="Rectangle 26">
            <a:extLst xmlns:a="http://schemas.openxmlformats.org/drawingml/2006/main">
              <a:ext uri="{FF2B5EF4-FFF2-40B4-BE49-F238E27FC236}">
                <a16:creationId xmlns:a16="http://schemas.microsoft.com/office/drawing/2014/main" id="{CBBD0A55-E93D-4936-8543-ED1FBC04D43E}"/>
              </a:ext>
            </a:extLst>
          </p:cNvPr>
          <p:cNvSpPr>
            <a:spLocks xmlns:a="http://schemas.openxmlformats.org/drawingml/2006/main" noGrp="1"/>
          </p:cNvSpPr>
          <p:nvPr/>
        </p:nvSpPr>
        <p:spPr>
          <a:xfrm xmlns:a="http://schemas.openxmlformats.org/drawingml/2006/main">
            <a:off x="6978169" y="5791200"/>
            <a:ext cx="1809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1050" b="1">
                <a:solidFill>
                  <a:srgbClr val="FFC857"/>
                </a:solidFill>
                <a:latin typeface="DejaVu Sans Mono"/>
                <a:ea typeface="DejaVu Sans Mono"/>
                <a:cs typeface="DejaVu Sans Mono"/>
              </a:defRPr>
            </a:pPr>
            <a:r>
              <a:rPr sz="1050" b="1">
                <a:solidFill>
                  <a:srgbClr val="FFC857"/>
                </a:solidFill>
                <a:latin typeface="DejaVu Sans Mono"/>
                <a:ea typeface="DejaVu Sans Mono"/>
                <a:cs typeface="DejaVu Sans Mono"/>
              </a:rPr>
              <a:t>TEST</a:t>
            </a:r>
            <a:endParaRPr sz="1050" b="1">
              <a:solidFill>
                <a:srgbClr val="FFC857"/>
              </a:solidFill>
              <a:latin typeface="DejaVu Sans Mono"/>
              <a:ea typeface="DejaVu Sans Mono"/>
              <a:cs typeface="DejaVu Sans Mono"/>
            </a:endParaRPr>
          </a:p>
        </p:txBody>
      </p:sp>
      <p:sp>
        <p:nvSpPr>
          <p:cNvPr id="28" name="Rectangle 27">
            <a:extLst xmlns:a="http://schemas.openxmlformats.org/drawingml/2006/main">
              <a:ext uri="{FF2B5EF4-FFF2-40B4-BE49-F238E27FC236}">
                <a16:creationId xmlns:a16="http://schemas.microsoft.com/office/drawing/2014/main" id="{D09C715C-87D4-4FD5-8E88-2713BDD932EF}"/>
              </a:ext>
            </a:extLst>
          </p:cNvPr>
          <p:cNvSpPr>
            <a:spLocks xmlns:a="http://schemas.openxmlformats.org/drawingml/2006/main" noGrp="1"/>
          </p:cNvSpPr>
          <p:nvPr/>
        </p:nvSpPr>
        <p:spPr>
          <a:xfrm xmlns:a="http://schemas.openxmlformats.org/drawingml/2006/main">
            <a:off x="0" y="6400800"/>
            <a:ext cx="12192000" cy="457200"/>
          </a:xfrm>
          <a:prstGeom xmlns:a="http://schemas.openxmlformats.org/drawingml/2006/main" prst="rect">
            <a:avLst/>
          </a:prstGeom>
          <a:solidFill xmlns:a="http://schemas.openxmlformats.org/drawingml/2006/main">
            <a:srgbClr val="07090C">
              <a:alpha val="76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9" name="Rectangle 28">
            <a:extLst xmlns:a="http://schemas.openxmlformats.org/drawingml/2006/main">
              <a:ext uri="{FF2B5EF4-FFF2-40B4-BE49-F238E27FC236}">
                <a16:creationId xmlns:a16="http://schemas.microsoft.com/office/drawing/2014/main" id="{0CA07976-85C4-4103-8415-92399613A709}"/>
              </a:ext>
            </a:extLst>
          </p:cNvPr>
          <p:cNvSpPr>
            <a:spLocks xmlns:a="http://schemas.openxmlformats.org/drawingml/2006/main" noGrp="1"/>
          </p:cNvSpPr>
          <p:nvPr/>
        </p:nvSpPr>
        <p:spPr>
          <a:xfrm xmlns:a="http://schemas.openxmlformats.org/drawingml/2006/main">
            <a:off x="609600" y="6553200"/>
            <a:ext cx="68580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MARS SOCIETY 2026  •  HARNESSED AGENTIC SCIENCE + ENGINEERING</a:t>
            </a:r>
          </a:p>
        </p:txBody>
      </p:sp>
      <p:sp>
        <p:nvSpPr>
          <p:cNvPr id="30" name="Rectangle 29">
            <a:extLst xmlns:a="http://schemas.openxmlformats.org/drawingml/2006/main">
              <a:ext uri="{FF2B5EF4-FFF2-40B4-BE49-F238E27FC236}">
                <a16:creationId xmlns:a16="http://schemas.microsoft.com/office/drawing/2014/main" id="{9622C97A-4EC5-4005-83EA-BF231B9E9E45}"/>
              </a:ext>
            </a:extLst>
          </p:cNvPr>
          <p:cNvSpPr>
            <a:spLocks xmlns:a="http://schemas.openxmlformats.org/drawingml/2006/main" noGrp="1"/>
          </p:cNvSpPr>
          <p:nvPr/>
        </p:nvSpPr>
        <p:spPr>
          <a:xfrm xmlns:a="http://schemas.openxmlformats.org/drawingml/2006/main">
            <a:off x="9525000" y="6553200"/>
            <a:ext cx="20574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BOB J MILLS     04</a:t>
            </a:r>
          </a:p>
        </p:txBody>
      </p:sp>
      <p:sp>
        <p:nvSpPr>
          <p:cNvPr id="33" name="Rectangle: Rounded Corners 32">
            <a:extLst xmlns:a="http://schemas.openxmlformats.org/drawingml/2006/main">
              <a:ext uri="{FF2B5EF4-FFF2-40B4-BE49-F238E27FC236}">
                <a16:creationId xmlns:a16="http://schemas.microsoft.com/office/drawing/2014/main" id="{DF334930-64D6-0BDA-B046-C114FA456925}"/>
              </a:ext>
            </a:extLst>
          </p:cNvPr>
          <p:cNvSpPr>
            <a:spLocks xmlns:a="http://schemas.openxmlformats.org/drawingml/2006/main" noGrp="1"/>
          </p:cNvSpPr>
          <p:nvPr/>
        </p:nvSpPr>
        <p:spPr>
          <a:xfrm xmlns:a="http://schemas.openxmlformats.org/drawingml/2006/main">
            <a:off x="5220626" y="3561098"/>
            <a:ext cx="2246973" cy="441007"/>
          </a:xfrm>
          <a:prstGeom xmlns:a="http://schemas.openxmlformats.org/drawingml/2006/main" prst="roundRect">
            <a:avLst>
              <a:gd name="adj" fmla="val 22222"/>
            </a:avLst>
          </a:prstGeom>
          <a:solidFill xmlns:a="http://schemas.openxmlformats.org/drawingml/2006/main">
            <a:srgbClr val="11171C"/>
          </a:solidFill>
          <a:ln xmlns:a="http://schemas.openxmlformats.org/drawingml/2006/main" w="14288">
            <a:solidFill>
              <a:srgbClr val="FFC857"/>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425" b="1">
                <a:solidFill>
                  <a:srgbClr val="FFC857"/>
                </a:solidFill>
                <a:latin typeface="DejaVu Sans"/>
                <a:ea typeface="DejaVu Sans"/>
                <a:cs typeface="DejaVu Sans"/>
              </a:defRPr>
            </a:pPr>
            <a:r>
              <a:rPr sz="1200" b="1">
                <a:solidFill>
                  <a:srgbClr val="FFC857"/>
                </a:solidFill>
                <a:latin typeface="DejaVu Sans"/>
                <a:ea typeface="DejaVu Sans"/>
                <a:cs typeface="DejaVu Sans"/>
              </a:rPr>
              <a:t>Engineering – Specialized Harness</a:t>
            </a:r>
            <a:endParaRPr sz="1200" b="1">
              <a:solidFill>
                <a:srgbClr val="FFC857"/>
              </a:solidFill>
              <a:latin typeface="DejaVu Sans"/>
              <a:ea typeface="DejaVu Sans"/>
              <a:cs typeface="DejaVu Sans"/>
            </a:endParaRPr>
          </a:p>
        </p:txBody>
      </p:sp>
      <p:sp>
        <p:nvSpPr>
          <p:cNvPr id="35" name="Rectangle: Rounded Corners 34">
            <a:extLst xmlns:a="http://schemas.openxmlformats.org/drawingml/2006/main">
              <a:ext uri="{FF2B5EF4-FFF2-40B4-BE49-F238E27FC236}">
                <a16:creationId xmlns:a16="http://schemas.microsoft.com/office/drawing/2014/main" id="{3E33552D-CC3D-CB47-02DC-8D1736C17600}"/>
              </a:ext>
            </a:extLst>
          </p:cNvPr>
          <p:cNvSpPr>
            <a:spLocks xmlns:a="http://schemas.openxmlformats.org/drawingml/2006/main" noGrp="1"/>
          </p:cNvSpPr>
          <p:nvPr/>
        </p:nvSpPr>
        <p:spPr>
          <a:xfrm xmlns:a="http://schemas.openxmlformats.org/drawingml/2006/main">
            <a:off x="5220625" y="4141537"/>
            <a:ext cx="2246973" cy="441007"/>
          </a:xfrm>
          <a:prstGeom xmlns:a="http://schemas.openxmlformats.org/drawingml/2006/main" prst="roundRect">
            <a:avLst>
              <a:gd name="adj" fmla="val 22222"/>
            </a:avLst>
          </a:prstGeom>
          <a:solidFill xmlns:a="http://schemas.openxmlformats.org/drawingml/2006/main">
            <a:srgbClr val="11171C"/>
          </a:solidFill>
          <a:ln xmlns:a="http://schemas.openxmlformats.org/drawingml/2006/main" w="14288">
            <a:solidFill>
              <a:srgbClr val="FFC857"/>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425" b="1">
                <a:solidFill>
                  <a:srgbClr val="FFC857"/>
                </a:solidFill>
                <a:latin typeface="DejaVu Sans"/>
                <a:ea typeface="DejaVu Sans"/>
                <a:cs typeface="DejaVu Sans"/>
              </a:defRPr>
            </a:pPr>
            <a:r>
              <a:rPr sz="1200" b="1">
                <a:solidFill>
                  <a:srgbClr val="FFC857"/>
                </a:solidFill>
                <a:latin typeface="DejaVu Sans"/>
                <a:ea typeface="DejaVu Sans"/>
                <a:cs typeface="DejaVu Sans"/>
              </a:rPr>
              <a:t>Project Execution – Specialized Harness</a:t>
            </a:r>
            <a:endParaRPr sz="1200" b="1">
              <a:solidFill>
                <a:srgbClr val="FFC857"/>
              </a:solidFill>
              <a:latin typeface="DejaVu Sans"/>
              <a:ea typeface="DejaVu Sans"/>
              <a:cs typeface="DejaVu Sans"/>
            </a:endParaRPr>
          </a:p>
        </p:txBody>
      </p:sp>
      <p:sp>
        <p:nvSpPr>
          <p:cNvPr id="75" name="TextBox 74">
            <a:extLst xmlns:a="http://schemas.openxmlformats.org/drawingml/2006/main">
              <a:ext uri="{FF2B5EF4-FFF2-40B4-BE49-F238E27FC236}">
                <a16:creationId xmlns:a16="http://schemas.microsoft.com/office/drawing/2014/main" id="{B64F2270-D078-16E5-3959-5AF8FE738E10}"/>
              </a:ext>
            </a:extLst>
          </p:cNvPr>
          <p:cNvSpPr>
            <a:spLocks xmlns:a="http://schemas.openxmlformats.org/drawingml/2006/main" noGrp="1"/>
          </p:cNvSpPr>
          <p:nvPr/>
        </p:nvSpPr>
        <p:spPr>
          <a:xfrm xmlns:a="http://schemas.openxmlformats.org/drawingml/2006/main">
            <a:off x="8367480" y="2922597"/>
            <a:ext cx="3528987" cy="507831"/>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nSpc>
                <a:spcPct val="90000"/>
              </a:lnSpc>
              <a:buNone/>
              <a:defRPr sz="1425" b="1">
                <a:solidFill>
                  <a:srgbClr val="FFC857"/>
                </a:solidFill>
                <a:latin typeface="DejaVu Sans"/>
                <a:ea typeface="DejaVu Sans"/>
                <a:cs typeface="DejaVu Sans"/>
              </a:defRPr>
            </a:pPr>
            <a:r>
              <a:rPr sz="1000">
                <a:solidFill>
                  <a:schemeClr val="bg1"/>
                </a:solidFill>
                <a:latin typeface="DejaVu Sans"/>
                <a:ea typeface="DejaVu Sans"/>
                <a:cs typeface="DejaVu Sans"/>
              </a:rPr>
              <a:t>Research, Hypotheses, Experiments and Simulation, Data Analysis, Virtual Peer Reviews, Result Synthesis, etc. </a:t>
            </a:r>
          </a:p>
        </p:txBody>
      </p:sp>
      <p:sp>
        <p:nvSpPr>
          <p:cNvPr id="77" name="TextBox 76">
            <a:extLst xmlns:a="http://schemas.openxmlformats.org/drawingml/2006/main">
              <a:ext uri="{FF2B5EF4-FFF2-40B4-BE49-F238E27FC236}">
                <a16:creationId xmlns:a16="http://schemas.microsoft.com/office/drawing/2014/main" id="{8BDDA93E-3C4D-1616-B610-18F906ED21CC}"/>
              </a:ext>
            </a:extLst>
          </p:cNvPr>
          <p:cNvSpPr>
            <a:spLocks xmlns:a="http://schemas.openxmlformats.org/drawingml/2006/main" noGrp="1"/>
          </p:cNvSpPr>
          <p:nvPr/>
        </p:nvSpPr>
        <p:spPr>
          <a:xfrm xmlns:a="http://schemas.openxmlformats.org/drawingml/2006/main">
            <a:off x="8367479" y="3470144"/>
            <a:ext cx="3528987" cy="646331"/>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nSpc>
                <a:spcPct val="90000"/>
              </a:lnSpc>
              <a:buNone/>
              <a:defRPr sz="1425" b="1">
                <a:solidFill>
                  <a:srgbClr val="FFC857"/>
                </a:solidFill>
                <a:latin typeface="DejaVu Sans"/>
                <a:ea typeface="DejaVu Sans"/>
                <a:cs typeface="DejaVu Sans"/>
              </a:defRPr>
            </a:pPr>
            <a:r>
              <a:rPr sz="1000">
                <a:solidFill>
                  <a:schemeClr val="bg1"/>
                </a:solidFill>
                <a:latin typeface="DejaVu Sans"/>
                <a:ea typeface="DejaVu Sans"/>
                <a:cs typeface="DejaVu Sans"/>
              </a:rPr>
              <a:t>Requirements Clarification, SOW, Product Spec, Prelim Design, Design review, Design Sprints, Critical Design, Design Review, Hardening Design, Documents, etc. </a:t>
            </a:r>
          </a:p>
        </p:txBody>
      </p:sp>
      <p:sp>
        <p:nvSpPr>
          <p:cNvPr id="79" name="TextBox 78">
            <a:extLst xmlns:a="http://schemas.openxmlformats.org/drawingml/2006/main">
              <a:ext uri="{FF2B5EF4-FFF2-40B4-BE49-F238E27FC236}">
                <a16:creationId xmlns:a16="http://schemas.microsoft.com/office/drawing/2014/main" id="{D5C6CF79-414B-7FA0-AE62-09BF41600892}"/>
              </a:ext>
            </a:extLst>
          </p:cNvPr>
          <p:cNvSpPr>
            <a:spLocks xmlns:a="http://schemas.openxmlformats.org/drawingml/2006/main" noGrp="1"/>
          </p:cNvSpPr>
          <p:nvPr/>
        </p:nvSpPr>
        <p:spPr>
          <a:xfrm xmlns:a="http://schemas.openxmlformats.org/drawingml/2006/main">
            <a:off x="8381486" y="4156583"/>
            <a:ext cx="3528987" cy="507831"/>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nSpc>
                <a:spcPct val="90000"/>
              </a:lnSpc>
              <a:buNone/>
              <a:defRPr sz="1425" b="1">
                <a:solidFill>
                  <a:srgbClr val="FFC857"/>
                </a:solidFill>
                <a:latin typeface="DejaVu Sans"/>
                <a:ea typeface="DejaVu Sans"/>
                <a:cs typeface="DejaVu Sans"/>
              </a:defRPr>
            </a:pPr>
            <a:r>
              <a:rPr sz="1000">
                <a:solidFill>
                  <a:schemeClr val="bg1"/>
                </a:solidFill>
                <a:latin typeface="DejaVu Sans"/>
                <a:ea typeface="DejaVu Sans"/>
                <a:cs typeface="DejaVu Sans"/>
              </a:rPr>
              <a:t>Project Planning, </a:t>
            </a:r>
            <a:r>
              <a:rPr sz="1000">
                <a:solidFill>
                  <a:schemeClr val="bg1"/>
                </a:solidFill>
                <a:latin typeface="DejaVu Sans"/>
                <a:ea typeface="DejaVu Sans"/>
                <a:cs typeface="DejaVu Sans"/>
              </a:rPr>
              <a:t>Resouce</a:t>
            </a:r>
            <a:r>
              <a:rPr sz="1000">
                <a:solidFill>
                  <a:schemeClr val="bg1"/>
                </a:solidFill>
                <a:latin typeface="DejaVu Sans"/>
                <a:ea typeface="DejaVu Sans"/>
                <a:cs typeface="DejaVu Sans"/>
              </a:rPr>
              <a:t> Allocation, Timelines, Risks, Governance, Tracking, Reporting, etc.</a:t>
            </a:r>
          </a:p>
        </p:txBody>
      </p:sp>
      <p:sp>
        <p:nvSpPr>
          <p:cNvPr id="81" name="Arrow: Right 80">
            <a:extLst xmlns:a="http://schemas.openxmlformats.org/drawingml/2006/main">
              <a:ext uri="{FF2B5EF4-FFF2-40B4-BE49-F238E27FC236}">
                <a16:creationId xmlns:a16="http://schemas.microsoft.com/office/drawing/2014/main" id="{21631896-FE4A-2645-756C-5302FD0A2EED}"/>
              </a:ext>
            </a:extLst>
          </p:cNvPr>
          <p:cNvSpPr>
            <a:spLocks xmlns:a="http://schemas.openxmlformats.org/drawingml/2006/main" noGrp="1"/>
          </p:cNvSpPr>
          <p:nvPr/>
        </p:nvSpPr>
        <p:spPr>
          <a:xfrm xmlns:a="http://schemas.openxmlformats.org/drawingml/2006/main">
            <a:off x="3613274" y="2309813"/>
            <a:ext cx="819150" cy="190500"/>
          </a:xfrm>
          <a:prstGeom xmlns:a="http://schemas.openxmlformats.org/drawingml/2006/main" prst="rightArrow">
            <a:avLst/>
          </a:prstGeom>
          <a:solidFill xmlns:a="http://schemas.openxmlformats.org/drawingml/2006/main">
            <a:schemeClr val="accent2">
              <a:lumMod val="75000"/>
              <a:alpha val="75000"/>
            </a:scheme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83" name="Arrow: Right 82">
            <a:extLst xmlns:a="http://schemas.openxmlformats.org/drawingml/2006/main">
              <a:ext uri="{FF2B5EF4-FFF2-40B4-BE49-F238E27FC236}">
                <a16:creationId xmlns:a16="http://schemas.microsoft.com/office/drawing/2014/main" id="{C2D103A9-29E3-B957-934F-B34B89CDC4E4}"/>
              </a:ext>
            </a:extLst>
          </p:cNvPr>
          <p:cNvSpPr>
            <a:spLocks xmlns:a="http://schemas.openxmlformats.org/drawingml/2006/main" noGrp="1"/>
          </p:cNvSpPr>
          <p:nvPr/>
        </p:nvSpPr>
        <p:spPr>
          <a:xfrm xmlns:a="http://schemas.openxmlformats.org/drawingml/2006/main">
            <a:off x="4113562" y="3428999"/>
            <a:ext cx="819150" cy="190500"/>
          </a:xfrm>
          <a:prstGeom xmlns:a="http://schemas.openxmlformats.org/drawingml/2006/main" prst="rightArrow">
            <a:avLst/>
          </a:prstGeom>
          <a:solidFill xmlns:a="http://schemas.openxmlformats.org/drawingml/2006/main">
            <a:schemeClr val="accent4">
              <a:lumMod val="60000"/>
              <a:lumOff val="40000"/>
              <a:alpha val="75000"/>
            </a:scheme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85" name="Arrow: Right 84">
            <a:extLst xmlns:a="http://schemas.openxmlformats.org/drawingml/2006/main">
              <a:ext uri="{FF2B5EF4-FFF2-40B4-BE49-F238E27FC236}">
                <a16:creationId xmlns:a16="http://schemas.microsoft.com/office/drawing/2014/main" id="{54E2863E-9072-E861-2ED4-98497CF57677}"/>
              </a:ext>
            </a:extLst>
          </p:cNvPr>
          <p:cNvSpPr>
            <a:spLocks xmlns:a="http://schemas.openxmlformats.org/drawingml/2006/main" noGrp="1"/>
          </p:cNvSpPr>
          <p:nvPr/>
        </p:nvSpPr>
        <p:spPr>
          <a:xfrm xmlns:a="http://schemas.openxmlformats.org/drawingml/2006/main" rot="10800000">
            <a:off x="4117680" y="3877966"/>
            <a:ext cx="819150" cy="190500"/>
          </a:xfrm>
          <a:prstGeom xmlns:a="http://schemas.openxmlformats.org/drawingml/2006/main" prst="rightArrow">
            <a:avLst/>
          </a:prstGeom>
          <a:solidFill xmlns:a="http://schemas.openxmlformats.org/drawingml/2006/main">
            <a:srgbClr val="FFC000">
              <a:alpha val="75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89" name="Rectangle: Rounded Corners 88">
            <a:extLst xmlns:a="http://schemas.openxmlformats.org/drawingml/2006/main">
              <a:ext uri="{FF2B5EF4-FFF2-40B4-BE49-F238E27FC236}">
                <a16:creationId xmlns:a16="http://schemas.microsoft.com/office/drawing/2014/main" id="{1409C0B1-B851-BFF2-8FBA-F94C6525838B}"/>
              </a:ext>
            </a:extLst>
          </p:cNvPr>
          <p:cNvSpPr>
            <a:spLocks xmlns:a="http://schemas.openxmlformats.org/drawingml/2006/main" noGrp="1"/>
          </p:cNvSpPr>
          <p:nvPr/>
        </p:nvSpPr>
        <p:spPr>
          <a:xfrm xmlns:a="http://schemas.openxmlformats.org/drawingml/2006/main">
            <a:off x="1877613" y="4667250"/>
            <a:ext cx="1943100" cy="685800"/>
          </a:xfrm>
          <a:prstGeom xmlns:a="http://schemas.openxmlformats.org/drawingml/2006/main" prst="roundRect">
            <a:avLst>
              <a:gd name="adj" fmla="val 22222"/>
            </a:avLst>
          </a:prstGeom>
          <a:noFill xmlns:a="http://schemas.openxmlformats.org/drawingml/2006/main"/>
          <a:ln xmlns:a="http://schemas.openxmlformats.org/drawingml/2006/main" w="14288">
            <a:solidFill>
              <a:schemeClr val="accent5">
                <a:lumMod val="60000"/>
                <a:lumOff val="40000"/>
              </a:schemeClr>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425" b="1">
                <a:solidFill>
                  <a:srgbClr val="39D7FF"/>
                </a:solidFill>
                <a:latin typeface="DejaVu Sans"/>
                <a:ea typeface="DejaVu Sans"/>
                <a:cs typeface="DejaVu Sans"/>
              </a:defRPr>
            </a:pPr>
            <a:r>
              <a:rPr sz="1425" b="1">
                <a:solidFill>
                  <a:schemeClr val="accent5">
                    <a:lumMod val="60000"/>
                    <a:lumOff val="40000"/>
                  </a:schemeClr>
                </a:solidFill>
                <a:latin typeface="DejaVu Sans"/>
                <a:ea typeface="DejaVu Sans"/>
                <a:cs typeface="DejaVu Sans"/>
              </a:rPr>
              <a:t>TOOLS</a:t>
            </a:r>
          </a:p>
          <a:p xmlns:a="http://schemas.openxmlformats.org/drawingml/2006/main">
            <a:pPr algn="ctr">
              <a:lnSpc>
                <a:spcPct val="90000"/>
              </a:lnSpc>
              <a:buNone/>
              <a:defRPr sz="1425" b="1">
                <a:solidFill>
                  <a:srgbClr val="39D7FF"/>
                </a:solidFill>
                <a:latin typeface="DejaVu Sans"/>
                <a:ea typeface="DejaVu Sans"/>
                <a:cs typeface="DejaVu Sans"/>
              </a:defRPr>
            </a:pPr>
            <a:r>
              <a:rPr sz="1100" b="1">
                <a:solidFill>
                  <a:schemeClr val="accent5">
                    <a:lumMod val="60000"/>
                    <a:lumOff val="40000"/>
                  </a:schemeClr>
                </a:solidFill>
                <a:latin typeface="DejaVu Sans"/>
                <a:ea typeface="DejaVu Sans"/>
                <a:cs typeface="DejaVu Sans"/>
              </a:rPr>
              <a:t>Web, Computer Use, Scientific Paper Archives, etc.</a:t>
            </a:r>
            <a:endParaRPr sz="1100" b="1">
              <a:solidFill>
                <a:schemeClr val="accent5">
                  <a:lumMod val="60000"/>
                  <a:lumOff val="40000"/>
                </a:schemeClr>
              </a:solidFill>
              <a:latin typeface="DejaVu Sans"/>
              <a:ea typeface="DejaVu Sans"/>
              <a:cs typeface="DejaVu Sans"/>
            </a:endParaRPr>
          </a:p>
        </p:txBody>
      </p:sp>
      <p:sp>
        <p:nvSpPr>
          <p:cNvPr id="91" name="Arrow: Right 90">
            <a:extLst xmlns:a="http://schemas.openxmlformats.org/drawingml/2006/main">
              <a:ext uri="{FF2B5EF4-FFF2-40B4-BE49-F238E27FC236}">
                <a16:creationId xmlns:a16="http://schemas.microsoft.com/office/drawing/2014/main" id="{1275C5FA-F65E-1F55-C104-CBA78668FB92}"/>
              </a:ext>
            </a:extLst>
          </p:cNvPr>
          <p:cNvSpPr>
            <a:spLocks xmlns:a="http://schemas.openxmlformats.org/drawingml/2006/main" noGrp="1"/>
          </p:cNvSpPr>
          <p:nvPr/>
        </p:nvSpPr>
        <p:spPr>
          <a:xfrm xmlns:a="http://schemas.openxmlformats.org/drawingml/2006/main" rot="5400000">
            <a:off x="2221207" y="4310373"/>
            <a:ext cx="393654" cy="237504"/>
          </a:xfrm>
          <a:prstGeom xmlns:a="http://schemas.openxmlformats.org/drawingml/2006/main" prst="rightArrow">
            <a:avLst/>
          </a:prstGeom>
          <a:solidFill xmlns:a="http://schemas.openxmlformats.org/drawingml/2006/main">
            <a:schemeClr val="accent4">
              <a:lumMod val="60000"/>
              <a:lumOff val="40000"/>
              <a:alpha val="75000"/>
            </a:scheme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93" name="Arrow: Right 92">
            <a:extLst xmlns:a="http://schemas.openxmlformats.org/drawingml/2006/main">
              <a:ext uri="{FF2B5EF4-FFF2-40B4-BE49-F238E27FC236}">
                <a16:creationId xmlns:a16="http://schemas.microsoft.com/office/drawing/2014/main" id="{B7FEC00B-D9C0-34F4-0B81-00FCB534B984}"/>
              </a:ext>
            </a:extLst>
          </p:cNvPr>
          <p:cNvSpPr>
            <a:spLocks xmlns:a="http://schemas.openxmlformats.org/drawingml/2006/main" noGrp="1"/>
          </p:cNvSpPr>
          <p:nvPr/>
        </p:nvSpPr>
        <p:spPr>
          <a:xfrm xmlns:a="http://schemas.openxmlformats.org/drawingml/2006/main" rot="16200000">
            <a:off x="3061566" y="4295127"/>
            <a:ext cx="393654" cy="237504"/>
          </a:xfrm>
          <a:prstGeom xmlns:a="http://schemas.openxmlformats.org/drawingml/2006/main" prst="rightArrow">
            <a:avLst/>
          </a:prstGeom>
          <a:solidFill xmlns:a="http://schemas.openxmlformats.org/drawingml/2006/main">
            <a:schemeClr val="accent5">
              <a:lumMod val="60000"/>
              <a:lumOff val="40000"/>
              <a:alpha val="75000"/>
            </a:scheme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95" name="Rectangle 94">
            <a:extLst xmlns:a="http://schemas.openxmlformats.org/drawingml/2006/main">
              <a:ext uri="{FF2B5EF4-FFF2-40B4-BE49-F238E27FC236}">
                <a16:creationId xmlns:a16="http://schemas.microsoft.com/office/drawing/2014/main" id="{2F433F14-B252-83C0-96C0-CF6A2E45AEEE}"/>
              </a:ext>
            </a:extLst>
          </p:cNvPr>
          <p:cNvSpPr>
            <a:spLocks xmlns:a="http://schemas.openxmlformats.org/drawingml/2006/main" noGrp="1"/>
          </p:cNvSpPr>
          <p:nvPr/>
        </p:nvSpPr>
        <p:spPr>
          <a:xfrm xmlns:a="http://schemas.openxmlformats.org/drawingml/2006/main">
            <a:off x="9102709" y="5637973"/>
            <a:ext cx="1809750" cy="57150"/>
          </a:xfrm>
          <a:prstGeom xmlns:a="http://schemas.openxmlformats.org/drawingml/2006/main" prst="rect">
            <a:avLst/>
          </a:prstGeom>
          <a:solidFill xmlns:a="http://schemas.openxmlformats.org/drawingml/2006/main">
            <a:srgbClr val="FFC85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97" name="Rectangle 96">
            <a:extLst xmlns:a="http://schemas.openxmlformats.org/drawingml/2006/main">
              <a:ext uri="{FF2B5EF4-FFF2-40B4-BE49-F238E27FC236}">
                <a16:creationId xmlns:a16="http://schemas.microsoft.com/office/drawing/2014/main" id="{70186F30-E0B2-3267-9F98-ED55E4D4B0F0}"/>
              </a:ext>
            </a:extLst>
          </p:cNvPr>
          <p:cNvSpPr>
            <a:spLocks xmlns:a="http://schemas.openxmlformats.org/drawingml/2006/main" noGrp="1"/>
          </p:cNvSpPr>
          <p:nvPr/>
        </p:nvSpPr>
        <p:spPr>
          <a:xfrm xmlns:a="http://schemas.openxmlformats.org/drawingml/2006/main">
            <a:off x="9102709" y="5790373"/>
            <a:ext cx="1809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1050" b="1">
                <a:solidFill>
                  <a:srgbClr val="FFC857"/>
                </a:solidFill>
                <a:latin typeface="DejaVu Sans Mono"/>
                <a:ea typeface="DejaVu Sans Mono"/>
                <a:cs typeface="DejaVu Sans Mono"/>
              </a:defRPr>
            </a:pPr>
            <a:r>
              <a:rPr sz="1050" b="1">
                <a:solidFill>
                  <a:srgbClr val="FFC857"/>
                </a:solidFill>
                <a:latin typeface="DejaVu Sans Mono"/>
                <a:ea typeface="DejaVu Sans Mono"/>
                <a:cs typeface="DejaVu Sans Mono"/>
              </a:rPr>
              <a:t>DEPLOY</a:t>
            </a:r>
            <a:endParaRPr sz="1050" b="1">
              <a:solidFill>
                <a:srgbClr val="FFC857"/>
              </a:solidFill>
              <a:latin typeface="DejaVu Sans Mono"/>
              <a:ea typeface="DejaVu Sans Mono"/>
              <a:cs typeface="DejaVu Sans Mono"/>
            </a:endParaRPr>
          </a:p>
        </p:txBody>
      </p:sp>
      <p:sp>
        <p:nvSpPr>
          <p:cNvPr id="98" name="Diamond 97">
            <a:extLst xmlns:a="http://schemas.openxmlformats.org/drawingml/2006/main">
              <a:ext uri="{FF2B5EF4-FFF2-40B4-BE49-F238E27FC236}">
                <a16:creationId xmlns:a16="http://schemas.microsoft.com/office/drawing/2014/main" id="{9C839DD5-6665-4B43-7614-56A60E39A2D8}"/>
              </a:ext>
            </a:extLst>
          </p:cNvPr>
          <p:cNvSpPr>
            <a:spLocks xmlns:a="http://schemas.openxmlformats.org/drawingml/2006/main" noGrp="1"/>
          </p:cNvSpPr>
          <p:nvPr/>
        </p:nvSpPr>
        <p:spPr>
          <a:xfrm xmlns:a="http://schemas.openxmlformats.org/drawingml/2006/main">
            <a:off x="7750158" y="2971725"/>
            <a:ext cx="331161" cy="409573"/>
          </a:xfrm>
          <a:prstGeom xmlns:a="http://schemas.openxmlformats.org/drawingml/2006/main" prst="diamond">
            <a:avLst/>
          </a:prstGeom>
          <a:solidFill xmlns:a="http://schemas.openxmlformats.org/drawingml/2006/main">
            <a:schemeClr val="accent2"/>
          </a:solidFill>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00" name="Diamond 99">
            <a:extLst xmlns:a="http://schemas.openxmlformats.org/drawingml/2006/main">
              <a:ext uri="{FF2B5EF4-FFF2-40B4-BE49-F238E27FC236}">
                <a16:creationId xmlns:a16="http://schemas.microsoft.com/office/drawing/2014/main" id="{52ADE86F-9866-0C96-C2DF-B26049077113}"/>
              </a:ext>
            </a:extLst>
          </p:cNvPr>
          <p:cNvSpPr>
            <a:spLocks xmlns:a="http://schemas.openxmlformats.org/drawingml/2006/main" noGrp="1"/>
          </p:cNvSpPr>
          <p:nvPr/>
        </p:nvSpPr>
        <p:spPr>
          <a:xfrm xmlns:a="http://schemas.openxmlformats.org/drawingml/2006/main">
            <a:off x="7739447" y="3583798"/>
            <a:ext cx="331161" cy="409573"/>
          </a:xfrm>
          <a:prstGeom xmlns:a="http://schemas.openxmlformats.org/drawingml/2006/main" prst="diamond">
            <a:avLst/>
          </a:prstGeom>
          <a:solidFill xmlns:a="http://schemas.openxmlformats.org/drawingml/2006/main">
            <a:schemeClr val="accent2"/>
          </a:solidFill>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02" name="Diamond 101">
            <a:extLst xmlns:a="http://schemas.openxmlformats.org/drawingml/2006/main">
              <a:ext uri="{FF2B5EF4-FFF2-40B4-BE49-F238E27FC236}">
                <a16:creationId xmlns:a16="http://schemas.microsoft.com/office/drawing/2014/main" id="{4B431330-B8BE-5E2D-D3F5-FE8F36CCC62E}"/>
              </a:ext>
            </a:extLst>
          </p:cNvPr>
          <p:cNvSpPr>
            <a:spLocks xmlns:a="http://schemas.openxmlformats.org/drawingml/2006/main" noGrp="1"/>
          </p:cNvSpPr>
          <p:nvPr/>
        </p:nvSpPr>
        <p:spPr>
          <a:xfrm xmlns:a="http://schemas.openxmlformats.org/drawingml/2006/main">
            <a:off x="7753451" y="4116786"/>
            <a:ext cx="331161" cy="409573"/>
          </a:xfrm>
          <a:prstGeom xmlns:a="http://schemas.openxmlformats.org/drawingml/2006/main" prst="diamond">
            <a:avLst/>
          </a:prstGeom>
          <a:solidFill xmlns:a="http://schemas.openxmlformats.org/drawingml/2006/main">
            <a:schemeClr val="accent2"/>
          </a:solidFill>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04" name="Straight Connector 103">
            <a:extLst xmlns:a="http://schemas.openxmlformats.org/drawingml/2006/main">
              <a:ext uri="{FF2B5EF4-FFF2-40B4-BE49-F238E27FC236}">
                <a16:creationId xmlns:a16="http://schemas.microsoft.com/office/drawing/2014/main" id="{8667F450-D1E1-4265-BC8F-F67E8B68B5B4}"/>
              </a:ext>
            </a:extLst>
          </p:cNvPr>
          <p:cNvSpPr>
            <a:spLocks xmlns:a="http://schemas.openxmlformats.org/drawingml/2006/main" noGrp="1"/>
          </p:cNvSpPr>
          <p:nvPr/>
        </p:nvSpPr>
        <p:spPr>
          <a:xfrm xmlns:a="http://schemas.openxmlformats.org/drawingml/2006/main">
            <a:off x="7892930" y="2213635"/>
            <a:ext cx="781514" cy="0"/>
          </a:xfrm>
          <a:prstGeom xmlns:a="http://schemas.openxmlformats.org/drawingml/2006/main" prst="line">
            <a:avLst/>
          </a:prstGeom>
          <a:ln xmlns:a="http://schemas.openxmlformats.org/drawingml/2006/main">
            <a:solidFill>
              <a:schemeClr val="accent2"/>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106" name="Straight Connector 105">
            <a:extLst xmlns:a="http://schemas.openxmlformats.org/drawingml/2006/main">
              <a:ext uri="{FF2B5EF4-FFF2-40B4-BE49-F238E27FC236}">
                <a16:creationId xmlns:a16="http://schemas.microsoft.com/office/drawing/2014/main" id="{44044292-CF4D-4BC2-9411-AFE24A221F29}"/>
              </a:ext>
            </a:extLst>
          </p:cNvPr>
          <p:cNvSpPr>
            <a:spLocks xmlns:a="http://schemas.openxmlformats.org/drawingml/2006/main" noGrp="1"/>
          </p:cNvSpPr>
          <p:nvPr/>
        </p:nvSpPr>
        <p:spPr>
          <a:xfrm xmlns:a="http://schemas.openxmlformats.org/drawingml/2006/main">
            <a:off x="7904202" y="2213635"/>
            <a:ext cx="11536" cy="2043737"/>
          </a:xfrm>
          <a:prstGeom xmlns:a="http://schemas.openxmlformats.org/drawingml/2006/main" prst="line">
            <a:avLst/>
          </a:prstGeom>
          <a:ln xmlns:a="http://schemas.openxmlformats.org/drawingml/2006/main">
            <a:solidFill>
              <a:schemeClr val="accent2"/>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111" name="TextBox 110">
            <a:extLst xmlns:a="http://schemas.openxmlformats.org/drawingml/2006/main">
              <a:ext uri="{FF2B5EF4-FFF2-40B4-BE49-F238E27FC236}">
                <a16:creationId xmlns:a16="http://schemas.microsoft.com/office/drawing/2014/main" id="{906B9F5A-C538-1219-583B-FB0322832DB5}"/>
              </a:ext>
            </a:extLst>
          </p:cNvPr>
          <p:cNvSpPr>
            <a:spLocks xmlns:a="http://schemas.openxmlformats.org/drawingml/2006/main" noGrp="1"/>
          </p:cNvSpPr>
          <p:nvPr/>
        </p:nvSpPr>
        <p:spPr>
          <a:xfrm xmlns:a="http://schemas.openxmlformats.org/drawingml/2006/main">
            <a:off x="8663013" y="1955620"/>
            <a:ext cx="3528987" cy="78483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nSpc>
                <a:spcPct val="90000"/>
              </a:lnSpc>
              <a:buNone/>
              <a:defRPr sz="1425" b="1">
                <a:solidFill>
                  <a:srgbClr val="FFC857"/>
                </a:solidFill>
                <a:latin typeface="DejaVu Sans"/>
                <a:ea typeface="DejaVu Sans"/>
                <a:cs typeface="DejaVu Sans"/>
              </a:defRPr>
            </a:pPr>
            <a:r>
              <a:rPr sz="1000">
                <a:solidFill>
                  <a:schemeClr val="bg1"/>
                </a:solidFill>
                <a:latin typeface="DejaVu Sans"/>
                <a:ea typeface="DejaVu Sans"/>
                <a:cs typeface="DejaVu Sans"/>
              </a:rPr>
              <a:t>HUMAN IN THE LOOP</a:t>
            </a:r>
          </a:p>
          <a:p xmlns:a="http://schemas.openxmlformats.org/drawingml/2006/main">
            <a:pPr marL="171450" indent="-171450">
              <a:lnSpc>
                <a:spcPct val="90000"/>
              </a:lnSpc>
              <a:buFont typeface="Arial"/>
              <a:buChar char="•"/>
              <a:defRPr sz="1425" b="1">
                <a:solidFill>
                  <a:srgbClr val="FFC857"/>
                </a:solidFill>
                <a:latin typeface="DejaVu Sans"/>
                <a:ea typeface="DejaVu Sans"/>
                <a:cs typeface="DejaVu Sans"/>
              </a:defRPr>
            </a:pPr>
            <a:r>
              <a:rPr sz="1000">
                <a:solidFill>
                  <a:schemeClr val="bg1"/>
                </a:solidFill>
                <a:latin typeface="DejaVu Sans"/>
                <a:ea typeface="DejaVu Sans"/>
                <a:cs typeface="DejaVu Sans"/>
              </a:rPr>
              <a:t>Refine Reequipments</a:t>
            </a:r>
          </a:p>
          <a:p xmlns:a="http://schemas.openxmlformats.org/drawingml/2006/main">
            <a:pPr marL="171450" indent="-171450">
              <a:lnSpc>
                <a:spcPct val="90000"/>
              </a:lnSpc>
              <a:buFont typeface="Arial"/>
              <a:buChar char="•"/>
              <a:defRPr sz="1425" b="1">
                <a:solidFill>
                  <a:srgbClr val="FFC857"/>
                </a:solidFill>
                <a:latin typeface="DejaVu Sans"/>
                <a:ea typeface="DejaVu Sans"/>
                <a:cs typeface="DejaVu Sans"/>
              </a:defRPr>
            </a:pPr>
            <a:r>
              <a:rPr sz="1000">
                <a:solidFill>
                  <a:schemeClr val="bg1"/>
                </a:solidFill>
                <a:latin typeface="DejaVu Sans"/>
                <a:ea typeface="DejaVu Sans"/>
                <a:cs typeface="DejaVu Sans"/>
              </a:rPr>
              <a:t>Approve Ai Work Product</a:t>
            </a:r>
          </a:p>
          <a:p xmlns:a="http://schemas.openxmlformats.org/drawingml/2006/main">
            <a:pPr marL="171450" indent="-171450">
              <a:lnSpc>
                <a:spcPct val="90000"/>
              </a:lnSpc>
              <a:buFont typeface="Arial"/>
              <a:buChar char="•"/>
              <a:defRPr sz="1425" b="1">
                <a:solidFill>
                  <a:srgbClr val="FFC857"/>
                </a:solidFill>
                <a:latin typeface="DejaVu Sans"/>
                <a:ea typeface="DejaVu Sans"/>
                <a:cs typeface="DejaVu Sans"/>
              </a:defRPr>
            </a:pPr>
            <a:r>
              <a:rPr sz="1000">
                <a:solidFill>
                  <a:schemeClr val="bg1"/>
                </a:solidFill>
                <a:latin typeface="DejaVu Sans"/>
                <a:ea typeface="DejaVu Sans"/>
                <a:cs typeface="DejaVu Sans"/>
              </a:rPr>
              <a:t>Steer Direction</a:t>
            </a:r>
          </a:p>
          <a:p xmlns:a="http://schemas.openxmlformats.org/drawingml/2006/main">
            <a:pPr marL="171450" indent="-171450">
              <a:lnSpc>
                <a:spcPct val="90000"/>
              </a:lnSpc>
              <a:buFont typeface="Arial"/>
              <a:buChar char="•"/>
              <a:defRPr sz="1425" b="1">
                <a:solidFill>
                  <a:srgbClr val="FFC857"/>
                </a:solidFill>
                <a:latin typeface="DejaVu Sans"/>
                <a:ea typeface="DejaVu Sans"/>
                <a:cs typeface="DejaVu Sans"/>
              </a:defRPr>
            </a:pPr>
            <a:r>
              <a:rPr sz="1000">
                <a:solidFill>
                  <a:schemeClr val="bg1"/>
                </a:solidFill>
                <a:latin typeface="DejaVu Sans"/>
                <a:ea typeface="DejaVu Sans"/>
                <a:cs typeface="DejaVu Sans"/>
              </a:rPr>
              <a:t>Edit Documents</a:t>
            </a:r>
          </a:p>
        </p:txBody>
      </p:sp>
    </p:spTree>
    <p:extLst>
      <p:ext uri="{BB962C8B-B14F-4D97-AF65-F5344CB8AC3E}">
        <p14:creationId xmlns:p14="http://schemas.microsoft.com/office/powerpoint/2010/main" val="2121864163"/>
      </p:ext>
    </p:extLst>
  </p:cSld>
</p:sld>
</file>

<file path=ppt/slides/slide5.xml><?xml version="1.0" encoding="utf-8"?>
<p:sld xmlns:p="http://schemas.openxmlformats.org/presentationml/2006/main">
  <p:cSld>
    <p:bg>
      <p:bgPr>
        <a:solidFill xmlns:a="http://schemas.openxmlformats.org/drawingml/2006/main">
          <a:srgbClr val="07090C"/>
        </a:solidFill>
      </p:bgPr>
    </p:bg>
    <p:spTree>
      <p:nvGrpSpPr>
        <p:cNvPr id="1" name=""/>
        <p:cNvGrpSpPr/>
        <p:nvPr/>
      </p:nvGrpSpPr>
      <p:grpSpPr>
        <a:xfrm xmlns:a="http://schemas.openxmlformats.org/drawingml/2006/main"/>
      </p:grpSpPr>
      <p:sp>
        <p:nvSpPr>
          <p:cNvPr id="18" name="Rectangle 17">
            <a:extLst xmlns:a="http://schemas.openxmlformats.org/drawingml/2006/main">
              <a:ext uri="{FF2B5EF4-FFF2-40B4-BE49-F238E27FC236}">
                <a16:creationId xmlns:a16="http://schemas.microsoft.com/office/drawing/2014/main" id="{1BE4F409-10F3-419F-B2BB-7BF2554735EF}"/>
              </a:ext>
            </a:extLst>
          </p:cNvPr>
          <p:cNvSpPr>
            <a:spLocks xmlns:a="http://schemas.openxmlformats.org/drawingml/2006/main" noGrp="1"/>
          </p:cNvSpPr>
          <p:nvPr/>
        </p:nvSpPr>
        <p:spPr>
          <a:xfrm xmlns:a="http://schemas.openxmlformats.org/drawingml/2006/main">
            <a:off x="609600" y="3429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75" b="1">
                <a:solidFill>
                  <a:srgbClr val="F26B38"/>
                </a:solidFill>
                <a:latin typeface="DejaVu Sans Mono"/>
                <a:ea typeface="DejaVu Sans Mono"/>
                <a:cs typeface="DejaVu Sans Mono"/>
              </a:defRPr>
            </a:pPr>
            <a:r>
              <a:rPr sz="975" b="1">
                <a:solidFill>
                  <a:srgbClr val="F26B38"/>
                </a:solidFill>
                <a:latin typeface="DejaVu Sans Mono"/>
                <a:ea typeface="DejaVu Sans Mono"/>
                <a:cs typeface="DejaVu Sans Mono"/>
              </a:rPr>
              <a:t>05  /  SYSTEM ARCHITECTURE</a:t>
            </a:r>
          </a:p>
        </p:txBody>
      </p:sp>
      <p:sp>
        <p:nvSpPr>
          <p:cNvPr id="2" name="Rectangle 1">
            <a:extLst xmlns:a="http://schemas.openxmlformats.org/drawingml/2006/main">
              <a:ext uri="{FF2B5EF4-FFF2-40B4-BE49-F238E27FC236}">
                <a16:creationId xmlns:a16="http://schemas.microsoft.com/office/drawing/2014/main" id="{5BC3B8C3-5AA2-494E-AC4B-D923C0B62543}"/>
              </a:ext>
            </a:extLst>
          </p:cNvPr>
          <p:cNvSpPr>
            <a:spLocks xmlns:a="http://schemas.openxmlformats.org/drawingml/2006/main" noGrp="1"/>
          </p:cNvSpPr>
          <p:nvPr/>
        </p:nvSpPr>
        <p:spPr>
          <a:xfrm xmlns:a="http://schemas.openxmlformats.org/drawingml/2006/main">
            <a:off x="609600" y="647700"/>
            <a:ext cx="10972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0000"/>
              </a:lnSpc>
              <a:buNone/>
              <a:defRPr sz="3000" b="1">
                <a:solidFill>
                  <a:srgbClr val="F4F6F8"/>
                </a:solidFill>
                <a:latin typeface="DejaVu Sans"/>
                <a:ea typeface="DejaVu Sans"/>
                <a:cs typeface="DejaVu Sans"/>
              </a:defRPr>
            </a:pPr>
            <a:r>
              <a:rPr sz="3000" b="1">
                <a:solidFill>
                  <a:srgbClr val="F4F6F8"/>
                </a:solidFill>
                <a:latin typeface="DejaVu Sans"/>
                <a:ea typeface="DejaVu Sans"/>
                <a:cs typeface="DejaVu Sans"/>
              </a:rPr>
              <a:t>T</a:t>
            </a:r>
            <a:r>
              <a:rPr sz="3000" b="1">
                <a:solidFill>
                  <a:srgbClr val="F4F6F8"/>
                </a:solidFill>
                <a:latin typeface="DejaVu Sans"/>
                <a:ea typeface="DejaVu Sans"/>
                <a:cs typeface="DejaVu Sans"/>
              </a:rPr>
              <a:t>hree</a:t>
            </a:r>
            <a:r>
              <a:rPr sz="3000" b="1">
                <a:solidFill>
                  <a:srgbClr val="F4F6F8"/>
                </a:solidFill>
                <a:latin typeface="DejaVu Sans"/>
                <a:ea typeface="DejaVu Sans"/>
                <a:cs typeface="DejaVu Sans"/>
              </a:rPr>
              <a:t> harnesses. One digital thread.</a:t>
            </a:r>
          </a:p>
        </p:txBody>
      </p:sp>
      <p:sp>
        <p:nvSpPr>
          <p:cNvPr id="3" name="Rectangle 2">
            <a:extLst xmlns:a="http://schemas.openxmlformats.org/drawingml/2006/main">
              <a:ext uri="{FF2B5EF4-FFF2-40B4-BE49-F238E27FC236}">
                <a16:creationId xmlns:a16="http://schemas.microsoft.com/office/drawing/2014/main" id="{BA915C9F-59BB-46A6-A979-BFB3AC025078}"/>
              </a:ext>
            </a:extLst>
          </p:cNvPr>
          <p:cNvSpPr>
            <a:spLocks xmlns:a="http://schemas.openxmlformats.org/drawingml/2006/main" noGrp="1"/>
          </p:cNvSpPr>
          <p:nvPr/>
        </p:nvSpPr>
        <p:spPr>
          <a:xfrm xmlns:a="http://schemas.openxmlformats.org/drawingml/2006/main">
            <a:off x="628650" y="1238250"/>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25" b="0">
                <a:solidFill>
                  <a:srgbClr val="8D99A3"/>
                </a:solidFill>
                <a:latin typeface="DejaVu Sans"/>
                <a:ea typeface="DejaVu Sans"/>
                <a:cs typeface="DejaVu Sans"/>
              </a:defRPr>
            </a:pPr>
            <a:r>
              <a:rPr sz="1600" b="0">
                <a:solidFill>
                  <a:srgbClr val="8D99A3"/>
                </a:solidFill>
                <a:latin typeface="DejaVu Sans"/>
                <a:ea typeface="DejaVu Sans"/>
                <a:cs typeface="DejaVu Sans"/>
              </a:rPr>
              <a:t>Research</a:t>
            </a:r>
            <a:r>
              <a:rPr sz="1600" b="0">
                <a:solidFill>
                  <a:srgbClr val="8D99A3"/>
                </a:solidFill>
                <a:latin typeface="DejaVu Sans"/>
                <a:ea typeface="DejaVu Sans"/>
                <a:cs typeface="DejaVu Sans"/>
              </a:rPr>
              <a:t>,</a:t>
            </a:r>
            <a:r>
              <a:rPr sz="1600" b="0">
                <a:solidFill>
                  <a:srgbClr val="8D99A3"/>
                </a:solidFill>
                <a:latin typeface="DejaVu Sans"/>
                <a:ea typeface="DejaVu Sans"/>
                <a:cs typeface="DejaVu Sans"/>
              </a:rPr>
              <a:t> engineering</a:t>
            </a:r>
            <a:r>
              <a:rPr sz="1600" b="0">
                <a:solidFill>
                  <a:srgbClr val="8D99A3"/>
                </a:solidFill>
                <a:latin typeface="DejaVu Sans"/>
                <a:ea typeface="DejaVu Sans"/>
                <a:cs typeface="DejaVu Sans"/>
              </a:rPr>
              <a:t>, and execution</a:t>
            </a:r>
            <a:r>
              <a:rPr sz="1600" b="0">
                <a:solidFill>
                  <a:srgbClr val="8D99A3"/>
                </a:solidFill>
                <a:latin typeface="DejaVu Sans"/>
                <a:ea typeface="DejaVu Sans"/>
                <a:cs typeface="DejaVu Sans"/>
              </a:rPr>
              <a:t> stay specialized, but evidence and unresolved questions move through one governed baseline.</a:t>
            </a:r>
          </a:p>
        </p:txBody>
      </p:sp>
      <p:sp>
        <p:nvSpPr>
          <p:cNvPr id="4" name="Straight Connector 3">
            <a:extLst xmlns:a="http://schemas.openxmlformats.org/drawingml/2006/main">
              <a:ext uri="{FF2B5EF4-FFF2-40B4-BE49-F238E27FC236}">
                <a16:creationId xmlns:a16="http://schemas.microsoft.com/office/drawing/2014/main" id="{FDD18598-8A98-47AA-ABEB-BC06CD276C0F}"/>
              </a:ext>
            </a:extLst>
          </p:cNvPr>
          <p:cNvSpPr>
            <a:spLocks xmlns:a="http://schemas.openxmlformats.org/drawingml/2006/main" noGrp="1"/>
          </p:cNvSpPr>
          <p:nvPr/>
        </p:nvSpPr>
        <p:spPr>
          <a:xfrm xmlns:a="http://schemas.openxmlformats.org/drawingml/2006/main">
            <a:off x="575001" y="1997675"/>
            <a:ext cx="10972800" cy="0"/>
          </a:xfrm>
          <a:prstGeom xmlns:a="http://schemas.openxmlformats.org/drawingml/2006/main" prst="line">
            <a:avLst/>
          </a:prstGeom>
          <a:noFill xmlns:a="http://schemas.openxmlformats.org/drawingml/2006/main"/>
          <a:ln xmlns:a="http://schemas.openxmlformats.org/drawingml/2006/main" w="9525">
            <a:solidFill>
              <a:srgbClr val="35414B"/>
            </a:solidFill>
            <a:prstDash val="solid"/>
          </a:ln>
        </p:spPr>
        <p:txBody>
          <a:bodyPr xmlns:a="http://schemas.openxmlformats.org/drawingml/2006/main"/>
          <a:lstStyle xmlns:a="http://schemas.openxmlformats.org/drawingml/2006/main"/>
          <a:p xmlns:a="http://schemas.openxmlformats.org/drawingml/2006/main">
            <a:endParaRPr/>
          </a:p>
        </p:txBody>
      </p:sp>
      <p:pic>
        <p:nvPicPr>
          <p:cNvPr id="30" name="Picture 26"/>
          <p:cNvPicPr>
            <a:picLocks xmlns:a="http://schemas.openxmlformats.org/drawingml/2006/main" noChangeAspect="1"/>
          </p:cNvPicPr>
          <p:nvPr/>
        </p:nvPicPr>
        <p:blipFill>
          <a:blip xmlns:r="http://schemas.openxmlformats.org/officeDocument/2006/relationships" xmlns:a="http://schemas.openxmlformats.org/drawingml/2006/main" r:embed="R66da4bf60c0141b2"/>
          <a:srcRect xmlns:a="http://schemas.openxmlformats.org/drawingml/2006/main" l="0" t="30054" r="0" b="30054"/>
          <a:stretch xmlns:a="http://schemas.openxmlformats.org/drawingml/2006/main">
            <a:fillRect l="0" t="0" r="0" b="0"/>
          </a:stretch>
        </p:blipFill>
        <p:spPr>
          <a:xfrm xmlns:a="http://schemas.openxmlformats.org/drawingml/2006/main" rot="10800000">
            <a:off x="2102811" y="2796797"/>
            <a:ext cx="7530517" cy="759016"/>
          </a:xfrm>
          <a:prstGeom xmlns:a="http://schemas.openxmlformats.org/drawingml/2006/main" prst="rect">
            <a:avLst/>
          </a:prstGeom>
        </p:spPr>
      </p:pic>
      <p:sp>
        <p:nvSpPr>
          <p:cNvPr id="8" name="Oval 7">
            <a:extLst xmlns:a="http://schemas.openxmlformats.org/drawingml/2006/main">
              <a:ext uri="{FF2B5EF4-FFF2-40B4-BE49-F238E27FC236}">
                <a16:creationId xmlns:a16="http://schemas.microsoft.com/office/drawing/2014/main" id="{3CD74CF2-A199-44E0-B543-6BAB1E03CC90}"/>
              </a:ext>
            </a:extLst>
          </p:cNvPr>
          <p:cNvSpPr>
            <a:spLocks xmlns:a="http://schemas.openxmlformats.org/drawingml/2006/main" noGrp="1"/>
          </p:cNvSpPr>
          <p:nvPr/>
        </p:nvSpPr>
        <p:spPr>
          <a:xfrm xmlns:a="http://schemas.openxmlformats.org/drawingml/2006/main">
            <a:off x="704850" y="2381250"/>
            <a:ext cx="2190750" cy="1619250"/>
          </a:xfrm>
          <a:prstGeom xmlns:a="http://schemas.openxmlformats.org/drawingml/2006/main" prst="ellipse">
            <a:avLst/>
          </a:prstGeom>
          <a:gradFill xmlns:a="http://schemas.openxmlformats.org/drawingml/2006/main">
            <a:gsLst>
              <a:gs pos="0">
                <a:srgbClr val="15303A"/>
              </a:gs>
              <a:gs pos="100000">
                <a:srgbClr val="0B1115"/>
              </a:gs>
            </a:gsLst>
            <a:path path="shape"/>
          </a:gradFill>
          <a:ln xmlns:a="http://schemas.openxmlformats.org/drawingml/2006/main" w="14288">
            <a:solidFill>
              <a:srgbClr val="39D7FF"/>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350" b="1">
                <a:solidFill>
                  <a:srgbClr val="39D7FF"/>
                </a:solidFill>
                <a:latin typeface="DejaVu Sans"/>
                <a:ea typeface="DejaVu Sans"/>
                <a:cs typeface="DejaVu Sans"/>
              </a:defRPr>
            </a:pPr>
            <a:r>
              <a:rPr sz="1350" b="1">
                <a:solidFill>
                  <a:srgbClr val="39D7FF"/>
                </a:solidFill>
                <a:latin typeface="DejaVu Sans"/>
                <a:ea typeface="DejaVu Sans"/>
                <a:cs typeface="DejaVu Sans"/>
              </a:rPr>
              <a:t>HYPATIA PRO</a:t>
            </a:r>
          </a:p>
          <a:p xmlns:a="http://schemas.openxmlformats.org/drawingml/2006/main">
            <a:pPr algn="ctr">
              <a:lnSpc>
                <a:spcPct val="90000"/>
              </a:lnSpc>
              <a:buNone/>
              <a:defRPr sz="1350" b="1">
                <a:solidFill>
                  <a:srgbClr val="39D7FF"/>
                </a:solidFill>
                <a:latin typeface="DejaVu Sans"/>
                <a:ea typeface="DejaVu Sans"/>
                <a:cs typeface="DejaVu Sans"/>
              </a:defRPr>
            </a:pPr>
            <a:r>
              <a:rPr sz="1350" b="1">
                <a:solidFill>
                  <a:srgbClr val="39D7FF"/>
                </a:solidFill>
                <a:latin typeface="DejaVu Sans"/>
                <a:ea typeface="DejaVu Sans"/>
                <a:cs typeface="DejaVu Sans"/>
              </a:rPr>
              <a:t>SCIENCE</a:t>
            </a:r>
          </a:p>
          <a:p xmlns:a="http://schemas.openxmlformats.org/drawingml/2006/main">
            <a:pPr algn="ctr">
              <a:lnSpc>
                <a:spcPct val="90000"/>
              </a:lnSpc>
              <a:buNone/>
              <a:defRPr sz="1350" b="1">
                <a:solidFill>
                  <a:srgbClr val="39D7FF"/>
                </a:solidFill>
                <a:latin typeface="DejaVu Sans"/>
                <a:ea typeface="DejaVu Sans"/>
                <a:cs typeface="DejaVu Sans"/>
              </a:defRPr>
            </a:pPr>
            <a:r>
              <a:rPr sz="1350" b="1">
                <a:solidFill>
                  <a:srgbClr val="39D7FF"/>
                </a:solidFill>
                <a:latin typeface="DejaVu Sans"/>
                <a:ea typeface="DejaVu Sans"/>
                <a:cs typeface="DejaVu Sans"/>
              </a:rPr>
              <a:t>HARNESS</a:t>
            </a:r>
          </a:p>
        </p:txBody>
      </p:sp>
      <p:sp>
        <p:nvSpPr>
          <p:cNvPr id="10" name="Oval 9">
            <a:extLst xmlns:a="http://schemas.openxmlformats.org/drawingml/2006/main">
              <a:ext uri="{FF2B5EF4-FFF2-40B4-BE49-F238E27FC236}">
                <a16:creationId xmlns:a16="http://schemas.microsoft.com/office/drawing/2014/main" id="{F8E5D0AA-8B61-4CE6-8DCB-1649673A87E4}"/>
              </a:ext>
            </a:extLst>
          </p:cNvPr>
          <p:cNvSpPr>
            <a:spLocks xmlns:a="http://schemas.openxmlformats.org/drawingml/2006/main" noGrp="1"/>
          </p:cNvSpPr>
          <p:nvPr/>
        </p:nvSpPr>
        <p:spPr>
          <a:xfrm xmlns:a="http://schemas.openxmlformats.org/drawingml/2006/main">
            <a:off x="4772695" y="2429439"/>
            <a:ext cx="2190750" cy="1619250"/>
          </a:xfrm>
          <a:prstGeom xmlns:a="http://schemas.openxmlformats.org/drawingml/2006/main" prst="ellipse">
            <a:avLst/>
          </a:prstGeom>
          <a:gradFill xmlns:a="http://schemas.openxmlformats.org/drawingml/2006/main">
            <a:gsLst>
              <a:gs pos="0">
                <a:srgbClr val="342014"/>
              </a:gs>
              <a:gs pos="100000">
                <a:srgbClr val="120D0A"/>
              </a:gs>
            </a:gsLst>
            <a:path path="shape"/>
          </a:gradFill>
          <a:ln xmlns:a="http://schemas.openxmlformats.org/drawingml/2006/main" w="14288">
            <a:solidFill>
              <a:srgbClr val="F26B38"/>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350" b="1">
                <a:solidFill>
                  <a:srgbClr val="F26B38"/>
                </a:solidFill>
                <a:latin typeface="DejaVu Sans"/>
                <a:ea typeface="DejaVu Sans"/>
                <a:cs typeface="DejaVu Sans"/>
              </a:defRPr>
            </a:pPr>
            <a:r>
              <a:rPr sz="1350" b="1">
                <a:solidFill>
                  <a:srgbClr val="F26B38"/>
                </a:solidFill>
                <a:latin typeface="DejaVu Sans"/>
                <a:ea typeface="DejaVu Sans"/>
                <a:cs typeface="DejaVu Sans"/>
              </a:rPr>
              <a:t>INTELLIGENT</a:t>
            </a:r>
          </a:p>
          <a:p xmlns:a="http://schemas.openxmlformats.org/drawingml/2006/main">
            <a:pPr algn="ctr">
              <a:lnSpc>
                <a:spcPct val="90000"/>
              </a:lnSpc>
              <a:buNone/>
              <a:defRPr sz="1350" b="1">
                <a:solidFill>
                  <a:srgbClr val="F26B38"/>
                </a:solidFill>
                <a:latin typeface="DejaVu Sans"/>
                <a:ea typeface="DejaVu Sans"/>
                <a:cs typeface="DejaVu Sans"/>
              </a:defRPr>
            </a:pPr>
            <a:r>
              <a:rPr sz="1350" b="1">
                <a:solidFill>
                  <a:srgbClr val="F26B38"/>
                </a:solidFill>
                <a:latin typeface="DejaVu Sans"/>
                <a:ea typeface="DejaVu Sans"/>
                <a:cs typeface="DejaVu Sans"/>
              </a:rPr>
              <a:t>ENGINEER</a:t>
            </a:r>
          </a:p>
          <a:p xmlns:a="http://schemas.openxmlformats.org/drawingml/2006/main">
            <a:pPr algn="ctr">
              <a:lnSpc>
                <a:spcPct val="90000"/>
              </a:lnSpc>
              <a:buNone/>
              <a:defRPr sz="1350" b="1">
                <a:solidFill>
                  <a:srgbClr val="39D7FF"/>
                </a:solidFill>
                <a:latin typeface="DejaVu Sans"/>
                <a:ea typeface="DejaVu Sans"/>
                <a:cs typeface="DejaVu Sans"/>
              </a:defRPr>
            </a:pPr>
            <a:r>
              <a:rPr sz="1350" b="1">
                <a:solidFill>
                  <a:schemeClr val="accent2"/>
                </a:solidFill>
                <a:latin typeface="DejaVu Sans"/>
                <a:ea typeface="DejaVu Sans"/>
                <a:cs typeface="DejaVu Sans"/>
              </a:rPr>
              <a:t>HARNESS</a:t>
            </a:r>
          </a:p>
        </p:txBody>
      </p:sp>
      <p:sp>
        <p:nvSpPr>
          <p:cNvPr id="11" name="Rectangle: Rounded Corners 10">
            <a:extLst xmlns:a="http://schemas.openxmlformats.org/drawingml/2006/main">
              <a:ext uri="{FF2B5EF4-FFF2-40B4-BE49-F238E27FC236}">
                <a16:creationId xmlns:a16="http://schemas.microsoft.com/office/drawing/2014/main" id="{3EDCCF59-F03F-4407-AE2B-51792ED0F7A3}"/>
              </a:ext>
            </a:extLst>
          </p:cNvPr>
          <p:cNvSpPr>
            <a:spLocks xmlns:a="http://schemas.openxmlformats.org/drawingml/2006/main" noGrp="1"/>
          </p:cNvSpPr>
          <p:nvPr/>
        </p:nvSpPr>
        <p:spPr>
          <a:xfrm xmlns:a="http://schemas.openxmlformats.org/drawingml/2006/main">
            <a:off x="6298857" y="4591050"/>
            <a:ext cx="4191000" cy="590550"/>
          </a:xfrm>
          <a:prstGeom xmlns:a="http://schemas.openxmlformats.org/drawingml/2006/main" prst="roundRect">
            <a:avLst>
              <a:gd name="adj" fmla="val 25806"/>
            </a:avLst>
          </a:prstGeom>
          <a:solidFill xmlns:a="http://schemas.openxmlformats.org/drawingml/2006/main">
            <a:srgbClr val="101A17"/>
          </a:solidFill>
          <a:ln xmlns:a="http://schemas.openxmlformats.org/drawingml/2006/main" w="14288">
            <a:solidFill>
              <a:srgbClr val="62D6A7"/>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275" b="1">
                <a:solidFill>
                  <a:srgbClr val="62D6A7"/>
                </a:solidFill>
                <a:latin typeface="DejaVu Sans Mono"/>
                <a:ea typeface="DejaVu Sans Mono"/>
                <a:cs typeface="DejaVu Sans Mono"/>
              </a:defRPr>
            </a:pPr>
            <a:r>
              <a:rPr sz="1275" b="1">
                <a:solidFill>
                  <a:srgbClr val="62D6A7"/>
                </a:solidFill>
                <a:latin typeface="DejaVu Sans Mono"/>
                <a:ea typeface="DejaVu Sans Mono"/>
                <a:cs typeface="DejaVu Sans Mono"/>
              </a:rPr>
              <a:t>VERIFY  •  MANUFACTURE  •  OPERATE</a:t>
            </a:r>
          </a:p>
        </p:txBody>
      </p:sp>
      <p:sp>
        <p:nvSpPr>
          <p:cNvPr id="12" name="Rectangle 11">
            <a:extLst xmlns:a="http://schemas.openxmlformats.org/drawingml/2006/main">
              <a:ext uri="{FF2B5EF4-FFF2-40B4-BE49-F238E27FC236}">
                <a16:creationId xmlns:a16="http://schemas.microsoft.com/office/drawing/2014/main" id="{2DB62700-3847-4D1A-852E-038EC1DFB09C}"/>
              </a:ext>
            </a:extLst>
          </p:cNvPr>
          <p:cNvSpPr>
            <a:spLocks xmlns:a="http://schemas.openxmlformats.org/drawingml/2006/main" noGrp="1"/>
          </p:cNvSpPr>
          <p:nvPr/>
        </p:nvSpPr>
        <p:spPr>
          <a:xfrm xmlns:a="http://schemas.openxmlformats.org/drawingml/2006/main">
            <a:off x="2657475" y="2562226"/>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975" b="1">
                <a:solidFill>
                  <a:srgbClr val="39D7FF"/>
                </a:solidFill>
                <a:latin typeface="DejaVu Sans Mono"/>
                <a:ea typeface="DejaVu Sans Mono"/>
                <a:cs typeface="DejaVu Sans Mono"/>
              </a:defRPr>
            </a:pPr>
            <a:r>
              <a:rPr sz="975" b="1">
                <a:solidFill>
                  <a:srgbClr val="39D7FF"/>
                </a:solidFill>
                <a:latin typeface="DejaVu Sans Mono"/>
                <a:ea typeface="DejaVu Sans Mono"/>
                <a:cs typeface="DejaVu Sans Mono"/>
              </a:rPr>
              <a:t>APPROVED EVIDENCE →</a:t>
            </a:r>
          </a:p>
        </p:txBody>
      </p:sp>
      <p:sp>
        <p:nvSpPr>
          <p:cNvPr id="14" name="Rectangle 13">
            <a:extLst xmlns:a="http://schemas.openxmlformats.org/drawingml/2006/main">
              <a:ext uri="{FF2B5EF4-FFF2-40B4-BE49-F238E27FC236}">
                <a16:creationId xmlns:a16="http://schemas.microsoft.com/office/drawing/2014/main" id="{EFE1900C-6644-468B-AB27-EB0A6FD50187}"/>
              </a:ext>
            </a:extLst>
          </p:cNvPr>
          <p:cNvSpPr>
            <a:spLocks xmlns:a="http://schemas.openxmlformats.org/drawingml/2006/main" noGrp="1"/>
          </p:cNvSpPr>
          <p:nvPr/>
        </p:nvSpPr>
        <p:spPr>
          <a:xfrm xmlns:a="http://schemas.openxmlformats.org/drawingml/2006/main">
            <a:off x="3752850" y="6019800"/>
            <a:ext cx="4686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1350" b="1">
                <a:solidFill>
                  <a:srgbClr val="F4F6F8"/>
                </a:solidFill>
                <a:latin typeface="DejaVu Sans"/>
                <a:ea typeface="DejaVu Sans"/>
                <a:cs typeface="DejaVu Sans"/>
              </a:defRPr>
            </a:pPr>
            <a:r>
              <a:rPr sz="1350" b="1">
                <a:solidFill>
                  <a:srgbClr val="F4F6F8"/>
                </a:solidFill>
                <a:latin typeface="DejaVu Sans"/>
                <a:ea typeface="DejaVu Sans"/>
                <a:cs typeface="DejaVu Sans"/>
              </a:rPr>
              <a:t>Field and test evidence can reopen the science—or the design.</a:t>
            </a:r>
          </a:p>
        </p:txBody>
      </p:sp>
      <p:sp>
        <p:nvSpPr>
          <p:cNvPr id="15" name="Rectangle 14">
            <a:extLst xmlns:a="http://schemas.openxmlformats.org/drawingml/2006/main">
              <a:ext uri="{FF2B5EF4-FFF2-40B4-BE49-F238E27FC236}">
                <a16:creationId xmlns:a16="http://schemas.microsoft.com/office/drawing/2014/main" id="{34D6999F-A22C-4405-9A67-3F8387B2BE3C}"/>
              </a:ext>
            </a:extLst>
          </p:cNvPr>
          <p:cNvSpPr>
            <a:spLocks xmlns:a="http://schemas.openxmlformats.org/drawingml/2006/main" noGrp="1"/>
          </p:cNvSpPr>
          <p:nvPr/>
        </p:nvSpPr>
        <p:spPr>
          <a:xfrm xmlns:a="http://schemas.openxmlformats.org/drawingml/2006/main">
            <a:off x="0" y="6400800"/>
            <a:ext cx="12192000" cy="457200"/>
          </a:xfrm>
          <a:prstGeom xmlns:a="http://schemas.openxmlformats.org/drawingml/2006/main" prst="rect">
            <a:avLst/>
          </a:prstGeom>
          <a:solidFill xmlns:a="http://schemas.openxmlformats.org/drawingml/2006/main">
            <a:srgbClr val="07090C">
              <a:alpha val="76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6" name="Rectangle 15">
            <a:extLst xmlns:a="http://schemas.openxmlformats.org/drawingml/2006/main">
              <a:ext uri="{FF2B5EF4-FFF2-40B4-BE49-F238E27FC236}">
                <a16:creationId xmlns:a16="http://schemas.microsoft.com/office/drawing/2014/main" id="{F3F87CE9-4DDE-494E-A604-59FF5DDA74E0}"/>
              </a:ext>
            </a:extLst>
          </p:cNvPr>
          <p:cNvSpPr>
            <a:spLocks xmlns:a="http://schemas.openxmlformats.org/drawingml/2006/main" noGrp="1"/>
          </p:cNvSpPr>
          <p:nvPr/>
        </p:nvSpPr>
        <p:spPr>
          <a:xfrm xmlns:a="http://schemas.openxmlformats.org/drawingml/2006/main">
            <a:off x="609600" y="6553200"/>
            <a:ext cx="68580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MARS SOCIETY 2026  •  HARNESSED AGENTIC SCIENCE + ENGINEERING</a:t>
            </a:r>
          </a:p>
        </p:txBody>
      </p:sp>
      <p:sp>
        <p:nvSpPr>
          <p:cNvPr id="17" name="Rectangle 16">
            <a:extLst xmlns:a="http://schemas.openxmlformats.org/drawingml/2006/main">
              <a:ext uri="{FF2B5EF4-FFF2-40B4-BE49-F238E27FC236}">
                <a16:creationId xmlns:a16="http://schemas.microsoft.com/office/drawing/2014/main" id="{1E494963-105F-45B0-8E0C-CEC1B9B044B4}"/>
              </a:ext>
            </a:extLst>
          </p:cNvPr>
          <p:cNvSpPr>
            <a:spLocks xmlns:a="http://schemas.openxmlformats.org/drawingml/2006/main" noGrp="1"/>
          </p:cNvSpPr>
          <p:nvPr/>
        </p:nvSpPr>
        <p:spPr>
          <a:xfrm xmlns:a="http://schemas.openxmlformats.org/drawingml/2006/main">
            <a:off x="9525000" y="6553200"/>
            <a:ext cx="20574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BOB J MILLS     05</a:t>
            </a:r>
          </a:p>
        </p:txBody>
      </p:sp>
      <p:sp>
        <p:nvSpPr>
          <p:cNvPr id="7" name="Oval 6">
            <a:extLst xmlns:a="http://schemas.openxmlformats.org/drawingml/2006/main">
              <a:ext uri="{FF2B5EF4-FFF2-40B4-BE49-F238E27FC236}">
                <a16:creationId xmlns:a16="http://schemas.microsoft.com/office/drawing/2014/main" id="{87319900-E9A9-D633-76B0-5B7C9550CEA6}"/>
              </a:ext>
            </a:extLst>
          </p:cNvPr>
          <p:cNvSpPr>
            <a:spLocks xmlns:a="http://schemas.openxmlformats.org/drawingml/2006/main" noGrp="1"/>
          </p:cNvSpPr>
          <p:nvPr/>
        </p:nvSpPr>
        <p:spPr>
          <a:xfrm xmlns:a="http://schemas.openxmlformats.org/drawingml/2006/main">
            <a:off x="8478898" y="2457451"/>
            <a:ext cx="2286308" cy="1619250"/>
          </a:xfrm>
          <a:prstGeom xmlns:a="http://schemas.openxmlformats.org/drawingml/2006/main" prst="ellipse">
            <a:avLst/>
          </a:prstGeom>
          <a:gradFill xmlns:a="http://schemas.openxmlformats.org/drawingml/2006/main">
            <a:gsLst>
              <a:gs pos="0">
                <a:srgbClr val="342014"/>
              </a:gs>
              <a:gs pos="100000">
                <a:srgbClr val="120D0A"/>
              </a:gs>
            </a:gsLst>
            <a:path path="shape"/>
          </a:gradFill>
          <a:ln xmlns:a="http://schemas.openxmlformats.org/drawingml/2006/main" w="14288">
            <a:solidFill>
              <a:schemeClr val="accent5">
                <a:lumMod val="60000"/>
                <a:lumOff val="40000"/>
              </a:schemeClr>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350" b="1">
                <a:solidFill>
                  <a:srgbClr val="F26B38"/>
                </a:solidFill>
                <a:latin typeface="DejaVu Sans"/>
                <a:ea typeface="DejaVu Sans"/>
                <a:cs typeface="DejaVu Sans"/>
              </a:defRPr>
            </a:pPr>
            <a:r>
              <a:rPr sz="1350" b="1">
                <a:solidFill>
                  <a:schemeClr val="accent5">
                    <a:lumMod val="60000"/>
                    <a:lumOff val="40000"/>
                  </a:schemeClr>
                </a:solidFill>
                <a:latin typeface="DejaVu Sans"/>
                <a:ea typeface="DejaVu Sans"/>
                <a:cs typeface="DejaVu Sans"/>
              </a:rPr>
              <a:t>PROECT MANAGEMENT</a:t>
            </a:r>
            <a:endParaRPr sz="1350" b="1">
              <a:solidFill>
                <a:schemeClr val="accent5">
                  <a:lumMod val="60000"/>
                  <a:lumOff val="40000"/>
                </a:schemeClr>
              </a:solidFill>
              <a:latin typeface="DejaVu Sans"/>
              <a:ea typeface="DejaVu Sans"/>
              <a:cs typeface="DejaVu Sans"/>
            </a:endParaRPr>
          </a:p>
          <a:p xmlns:a="http://schemas.openxmlformats.org/drawingml/2006/main">
            <a:pPr algn="ctr">
              <a:lnSpc>
                <a:spcPct val="90000"/>
              </a:lnSpc>
              <a:buNone/>
              <a:defRPr sz="1350" b="1">
                <a:solidFill>
                  <a:srgbClr val="39D7FF"/>
                </a:solidFill>
                <a:latin typeface="DejaVu Sans"/>
                <a:ea typeface="DejaVu Sans"/>
                <a:cs typeface="DejaVu Sans"/>
              </a:defRPr>
            </a:pPr>
            <a:r>
              <a:rPr sz="1350" b="1">
                <a:solidFill>
                  <a:schemeClr val="accent5">
                    <a:lumMod val="60000"/>
                    <a:lumOff val="40000"/>
                  </a:schemeClr>
                </a:solidFill>
                <a:latin typeface="DejaVu Sans"/>
                <a:ea typeface="DejaVu Sans"/>
                <a:cs typeface="DejaVu Sans"/>
              </a:rPr>
              <a:t>HARNESS</a:t>
            </a:r>
          </a:p>
        </p:txBody>
      </p:sp>
      <p:sp>
        <p:nvSpPr>
          <p:cNvPr id="20" name="Rectangle 19">
            <a:extLst xmlns:a="http://schemas.openxmlformats.org/drawingml/2006/main">
              <a:ext uri="{FF2B5EF4-FFF2-40B4-BE49-F238E27FC236}">
                <a16:creationId xmlns:a16="http://schemas.microsoft.com/office/drawing/2014/main" id="{BCE88A74-2460-3502-1D00-686AA077403B}"/>
              </a:ext>
            </a:extLst>
          </p:cNvPr>
          <p:cNvSpPr>
            <a:spLocks xmlns:a="http://schemas.openxmlformats.org/drawingml/2006/main" noGrp="1"/>
          </p:cNvSpPr>
          <p:nvPr/>
        </p:nvSpPr>
        <p:spPr>
          <a:xfrm xmlns:a="http://schemas.openxmlformats.org/drawingml/2006/main">
            <a:off x="6482922" y="2562226"/>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975" b="1">
                <a:solidFill>
                  <a:srgbClr val="39D7FF"/>
                </a:solidFill>
                <a:latin typeface="DejaVu Sans Mono"/>
                <a:ea typeface="DejaVu Sans Mono"/>
                <a:cs typeface="DejaVu Sans Mono"/>
              </a:defRPr>
            </a:pPr>
            <a:r>
              <a:rPr sz="975" b="1">
                <a:solidFill>
                  <a:srgbClr val="39D7FF"/>
                </a:solidFill>
                <a:latin typeface="DejaVu Sans Mono"/>
                <a:ea typeface="DejaVu Sans Mono"/>
                <a:cs typeface="DejaVu Sans Mono"/>
              </a:rPr>
              <a:t>APPROVED </a:t>
            </a:r>
            <a:r>
              <a:rPr sz="975" b="1">
                <a:solidFill>
                  <a:srgbClr val="39D7FF"/>
                </a:solidFill>
                <a:latin typeface="DejaVu Sans Mono"/>
                <a:ea typeface="DejaVu Sans Mono"/>
                <a:cs typeface="DejaVu Sans Mono"/>
              </a:rPr>
              <a:t>DESIGN</a:t>
            </a:r>
            <a:r>
              <a:rPr sz="975" b="1">
                <a:solidFill>
                  <a:srgbClr val="39D7FF"/>
                </a:solidFill>
                <a:latin typeface="DejaVu Sans Mono"/>
                <a:ea typeface="DejaVu Sans Mono"/>
                <a:cs typeface="DejaVu Sans Mono"/>
              </a:rPr>
              <a:t> →</a:t>
            </a:r>
          </a:p>
        </p:txBody>
      </p:sp>
      <p:sp>
        <p:nvSpPr>
          <p:cNvPr id="22" name="Rectangle: Rounded Corners 21">
            <a:extLst xmlns:a="http://schemas.openxmlformats.org/drawingml/2006/main">
              <a:ext uri="{FF2B5EF4-FFF2-40B4-BE49-F238E27FC236}">
                <a16:creationId xmlns:a16="http://schemas.microsoft.com/office/drawing/2014/main" id="{0DFD3038-1852-5B5F-A2C3-BFD287DD2C54}"/>
              </a:ext>
            </a:extLst>
          </p:cNvPr>
          <p:cNvSpPr>
            <a:spLocks xmlns:a="http://schemas.openxmlformats.org/drawingml/2006/main" noGrp="1"/>
          </p:cNvSpPr>
          <p:nvPr/>
        </p:nvSpPr>
        <p:spPr>
          <a:xfrm xmlns:a="http://schemas.openxmlformats.org/drawingml/2006/main">
            <a:off x="1330616" y="4591050"/>
            <a:ext cx="4191000" cy="590550"/>
          </a:xfrm>
          <a:prstGeom xmlns:a="http://schemas.openxmlformats.org/drawingml/2006/main" prst="roundRect">
            <a:avLst>
              <a:gd name="adj" fmla="val 25806"/>
            </a:avLst>
          </a:prstGeom>
          <a:solidFill xmlns:a="http://schemas.openxmlformats.org/drawingml/2006/main">
            <a:srgbClr val="101A17"/>
          </a:solidFill>
          <a:ln xmlns:a="http://schemas.openxmlformats.org/drawingml/2006/main" w="14288">
            <a:solidFill>
              <a:srgbClr val="62D6A7"/>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275" b="1">
                <a:solidFill>
                  <a:srgbClr val="62D6A7"/>
                </a:solidFill>
                <a:latin typeface="DejaVu Sans Mono"/>
                <a:ea typeface="DejaVu Sans Mono"/>
                <a:cs typeface="DejaVu Sans Mono"/>
              </a:defRPr>
            </a:pPr>
            <a:r>
              <a:rPr sz="1275" b="1">
                <a:solidFill>
                  <a:srgbClr val="62D6A7"/>
                </a:solidFill>
                <a:latin typeface="DejaVu Sans Mono"/>
                <a:ea typeface="DejaVu Sans Mono"/>
                <a:cs typeface="DejaVu Sans Mono"/>
              </a:rPr>
              <a:t>RESEARCH TO UNDERSTAND</a:t>
            </a:r>
            <a:r>
              <a:rPr sz="1275" b="1">
                <a:solidFill>
                  <a:srgbClr val="62D6A7"/>
                </a:solidFill>
                <a:latin typeface="DejaVu Sans Mono"/>
                <a:ea typeface="DejaVu Sans Mono"/>
                <a:cs typeface="DejaVu Sans Mono"/>
              </a:rPr>
              <a:t>  •  </a:t>
            </a:r>
            <a:r>
              <a:rPr sz="1275" b="1">
                <a:solidFill>
                  <a:srgbClr val="62D6A7"/>
                </a:solidFill>
                <a:latin typeface="DejaVu Sans Mono"/>
                <a:ea typeface="DejaVu Sans Mono"/>
                <a:cs typeface="DejaVu Sans Mono"/>
              </a:rPr>
              <a:t>APPLY UNDERSTANDING TO DESIGN</a:t>
            </a:r>
            <a:endParaRPr sz="1275" b="1">
              <a:solidFill>
                <a:srgbClr val="62D6A7"/>
              </a:solidFill>
              <a:latin typeface="DejaVu Sans Mono"/>
              <a:ea typeface="DejaVu Sans Mono"/>
              <a:cs typeface="DejaVu Sans Mono"/>
            </a:endParaRPr>
          </a:p>
        </p:txBody>
      </p:sp>
      <p:sp>
        <p:nvSpPr>
          <p:cNvPr id="23" name="Oval 22">
            <a:extLst xmlns:a="http://schemas.openxmlformats.org/drawingml/2006/main">
              <a:ext uri="{FF2B5EF4-FFF2-40B4-BE49-F238E27FC236}">
                <a16:creationId xmlns:a16="http://schemas.microsoft.com/office/drawing/2014/main" id="{64C8A99E-A47E-74A3-49C9-6A50844F48C7}"/>
              </a:ext>
            </a:extLst>
          </p:cNvPr>
          <p:cNvSpPr>
            <a:spLocks xmlns:a="http://schemas.openxmlformats.org/drawingml/2006/main" noGrp="1"/>
          </p:cNvSpPr>
          <p:nvPr/>
        </p:nvSpPr>
        <p:spPr>
          <a:xfrm xmlns:a="http://schemas.openxmlformats.org/drawingml/2006/main">
            <a:off x="687597" y="2409262"/>
            <a:ext cx="2190750" cy="1619250"/>
          </a:xfrm>
          <a:prstGeom xmlns:a="http://schemas.openxmlformats.org/drawingml/2006/main" prst="ellipse">
            <a:avLst/>
          </a:prstGeom>
          <a:gradFill xmlns:a="http://schemas.openxmlformats.org/drawingml/2006/main">
            <a:gsLst>
              <a:gs pos="0">
                <a:srgbClr val="15303A"/>
              </a:gs>
              <a:gs pos="100000">
                <a:srgbClr val="0B1115"/>
              </a:gs>
            </a:gsLst>
            <a:path path="shape"/>
          </a:gradFill>
          <a:ln xmlns:a="http://schemas.openxmlformats.org/drawingml/2006/main" w="14288">
            <a:solidFill>
              <a:srgbClr val="39D7FF"/>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350" b="1">
                <a:solidFill>
                  <a:srgbClr val="39D7FF"/>
                </a:solidFill>
                <a:latin typeface="DejaVu Sans"/>
                <a:ea typeface="DejaVu Sans"/>
                <a:cs typeface="DejaVu Sans"/>
              </a:defRPr>
            </a:pPr>
            <a:r>
              <a:rPr sz="1350" b="1">
                <a:solidFill>
                  <a:srgbClr val="39D7FF"/>
                </a:solidFill>
                <a:latin typeface="DejaVu Sans"/>
                <a:ea typeface="DejaVu Sans"/>
                <a:cs typeface="DejaVu Sans"/>
              </a:rPr>
              <a:t>HYPATIA PRO</a:t>
            </a:r>
          </a:p>
          <a:p xmlns:a="http://schemas.openxmlformats.org/drawingml/2006/main">
            <a:pPr algn="ctr">
              <a:lnSpc>
                <a:spcPct val="90000"/>
              </a:lnSpc>
              <a:buNone/>
              <a:defRPr sz="1350" b="1">
                <a:solidFill>
                  <a:srgbClr val="39D7FF"/>
                </a:solidFill>
                <a:latin typeface="DejaVu Sans"/>
                <a:ea typeface="DejaVu Sans"/>
                <a:cs typeface="DejaVu Sans"/>
              </a:defRPr>
            </a:pPr>
            <a:r>
              <a:rPr sz="1350" b="1">
                <a:solidFill>
                  <a:srgbClr val="39D7FF"/>
                </a:solidFill>
                <a:latin typeface="DejaVu Sans"/>
                <a:ea typeface="DejaVu Sans"/>
                <a:cs typeface="DejaVu Sans"/>
              </a:rPr>
              <a:t>SCIENCE</a:t>
            </a:r>
          </a:p>
          <a:p xmlns:a="http://schemas.openxmlformats.org/drawingml/2006/main">
            <a:pPr algn="ctr">
              <a:lnSpc>
                <a:spcPct val="90000"/>
              </a:lnSpc>
              <a:buNone/>
              <a:defRPr sz="1350" b="1">
                <a:solidFill>
                  <a:srgbClr val="39D7FF"/>
                </a:solidFill>
                <a:latin typeface="DejaVu Sans"/>
                <a:ea typeface="DejaVu Sans"/>
                <a:cs typeface="DejaVu Sans"/>
              </a:defRPr>
            </a:pPr>
            <a:r>
              <a:rPr sz="1350" b="1">
                <a:solidFill>
                  <a:srgbClr val="39D7FF"/>
                </a:solidFill>
                <a:latin typeface="DejaVu Sans"/>
                <a:ea typeface="DejaVu Sans"/>
                <a:cs typeface="DejaVu Sans"/>
              </a:rPr>
              <a:t>HARNESS</a:t>
            </a:r>
          </a:p>
        </p:txBody>
      </p:sp>
      <p:sp>
        <p:nvSpPr>
          <p:cNvPr id="24" name="Oval 23">
            <a:extLst xmlns:a="http://schemas.openxmlformats.org/drawingml/2006/main">
              <a:ext uri="{FF2B5EF4-FFF2-40B4-BE49-F238E27FC236}">
                <a16:creationId xmlns:a16="http://schemas.microsoft.com/office/drawing/2014/main" id="{960812A6-808E-ECD8-7131-345827678E30}"/>
              </a:ext>
            </a:extLst>
          </p:cNvPr>
          <p:cNvSpPr>
            <a:spLocks xmlns:a="http://schemas.openxmlformats.org/drawingml/2006/main" noGrp="1"/>
          </p:cNvSpPr>
          <p:nvPr/>
        </p:nvSpPr>
        <p:spPr>
          <a:xfrm xmlns:a="http://schemas.openxmlformats.org/drawingml/2006/main">
            <a:off x="4755442" y="2457451"/>
            <a:ext cx="2190750" cy="1619250"/>
          </a:xfrm>
          <a:prstGeom xmlns:a="http://schemas.openxmlformats.org/drawingml/2006/main" prst="ellipse">
            <a:avLst/>
          </a:prstGeom>
          <a:gradFill xmlns:a="http://schemas.openxmlformats.org/drawingml/2006/main">
            <a:gsLst>
              <a:gs pos="0">
                <a:srgbClr val="342014"/>
              </a:gs>
              <a:gs pos="100000">
                <a:srgbClr val="120D0A"/>
              </a:gs>
            </a:gsLst>
            <a:path path="shape"/>
          </a:gradFill>
          <a:ln xmlns:a="http://schemas.openxmlformats.org/drawingml/2006/main" w="14288">
            <a:solidFill>
              <a:srgbClr val="F26B38"/>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350" b="1">
                <a:solidFill>
                  <a:srgbClr val="F26B38"/>
                </a:solidFill>
                <a:latin typeface="DejaVu Sans"/>
                <a:ea typeface="DejaVu Sans"/>
                <a:cs typeface="DejaVu Sans"/>
              </a:defRPr>
            </a:pPr>
            <a:r>
              <a:rPr sz="1350" b="1">
                <a:solidFill>
                  <a:srgbClr val="F26B38"/>
                </a:solidFill>
                <a:latin typeface="DejaVu Sans"/>
                <a:ea typeface="DejaVu Sans"/>
                <a:cs typeface="DejaVu Sans"/>
              </a:rPr>
              <a:t>INTELLIGENT</a:t>
            </a:r>
          </a:p>
          <a:p xmlns:a="http://schemas.openxmlformats.org/drawingml/2006/main">
            <a:pPr algn="ctr">
              <a:lnSpc>
                <a:spcPct val="90000"/>
              </a:lnSpc>
              <a:buNone/>
              <a:defRPr sz="1350" b="1">
                <a:solidFill>
                  <a:srgbClr val="F26B38"/>
                </a:solidFill>
                <a:latin typeface="DejaVu Sans"/>
                <a:ea typeface="DejaVu Sans"/>
                <a:cs typeface="DejaVu Sans"/>
              </a:defRPr>
            </a:pPr>
            <a:r>
              <a:rPr sz="1350" b="1">
                <a:solidFill>
                  <a:srgbClr val="F26B38"/>
                </a:solidFill>
                <a:latin typeface="DejaVu Sans"/>
                <a:ea typeface="DejaVu Sans"/>
                <a:cs typeface="DejaVu Sans"/>
              </a:rPr>
              <a:t>ENGINEER</a:t>
            </a:r>
          </a:p>
          <a:p xmlns:a="http://schemas.openxmlformats.org/drawingml/2006/main">
            <a:pPr algn="ctr">
              <a:lnSpc>
                <a:spcPct val="90000"/>
              </a:lnSpc>
              <a:buNone/>
              <a:defRPr sz="1350" b="1">
                <a:solidFill>
                  <a:srgbClr val="39D7FF"/>
                </a:solidFill>
                <a:latin typeface="DejaVu Sans"/>
                <a:ea typeface="DejaVu Sans"/>
                <a:cs typeface="DejaVu Sans"/>
              </a:defRPr>
            </a:pPr>
            <a:r>
              <a:rPr sz="1350" b="1">
                <a:solidFill>
                  <a:schemeClr val="accent2"/>
                </a:solidFill>
                <a:latin typeface="DejaVu Sans"/>
                <a:ea typeface="DejaVu Sans"/>
                <a:cs typeface="DejaVu Sans"/>
              </a:rPr>
              <a:t>HARNESS</a:t>
            </a:r>
          </a:p>
        </p:txBody>
      </p:sp>
    </p:spTree>
    <p:extLst>
      <p:ext uri="{BB962C8B-B14F-4D97-AF65-F5344CB8AC3E}">
        <p14:creationId xmlns:p14="http://schemas.microsoft.com/office/powerpoint/2010/main" val="868838422"/>
      </p:ext>
    </p:extLst>
  </p:cSld>
</p:sld>
</file>

<file path=ppt/slides/slide6.xml><?xml version="1.0" encoding="utf-8"?>
<p:sld xmlns:p="http://schemas.openxmlformats.org/presentationml/2006/main">
  <p:cSld>
    <p:bg>
      <p:bgPr>
        <a:solidFill xmlns:a="http://schemas.openxmlformats.org/drawingml/2006/main">
          <a:srgbClr val="07090C"/>
        </a:solidFill>
      </p:bgPr>
    </p:bg>
    <p:spTree>
      <p:nvGrpSpPr>
        <p:cNvPr id="1" name=""/>
        <p:cNvGrpSpPr/>
        <p:nvPr/>
      </p:nvGrpSpPr>
      <p:grpSpPr>
        <a:xfrm xmlns:a="http://schemas.openxmlformats.org/drawingml/2006/main"/>
      </p:grpSpPr>
      <p:pic>
        <p:nvPicPr>
          <p:cNvPr id="32" name="Picture 31"/>
          <p:cNvPicPr>
            <a:picLocks xmlns:a="http://schemas.openxmlformats.org/drawingml/2006/main" noChangeAspect="1"/>
          </p:cNvPicPr>
          <p:nvPr/>
        </p:nvPicPr>
        <p:blipFill>
          <a:blip xmlns:r="http://schemas.openxmlformats.org/officeDocument/2006/relationships" xmlns:a="http://schemas.openxmlformats.org/drawingml/2006/main" r:embed="R525674882b4f49d8"/>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Rectangle 1">
            <a:extLst xmlns:a="http://schemas.openxmlformats.org/drawingml/2006/main">
              <a:ext uri="{FF2B5EF4-FFF2-40B4-BE49-F238E27FC236}">
                <a16:creationId xmlns:a16="http://schemas.microsoft.com/office/drawing/2014/main" id="{EADC8F3A-3860-448A-B7A5-4368C4E22B58}"/>
              </a:ext>
            </a:extLst>
          </p:cNvPr>
          <p:cNvSpPr>
            <a:spLocks xmlns:a="http://schemas.openxmlformats.org/drawingml/2006/main" noGrp="1"/>
          </p:cNvSpPr>
          <p:nvPr/>
        </p:nvSpPr>
        <p:spPr>
          <a:xfrm xmlns:a="http://schemas.openxmlformats.org/drawingml/2006/main">
            <a:off x="0" y="0"/>
            <a:ext cx="7239000" cy="6858000"/>
          </a:xfrm>
          <a:prstGeom xmlns:a="http://schemas.openxmlformats.org/drawingml/2006/main" prst="rect">
            <a:avLst/>
          </a:prstGeom>
          <a:gradFill xmlns:a="http://schemas.openxmlformats.org/drawingml/2006/main">
            <a:gsLst>
              <a:gs pos="0">
                <a:srgbClr val="07090C"/>
              </a:gs>
              <a:gs pos="68000">
                <a:srgbClr val="07090C">
                  <a:alpha val="98000"/>
                </a:srgbClr>
              </a:gs>
              <a:gs pos="100000">
                <a:srgbClr val="07090C">
                  <a:alpha val="0"/>
                </a:srgbClr>
              </a:gs>
            </a:gsLst>
            <a:lin ang="0"/>
          </a:gra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 name="Rectangle 2">
            <a:extLst xmlns:a="http://schemas.openxmlformats.org/drawingml/2006/main">
              <a:ext uri="{FF2B5EF4-FFF2-40B4-BE49-F238E27FC236}">
                <a16:creationId xmlns:a16="http://schemas.microsoft.com/office/drawing/2014/main" id="{AA46B219-0EA7-43DB-A418-0F066D317280}"/>
              </a:ext>
            </a:extLst>
          </p:cNvPr>
          <p:cNvSpPr>
            <a:spLocks xmlns:a="http://schemas.openxmlformats.org/drawingml/2006/main" noGrp="1"/>
          </p:cNvSpPr>
          <p:nvPr/>
        </p:nvSpPr>
        <p:spPr>
          <a:xfrm xmlns:a="http://schemas.openxmlformats.org/drawingml/2006/main">
            <a:off x="609600" y="34290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75" b="1">
                <a:solidFill>
                  <a:srgbClr val="F26B38"/>
                </a:solidFill>
                <a:latin typeface="DejaVu Sans Mono"/>
                <a:ea typeface="DejaVu Sans Mono"/>
                <a:cs typeface="DejaVu Sans Mono"/>
              </a:defRPr>
            </a:pPr>
            <a:r>
              <a:rPr sz="975" b="1">
                <a:solidFill>
                  <a:srgbClr val="F26B38"/>
                </a:solidFill>
                <a:latin typeface="DejaVu Sans Mono"/>
                <a:ea typeface="DejaVu Sans Mono"/>
                <a:cs typeface="DejaVu Sans Mono"/>
              </a:rPr>
              <a:t>06  /  SCIENCE HARNESS</a:t>
            </a:r>
          </a:p>
        </p:txBody>
      </p:sp>
      <p:sp>
        <p:nvSpPr>
          <p:cNvPr id="4" name="Rectangle 3">
            <a:extLst xmlns:a="http://schemas.openxmlformats.org/drawingml/2006/main">
              <a:ext uri="{FF2B5EF4-FFF2-40B4-BE49-F238E27FC236}">
                <a16:creationId xmlns:a16="http://schemas.microsoft.com/office/drawing/2014/main" id="{2231CB85-FDF0-43B5-86D2-B4C30CCB4D20}"/>
              </a:ext>
            </a:extLst>
          </p:cNvPr>
          <p:cNvSpPr>
            <a:spLocks xmlns:a="http://schemas.openxmlformats.org/drawingml/2006/main" noGrp="1"/>
          </p:cNvSpPr>
          <p:nvPr/>
        </p:nvSpPr>
        <p:spPr>
          <a:xfrm xmlns:a="http://schemas.openxmlformats.org/drawingml/2006/main">
            <a:off x="609600" y="704850"/>
            <a:ext cx="6858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2000"/>
              </a:lnSpc>
              <a:buNone/>
              <a:defRPr sz="3000" b="1">
                <a:solidFill>
                  <a:srgbClr val="F4F6F8"/>
                </a:solidFill>
                <a:latin typeface="DejaVu Sans"/>
                <a:ea typeface="DejaVu Sans"/>
                <a:cs typeface="DejaVu Sans"/>
              </a:defRPr>
            </a:pPr>
            <a:r>
              <a:rPr sz="3000" b="1">
                <a:solidFill>
                  <a:srgbClr val="F4F6F8"/>
                </a:solidFill>
                <a:latin typeface="DejaVu Sans"/>
                <a:ea typeface="DejaVu Sans"/>
                <a:cs typeface="DejaVu Sans"/>
              </a:rPr>
              <a:t>Hypatia turns curiosity into defensible science</a:t>
            </a:r>
          </a:p>
        </p:txBody>
      </p:sp>
      <p:sp>
        <p:nvSpPr>
          <p:cNvPr id="5" name="Rectangle 4">
            <a:extLst xmlns:a="http://schemas.openxmlformats.org/drawingml/2006/main">
              <a:ext uri="{FF2B5EF4-FFF2-40B4-BE49-F238E27FC236}">
                <a16:creationId xmlns:a16="http://schemas.microsoft.com/office/drawing/2014/main" id="{FB2ADB63-C9AA-466A-89F2-8048865D2C4F}"/>
              </a:ext>
            </a:extLst>
          </p:cNvPr>
          <p:cNvSpPr>
            <a:spLocks xmlns:a="http://schemas.openxmlformats.org/drawingml/2006/main" noGrp="1"/>
          </p:cNvSpPr>
          <p:nvPr/>
        </p:nvSpPr>
        <p:spPr>
          <a:xfrm xmlns:a="http://schemas.openxmlformats.org/drawingml/2006/main">
            <a:off x="628650" y="1619250"/>
            <a:ext cx="5905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500" b="0">
                <a:solidFill>
                  <a:srgbClr val="D8DEE3"/>
                </a:solidFill>
                <a:latin typeface="DejaVu Sans"/>
                <a:ea typeface="DejaVu Sans"/>
                <a:cs typeface="DejaVu Sans"/>
              </a:defRPr>
            </a:pPr>
            <a:r>
              <a:rPr sz="1500" b="0">
                <a:solidFill>
                  <a:srgbClr val="D8DEE3"/>
                </a:solidFill>
                <a:latin typeface="DejaVu Sans"/>
                <a:ea typeface="DejaVu Sans"/>
                <a:cs typeface="DejaVu Sans"/>
              </a:rPr>
              <a:t>Falsifiable questions. Explicit variables. Classified evidence. Adversarial attack.</a:t>
            </a:r>
            <a:r>
              <a:rPr sz="1500" b="0">
                <a:solidFill>
                  <a:srgbClr val="D8DEE3"/>
                </a:solidFill>
                <a:latin typeface="DejaVu Sans"/>
                <a:ea typeface="DejaVu Sans"/>
                <a:cs typeface="DejaVu Sans"/>
              </a:rPr>
              <a:t>  Automated Science with Human in the loop</a:t>
            </a:r>
            <a:endParaRPr sz="1500" b="0">
              <a:solidFill>
                <a:srgbClr val="D8DEE3"/>
              </a:solidFill>
              <a:latin typeface="DejaVu Sans"/>
              <a:ea typeface="DejaVu Sans"/>
              <a:cs typeface="DejaVu Sans"/>
            </a:endParaRPr>
          </a:p>
        </p:txBody>
      </p:sp>
      <p:sp>
        <p:nvSpPr>
          <p:cNvPr id="6" name="Rectangle 5">
            <a:extLst xmlns:a="http://schemas.openxmlformats.org/drawingml/2006/main">
              <a:ext uri="{FF2B5EF4-FFF2-40B4-BE49-F238E27FC236}">
                <a16:creationId xmlns:a16="http://schemas.microsoft.com/office/drawing/2014/main" id="{F411F1A7-65F2-4F26-9E03-E987112065F4}"/>
              </a:ext>
            </a:extLst>
          </p:cNvPr>
          <p:cNvSpPr>
            <a:spLocks xmlns:a="http://schemas.openxmlformats.org/drawingml/2006/main" noGrp="1"/>
          </p:cNvSpPr>
          <p:nvPr/>
        </p:nvSpPr>
        <p:spPr>
          <a:xfrm xmlns:a="http://schemas.openxmlformats.org/drawingml/2006/main">
            <a:off x="933450" y="2723634"/>
            <a:ext cx="38100" cy="2724150"/>
          </a:xfrm>
          <a:prstGeom xmlns:a="http://schemas.openxmlformats.org/drawingml/2006/main" prst="rect">
            <a:avLst/>
          </a:prstGeom>
          <a:solidFill xmlns:a="http://schemas.openxmlformats.org/drawingml/2006/main">
            <a:srgbClr val="35414B"/>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7" name="Oval 6">
            <a:extLst xmlns:a="http://schemas.openxmlformats.org/drawingml/2006/main">
              <a:ext uri="{FF2B5EF4-FFF2-40B4-BE49-F238E27FC236}">
                <a16:creationId xmlns:a16="http://schemas.microsoft.com/office/drawing/2014/main" id="{498AB3D8-F0DC-4DD6-AE0A-174EF5527254}"/>
              </a:ext>
            </a:extLst>
          </p:cNvPr>
          <p:cNvSpPr>
            <a:spLocks xmlns:a="http://schemas.openxmlformats.org/drawingml/2006/main" noGrp="1"/>
          </p:cNvSpPr>
          <p:nvPr/>
        </p:nvSpPr>
        <p:spPr>
          <a:xfrm xmlns:a="http://schemas.openxmlformats.org/drawingml/2006/main">
            <a:off x="876300" y="2695059"/>
            <a:ext cx="152400" cy="152400"/>
          </a:xfrm>
          <a:prstGeom xmlns:a="http://schemas.openxmlformats.org/drawingml/2006/main" prst="ellipse">
            <a:avLst/>
          </a:prstGeom>
          <a:solidFill xmlns:a="http://schemas.openxmlformats.org/drawingml/2006/main">
            <a:srgbClr val="39D7FF"/>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8" name="Rectangle 7">
            <a:extLst xmlns:a="http://schemas.openxmlformats.org/drawingml/2006/main">
              <a:ext uri="{FF2B5EF4-FFF2-40B4-BE49-F238E27FC236}">
                <a16:creationId xmlns:a16="http://schemas.microsoft.com/office/drawing/2014/main" id="{C258CC81-D9C7-489C-993C-783314797513}"/>
              </a:ext>
            </a:extLst>
          </p:cNvPr>
          <p:cNvSpPr>
            <a:spLocks xmlns:a="http://schemas.openxmlformats.org/drawingml/2006/main" noGrp="1"/>
          </p:cNvSpPr>
          <p:nvPr/>
        </p:nvSpPr>
        <p:spPr>
          <a:xfrm xmlns:a="http://schemas.openxmlformats.org/drawingml/2006/main">
            <a:off x="1219200" y="2694083"/>
            <a:ext cx="1390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125" b="1">
                <a:solidFill>
                  <a:srgbClr val="39D7FF"/>
                </a:solidFill>
                <a:latin typeface="DejaVu Sans Mono"/>
                <a:ea typeface="DejaVu Sans Mono"/>
                <a:cs typeface="DejaVu Sans Mono"/>
              </a:defRPr>
            </a:pPr>
            <a:r>
              <a:rPr sz="1125" b="1">
                <a:solidFill>
                  <a:srgbClr val="39D7FF"/>
                </a:solidFill>
                <a:latin typeface="DejaVu Sans Mono"/>
                <a:ea typeface="DejaVu Sans Mono"/>
                <a:cs typeface="DejaVu Sans Mono"/>
              </a:rPr>
              <a:t>REFINE</a:t>
            </a:r>
          </a:p>
        </p:txBody>
      </p:sp>
      <p:sp>
        <p:nvSpPr>
          <p:cNvPr id="9" name="Rectangle 8">
            <a:extLst xmlns:a="http://schemas.openxmlformats.org/drawingml/2006/main">
              <a:ext uri="{FF2B5EF4-FFF2-40B4-BE49-F238E27FC236}">
                <a16:creationId xmlns:a16="http://schemas.microsoft.com/office/drawing/2014/main" id="{AC5D0877-D818-451C-9257-6497BBA09BD0}"/>
              </a:ext>
            </a:extLst>
          </p:cNvPr>
          <p:cNvSpPr>
            <a:spLocks xmlns:a="http://schemas.openxmlformats.org/drawingml/2006/main" noGrp="1"/>
          </p:cNvSpPr>
          <p:nvPr/>
        </p:nvSpPr>
        <p:spPr>
          <a:xfrm xmlns:a="http://schemas.openxmlformats.org/drawingml/2006/main">
            <a:off x="2609850" y="2694083"/>
            <a:ext cx="27241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275" b="0">
                <a:solidFill>
                  <a:srgbClr val="D8DEE3"/>
                </a:solidFill>
                <a:latin typeface="DejaVu Sans"/>
                <a:ea typeface="DejaVu Sans"/>
                <a:cs typeface="DejaVu Sans"/>
              </a:defRPr>
            </a:pPr>
            <a:r>
              <a:rPr sz="1275" b="0">
                <a:solidFill>
                  <a:srgbClr val="D8DEE3"/>
                </a:solidFill>
                <a:latin typeface="DejaVu Sans"/>
                <a:ea typeface="DejaVu Sans"/>
                <a:cs typeface="DejaVu Sans"/>
              </a:rPr>
              <a:t>research question</a:t>
            </a:r>
          </a:p>
        </p:txBody>
      </p:sp>
      <p:sp>
        <p:nvSpPr>
          <p:cNvPr id="10" name="Oval 9">
            <a:extLst xmlns:a="http://schemas.openxmlformats.org/drawingml/2006/main">
              <a:ext uri="{FF2B5EF4-FFF2-40B4-BE49-F238E27FC236}">
                <a16:creationId xmlns:a16="http://schemas.microsoft.com/office/drawing/2014/main" id="{D8C8BB3E-5D6A-4DC8-B4A3-E75ADA725DF4}"/>
              </a:ext>
            </a:extLst>
          </p:cNvPr>
          <p:cNvSpPr>
            <a:spLocks xmlns:a="http://schemas.openxmlformats.org/drawingml/2006/main" noGrp="1"/>
          </p:cNvSpPr>
          <p:nvPr/>
        </p:nvSpPr>
        <p:spPr>
          <a:xfrm xmlns:a="http://schemas.openxmlformats.org/drawingml/2006/main">
            <a:off x="876300" y="3190359"/>
            <a:ext cx="152400" cy="152400"/>
          </a:xfrm>
          <a:prstGeom xmlns:a="http://schemas.openxmlformats.org/drawingml/2006/main" prst="ellipse">
            <a:avLst/>
          </a:prstGeom>
          <a:solidFill xmlns:a="http://schemas.openxmlformats.org/drawingml/2006/main">
            <a:srgbClr val="39D7FF"/>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1" name="Rectangle 10">
            <a:extLst xmlns:a="http://schemas.openxmlformats.org/drawingml/2006/main">
              <a:ext uri="{FF2B5EF4-FFF2-40B4-BE49-F238E27FC236}">
                <a16:creationId xmlns:a16="http://schemas.microsoft.com/office/drawing/2014/main" id="{42E3C931-FFE5-45E7-A4A8-555813555B31}"/>
              </a:ext>
            </a:extLst>
          </p:cNvPr>
          <p:cNvSpPr>
            <a:spLocks xmlns:a="http://schemas.openxmlformats.org/drawingml/2006/main" noGrp="1"/>
          </p:cNvSpPr>
          <p:nvPr/>
        </p:nvSpPr>
        <p:spPr>
          <a:xfrm xmlns:a="http://schemas.openxmlformats.org/drawingml/2006/main">
            <a:off x="1219200" y="3189383"/>
            <a:ext cx="1390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125" b="1">
                <a:solidFill>
                  <a:srgbClr val="39D7FF"/>
                </a:solidFill>
                <a:latin typeface="DejaVu Sans Mono"/>
                <a:ea typeface="DejaVu Sans Mono"/>
                <a:cs typeface="DejaVu Sans Mono"/>
              </a:defRPr>
            </a:pPr>
            <a:r>
              <a:rPr sz="1125" b="1">
                <a:solidFill>
                  <a:srgbClr val="39D7FF"/>
                </a:solidFill>
                <a:latin typeface="DejaVu Sans Mono"/>
                <a:ea typeface="DejaVu Sans Mono"/>
                <a:cs typeface="DejaVu Sans Mono"/>
              </a:rPr>
              <a:t>GROUND</a:t>
            </a:r>
          </a:p>
        </p:txBody>
      </p:sp>
      <p:sp>
        <p:nvSpPr>
          <p:cNvPr id="12" name="Rectangle 11">
            <a:extLst xmlns:a="http://schemas.openxmlformats.org/drawingml/2006/main">
              <a:ext uri="{FF2B5EF4-FFF2-40B4-BE49-F238E27FC236}">
                <a16:creationId xmlns:a16="http://schemas.microsoft.com/office/drawing/2014/main" id="{A2747B49-7A5A-499D-8D0E-D416FA6FD39C}"/>
              </a:ext>
            </a:extLst>
          </p:cNvPr>
          <p:cNvSpPr>
            <a:spLocks xmlns:a="http://schemas.openxmlformats.org/drawingml/2006/main" noGrp="1"/>
          </p:cNvSpPr>
          <p:nvPr/>
        </p:nvSpPr>
        <p:spPr>
          <a:xfrm xmlns:a="http://schemas.openxmlformats.org/drawingml/2006/main">
            <a:off x="2609850" y="3189383"/>
            <a:ext cx="27241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275" b="0">
                <a:solidFill>
                  <a:srgbClr val="D8DEE3"/>
                </a:solidFill>
                <a:latin typeface="DejaVu Sans"/>
                <a:ea typeface="DejaVu Sans"/>
                <a:cs typeface="DejaVu Sans"/>
              </a:defRPr>
            </a:pPr>
            <a:r>
              <a:rPr sz="1275" b="0">
                <a:solidFill>
                  <a:srgbClr val="D8DEE3"/>
                </a:solidFill>
                <a:latin typeface="DejaVu Sans"/>
                <a:ea typeface="DejaVu Sans"/>
                <a:cs typeface="DejaVu Sans"/>
              </a:rPr>
              <a:t>literature + data</a:t>
            </a:r>
          </a:p>
        </p:txBody>
      </p:sp>
      <p:sp>
        <p:nvSpPr>
          <p:cNvPr id="13" name="Oval 12">
            <a:extLst xmlns:a="http://schemas.openxmlformats.org/drawingml/2006/main">
              <a:ext uri="{FF2B5EF4-FFF2-40B4-BE49-F238E27FC236}">
                <a16:creationId xmlns:a16="http://schemas.microsoft.com/office/drawing/2014/main" id="{CCDE3F0B-19B2-4563-8016-F90EA21371B7}"/>
              </a:ext>
            </a:extLst>
          </p:cNvPr>
          <p:cNvSpPr>
            <a:spLocks xmlns:a="http://schemas.openxmlformats.org/drawingml/2006/main" noGrp="1"/>
          </p:cNvSpPr>
          <p:nvPr/>
        </p:nvSpPr>
        <p:spPr>
          <a:xfrm xmlns:a="http://schemas.openxmlformats.org/drawingml/2006/main">
            <a:off x="876300" y="3685659"/>
            <a:ext cx="152400" cy="152400"/>
          </a:xfrm>
          <a:prstGeom xmlns:a="http://schemas.openxmlformats.org/drawingml/2006/main" prst="ellipse">
            <a:avLst/>
          </a:prstGeom>
          <a:solidFill xmlns:a="http://schemas.openxmlformats.org/drawingml/2006/main">
            <a:srgbClr val="F26B38"/>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4" name="Rectangle 13">
            <a:extLst xmlns:a="http://schemas.openxmlformats.org/drawingml/2006/main">
              <a:ext uri="{FF2B5EF4-FFF2-40B4-BE49-F238E27FC236}">
                <a16:creationId xmlns:a16="http://schemas.microsoft.com/office/drawing/2014/main" id="{B958A271-1B70-4CB6-8583-70076FC8DE4D}"/>
              </a:ext>
            </a:extLst>
          </p:cNvPr>
          <p:cNvSpPr>
            <a:spLocks xmlns:a="http://schemas.openxmlformats.org/drawingml/2006/main" noGrp="1"/>
          </p:cNvSpPr>
          <p:nvPr/>
        </p:nvSpPr>
        <p:spPr>
          <a:xfrm xmlns:a="http://schemas.openxmlformats.org/drawingml/2006/main">
            <a:off x="1219200" y="3684683"/>
            <a:ext cx="1390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125" b="1">
                <a:solidFill>
                  <a:srgbClr val="F26B38"/>
                </a:solidFill>
                <a:latin typeface="DejaVu Sans Mono"/>
                <a:ea typeface="DejaVu Sans Mono"/>
                <a:cs typeface="DejaVu Sans Mono"/>
              </a:defRPr>
            </a:pPr>
            <a:r>
              <a:rPr sz="1125" b="1">
                <a:solidFill>
                  <a:srgbClr val="F26B38"/>
                </a:solidFill>
                <a:latin typeface="DejaVu Sans Mono"/>
                <a:ea typeface="DejaVu Sans Mono"/>
                <a:cs typeface="DejaVu Sans Mono"/>
              </a:rPr>
              <a:t>PREDICT</a:t>
            </a:r>
          </a:p>
        </p:txBody>
      </p:sp>
      <p:sp>
        <p:nvSpPr>
          <p:cNvPr id="15" name="Rectangle 14">
            <a:extLst xmlns:a="http://schemas.openxmlformats.org/drawingml/2006/main">
              <a:ext uri="{FF2B5EF4-FFF2-40B4-BE49-F238E27FC236}">
                <a16:creationId xmlns:a16="http://schemas.microsoft.com/office/drawing/2014/main" id="{C0BE2987-1972-461D-8535-F83545831AF6}"/>
              </a:ext>
            </a:extLst>
          </p:cNvPr>
          <p:cNvSpPr>
            <a:spLocks xmlns:a="http://schemas.openxmlformats.org/drawingml/2006/main" noGrp="1"/>
          </p:cNvSpPr>
          <p:nvPr/>
        </p:nvSpPr>
        <p:spPr>
          <a:xfrm xmlns:a="http://schemas.openxmlformats.org/drawingml/2006/main">
            <a:off x="2609850" y="3684683"/>
            <a:ext cx="27241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275" b="0">
                <a:solidFill>
                  <a:srgbClr val="D8DEE3"/>
                </a:solidFill>
                <a:latin typeface="DejaVu Sans"/>
                <a:ea typeface="DejaVu Sans"/>
                <a:cs typeface="DejaVu Sans"/>
              </a:defRPr>
            </a:pPr>
            <a:r>
              <a:rPr sz="1275" b="0">
                <a:solidFill>
                  <a:srgbClr val="D8DEE3"/>
                </a:solidFill>
                <a:latin typeface="DejaVu Sans"/>
                <a:ea typeface="DejaVu Sans"/>
                <a:cs typeface="DejaVu Sans"/>
              </a:rPr>
              <a:t>competing hypotheses</a:t>
            </a:r>
          </a:p>
        </p:txBody>
      </p:sp>
      <p:sp>
        <p:nvSpPr>
          <p:cNvPr id="16" name="Oval 15">
            <a:extLst xmlns:a="http://schemas.openxmlformats.org/drawingml/2006/main">
              <a:ext uri="{FF2B5EF4-FFF2-40B4-BE49-F238E27FC236}">
                <a16:creationId xmlns:a16="http://schemas.microsoft.com/office/drawing/2014/main" id="{2D8B2E96-FFE3-4A2B-8F89-4AD0230B855A}"/>
              </a:ext>
            </a:extLst>
          </p:cNvPr>
          <p:cNvSpPr>
            <a:spLocks xmlns:a="http://schemas.openxmlformats.org/drawingml/2006/main" noGrp="1"/>
          </p:cNvSpPr>
          <p:nvPr/>
        </p:nvSpPr>
        <p:spPr>
          <a:xfrm xmlns:a="http://schemas.openxmlformats.org/drawingml/2006/main">
            <a:off x="876300" y="4180959"/>
            <a:ext cx="152400" cy="152400"/>
          </a:xfrm>
          <a:prstGeom xmlns:a="http://schemas.openxmlformats.org/drawingml/2006/main" prst="ellipse">
            <a:avLst/>
          </a:prstGeom>
          <a:solidFill xmlns:a="http://schemas.openxmlformats.org/drawingml/2006/main">
            <a:srgbClr val="62D6A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7" name="Rectangle 16">
            <a:extLst xmlns:a="http://schemas.openxmlformats.org/drawingml/2006/main">
              <a:ext uri="{FF2B5EF4-FFF2-40B4-BE49-F238E27FC236}">
                <a16:creationId xmlns:a16="http://schemas.microsoft.com/office/drawing/2014/main" id="{3A63533E-24F2-4594-A60E-2686B9636FF3}"/>
              </a:ext>
            </a:extLst>
          </p:cNvPr>
          <p:cNvSpPr>
            <a:spLocks xmlns:a="http://schemas.openxmlformats.org/drawingml/2006/main" noGrp="1"/>
          </p:cNvSpPr>
          <p:nvPr/>
        </p:nvSpPr>
        <p:spPr>
          <a:xfrm xmlns:a="http://schemas.openxmlformats.org/drawingml/2006/main">
            <a:off x="1219200" y="4179983"/>
            <a:ext cx="1390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125" b="1">
                <a:solidFill>
                  <a:srgbClr val="62D6A7"/>
                </a:solidFill>
                <a:latin typeface="DejaVu Sans Mono"/>
                <a:ea typeface="DejaVu Sans Mono"/>
                <a:cs typeface="DejaVu Sans Mono"/>
              </a:defRPr>
            </a:pPr>
            <a:r>
              <a:rPr sz="1125" b="1">
                <a:solidFill>
                  <a:srgbClr val="62D6A7"/>
                </a:solidFill>
                <a:latin typeface="DejaVu Sans Mono"/>
                <a:ea typeface="DejaVu Sans Mono"/>
                <a:cs typeface="DejaVu Sans Mono"/>
              </a:rPr>
              <a:t>MEASURE</a:t>
            </a:r>
          </a:p>
        </p:txBody>
      </p:sp>
      <p:sp>
        <p:nvSpPr>
          <p:cNvPr id="18" name="Rectangle 17">
            <a:extLst xmlns:a="http://schemas.openxmlformats.org/drawingml/2006/main">
              <a:ext uri="{FF2B5EF4-FFF2-40B4-BE49-F238E27FC236}">
                <a16:creationId xmlns:a16="http://schemas.microsoft.com/office/drawing/2014/main" id="{A6740FFA-DE32-42A7-9826-CEB8CC6CF840}"/>
              </a:ext>
            </a:extLst>
          </p:cNvPr>
          <p:cNvSpPr>
            <a:spLocks xmlns:a="http://schemas.openxmlformats.org/drawingml/2006/main" noGrp="1"/>
          </p:cNvSpPr>
          <p:nvPr/>
        </p:nvSpPr>
        <p:spPr>
          <a:xfrm xmlns:a="http://schemas.openxmlformats.org/drawingml/2006/main">
            <a:off x="2609850" y="4179983"/>
            <a:ext cx="27241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275" b="0">
                <a:solidFill>
                  <a:srgbClr val="D8DEE3"/>
                </a:solidFill>
                <a:latin typeface="DejaVu Sans"/>
                <a:ea typeface="DejaVu Sans"/>
                <a:cs typeface="DejaVu Sans"/>
              </a:defRPr>
            </a:pPr>
            <a:r>
              <a:rPr sz="1275" b="0">
                <a:solidFill>
                  <a:srgbClr val="D8DEE3"/>
                </a:solidFill>
                <a:latin typeface="DejaVu Sans"/>
                <a:ea typeface="DejaVu Sans"/>
                <a:cs typeface="DejaVu Sans"/>
              </a:rPr>
              <a:t>experiment / simulation</a:t>
            </a:r>
          </a:p>
        </p:txBody>
      </p:sp>
      <p:sp>
        <p:nvSpPr>
          <p:cNvPr id="19" name="Oval 18">
            <a:extLst xmlns:a="http://schemas.openxmlformats.org/drawingml/2006/main">
              <a:ext uri="{FF2B5EF4-FFF2-40B4-BE49-F238E27FC236}">
                <a16:creationId xmlns:a16="http://schemas.microsoft.com/office/drawing/2014/main" id="{692F3FDC-908E-421B-AE65-A9A7D8B6D1F5}"/>
              </a:ext>
            </a:extLst>
          </p:cNvPr>
          <p:cNvSpPr>
            <a:spLocks xmlns:a="http://schemas.openxmlformats.org/drawingml/2006/main" noGrp="1"/>
          </p:cNvSpPr>
          <p:nvPr/>
        </p:nvSpPr>
        <p:spPr>
          <a:xfrm xmlns:a="http://schemas.openxmlformats.org/drawingml/2006/main">
            <a:off x="876300" y="4676259"/>
            <a:ext cx="152400" cy="152400"/>
          </a:xfrm>
          <a:prstGeom xmlns:a="http://schemas.openxmlformats.org/drawingml/2006/main" prst="ellipse">
            <a:avLst/>
          </a:prstGeom>
          <a:solidFill xmlns:a="http://schemas.openxmlformats.org/drawingml/2006/main">
            <a:srgbClr val="FF6262"/>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0" name="Rectangle 19">
            <a:extLst xmlns:a="http://schemas.openxmlformats.org/drawingml/2006/main">
              <a:ext uri="{FF2B5EF4-FFF2-40B4-BE49-F238E27FC236}">
                <a16:creationId xmlns:a16="http://schemas.microsoft.com/office/drawing/2014/main" id="{0BEE2D12-40B4-4CD8-87C4-85FC602C734D}"/>
              </a:ext>
            </a:extLst>
          </p:cNvPr>
          <p:cNvSpPr>
            <a:spLocks xmlns:a="http://schemas.openxmlformats.org/drawingml/2006/main" noGrp="1"/>
          </p:cNvSpPr>
          <p:nvPr/>
        </p:nvSpPr>
        <p:spPr>
          <a:xfrm xmlns:a="http://schemas.openxmlformats.org/drawingml/2006/main">
            <a:off x="1219200" y="4675283"/>
            <a:ext cx="1390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125" b="1">
                <a:solidFill>
                  <a:srgbClr val="FF6262"/>
                </a:solidFill>
                <a:latin typeface="DejaVu Sans Mono"/>
                <a:ea typeface="DejaVu Sans Mono"/>
                <a:cs typeface="DejaVu Sans Mono"/>
              </a:defRPr>
            </a:pPr>
            <a:r>
              <a:rPr sz="1125" b="1">
                <a:solidFill>
                  <a:srgbClr val="FF6262"/>
                </a:solidFill>
                <a:latin typeface="DejaVu Sans Mono"/>
                <a:ea typeface="DejaVu Sans Mono"/>
                <a:cs typeface="DejaVu Sans Mono"/>
              </a:rPr>
              <a:t>ATTACK</a:t>
            </a:r>
          </a:p>
        </p:txBody>
      </p:sp>
      <p:sp>
        <p:nvSpPr>
          <p:cNvPr id="21" name="Rectangle 20">
            <a:extLst xmlns:a="http://schemas.openxmlformats.org/drawingml/2006/main">
              <a:ext uri="{FF2B5EF4-FFF2-40B4-BE49-F238E27FC236}">
                <a16:creationId xmlns:a16="http://schemas.microsoft.com/office/drawing/2014/main" id="{79FD60EE-BB1C-4993-8E41-A46EC274CE93}"/>
              </a:ext>
            </a:extLst>
          </p:cNvPr>
          <p:cNvSpPr>
            <a:spLocks xmlns:a="http://schemas.openxmlformats.org/drawingml/2006/main" noGrp="1"/>
          </p:cNvSpPr>
          <p:nvPr/>
        </p:nvSpPr>
        <p:spPr>
          <a:xfrm xmlns:a="http://schemas.openxmlformats.org/drawingml/2006/main">
            <a:off x="2609850" y="4675283"/>
            <a:ext cx="27241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275" b="0">
                <a:solidFill>
                  <a:srgbClr val="D8DEE3"/>
                </a:solidFill>
                <a:latin typeface="DejaVu Sans"/>
                <a:ea typeface="DejaVu Sans"/>
                <a:cs typeface="DejaVu Sans"/>
              </a:defRPr>
            </a:pPr>
            <a:r>
              <a:rPr sz="1275" b="0">
                <a:solidFill>
                  <a:srgbClr val="D8DEE3"/>
                </a:solidFill>
                <a:latin typeface="DejaVu Sans"/>
                <a:ea typeface="DejaVu Sans"/>
                <a:cs typeface="DejaVu Sans"/>
              </a:rPr>
              <a:t>peer critique + refutation</a:t>
            </a:r>
          </a:p>
        </p:txBody>
      </p:sp>
      <p:sp>
        <p:nvSpPr>
          <p:cNvPr id="22" name="Oval 21">
            <a:extLst xmlns:a="http://schemas.openxmlformats.org/drawingml/2006/main">
              <a:ext uri="{FF2B5EF4-FFF2-40B4-BE49-F238E27FC236}">
                <a16:creationId xmlns:a16="http://schemas.microsoft.com/office/drawing/2014/main" id="{E31875CD-B89C-4A78-84E5-E929A29BEC6A}"/>
              </a:ext>
            </a:extLst>
          </p:cNvPr>
          <p:cNvSpPr>
            <a:spLocks xmlns:a="http://schemas.openxmlformats.org/drawingml/2006/main" noGrp="1"/>
          </p:cNvSpPr>
          <p:nvPr/>
        </p:nvSpPr>
        <p:spPr>
          <a:xfrm xmlns:a="http://schemas.openxmlformats.org/drawingml/2006/main">
            <a:off x="876300" y="5171559"/>
            <a:ext cx="152400" cy="152400"/>
          </a:xfrm>
          <a:prstGeom xmlns:a="http://schemas.openxmlformats.org/drawingml/2006/main" prst="ellipse">
            <a:avLst/>
          </a:prstGeom>
          <a:solidFill xmlns:a="http://schemas.openxmlformats.org/drawingml/2006/main">
            <a:srgbClr val="FFC85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3" name="Rectangle 22">
            <a:extLst xmlns:a="http://schemas.openxmlformats.org/drawingml/2006/main">
              <a:ext uri="{FF2B5EF4-FFF2-40B4-BE49-F238E27FC236}">
                <a16:creationId xmlns:a16="http://schemas.microsoft.com/office/drawing/2014/main" id="{3825B255-9DBB-4087-AD62-B9CD0034D13C}"/>
              </a:ext>
            </a:extLst>
          </p:cNvPr>
          <p:cNvSpPr>
            <a:spLocks xmlns:a="http://schemas.openxmlformats.org/drawingml/2006/main" noGrp="1"/>
          </p:cNvSpPr>
          <p:nvPr/>
        </p:nvSpPr>
        <p:spPr>
          <a:xfrm xmlns:a="http://schemas.openxmlformats.org/drawingml/2006/main">
            <a:off x="1219200" y="5170583"/>
            <a:ext cx="1390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125" b="1">
                <a:solidFill>
                  <a:srgbClr val="FFC857"/>
                </a:solidFill>
                <a:latin typeface="DejaVu Sans Mono"/>
                <a:ea typeface="DejaVu Sans Mono"/>
                <a:cs typeface="DejaVu Sans Mono"/>
              </a:defRPr>
            </a:pPr>
            <a:r>
              <a:rPr sz="1125" b="1">
                <a:solidFill>
                  <a:srgbClr val="FFC857"/>
                </a:solidFill>
                <a:latin typeface="DejaVu Sans Mono"/>
                <a:ea typeface="DejaVu Sans Mono"/>
                <a:cs typeface="DejaVu Sans Mono"/>
              </a:rPr>
              <a:t>SYNTHESIZE</a:t>
            </a:r>
          </a:p>
        </p:txBody>
      </p:sp>
      <p:sp>
        <p:nvSpPr>
          <p:cNvPr id="24" name="Rectangle 23">
            <a:extLst xmlns:a="http://schemas.openxmlformats.org/drawingml/2006/main">
              <a:ext uri="{FF2B5EF4-FFF2-40B4-BE49-F238E27FC236}">
                <a16:creationId xmlns:a16="http://schemas.microsoft.com/office/drawing/2014/main" id="{884DD1B4-949A-4DAC-B60E-2AC84E5095F7}"/>
              </a:ext>
            </a:extLst>
          </p:cNvPr>
          <p:cNvSpPr>
            <a:spLocks xmlns:a="http://schemas.openxmlformats.org/drawingml/2006/main" noGrp="1"/>
          </p:cNvSpPr>
          <p:nvPr/>
        </p:nvSpPr>
        <p:spPr>
          <a:xfrm xmlns:a="http://schemas.openxmlformats.org/drawingml/2006/main">
            <a:off x="2609850" y="5170583"/>
            <a:ext cx="27241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275" b="0">
                <a:solidFill>
                  <a:srgbClr val="D8DEE3"/>
                </a:solidFill>
                <a:latin typeface="DejaVu Sans"/>
                <a:ea typeface="DejaVu Sans"/>
                <a:cs typeface="DejaVu Sans"/>
              </a:defRPr>
            </a:pPr>
            <a:r>
              <a:rPr sz="1275" b="0">
                <a:solidFill>
                  <a:srgbClr val="D8DEE3"/>
                </a:solidFill>
                <a:latin typeface="DejaVu Sans"/>
                <a:ea typeface="DejaVu Sans"/>
                <a:cs typeface="DejaVu Sans"/>
              </a:rPr>
              <a:t>approved result</a:t>
            </a:r>
          </a:p>
        </p:txBody>
      </p:sp>
      <p:sp>
        <p:nvSpPr>
          <p:cNvPr id="25" name="Oval 24">
            <a:extLst xmlns:a="http://schemas.openxmlformats.org/drawingml/2006/main">
              <a:ext uri="{FF2B5EF4-FFF2-40B4-BE49-F238E27FC236}">
                <a16:creationId xmlns:a16="http://schemas.microsoft.com/office/drawing/2014/main" id="{440EC55B-C0C7-4159-B04C-829EE21FFA3A}"/>
              </a:ext>
            </a:extLst>
          </p:cNvPr>
          <p:cNvSpPr>
            <a:spLocks xmlns:a="http://schemas.openxmlformats.org/drawingml/2006/main" noGrp="1"/>
          </p:cNvSpPr>
          <p:nvPr/>
        </p:nvSpPr>
        <p:spPr>
          <a:xfrm xmlns:a="http://schemas.openxmlformats.org/drawingml/2006/main">
            <a:off x="4705350" y="5010150"/>
            <a:ext cx="2419350" cy="1143000"/>
          </a:xfrm>
          <a:prstGeom xmlns:a="http://schemas.openxmlformats.org/drawingml/2006/main" prst="ellipse">
            <a:avLst/>
          </a:prstGeom>
          <a:solidFill xmlns:a="http://schemas.openxmlformats.org/drawingml/2006/main">
            <a:srgbClr val="0B1217">
              <a:alpha val="92000"/>
            </a:srgbClr>
          </a:solidFill>
          <a:ln xmlns:a="http://schemas.openxmlformats.org/drawingml/2006/main" w="14288">
            <a:solidFill>
              <a:srgbClr val="39D7FF"/>
            </a:solidFill>
            <a:prstDash val="solid"/>
          </a:ln>
        </p:spPr>
        <p:txBody>
          <a:bodyPr xmlns:a="http://schemas.openxmlformats.org/drawingml/2006/main"/>
          <a:lstStyle xmlns:a="http://schemas.openxmlformats.org/drawingml/2006/main"/>
          <a:p xmlns:a="http://schemas.openxmlformats.org/drawingml/2006/main">
            <a:endParaRPr/>
          </a:p>
        </p:txBody>
      </p:sp>
      <p:sp>
        <p:nvSpPr>
          <p:cNvPr id="26" name="Rectangle 25">
            <a:extLst xmlns:a="http://schemas.openxmlformats.org/drawingml/2006/main">
              <a:ext uri="{FF2B5EF4-FFF2-40B4-BE49-F238E27FC236}">
                <a16:creationId xmlns:a16="http://schemas.microsoft.com/office/drawing/2014/main" id="{B5F75215-E3DD-4C7D-A187-71A2BDD84570}"/>
              </a:ext>
            </a:extLst>
          </p:cNvPr>
          <p:cNvSpPr>
            <a:spLocks xmlns:a="http://schemas.openxmlformats.org/drawingml/2006/main" noGrp="1"/>
          </p:cNvSpPr>
          <p:nvPr/>
        </p:nvSpPr>
        <p:spPr>
          <a:xfrm xmlns:a="http://schemas.openxmlformats.org/drawingml/2006/main">
            <a:off x="4997587" y="5372100"/>
            <a:ext cx="2000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15000"/>
              </a:lnSpc>
              <a:buNone/>
              <a:defRPr sz="1050" b="1">
                <a:solidFill>
                  <a:srgbClr val="39D7FF"/>
                </a:solidFill>
                <a:latin typeface="DejaVu Sans Mono"/>
                <a:ea typeface="DejaVu Sans Mono"/>
                <a:cs typeface="DejaVu Sans Mono"/>
              </a:defRPr>
            </a:pPr>
            <a:r>
              <a:rPr sz="1050" b="1">
                <a:solidFill>
                  <a:srgbClr val="39D7FF"/>
                </a:solidFill>
                <a:latin typeface="DejaVu Sans Mono"/>
                <a:ea typeface="DejaVu Sans Mono"/>
                <a:cs typeface="DejaVu Sans Mono"/>
              </a:rPr>
              <a:t>GENERATE  →  VALIDATE  →  CRITIQUE</a:t>
            </a:r>
          </a:p>
          <a:p xmlns:a="http://schemas.openxmlformats.org/drawingml/2006/main">
            <a:pPr algn="ctr">
              <a:lnSpc>
                <a:spcPct val="115000"/>
              </a:lnSpc>
              <a:buNone/>
              <a:defRPr sz="1050" b="1">
                <a:solidFill>
                  <a:srgbClr val="39D7FF"/>
                </a:solidFill>
                <a:latin typeface="DejaVu Sans Mono"/>
                <a:ea typeface="DejaVu Sans Mono"/>
                <a:cs typeface="DejaVu Sans Mono"/>
              </a:defRPr>
            </a:pPr>
            <a:r>
              <a:rPr sz="1050" b="1">
                <a:solidFill>
                  <a:srgbClr val="39D7FF"/>
                </a:solidFill>
                <a:latin typeface="DejaVu Sans Mono"/>
                <a:ea typeface="DejaVu Sans Mono"/>
                <a:cs typeface="DejaVu Sans Mono"/>
              </a:rPr>
              <a:t>REPAIR  →  APPROVE  →  PERSIST</a:t>
            </a:r>
          </a:p>
        </p:txBody>
      </p:sp>
      <p:sp>
        <p:nvSpPr>
          <p:cNvPr id="27" name="Rectangle 26">
            <a:extLst xmlns:a="http://schemas.openxmlformats.org/drawingml/2006/main">
              <a:ext uri="{FF2B5EF4-FFF2-40B4-BE49-F238E27FC236}">
                <a16:creationId xmlns:a16="http://schemas.microsoft.com/office/drawing/2014/main" id="{5B1CDFFB-D926-4C11-A671-BE058D1A4F32}"/>
              </a:ext>
            </a:extLst>
          </p:cNvPr>
          <p:cNvSpPr>
            <a:spLocks xmlns:a="http://schemas.openxmlformats.org/drawingml/2006/main" noGrp="1"/>
          </p:cNvSpPr>
          <p:nvPr/>
        </p:nvSpPr>
        <p:spPr>
          <a:xfrm xmlns:a="http://schemas.openxmlformats.org/drawingml/2006/main">
            <a:off x="836038" y="5799233"/>
            <a:ext cx="5334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200" b="1">
                <a:solidFill>
                  <a:srgbClr val="F4F6F8"/>
                </a:solidFill>
                <a:latin typeface="DejaVu Sans Mono"/>
                <a:ea typeface="DejaVu Sans Mono"/>
                <a:cs typeface="DejaVu Sans Mono"/>
              </a:defRPr>
            </a:pPr>
            <a:r>
              <a:rPr sz="1200" b="1">
                <a:solidFill>
                  <a:srgbClr val="F4F6F8"/>
                </a:solidFill>
                <a:latin typeface="DejaVu Sans Mono"/>
                <a:ea typeface="DejaVu Sans Mono"/>
                <a:cs typeface="DejaVu Sans Mono"/>
              </a:rPr>
              <a:t>ONLY APPROVED OUTPUTS FLOW FORWARD</a:t>
            </a:r>
          </a:p>
        </p:txBody>
      </p:sp>
      <p:sp>
        <p:nvSpPr>
          <p:cNvPr id="28" name="Rectangle 27">
            <a:extLst xmlns:a="http://schemas.openxmlformats.org/drawingml/2006/main">
              <a:ext uri="{FF2B5EF4-FFF2-40B4-BE49-F238E27FC236}">
                <a16:creationId xmlns:a16="http://schemas.microsoft.com/office/drawing/2014/main" id="{0864B18A-12E5-4167-A0EF-203BCB6BDEB4}"/>
              </a:ext>
            </a:extLst>
          </p:cNvPr>
          <p:cNvSpPr>
            <a:spLocks xmlns:a="http://schemas.openxmlformats.org/drawingml/2006/main" noGrp="1"/>
          </p:cNvSpPr>
          <p:nvPr/>
        </p:nvSpPr>
        <p:spPr>
          <a:xfrm xmlns:a="http://schemas.openxmlformats.org/drawingml/2006/main">
            <a:off x="0" y="6400800"/>
            <a:ext cx="12192000" cy="457200"/>
          </a:xfrm>
          <a:prstGeom xmlns:a="http://schemas.openxmlformats.org/drawingml/2006/main" prst="rect">
            <a:avLst/>
          </a:prstGeom>
          <a:solidFill xmlns:a="http://schemas.openxmlformats.org/drawingml/2006/main">
            <a:srgbClr val="07090C">
              <a:alpha val="76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9" name="Rectangle 28">
            <a:extLst xmlns:a="http://schemas.openxmlformats.org/drawingml/2006/main">
              <a:ext uri="{FF2B5EF4-FFF2-40B4-BE49-F238E27FC236}">
                <a16:creationId xmlns:a16="http://schemas.microsoft.com/office/drawing/2014/main" id="{A87663B7-5C03-4CF8-A30B-FDE3C49DE2CF}"/>
              </a:ext>
            </a:extLst>
          </p:cNvPr>
          <p:cNvSpPr>
            <a:spLocks xmlns:a="http://schemas.openxmlformats.org/drawingml/2006/main" noGrp="1"/>
          </p:cNvSpPr>
          <p:nvPr/>
        </p:nvSpPr>
        <p:spPr>
          <a:xfrm xmlns:a="http://schemas.openxmlformats.org/drawingml/2006/main">
            <a:off x="609600" y="6553200"/>
            <a:ext cx="68580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MARS SOCIETY 2026  •  HARNESSED AGENTIC SCIENCE + ENGINEERING</a:t>
            </a:r>
          </a:p>
        </p:txBody>
      </p:sp>
      <p:sp>
        <p:nvSpPr>
          <p:cNvPr id="30" name="Rectangle 29">
            <a:extLst xmlns:a="http://schemas.openxmlformats.org/drawingml/2006/main">
              <a:ext uri="{FF2B5EF4-FFF2-40B4-BE49-F238E27FC236}">
                <a16:creationId xmlns:a16="http://schemas.microsoft.com/office/drawing/2014/main" id="{4A4E1535-13BC-412B-9CA3-7A4E8848CB04}"/>
              </a:ext>
            </a:extLst>
          </p:cNvPr>
          <p:cNvSpPr>
            <a:spLocks xmlns:a="http://schemas.openxmlformats.org/drawingml/2006/main" noGrp="1"/>
          </p:cNvSpPr>
          <p:nvPr/>
        </p:nvSpPr>
        <p:spPr>
          <a:xfrm xmlns:a="http://schemas.openxmlformats.org/drawingml/2006/main">
            <a:off x="9525000" y="6553200"/>
            <a:ext cx="20574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BOB J MILLS     06</a:t>
            </a:r>
          </a:p>
        </p:txBody>
      </p:sp>
    </p:spTree>
    <p:extLst>
      <p:ext uri="{BB962C8B-B14F-4D97-AF65-F5344CB8AC3E}">
        <p14:creationId xmlns:p14="http://schemas.microsoft.com/office/powerpoint/2010/main" val="806866426"/>
      </p:ext>
    </p:extLst>
  </p:cSld>
</p:sld>
</file>

<file path=ppt/slides/slide7.xml><?xml version="1.0" encoding="utf-8"?>
<p:sld xmlns:p="http://schemas.openxmlformats.org/presentationml/2006/main">
  <p:cSld>
    <p:bg>
      <p:bgPr>
        <a:solidFill xmlns:a="http://schemas.openxmlformats.org/drawingml/2006/main">
          <a:srgbClr val="07090C"/>
        </a:solidFill>
      </p:bgPr>
    </p:bg>
    <p:spTree>
      <p:nvGrpSpPr>
        <p:cNvPr id="1" name=""/>
        <p:cNvGrpSpPr/>
        <p:nvPr/>
      </p:nvGrpSpPr>
      <p:grpSpPr>
        <a:xfrm xmlns:a="http://schemas.openxmlformats.org/drawingml/2006/main"/>
      </p:grpSpPr>
      <p:sp>
        <p:nvSpPr>
          <p:cNvPr id="33" name="Rectangle 32">
            <a:extLst xmlns:a="http://schemas.openxmlformats.org/drawingml/2006/main">
              <a:ext uri="{FF2B5EF4-FFF2-40B4-BE49-F238E27FC236}">
                <a16:creationId xmlns:a16="http://schemas.microsoft.com/office/drawing/2014/main" id="{12317F4E-8F3F-4EF4-9968-28208309E60E}"/>
              </a:ext>
            </a:extLst>
          </p:cNvPr>
          <p:cNvSpPr>
            <a:spLocks xmlns:a="http://schemas.openxmlformats.org/drawingml/2006/main" noGrp="1"/>
          </p:cNvSpPr>
          <p:nvPr/>
        </p:nvSpPr>
        <p:spPr>
          <a:xfrm xmlns:a="http://schemas.openxmlformats.org/drawingml/2006/main">
            <a:off x="609600" y="3429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75" b="1">
                <a:solidFill>
                  <a:srgbClr val="F26B38"/>
                </a:solidFill>
                <a:latin typeface="DejaVu Sans Mono"/>
                <a:ea typeface="DejaVu Sans Mono"/>
                <a:cs typeface="DejaVu Sans Mono"/>
              </a:defRPr>
            </a:pPr>
            <a:r>
              <a:rPr sz="975" b="1">
                <a:solidFill>
                  <a:srgbClr val="F26B38"/>
                </a:solidFill>
                <a:latin typeface="DejaVu Sans Mono"/>
                <a:ea typeface="DejaVu Sans Mono"/>
                <a:cs typeface="DejaVu Sans Mono"/>
              </a:rPr>
              <a:t>07  /  EVIDENCE CONTROL</a:t>
            </a:r>
          </a:p>
        </p:txBody>
      </p:sp>
      <p:sp>
        <p:nvSpPr>
          <p:cNvPr id="2" name="Rectangle 1">
            <a:extLst xmlns:a="http://schemas.openxmlformats.org/drawingml/2006/main">
              <a:ext uri="{FF2B5EF4-FFF2-40B4-BE49-F238E27FC236}">
                <a16:creationId xmlns:a16="http://schemas.microsoft.com/office/drawing/2014/main" id="{9EE2D892-829A-47FC-BCE4-DF166B638960}"/>
              </a:ext>
            </a:extLst>
          </p:cNvPr>
          <p:cNvSpPr>
            <a:spLocks xmlns:a="http://schemas.openxmlformats.org/drawingml/2006/main" noGrp="1"/>
          </p:cNvSpPr>
          <p:nvPr/>
        </p:nvSpPr>
        <p:spPr>
          <a:xfrm xmlns:a="http://schemas.openxmlformats.org/drawingml/2006/main">
            <a:off x="609600" y="647700"/>
            <a:ext cx="10972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0000"/>
              </a:lnSpc>
              <a:buNone/>
              <a:defRPr sz="2625" b="1">
                <a:solidFill>
                  <a:srgbClr val="F4F6F8"/>
                </a:solidFill>
                <a:latin typeface="DejaVu Sans"/>
                <a:ea typeface="DejaVu Sans"/>
                <a:cs typeface="DejaVu Sans"/>
              </a:defRPr>
            </a:pPr>
            <a:r>
              <a:rPr sz="2625" b="1">
                <a:solidFill>
                  <a:srgbClr val="F4F6F8"/>
                </a:solidFill>
                <a:latin typeface="DejaVu Sans"/>
                <a:ea typeface="DejaVu Sans"/>
                <a:cs typeface="DejaVu Sans"/>
              </a:rPr>
              <a:t>Every claim carries epistemic status</a:t>
            </a:r>
          </a:p>
        </p:txBody>
      </p:sp>
      <p:sp>
        <p:nvSpPr>
          <p:cNvPr id="3" name="Rectangle 2">
            <a:extLst xmlns:a="http://schemas.openxmlformats.org/drawingml/2006/main">
              <a:ext uri="{FF2B5EF4-FFF2-40B4-BE49-F238E27FC236}">
                <a16:creationId xmlns:a16="http://schemas.microsoft.com/office/drawing/2014/main" id="{E49F922B-9E55-421B-92C3-64B900CAF120}"/>
              </a:ext>
            </a:extLst>
          </p:cNvPr>
          <p:cNvSpPr>
            <a:spLocks xmlns:a="http://schemas.openxmlformats.org/drawingml/2006/main" noGrp="1"/>
          </p:cNvSpPr>
          <p:nvPr/>
        </p:nvSpPr>
        <p:spPr>
          <a:xfrm xmlns:a="http://schemas.openxmlformats.org/drawingml/2006/main">
            <a:off x="628650" y="1238250"/>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25" b="0">
                <a:solidFill>
                  <a:srgbClr val="8D99A3"/>
                </a:solidFill>
                <a:latin typeface="DejaVu Sans"/>
                <a:ea typeface="DejaVu Sans"/>
                <a:cs typeface="DejaVu Sans"/>
              </a:defRPr>
            </a:pPr>
            <a:r>
              <a:rPr sz="1425" b="0">
                <a:solidFill>
                  <a:srgbClr val="8D99A3"/>
                </a:solidFill>
                <a:latin typeface="DejaVu Sans"/>
                <a:ea typeface="DejaVu Sans"/>
                <a:cs typeface="DejaVu Sans"/>
              </a:rPr>
              <a:t>The harness prevents a plausible sentence—or a clean simulation—from silently becoming a physical fact.</a:t>
            </a:r>
          </a:p>
        </p:txBody>
      </p:sp>
      <p:sp>
        <p:nvSpPr>
          <p:cNvPr id="4" name="Straight Connector 3">
            <a:extLst xmlns:a="http://schemas.openxmlformats.org/drawingml/2006/main">
              <a:ext uri="{FF2B5EF4-FFF2-40B4-BE49-F238E27FC236}">
                <a16:creationId xmlns:a16="http://schemas.microsoft.com/office/drawing/2014/main" id="{4A3065EC-EE98-4D90-B269-5091AD4E767F}"/>
              </a:ext>
            </a:extLst>
          </p:cNvPr>
          <p:cNvSpPr>
            <a:spLocks xmlns:a="http://schemas.openxmlformats.org/drawingml/2006/main" noGrp="1"/>
          </p:cNvSpPr>
          <p:nvPr/>
        </p:nvSpPr>
        <p:spPr>
          <a:xfrm xmlns:a="http://schemas.openxmlformats.org/drawingml/2006/main">
            <a:off x="609600" y="1676400"/>
            <a:ext cx="10972800" cy="0"/>
          </a:xfrm>
          <a:prstGeom xmlns:a="http://schemas.openxmlformats.org/drawingml/2006/main" prst="line">
            <a:avLst/>
          </a:prstGeom>
          <a:noFill xmlns:a="http://schemas.openxmlformats.org/drawingml/2006/main"/>
          <a:ln xmlns:a="http://schemas.openxmlformats.org/drawingml/2006/main" w="9525">
            <a:solidFill>
              <a:srgbClr val="35414B"/>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Rectangle 4">
            <a:extLst xmlns:a="http://schemas.openxmlformats.org/drawingml/2006/main">
              <a:ext uri="{FF2B5EF4-FFF2-40B4-BE49-F238E27FC236}">
                <a16:creationId xmlns:a16="http://schemas.microsoft.com/office/drawing/2014/main" id="{42D9F9A6-3336-441B-B5E5-145BB4E4B9BB}"/>
              </a:ext>
            </a:extLst>
          </p:cNvPr>
          <p:cNvSpPr>
            <a:spLocks xmlns:a="http://schemas.openxmlformats.org/drawingml/2006/main" noGrp="1"/>
          </p:cNvSpPr>
          <p:nvPr/>
        </p:nvSpPr>
        <p:spPr>
          <a:xfrm xmlns:a="http://schemas.openxmlformats.org/drawingml/2006/main">
            <a:off x="723900" y="2038350"/>
            <a:ext cx="95250" cy="628650"/>
          </a:xfrm>
          <a:prstGeom xmlns:a="http://schemas.openxmlformats.org/drawingml/2006/main" prst="rect">
            <a:avLst/>
          </a:prstGeom>
          <a:solidFill xmlns:a="http://schemas.openxmlformats.org/drawingml/2006/main">
            <a:srgbClr val="39D7FF"/>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6" name="Rectangle 5">
            <a:extLst xmlns:a="http://schemas.openxmlformats.org/drawingml/2006/main">
              <a:ext uri="{FF2B5EF4-FFF2-40B4-BE49-F238E27FC236}">
                <a16:creationId xmlns:a16="http://schemas.microsoft.com/office/drawing/2014/main" id="{2F60BDE0-F8D5-478E-925C-1F1098AB735A}"/>
              </a:ext>
            </a:extLst>
          </p:cNvPr>
          <p:cNvSpPr>
            <a:spLocks xmlns:a="http://schemas.openxmlformats.org/drawingml/2006/main" noGrp="1"/>
          </p:cNvSpPr>
          <p:nvPr/>
        </p:nvSpPr>
        <p:spPr>
          <a:xfrm xmlns:a="http://schemas.openxmlformats.org/drawingml/2006/main">
            <a:off x="1028700" y="205740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350" b="1">
                <a:solidFill>
                  <a:srgbClr val="39D7FF"/>
                </a:solidFill>
                <a:latin typeface="DejaVu Sans Mono"/>
                <a:ea typeface="DejaVu Sans Mono"/>
                <a:cs typeface="DejaVu Sans Mono"/>
              </a:defRPr>
            </a:pPr>
            <a:r>
              <a:rPr sz="1350" b="1">
                <a:solidFill>
                  <a:srgbClr val="39D7FF"/>
                </a:solidFill>
                <a:latin typeface="DejaVu Sans Mono"/>
                <a:ea typeface="DejaVu Sans Mono"/>
                <a:cs typeface="DejaVu Sans Mono"/>
              </a:rPr>
              <a:t>LITERATURE</a:t>
            </a:r>
          </a:p>
        </p:txBody>
      </p:sp>
      <p:sp>
        <p:nvSpPr>
          <p:cNvPr id="7" name="Rectangle 6">
            <a:extLst xmlns:a="http://schemas.openxmlformats.org/drawingml/2006/main">
              <a:ext uri="{FF2B5EF4-FFF2-40B4-BE49-F238E27FC236}">
                <a16:creationId xmlns:a16="http://schemas.microsoft.com/office/drawing/2014/main" id="{8B5D18F5-0E5D-4809-AD6C-01B21BA13EB1}"/>
              </a:ext>
            </a:extLst>
          </p:cNvPr>
          <p:cNvSpPr>
            <a:spLocks xmlns:a="http://schemas.openxmlformats.org/drawingml/2006/main" noGrp="1"/>
          </p:cNvSpPr>
          <p:nvPr/>
        </p:nvSpPr>
        <p:spPr>
          <a:xfrm xmlns:a="http://schemas.openxmlformats.org/drawingml/2006/main">
            <a:off x="2781300" y="2057400"/>
            <a:ext cx="2857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350" b="0">
                <a:solidFill>
                  <a:srgbClr val="D8DEE3"/>
                </a:solidFill>
                <a:latin typeface="DejaVu Sans"/>
                <a:ea typeface="DejaVu Sans"/>
                <a:cs typeface="DejaVu Sans"/>
              </a:defRPr>
            </a:pPr>
            <a:r>
              <a:rPr sz="1350" b="0">
                <a:solidFill>
                  <a:srgbClr val="D8DEE3"/>
                </a:solidFill>
                <a:latin typeface="DejaVu Sans"/>
                <a:ea typeface="DejaVu Sans"/>
                <a:cs typeface="DejaVu Sans"/>
              </a:rPr>
              <a:t>what has been reported</a:t>
            </a:r>
          </a:p>
        </p:txBody>
      </p:sp>
      <p:sp>
        <p:nvSpPr>
          <p:cNvPr id="8" name="Straight Connector 7">
            <a:extLst xmlns:a="http://schemas.openxmlformats.org/drawingml/2006/main">
              <a:ext uri="{FF2B5EF4-FFF2-40B4-BE49-F238E27FC236}">
                <a16:creationId xmlns:a16="http://schemas.microsoft.com/office/drawing/2014/main" id="{CCFFBFA2-2AD7-4A2F-9EE3-2CBA0383AFD3}"/>
              </a:ext>
            </a:extLst>
          </p:cNvPr>
          <p:cNvSpPr>
            <a:spLocks xmlns:a="http://schemas.openxmlformats.org/drawingml/2006/main" noGrp="1"/>
          </p:cNvSpPr>
          <p:nvPr/>
        </p:nvSpPr>
        <p:spPr>
          <a:xfrm xmlns:a="http://schemas.openxmlformats.org/drawingml/2006/main">
            <a:off x="5753100" y="2333625"/>
            <a:ext cx="2209800" cy="0"/>
          </a:xfrm>
          <a:prstGeom xmlns:a="http://schemas.openxmlformats.org/drawingml/2006/main" prst="line">
            <a:avLst/>
          </a:prstGeom>
          <a:noFill xmlns:a="http://schemas.openxmlformats.org/drawingml/2006/main"/>
          <a:ln xmlns:a="http://schemas.openxmlformats.org/drawingml/2006/main" w="19050">
            <a:solidFill>
              <a:srgbClr val="39D7FF"/>
            </a:solidFill>
            <a:prstDash val="dash"/>
          </a:ln>
        </p:spPr>
        <p:txBody>
          <a:bodyPr xmlns:a="http://schemas.openxmlformats.org/drawingml/2006/main"/>
          <a:lstStyle xmlns:a="http://schemas.openxmlformats.org/drawingml/2006/main"/>
          <a:p xmlns:a="http://schemas.openxmlformats.org/drawingml/2006/main">
            <a:endParaRPr/>
          </a:p>
        </p:txBody>
      </p:sp>
      <p:sp>
        <p:nvSpPr>
          <p:cNvPr id="9" name="Rectangle: Rounded Corners 8">
            <a:extLst xmlns:a="http://schemas.openxmlformats.org/drawingml/2006/main">
              <a:ext uri="{FF2B5EF4-FFF2-40B4-BE49-F238E27FC236}">
                <a16:creationId xmlns:a16="http://schemas.microsoft.com/office/drawing/2014/main" id="{35E19615-C6CE-4B0F-A11F-A6FAA5AB2664}"/>
              </a:ext>
            </a:extLst>
          </p:cNvPr>
          <p:cNvSpPr>
            <a:spLocks xmlns:a="http://schemas.openxmlformats.org/drawingml/2006/main" noGrp="1"/>
          </p:cNvSpPr>
          <p:nvPr/>
        </p:nvSpPr>
        <p:spPr>
          <a:xfrm xmlns:a="http://schemas.openxmlformats.org/drawingml/2006/main">
            <a:off x="8096250" y="2114550"/>
            <a:ext cx="2247900" cy="400050"/>
          </a:xfrm>
          <a:prstGeom xmlns:a="http://schemas.openxmlformats.org/drawingml/2006/main" prst="roundRect">
            <a:avLst>
              <a:gd name="adj" fmla="val 21429"/>
            </a:avLst>
          </a:prstGeom>
          <a:solidFill xmlns:a="http://schemas.openxmlformats.org/drawingml/2006/main">
            <a:srgbClr val="11171C"/>
          </a:solidFill>
          <a:ln xmlns:a="http://schemas.openxmlformats.org/drawingml/2006/main" w="9525">
            <a:solidFill>
              <a:srgbClr val="39D7FF">
                <a:alpha val="55000"/>
              </a:srgbClr>
            </a:solidFill>
            <a:prstDash val="solid"/>
          </a:ln>
        </p:spPr>
        <p:txBody>
          <a:bodyPr xmlns:a="http://schemas.openxmlformats.org/drawingml/2006/main" wrap="square" lIns="47625" tIns="19050" rIns="47625" bIns="19050" anchor="ctr">
            <a:noAutofit/>
          </a:bodyPr>
          <a:lstStyle xmlns:a="http://schemas.openxmlformats.org/drawingml/2006/main"/>
          <a:p xmlns:a="http://schemas.openxmlformats.org/drawingml/2006/main">
            <a:pPr algn="ctr">
              <a:lnSpc>
                <a:spcPct val="95000"/>
              </a:lnSpc>
              <a:buNone/>
              <a:defRPr sz="975" b="1">
                <a:solidFill>
                  <a:srgbClr val="39D7FF"/>
                </a:solidFill>
                <a:latin typeface="DejaVu Sans Mono"/>
                <a:ea typeface="DejaVu Sans Mono"/>
                <a:cs typeface="DejaVu Sans Mono"/>
              </a:defRPr>
            </a:pPr>
            <a:r>
              <a:rPr sz="975" b="1">
                <a:solidFill>
                  <a:srgbClr val="39D7FF"/>
                </a:solidFill>
                <a:latin typeface="DejaVu Sans Mono"/>
                <a:ea typeface="DejaVu Sans Mono"/>
                <a:cs typeface="DejaVu Sans Mono"/>
              </a:rPr>
              <a:t>SOURCE + SCOPE</a:t>
            </a:r>
          </a:p>
        </p:txBody>
      </p:sp>
      <p:sp>
        <p:nvSpPr>
          <p:cNvPr id="10" name="Rectangle 9">
            <a:extLst xmlns:a="http://schemas.openxmlformats.org/drawingml/2006/main">
              <a:ext uri="{FF2B5EF4-FFF2-40B4-BE49-F238E27FC236}">
                <a16:creationId xmlns:a16="http://schemas.microsoft.com/office/drawing/2014/main" id="{F8101D30-EC68-44A8-8EA8-33A69499033C}"/>
              </a:ext>
            </a:extLst>
          </p:cNvPr>
          <p:cNvSpPr>
            <a:spLocks xmlns:a="http://schemas.openxmlformats.org/drawingml/2006/main" noGrp="1"/>
          </p:cNvSpPr>
          <p:nvPr/>
        </p:nvSpPr>
        <p:spPr>
          <a:xfrm xmlns:a="http://schemas.openxmlformats.org/drawingml/2006/main">
            <a:off x="723900" y="2933700"/>
            <a:ext cx="95250" cy="628650"/>
          </a:xfrm>
          <a:prstGeom xmlns:a="http://schemas.openxmlformats.org/drawingml/2006/main" prst="rect">
            <a:avLst/>
          </a:prstGeom>
          <a:solidFill xmlns:a="http://schemas.openxmlformats.org/drawingml/2006/main">
            <a:srgbClr val="F26B38"/>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1" name="Rectangle 10">
            <a:extLst xmlns:a="http://schemas.openxmlformats.org/drawingml/2006/main">
              <a:ext uri="{FF2B5EF4-FFF2-40B4-BE49-F238E27FC236}">
                <a16:creationId xmlns:a16="http://schemas.microsoft.com/office/drawing/2014/main" id="{C253550E-72E0-4071-A081-45CCBEB0A0E6}"/>
              </a:ext>
            </a:extLst>
          </p:cNvPr>
          <p:cNvSpPr>
            <a:spLocks xmlns:a="http://schemas.openxmlformats.org/drawingml/2006/main" noGrp="1"/>
          </p:cNvSpPr>
          <p:nvPr/>
        </p:nvSpPr>
        <p:spPr>
          <a:xfrm xmlns:a="http://schemas.openxmlformats.org/drawingml/2006/main">
            <a:off x="1028700" y="295275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350" b="1">
                <a:solidFill>
                  <a:srgbClr val="F26B38"/>
                </a:solidFill>
                <a:latin typeface="DejaVu Sans Mono"/>
                <a:ea typeface="DejaVu Sans Mono"/>
                <a:cs typeface="DejaVu Sans Mono"/>
              </a:defRPr>
            </a:pPr>
            <a:r>
              <a:rPr sz="1350" b="1">
                <a:solidFill>
                  <a:srgbClr val="F26B38"/>
                </a:solidFill>
                <a:latin typeface="DejaVu Sans Mono"/>
                <a:ea typeface="DejaVu Sans Mono"/>
                <a:cs typeface="DejaVu Sans Mono"/>
              </a:rPr>
              <a:t>MODELED</a:t>
            </a:r>
          </a:p>
        </p:txBody>
      </p:sp>
      <p:sp>
        <p:nvSpPr>
          <p:cNvPr id="12" name="Rectangle 11">
            <a:extLst xmlns:a="http://schemas.openxmlformats.org/drawingml/2006/main">
              <a:ext uri="{FF2B5EF4-FFF2-40B4-BE49-F238E27FC236}">
                <a16:creationId xmlns:a16="http://schemas.microsoft.com/office/drawing/2014/main" id="{063B6008-EEDC-4C86-AE2A-2BDA6756A7C9}"/>
              </a:ext>
            </a:extLst>
          </p:cNvPr>
          <p:cNvSpPr>
            <a:spLocks xmlns:a="http://schemas.openxmlformats.org/drawingml/2006/main" noGrp="1"/>
          </p:cNvSpPr>
          <p:nvPr/>
        </p:nvSpPr>
        <p:spPr>
          <a:xfrm xmlns:a="http://schemas.openxmlformats.org/drawingml/2006/main">
            <a:off x="2781300" y="2952750"/>
            <a:ext cx="2857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350" b="0">
                <a:solidFill>
                  <a:srgbClr val="D8DEE3"/>
                </a:solidFill>
                <a:latin typeface="DejaVu Sans"/>
                <a:ea typeface="DejaVu Sans"/>
                <a:cs typeface="DejaVu Sans"/>
              </a:defRPr>
            </a:pPr>
            <a:r>
              <a:rPr sz="1350" b="0">
                <a:solidFill>
                  <a:srgbClr val="D8DEE3"/>
                </a:solidFill>
                <a:latin typeface="DejaVu Sans"/>
                <a:ea typeface="DejaVu Sans"/>
                <a:cs typeface="DejaVu Sans"/>
              </a:rPr>
              <a:t>what the equations predict</a:t>
            </a:r>
          </a:p>
        </p:txBody>
      </p:sp>
      <p:sp>
        <p:nvSpPr>
          <p:cNvPr id="13" name="Straight Connector 12">
            <a:extLst xmlns:a="http://schemas.openxmlformats.org/drawingml/2006/main">
              <a:ext uri="{FF2B5EF4-FFF2-40B4-BE49-F238E27FC236}">
                <a16:creationId xmlns:a16="http://schemas.microsoft.com/office/drawing/2014/main" id="{3305D130-C634-471D-88AD-4CE02FF9704E}"/>
              </a:ext>
            </a:extLst>
          </p:cNvPr>
          <p:cNvSpPr>
            <a:spLocks xmlns:a="http://schemas.openxmlformats.org/drawingml/2006/main" noGrp="1"/>
          </p:cNvSpPr>
          <p:nvPr/>
        </p:nvSpPr>
        <p:spPr>
          <a:xfrm xmlns:a="http://schemas.openxmlformats.org/drawingml/2006/main">
            <a:off x="5753100" y="3228975"/>
            <a:ext cx="2209800" cy="0"/>
          </a:xfrm>
          <a:prstGeom xmlns:a="http://schemas.openxmlformats.org/drawingml/2006/main" prst="line">
            <a:avLst/>
          </a:prstGeom>
          <a:noFill xmlns:a="http://schemas.openxmlformats.org/drawingml/2006/main"/>
          <a:ln xmlns:a="http://schemas.openxmlformats.org/drawingml/2006/main" w="19050">
            <a:solidFill>
              <a:srgbClr val="F26B38"/>
            </a:solidFill>
            <a:prstDash val="dash"/>
          </a:ln>
        </p:spPr>
        <p:txBody>
          <a:bodyPr xmlns:a="http://schemas.openxmlformats.org/drawingml/2006/main"/>
          <a:lstStyle xmlns:a="http://schemas.openxmlformats.org/drawingml/2006/main"/>
          <a:p xmlns:a="http://schemas.openxmlformats.org/drawingml/2006/main">
            <a:endParaRPr/>
          </a:p>
        </p:txBody>
      </p:sp>
      <p:sp>
        <p:nvSpPr>
          <p:cNvPr id="14" name="Rectangle: Rounded Corners 13">
            <a:extLst xmlns:a="http://schemas.openxmlformats.org/drawingml/2006/main">
              <a:ext uri="{FF2B5EF4-FFF2-40B4-BE49-F238E27FC236}">
                <a16:creationId xmlns:a16="http://schemas.microsoft.com/office/drawing/2014/main" id="{CAAA87BF-46C5-4AD1-A9DB-FAF3CC65A6A0}"/>
              </a:ext>
            </a:extLst>
          </p:cNvPr>
          <p:cNvSpPr>
            <a:spLocks xmlns:a="http://schemas.openxmlformats.org/drawingml/2006/main" noGrp="1"/>
          </p:cNvSpPr>
          <p:nvPr/>
        </p:nvSpPr>
        <p:spPr>
          <a:xfrm xmlns:a="http://schemas.openxmlformats.org/drawingml/2006/main">
            <a:off x="8096250" y="3009900"/>
            <a:ext cx="2247900" cy="400050"/>
          </a:xfrm>
          <a:prstGeom xmlns:a="http://schemas.openxmlformats.org/drawingml/2006/main" prst="roundRect">
            <a:avLst>
              <a:gd name="adj" fmla="val 21429"/>
            </a:avLst>
          </a:prstGeom>
          <a:solidFill xmlns:a="http://schemas.openxmlformats.org/drawingml/2006/main">
            <a:srgbClr val="11171C"/>
          </a:solidFill>
          <a:ln xmlns:a="http://schemas.openxmlformats.org/drawingml/2006/main" w="9525">
            <a:solidFill>
              <a:srgbClr val="F26B38">
                <a:alpha val="55000"/>
              </a:srgbClr>
            </a:solidFill>
            <a:prstDash val="solid"/>
          </a:ln>
        </p:spPr>
        <p:txBody>
          <a:bodyPr xmlns:a="http://schemas.openxmlformats.org/drawingml/2006/main" wrap="square" lIns="47625" tIns="19050" rIns="47625" bIns="19050" anchor="ctr">
            <a:noAutofit/>
          </a:bodyPr>
          <a:lstStyle xmlns:a="http://schemas.openxmlformats.org/drawingml/2006/main"/>
          <a:p xmlns:a="http://schemas.openxmlformats.org/drawingml/2006/main">
            <a:pPr algn="ctr">
              <a:lnSpc>
                <a:spcPct val="95000"/>
              </a:lnSpc>
              <a:buNone/>
              <a:defRPr sz="975" b="1">
                <a:solidFill>
                  <a:srgbClr val="F26B38"/>
                </a:solidFill>
                <a:latin typeface="DejaVu Sans Mono"/>
                <a:ea typeface="DejaVu Sans Mono"/>
                <a:cs typeface="DejaVu Sans Mono"/>
              </a:defRPr>
            </a:pPr>
            <a:r>
              <a:rPr sz="975" b="1">
                <a:solidFill>
                  <a:srgbClr val="F26B38"/>
                </a:solidFill>
                <a:latin typeface="DejaVu Sans Mono"/>
                <a:ea typeface="DejaVu Sans Mono"/>
                <a:cs typeface="DejaVu Sans Mono"/>
              </a:rPr>
              <a:t>ASSUMPTIONS + BOUNDS</a:t>
            </a:r>
          </a:p>
        </p:txBody>
      </p:sp>
      <p:sp>
        <p:nvSpPr>
          <p:cNvPr id="15" name="Rectangle 14">
            <a:extLst xmlns:a="http://schemas.openxmlformats.org/drawingml/2006/main">
              <a:ext uri="{FF2B5EF4-FFF2-40B4-BE49-F238E27FC236}">
                <a16:creationId xmlns:a16="http://schemas.microsoft.com/office/drawing/2014/main" id="{442ADB95-8130-4A17-B920-027293C6DEBD}"/>
              </a:ext>
            </a:extLst>
          </p:cNvPr>
          <p:cNvSpPr>
            <a:spLocks xmlns:a="http://schemas.openxmlformats.org/drawingml/2006/main" noGrp="1"/>
          </p:cNvSpPr>
          <p:nvPr/>
        </p:nvSpPr>
        <p:spPr>
          <a:xfrm xmlns:a="http://schemas.openxmlformats.org/drawingml/2006/main">
            <a:off x="723900" y="3829050"/>
            <a:ext cx="95250" cy="628650"/>
          </a:xfrm>
          <a:prstGeom xmlns:a="http://schemas.openxmlformats.org/drawingml/2006/main" prst="rect">
            <a:avLst/>
          </a:prstGeom>
          <a:solidFill xmlns:a="http://schemas.openxmlformats.org/drawingml/2006/main">
            <a:srgbClr val="62D6A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6" name="Rectangle 15">
            <a:extLst xmlns:a="http://schemas.openxmlformats.org/drawingml/2006/main">
              <a:ext uri="{FF2B5EF4-FFF2-40B4-BE49-F238E27FC236}">
                <a16:creationId xmlns:a16="http://schemas.microsoft.com/office/drawing/2014/main" id="{6CFF1617-6338-4C3A-8137-DA4E51AB95B6}"/>
              </a:ext>
            </a:extLst>
          </p:cNvPr>
          <p:cNvSpPr>
            <a:spLocks xmlns:a="http://schemas.openxmlformats.org/drawingml/2006/main" noGrp="1"/>
          </p:cNvSpPr>
          <p:nvPr/>
        </p:nvSpPr>
        <p:spPr>
          <a:xfrm xmlns:a="http://schemas.openxmlformats.org/drawingml/2006/main">
            <a:off x="1028700" y="384810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350" b="1">
                <a:solidFill>
                  <a:srgbClr val="62D6A7"/>
                </a:solidFill>
                <a:latin typeface="DejaVu Sans Mono"/>
                <a:ea typeface="DejaVu Sans Mono"/>
                <a:cs typeface="DejaVu Sans Mono"/>
              </a:defRPr>
            </a:pPr>
            <a:r>
              <a:rPr sz="1350" b="1">
                <a:solidFill>
                  <a:srgbClr val="62D6A7"/>
                </a:solidFill>
                <a:latin typeface="DejaVu Sans Mono"/>
                <a:ea typeface="DejaVu Sans Mono"/>
                <a:cs typeface="DejaVu Sans Mono"/>
              </a:rPr>
              <a:t>EMPIRICAL</a:t>
            </a:r>
          </a:p>
        </p:txBody>
      </p:sp>
      <p:sp>
        <p:nvSpPr>
          <p:cNvPr id="17" name="Rectangle 16">
            <a:extLst xmlns:a="http://schemas.openxmlformats.org/drawingml/2006/main">
              <a:ext uri="{FF2B5EF4-FFF2-40B4-BE49-F238E27FC236}">
                <a16:creationId xmlns:a16="http://schemas.microsoft.com/office/drawing/2014/main" id="{F584D2DD-4697-453F-BC67-2A39C87A0428}"/>
              </a:ext>
            </a:extLst>
          </p:cNvPr>
          <p:cNvSpPr>
            <a:spLocks xmlns:a="http://schemas.openxmlformats.org/drawingml/2006/main" noGrp="1"/>
          </p:cNvSpPr>
          <p:nvPr/>
        </p:nvSpPr>
        <p:spPr>
          <a:xfrm xmlns:a="http://schemas.openxmlformats.org/drawingml/2006/main">
            <a:off x="2781300" y="3848100"/>
            <a:ext cx="2857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350" b="0">
                <a:solidFill>
                  <a:srgbClr val="D8DEE3"/>
                </a:solidFill>
                <a:latin typeface="DejaVu Sans"/>
                <a:ea typeface="DejaVu Sans"/>
                <a:cs typeface="DejaVu Sans"/>
              </a:defRPr>
            </a:pPr>
            <a:r>
              <a:rPr sz="1350" b="0">
                <a:solidFill>
                  <a:srgbClr val="D8DEE3"/>
                </a:solidFill>
                <a:latin typeface="DejaVu Sans"/>
                <a:ea typeface="DejaVu Sans"/>
                <a:cs typeface="DejaVu Sans"/>
              </a:rPr>
              <a:t>what was physically measured</a:t>
            </a:r>
          </a:p>
        </p:txBody>
      </p:sp>
      <p:sp>
        <p:nvSpPr>
          <p:cNvPr id="18" name="Straight Connector 17">
            <a:extLst xmlns:a="http://schemas.openxmlformats.org/drawingml/2006/main">
              <a:ext uri="{FF2B5EF4-FFF2-40B4-BE49-F238E27FC236}">
                <a16:creationId xmlns:a16="http://schemas.microsoft.com/office/drawing/2014/main" id="{98FFF35C-69CC-495C-BF0C-0768903B77C7}"/>
              </a:ext>
            </a:extLst>
          </p:cNvPr>
          <p:cNvSpPr>
            <a:spLocks xmlns:a="http://schemas.openxmlformats.org/drawingml/2006/main" noGrp="1"/>
          </p:cNvSpPr>
          <p:nvPr/>
        </p:nvSpPr>
        <p:spPr>
          <a:xfrm xmlns:a="http://schemas.openxmlformats.org/drawingml/2006/main">
            <a:off x="5753100" y="4124325"/>
            <a:ext cx="2209800" cy="0"/>
          </a:xfrm>
          <a:prstGeom xmlns:a="http://schemas.openxmlformats.org/drawingml/2006/main" prst="line">
            <a:avLst/>
          </a:prstGeom>
          <a:noFill xmlns:a="http://schemas.openxmlformats.org/drawingml/2006/main"/>
          <a:ln xmlns:a="http://schemas.openxmlformats.org/drawingml/2006/main" w="19050">
            <a:solidFill>
              <a:srgbClr val="62D6A7"/>
            </a:solidFill>
            <a:prstDash val="dash"/>
          </a:ln>
        </p:spPr>
        <p:txBody>
          <a:bodyPr xmlns:a="http://schemas.openxmlformats.org/drawingml/2006/main"/>
          <a:lstStyle xmlns:a="http://schemas.openxmlformats.org/drawingml/2006/main"/>
          <a:p xmlns:a="http://schemas.openxmlformats.org/drawingml/2006/main">
            <a:endParaRPr/>
          </a:p>
        </p:txBody>
      </p:sp>
      <p:sp>
        <p:nvSpPr>
          <p:cNvPr id="19" name="Rectangle: Rounded Corners 18">
            <a:extLst xmlns:a="http://schemas.openxmlformats.org/drawingml/2006/main">
              <a:ext uri="{FF2B5EF4-FFF2-40B4-BE49-F238E27FC236}">
                <a16:creationId xmlns:a16="http://schemas.microsoft.com/office/drawing/2014/main" id="{F6BF9276-117A-4239-BAF8-AE626CA603DB}"/>
              </a:ext>
            </a:extLst>
          </p:cNvPr>
          <p:cNvSpPr>
            <a:spLocks xmlns:a="http://schemas.openxmlformats.org/drawingml/2006/main" noGrp="1"/>
          </p:cNvSpPr>
          <p:nvPr/>
        </p:nvSpPr>
        <p:spPr>
          <a:xfrm xmlns:a="http://schemas.openxmlformats.org/drawingml/2006/main">
            <a:off x="8096250" y="3905250"/>
            <a:ext cx="2247900" cy="400050"/>
          </a:xfrm>
          <a:prstGeom xmlns:a="http://schemas.openxmlformats.org/drawingml/2006/main" prst="roundRect">
            <a:avLst>
              <a:gd name="adj" fmla="val 21429"/>
            </a:avLst>
          </a:prstGeom>
          <a:solidFill xmlns:a="http://schemas.openxmlformats.org/drawingml/2006/main">
            <a:srgbClr val="11171C"/>
          </a:solidFill>
          <a:ln xmlns:a="http://schemas.openxmlformats.org/drawingml/2006/main" w="9525">
            <a:solidFill>
              <a:srgbClr val="62D6A7">
                <a:alpha val="55000"/>
              </a:srgbClr>
            </a:solidFill>
            <a:prstDash val="solid"/>
          </a:ln>
        </p:spPr>
        <p:txBody>
          <a:bodyPr xmlns:a="http://schemas.openxmlformats.org/drawingml/2006/main" wrap="square" lIns="47625" tIns="19050" rIns="47625" bIns="19050" anchor="ctr">
            <a:noAutofit/>
          </a:bodyPr>
          <a:lstStyle xmlns:a="http://schemas.openxmlformats.org/drawingml/2006/main"/>
          <a:p xmlns:a="http://schemas.openxmlformats.org/drawingml/2006/main">
            <a:pPr algn="ctr">
              <a:lnSpc>
                <a:spcPct val="95000"/>
              </a:lnSpc>
              <a:buNone/>
              <a:defRPr sz="975" b="1">
                <a:solidFill>
                  <a:srgbClr val="62D6A7"/>
                </a:solidFill>
                <a:latin typeface="DejaVu Sans Mono"/>
                <a:ea typeface="DejaVu Sans Mono"/>
                <a:cs typeface="DejaVu Sans Mono"/>
              </a:defRPr>
            </a:pPr>
            <a:r>
              <a:rPr sz="975" b="1">
                <a:solidFill>
                  <a:srgbClr val="62D6A7"/>
                </a:solidFill>
                <a:latin typeface="DejaVu Sans Mono"/>
                <a:ea typeface="DejaVu Sans Mono"/>
                <a:cs typeface="DejaVu Sans Mono"/>
              </a:rPr>
              <a:t>METHOD + UNCERTAINTY</a:t>
            </a:r>
          </a:p>
        </p:txBody>
      </p:sp>
      <p:sp>
        <p:nvSpPr>
          <p:cNvPr id="20" name="Rectangle 19">
            <a:extLst xmlns:a="http://schemas.openxmlformats.org/drawingml/2006/main">
              <a:ext uri="{FF2B5EF4-FFF2-40B4-BE49-F238E27FC236}">
                <a16:creationId xmlns:a16="http://schemas.microsoft.com/office/drawing/2014/main" id="{52BE18D6-23AA-4626-9C7E-12F9140254BB}"/>
              </a:ext>
            </a:extLst>
          </p:cNvPr>
          <p:cNvSpPr>
            <a:spLocks xmlns:a="http://schemas.openxmlformats.org/drawingml/2006/main" noGrp="1"/>
          </p:cNvSpPr>
          <p:nvPr/>
        </p:nvSpPr>
        <p:spPr>
          <a:xfrm xmlns:a="http://schemas.openxmlformats.org/drawingml/2006/main">
            <a:off x="723900" y="4724400"/>
            <a:ext cx="95250" cy="628650"/>
          </a:xfrm>
          <a:prstGeom xmlns:a="http://schemas.openxmlformats.org/drawingml/2006/main" prst="rect">
            <a:avLst/>
          </a:prstGeom>
          <a:solidFill xmlns:a="http://schemas.openxmlformats.org/drawingml/2006/main">
            <a:srgbClr val="FFC85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1" name="Rectangle 20">
            <a:extLst xmlns:a="http://schemas.openxmlformats.org/drawingml/2006/main">
              <a:ext uri="{FF2B5EF4-FFF2-40B4-BE49-F238E27FC236}">
                <a16:creationId xmlns:a16="http://schemas.microsoft.com/office/drawing/2014/main" id="{2C698577-3E22-4E85-A917-8E63FC54A85B}"/>
              </a:ext>
            </a:extLst>
          </p:cNvPr>
          <p:cNvSpPr>
            <a:spLocks xmlns:a="http://schemas.openxmlformats.org/drawingml/2006/main" noGrp="1"/>
          </p:cNvSpPr>
          <p:nvPr/>
        </p:nvSpPr>
        <p:spPr>
          <a:xfrm xmlns:a="http://schemas.openxmlformats.org/drawingml/2006/main">
            <a:off x="1028700" y="474345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350" b="1">
                <a:solidFill>
                  <a:srgbClr val="FFC857"/>
                </a:solidFill>
                <a:latin typeface="DejaVu Sans Mono"/>
                <a:ea typeface="DejaVu Sans Mono"/>
                <a:cs typeface="DejaVu Sans Mono"/>
              </a:defRPr>
            </a:pPr>
            <a:r>
              <a:rPr sz="1350" b="1">
                <a:solidFill>
                  <a:srgbClr val="FFC857"/>
                </a:solidFill>
                <a:latin typeface="DejaVu Sans Mono"/>
                <a:ea typeface="DejaVu Sans Mono"/>
                <a:cs typeface="DejaVu Sans Mono"/>
              </a:rPr>
              <a:t>OPEN</a:t>
            </a:r>
          </a:p>
        </p:txBody>
      </p:sp>
      <p:sp>
        <p:nvSpPr>
          <p:cNvPr id="22" name="Rectangle 21">
            <a:extLst xmlns:a="http://schemas.openxmlformats.org/drawingml/2006/main">
              <a:ext uri="{FF2B5EF4-FFF2-40B4-BE49-F238E27FC236}">
                <a16:creationId xmlns:a16="http://schemas.microsoft.com/office/drawing/2014/main" id="{753BF1D2-EB5C-407D-9B40-3EBF8082ACD3}"/>
              </a:ext>
            </a:extLst>
          </p:cNvPr>
          <p:cNvSpPr>
            <a:spLocks xmlns:a="http://schemas.openxmlformats.org/drawingml/2006/main" noGrp="1"/>
          </p:cNvSpPr>
          <p:nvPr/>
        </p:nvSpPr>
        <p:spPr>
          <a:xfrm xmlns:a="http://schemas.openxmlformats.org/drawingml/2006/main">
            <a:off x="2781300" y="4743450"/>
            <a:ext cx="2857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350" b="0">
                <a:solidFill>
                  <a:srgbClr val="D8DEE3"/>
                </a:solidFill>
                <a:latin typeface="DejaVu Sans"/>
                <a:ea typeface="DejaVu Sans"/>
                <a:cs typeface="DejaVu Sans"/>
              </a:defRPr>
            </a:pPr>
            <a:r>
              <a:rPr sz="1350" b="0">
                <a:solidFill>
                  <a:srgbClr val="D8DEE3"/>
                </a:solidFill>
                <a:latin typeface="DejaVu Sans"/>
                <a:ea typeface="DejaVu Sans"/>
                <a:cs typeface="DejaVu Sans"/>
              </a:rPr>
              <a:t>what remains unresolved</a:t>
            </a:r>
          </a:p>
        </p:txBody>
      </p:sp>
      <p:sp>
        <p:nvSpPr>
          <p:cNvPr id="23" name="Straight Connector 22">
            <a:extLst xmlns:a="http://schemas.openxmlformats.org/drawingml/2006/main">
              <a:ext uri="{FF2B5EF4-FFF2-40B4-BE49-F238E27FC236}">
                <a16:creationId xmlns:a16="http://schemas.microsoft.com/office/drawing/2014/main" id="{8AAB9E71-776C-49F6-8237-86AE9258FC47}"/>
              </a:ext>
            </a:extLst>
          </p:cNvPr>
          <p:cNvSpPr>
            <a:spLocks xmlns:a="http://schemas.openxmlformats.org/drawingml/2006/main" noGrp="1"/>
          </p:cNvSpPr>
          <p:nvPr/>
        </p:nvSpPr>
        <p:spPr>
          <a:xfrm xmlns:a="http://schemas.openxmlformats.org/drawingml/2006/main">
            <a:off x="5753100" y="5019675"/>
            <a:ext cx="2209800" cy="0"/>
          </a:xfrm>
          <a:prstGeom xmlns:a="http://schemas.openxmlformats.org/drawingml/2006/main" prst="line">
            <a:avLst/>
          </a:prstGeom>
          <a:noFill xmlns:a="http://schemas.openxmlformats.org/drawingml/2006/main"/>
          <a:ln xmlns:a="http://schemas.openxmlformats.org/drawingml/2006/main" w="19050">
            <a:solidFill>
              <a:srgbClr val="FFC857"/>
            </a:solidFill>
            <a:prstDash val="dash"/>
          </a:ln>
        </p:spPr>
        <p:txBody>
          <a:bodyPr xmlns:a="http://schemas.openxmlformats.org/drawingml/2006/main"/>
          <a:lstStyle xmlns:a="http://schemas.openxmlformats.org/drawingml/2006/main"/>
          <a:p xmlns:a="http://schemas.openxmlformats.org/drawingml/2006/main">
            <a:endParaRPr/>
          </a:p>
        </p:txBody>
      </p:sp>
      <p:sp>
        <p:nvSpPr>
          <p:cNvPr id="24" name="Rectangle: Rounded Corners 23">
            <a:extLst xmlns:a="http://schemas.openxmlformats.org/drawingml/2006/main">
              <a:ext uri="{FF2B5EF4-FFF2-40B4-BE49-F238E27FC236}">
                <a16:creationId xmlns:a16="http://schemas.microsoft.com/office/drawing/2014/main" id="{382458DC-FF59-419C-B1DD-06B91D02EDF3}"/>
              </a:ext>
            </a:extLst>
          </p:cNvPr>
          <p:cNvSpPr>
            <a:spLocks xmlns:a="http://schemas.openxmlformats.org/drawingml/2006/main" noGrp="1"/>
          </p:cNvSpPr>
          <p:nvPr/>
        </p:nvSpPr>
        <p:spPr>
          <a:xfrm xmlns:a="http://schemas.openxmlformats.org/drawingml/2006/main">
            <a:off x="8096250" y="4800600"/>
            <a:ext cx="2247900" cy="400050"/>
          </a:xfrm>
          <a:prstGeom xmlns:a="http://schemas.openxmlformats.org/drawingml/2006/main" prst="roundRect">
            <a:avLst>
              <a:gd name="adj" fmla="val 21429"/>
            </a:avLst>
          </a:prstGeom>
          <a:solidFill xmlns:a="http://schemas.openxmlformats.org/drawingml/2006/main">
            <a:srgbClr val="11171C"/>
          </a:solidFill>
          <a:ln xmlns:a="http://schemas.openxmlformats.org/drawingml/2006/main" w="9525">
            <a:solidFill>
              <a:srgbClr val="FFC857">
                <a:alpha val="55000"/>
              </a:srgbClr>
            </a:solidFill>
            <a:prstDash val="solid"/>
          </a:ln>
        </p:spPr>
        <p:txBody>
          <a:bodyPr xmlns:a="http://schemas.openxmlformats.org/drawingml/2006/main" wrap="square" lIns="47625" tIns="19050" rIns="47625" bIns="19050" anchor="ctr">
            <a:noAutofit/>
          </a:bodyPr>
          <a:lstStyle xmlns:a="http://schemas.openxmlformats.org/drawingml/2006/main"/>
          <a:p xmlns:a="http://schemas.openxmlformats.org/drawingml/2006/main">
            <a:pPr algn="ctr">
              <a:lnSpc>
                <a:spcPct val="95000"/>
              </a:lnSpc>
              <a:buNone/>
              <a:defRPr sz="975" b="1">
                <a:solidFill>
                  <a:srgbClr val="FFC857"/>
                </a:solidFill>
                <a:latin typeface="DejaVu Sans Mono"/>
                <a:ea typeface="DejaVu Sans Mono"/>
                <a:cs typeface="DejaVu Sans Mono"/>
              </a:defRPr>
            </a:pPr>
            <a:r>
              <a:rPr sz="975" b="1">
                <a:solidFill>
                  <a:srgbClr val="FFC857"/>
                </a:solidFill>
                <a:latin typeface="DejaVu Sans Mono"/>
                <a:ea typeface="DejaVu Sans Mono"/>
                <a:cs typeface="DejaVu Sans Mono"/>
              </a:rPr>
              <a:t>QUESTION + DISPOSITION</a:t>
            </a:r>
          </a:p>
        </p:txBody>
      </p:sp>
      <p:sp>
        <p:nvSpPr>
          <p:cNvPr id="25" name="Rectangle 24">
            <a:extLst xmlns:a="http://schemas.openxmlformats.org/drawingml/2006/main">
              <a:ext uri="{FF2B5EF4-FFF2-40B4-BE49-F238E27FC236}">
                <a16:creationId xmlns:a16="http://schemas.microsoft.com/office/drawing/2014/main" id="{0F199B9E-DF93-460E-A038-205E99ADDAD0}"/>
              </a:ext>
            </a:extLst>
          </p:cNvPr>
          <p:cNvSpPr>
            <a:spLocks xmlns:a="http://schemas.openxmlformats.org/drawingml/2006/main" noGrp="1"/>
          </p:cNvSpPr>
          <p:nvPr/>
        </p:nvSpPr>
        <p:spPr>
          <a:xfrm xmlns:a="http://schemas.openxmlformats.org/drawingml/2006/main">
            <a:off x="10477500" y="2038350"/>
            <a:ext cx="57150" cy="3314700"/>
          </a:xfrm>
          <a:prstGeom xmlns:a="http://schemas.openxmlformats.org/drawingml/2006/main" prst="rect">
            <a:avLst/>
          </a:prstGeom>
          <a:solidFill xmlns:a="http://schemas.openxmlformats.org/drawingml/2006/main">
            <a:srgbClr val="FF6262"/>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6" name="Rectangle 25">
            <a:extLst xmlns:a="http://schemas.openxmlformats.org/drawingml/2006/main">
              <a:ext uri="{FF2B5EF4-FFF2-40B4-BE49-F238E27FC236}">
                <a16:creationId xmlns:a16="http://schemas.microsoft.com/office/drawing/2014/main" id="{36475EE2-AE08-4C53-94D2-BDBE08CEAD71}"/>
              </a:ext>
            </a:extLst>
          </p:cNvPr>
          <p:cNvSpPr>
            <a:spLocks xmlns:a="http://schemas.openxmlformats.org/drawingml/2006/main" noGrp="1"/>
          </p:cNvSpPr>
          <p:nvPr/>
        </p:nvSpPr>
        <p:spPr>
          <a:xfrm xmlns:a="http://schemas.openxmlformats.org/drawingml/2006/main">
            <a:off x="10687050" y="3219450"/>
            <a:ext cx="8953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1125" b="1">
                <a:solidFill>
                  <a:srgbClr val="FF6262"/>
                </a:solidFill>
                <a:latin typeface="DejaVu Sans Mono"/>
                <a:ea typeface="DejaVu Sans Mono"/>
                <a:cs typeface="DejaVu Sans Mono"/>
              </a:defRPr>
            </a:pPr>
            <a:r>
              <a:rPr sz="1125" b="1">
                <a:solidFill>
                  <a:srgbClr val="FF6262"/>
                </a:solidFill>
                <a:latin typeface="DejaVu Sans Mono"/>
                <a:ea typeface="DejaVu Sans Mono"/>
                <a:cs typeface="DejaVu Sans Mono"/>
              </a:rPr>
              <a:t>NO SILENT</a:t>
            </a:r>
          </a:p>
          <a:p xmlns:a="http://schemas.openxmlformats.org/drawingml/2006/main">
            <a:pPr algn="ctr">
              <a:lnSpc>
                <a:spcPct val="95000"/>
              </a:lnSpc>
              <a:buNone/>
              <a:defRPr sz="1125" b="1">
                <a:solidFill>
                  <a:srgbClr val="FF6262"/>
                </a:solidFill>
                <a:latin typeface="DejaVu Sans Mono"/>
                <a:ea typeface="DejaVu Sans Mono"/>
                <a:cs typeface="DejaVu Sans Mono"/>
              </a:defRPr>
            </a:pPr>
            <a:r>
              <a:rPr sz="1125" b="1">
                <a:solidFill>
                  <a:srgbClr val="FF6262"/>
                </a:solidFill>
                <a:latin typeface="DejaVu Sans Mono"/>
                <a:ea typeface="DejaVu Sans Mono"/>
                <a:cs typeface="DejaVu Sans Mono"/>
              </a:rPr>
              <a:t>PROMOTION</a:t>
            </a:r>
          </a:p>
        </p:txBody>
      </p:sp>
      <p:sp>
        <p:nvSpPr>
          <p:cNvPr id="27" name="Rectangle: Rounded Corners 26">
            <a:extLst xmlns:a="http://schemas.openxmlformats.org/drawingml/2006/main">
              <a:ext uri="{FF2B5EF4-FFF2-40B4-BE49-F238E27FC236}">
                <a16:creationId xmlns:a16="http://schemas.microsoft.com/office/drawing/2014/main" id="{7E0FE14F-80C9-4212-A556-F1CD484D8B19}"/>
              </a:ext>
            </a:extLst>
          </p:cNvPr>
          <p:cNvSpPr>
            <a:spLocks xmlns:a="http://schemas.openxmlformats.org/drawingml/2006/main" noGrp="1"/>
          </p:cNvSpPr>
          <p:nvPr/>
        </p:nvSpPr>
        <p:spPr>
          <a:xfrm xmlns:a="http://schemas.openxmlformats.org/drawingml/2006/main">
            <a:off x="7524750" y="5857875"/>
            <a:ext cx="2819400" cy="609600"/>
          </a:xfrm>
          <a:prstGeom xmlns:a="http://schemas.openxmlformats.org/drawingml/2006/main" prst="roundRect">
            <a:avLst>
              <a:gd name="adj" fmla="val 25000"/>
            </a:avLst>
          </a:prstGeom>
          <a:solidFill xmlns:a="http://schemas.openxmlformats.org/drawingml/2006/main">
            <a:srgbClr val="121A20"/>
          </a:solidFill>
          <a:ln xmlns:a="http://schemas.openxmlformats.org/drawingml/2006/main" w="14288">
            <a:solidFill>
              <a:srgbClr val="F4F6F8"/>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425" b="1">
                <a:solidFill>
                  <a:srgbClr val="F4F6F8"/>
                </a:solidFill>
                <a:latin typeface="DejaVu Sans"/>
                <a:ea typeface="DejaVu Sans"/>
                <a:cs typeface="DejaVu Sans"/>
              </a:defRPr>
            </a:pPr>
            <a:r>
              <a:rPr sz="1425" b="1">
                <a:solidFill>
                  <a:srgbClr val="F4F6F8"/>
                </a:solidFill>
                <a:latin typeface="DejaVu Sans"/>
                <a:ea typeface="DejaVu Sans"/>
                <a:cs typeface="DejaVu Sans"/>
              </a:rPr>
              <a:t>CLAIM</a:t>
            </a:r>
          </a:p>
          <a:p xmlns:a="http://schemas.openxmlformats.org/drawingml/2006/main">
            <a:pPr algn="ctr">
              <a:lnSpc>
                <a:spcPct val="90000"/>
              </a:lnSpc>
              <a:buNone/>
              <a:defRPr sz="1425" b="1">
                <a:solidFill>
                  <a:srgbClr val="F4F6F8"/>
                </a:solidFill>
                <a:latin typeface="DejaVu Sans"/>
                <a:ea typeface="DejaVu Sans"/>
                <a:cs typeface="DejaVu Sans"/>
              </a:defRPr>
            </a:pPr>
            <a:r>
              <a:rPr sz="1425" b="1">
                <a:solidFill>
                  <a:srgbClr val="F4F6F8"/>
                </a:solidFill>
                <a:latin typeface="DejaVu Sans"/>
                <a:ea typeface="DejaVu Sans"/>
                <a:cs typeface="DejaVu Sans"/>
              </a:rPr>
              <a:t>WITH STATUS</a:t>
            </a:r>
          </a:p>
        </p:txBody>
      </p:sp>
      <p:sp>
        <p:nvSpPr>
          <p:cNvPr id="28" name="Arrow: Right 27">
            <a:extLst xmlns:a="http://schemas.openxmlformats.org/drawingml/2006/main">
              <a:ext uri="{FF2B5EF4-FFF2-40B4-BE49-F238E27FC236}">
                <a16:creationId xmlns:a16="http://schemas.microsoft.com/office/drawing/2014/main" id="{BD258EDA-091C-4813-8125-8BA5C3165993}"/>
              </a:ext>
            </a:extLst>
          </p:cNvPr>
          <p:cNvSpPr>
            <a:spLocks xmlns:a="http://schemas.openxmlformats.org/drawingml/2006/main" noGrp="1"/>
          </p:cNvSpPr>
          <p:nvPr/>
        </p:nvSpPr>
        <p:spPr>
          <a:xfrm xmlns:a="http://schemas.openxmlformats.org/drawingml/2006/main" rot="5400000">
            <a:off x="8847180" y="5456280"/>
            <a:ext cx="533400" cy="212639"/>
          </a:xfrm>
          <a:prstGeom xmlns:a="http://schemas.openxmlformats.org/drawingml/2006/main" prst="rightArrow">
            <a:avLst>
              <a:gd name="adj1" fmla="val 49999"/>
              <a:gd name="adj2" fmla="val 50000"/>
            </a:avLst>
          </a:prstGeom>
          <a:solidFill xmlns:a="http://schemas.openxmlformats.org/drawingml/2006/main">
            <a:srgbClr val="F4F6F8">
              <a:alpha val="7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9" name="Rectangle 28">
            <a:extLst xmlns:a="http://schemas.openxmlformats.org/drawingml/2006/main">
              <a:ext uri="{FF2B5EF4-FFF2-40B4-BE49-F238E27FC236}">
                <a16:creationId xmlns:a16="http://schemas.microsoft.com/office/drawing/2014/main" id="{149C6E9F-FED4-4A2B-9292-2C9B605F31AE}"/>
              </a:ext>
            </a:extLst>
          </p:cNvPr>
          <p:cNvSpPr>
            <a:spLocks xmlns:a="http://schemas.openxmlformats.org/drawingml/2006/main" noGrp="1"/>
          </p:cNvSpPr>
          <p:nvPr/>
        </p:nvSpPr>
        <p:spPr>
          <a:xfrm xmlns:a="http://schemas.openxmlformats.org/drawingml/2006/main">
            <a:off x="1066800" y="5657850"/>
            <a:ext cx="3143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275" b="0">
                <a:solidFill>
                  <a:srgbClr val="8D99A3"/>
                </a:solidFill>
                <a:latin typeface="DejaVu Sans"/>
                <a:ea typeface="DejaVu Sans"/>
                <a:cs typeface="DejaVu Sans"/>
              </a:defRPr>
            </a:pPr>
            <a:r>
              <a:rPr sz="1275" b="0">
                <a:solidFill>
                  <a:srgbClr val="8D99A3"/>
                </a:solidFill>
                <a:latin typeface="DejaVu Sans"/>
                <a:ea typeface="DejaVu Sans"/>
                <a:cs typeface="DejaVu Sans"/>
              </a:rPr>
              <a:t>Literature informs models. Models guide tests. Tests may revise both. Open questions stay open.</a:t>
            </a:r>
          </a:p>
        </p:txBody>
      </p:sp>
      <p:sp>
        <p:nvSpPr>
          <p:cNvPr id="30" name="Rectangle 29">
            <a:extLst xmlns:a="http://schemas.openxmlformats.org/drawingml/2006/main">
              <a:ext uri="{FF2B5EF4-FFF2-40B4-BE49-F238E27FC236}">
                <a16:creationId xmlns:a16="http://schemas.microsoft.com/office/drawing/2014/main" id="{ABF6942A-A7DD-4205-B421-87674F6D4726}"/>
              </a:ext>
            </a:extLst>
          </p:cNvPr>
          <p:cNvSpPr>
            <a:spLocks xmlns:a="http://schemas.openxmlformats.org/drawingml/2006/main" noGrp="1"/>
          </p:cNvSpPr>
          <p:nvPr/>
        </p:nvSpPr>
        <p:spPr>
          <a:xfrm xmlns:a="http://schemas.openxmlformats.org/drawingml/2006/main">
            <a:off x="85725" y="6438899"/>
            <a:ext cx="12192000" cy="457200"/>
          </a:xfrm>
          <a:prstGeom xmlns:a="http://schemas.openxmlformats.org/drawingml/2006/main" prst="rect">
            <a:avLst/>
          </a:prstGeom>
          <a:solidFill xmlns:a="http://schemas.openxmlformats.org/drawingml/2006/main">
            <a:srgbClr val="07090C">
              <a:alpha val="76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1" name="Rectangle 30">
            <a:extLst xmlns:a="http://schemas.openxmlformats.org/drawingml/2006/main">
              <a:ext uri="{FF2B5EF4-FFF2-40B4-BE49-F238E27FC236}">
                <a16:creationId xmlns:a16="http://schemas.microsoft.com/office/drawing/2014/main" id="{C6D35634-FA95-4773-81EB-C9BF3242208A}"/>
              </a:ext>
            </a:extLst>
          </p:cNvPr>
          <p:cNvSpPr>
            <a:spLocks xmlns:a="http://schemas.openxmlformats.org/drawingml/2006/main" noGrp="1"/>
          </p:cNvSpPr>
          <p:nvPr/>
        </p:nvSpPr>
        <p:spPr>
          <a:xfrm xmlns:a="http://schemas.openxmlformats.org/drawingml/2006/main">
            <a:off x="609600" y="6553200"/>
            <a:ext cx="68580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MARS SOCIETY 2026  •  HARNESSED AGENTIC SCIENCE + ENGINEERING</a:t>
            </a:r>
          </a:p>
        </p:txBody>
      </p:sp>
      <p:sp>
        <p:nvSpPr>
          <p:cNvPr id="32" name="Rectangle 31">
            <a:extLst xmlns:a="http://schemas.openxmlformats.org/drawingml/2006/main">
              <a:ext uri="{FF2B5EF4-FFF2-40B4-BE49-F238E27FC236}">
                <a16:creationId xmlns:a16="http://schemas.microsoft.com/office/drawing/2014/main" id="{E4307685-14DD-45A3-AE49-CB4CCCF5B68A}"/>
              </a:ext>
            </a:extLst>
          </p:cNvPr>
          <p:cNvSpPr>
            <a:spLocks xmlns:a="http://schemas.openxmlformats.org/drawingml/2006/main" noGrp="1"/>
          </p:cNvSpPr>
          <p:nvPr/>
        </p:nvSpPr>
        <p:spPr>
          <a:xfrm xmlns:a="http://schemas.openxmlformats.org/drawingml/2006/main">
            <a:off x="9525000" y="6553200"/>
            <a:ext cx="20574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BOB J MILLS     07</a:t>
            </a:r>
          </a:p>
        </p:txBody>
      </p:sp>
    </p:spTree>
    <p:extLst>
      <p:ext uri="{BB962C8B-B14F-4D97-AF65-F5344CB8AC3E}">
        <p14:creationId xmlns:p14="http://schemas.microsoft.com/office/powerpoint/2010/main" val="313755682"/>
      </p:ext>
    </p:extLst>
  </p:cSld>
</p:sld>
</file>

<file path=ppt/slides/slide8.xml><?xml version="1.0" encoding="utf-8"?>
<p:sld xmlns:p="http://schemas.openxmlformats.org/presentationml/2006/main">
  <p:cSld>
    <p:bg>
      <p:bgPr>
        <a:solidFill xmlns:a="http://schemas.openxmlformats.org/drawingml/2006/main">
          <a:srgbClr val="07090C"/>
        </a:solidFill>
      </p:bgPr>
    </p:bg>
    <p:spTree>
      <p:nvGrpSpPr>
        <p:cNvPr id="1" name=""/>
        <p:cNvGrpSpPr/>
        <p:nvPr/>
      </p:nvGrpSpPr>
      <p:grpSpPr>
        <a:xfrm xmlns:a="http://schemas.openxmlformats.org/drawingml/2006/main"/>
      </p:grpSpPr>
      <p:pic>
        <p:nvPicPr>
          <p:cNvPr id="36" name="Picture 35"/>
          <p:cNvPicPr>
            <a:picLocks xmlns:a="http://schemas.openxmlformats.org/drawingml/2006/main" noChangeAspect="1"/>
          </p:cNvPicPr>
          <p:nvPr/>
        </p:nvPicPr>
        <p:blipFill>
          <a:blip xmlns:r="http://schemas.openxmlformats.org/officeDocument/2006/relationships" xmlns:a="http://schemas.openxmlformats.org/drawingml/2006/main" r:embed="Rcd5aafa7a89d4591"/>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Rectangle 1">
            <a:extLst xmlns:a="http://schemas.openxmlformats.org/drawingml/2006/main">
              <a:ext uri="{FF2B5EF4-FFF2-40B4-BE49-F238E27FC236}">
                <a16:creationId xmlns:a16="http://schemas.microsoft.com/office/drawing/2014/main" id="{D44F14E2-51BA-42E5-A2D3-8C751CDC5309}"/>
              </a:ext>
            </a:extLst>
          </p:cNvPr>
          <p:cNvSpPr>
            <a:spLocks xmlns:a="http://schemas.openxmlformats.org/drawingml/2006/main" noGrp="1"/>
          </p:cNvSpPr>
          <p:nvPr/>
        </p:nvSpPr>
        <p:spPr>
          <a:xfrm xmlns:a="http://schemas.openxmlformats.org/drawingml/2006/main">
            <a:off x="0" y="0"/>
            <a:ext cx="7334250" cy="6858000"/>
          </a:xfrm>
          <a:prstGeom xmlns:a="http://schemas.openxmlformats.org/drawingml/2006/main" prst="rect">
            <a:avLst/>
          </a:prstGeom>
          <a:gradFill xmlns:a="http://schemas.openxmlformats.org/drawingml/2006/main">
            <a:gsLst>
              <a:gs pos="0">
                <a:srgbClr val="07090C"/>
              </a:gs>
              <a:gs pos="70000">
                <a:srgbClr val="07090C">
                  <a:alpha val="98000"/>
                </a:srgbClr>
              </a:gs>
              <a:gs pos="100000">
                <a:srgbClr val="07090C">
                  <a:alpha val="0"/>
                </a:srgbClr>
              </a:gs>
            </a:gsLst>
            <a:lin ang="0"/>
          </a:gra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 name="Rectangle 2">
            <a:extLst xmlns:a="http://schemas.openxmlformats.org/drawingml/2006/main">
              <a:ext uri="{FF2B5EF4-FFF2-40B4-BE49-F238E27FC236}">
                <a16:creationId xmlns:a16="http://schemas.microsoft.com/office/drawing/2014/main" id="{2413A78B-FD98-46AB-A9E5-09D0F92E600A}"/>
              </a:ext>
            </a:extLst>
          </p:cNvPr>
          <p:cNvSpPr>
            <a:spLocks xmlns:a="http://schemas.openxmlformats.org/drawingml/2006/main" noGrp="1"/>
          </p:cNvSpPr>
          <p:nvPr/>
        </p:nvSpPr>
        <p:spPr>
          <a:xfrm xmlns:a="http://schemas.openxmlformats.org/drawingml/2006/main">
            <a:off x="609600" y="342900"/>
            <a:ext cx="419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75" b="1">
                <a:solidFill>
                  <a:srgbClr val="F26B38"/>
                </a:solidFill>
                <a:latin typeface="DejaVu Sans Mono"/>
                <a:ea typeface="DejaVu Sans Mono"/>
                <a:cs typeface="DejaVu Sans Mono"/>
              </a:defRPr>
            </a:pPr>
            <a:r>
              <a:rPr sz="975" b="1">
                <a:solidFill>
                  <a:srgbClr val="F26B38"/>
                </a:solidFill>
                <a:latin typeface="DejaVu Sans Mono"/>
                <a:ea typeface="DejaVu Sans Mono"/>
                <a:cs typeface="DejaVu Sans Mono"/>
              </a:rPr>
              <a:t>08  /  ENGINEERING HARNESS</a:t>
            </a:r>
          </a:p>
        </p:txBody>
      </p:sp>
      <p:sp>
        <p:nvSpPr>
          <p:cNvPr id="4" name="Rectangle 3">
            <a:extLst xmlns:a="http://schemas.openxmlformats.org/drawingml/2006/main">
              <a:ext uri="{FF2B5EF4-FFF2-40B4-BE49-F238E27FC236}">
                <a16:creationId xmlns:a16="http://schemas.microsoft.com/office/drawing/2014/main" id="{5742B698-46FE-43CC-AB81-B57F29518A5B}"/>
              </a:ext>
            </a:extLst>
          </p:cNvPr>
          <p:cNvSpPr>
            <a:spLocks xmlns:a="http://schemas.openxmlformats.org/drawingml/2006/main" noGrp="1"/>
          </p:cNvSpPr>
          <p:nvPr/>
        </p:nvSpPr>
        <p:spPr>
          <a:xfrm xmlns:a="http://schemas.openxmlformats.org/drawingml/2006/main">
            <a:off x="609600" y="685800"/>
            <a:ext cx="6667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4000"/>
              </a:lnSpc>
              <a:buNone/>
              <a:defRPr sz="2325" b="1">
                <a:solidFill>
                  <a:srgbClr val="F4F6F8"/>
                </a:solidFill>
                <a:latin typeface="DejaVu Sans"/>
                <a:ea typeface="DejaVu Sans"/>
                <a:cs typeface="DejaVu Sans"/>
              </a:defRPr>
            </a:pPr>
            <a:r>
              <a:rPr sz="2325" b="1">
                <a:solidFill>
                  <a:srgbClr val="F4F6F8"/>
                </a:solidFill>
                <a:latin typeface="DejaVu Sans"/>
                <a:ea typeface="DejaVu Sans"/>
                <a:cs typeface="DejaVu Sans"/>
              </a:rPr>
              <a:t>Intelligent Engineer turns evidence into a controlled baseline</a:t>
            </a:r>
          </a:p>
        </p:txBody>
      </p:sp>
      <p:sp>
        <p:nvSpPr>
          <p:cNvPr id="5" name="Rectangle 4">
            <a:extLst xmlns:a="http://schemas.openxmlformats.org/drawingml/2006/main">
              <a:ext uri="{FF2B5EF4-FFF2-40B4-BE49-F238E27FC236}">
                <a16:creationId xmlns:a16="http://schemas.microsoft.com/office/drawing/2014/main" id="{20D2043A-3973-4C9B-9A3A-0CCC64FEFAE4}"/>
              </a:ext>
            </a:extLst>
          </p:cNvPr>
          <p:cNvSpPr>
            <a:spLocks xmlns:a="http://schemas.openxmlformats.org/drawingml/2006/main" noGrp="1"/>
          </p:cNvSpPr>
          <p:nvPr/>
        </p:nvSpPr>
        <p:spPr>
          <a:xfrm xmlns:a="http://schemas.openxmlformats.org/drawingml/2006/main">
            <a:off x="628650" y="1543050"/>
            <a:ext cx="5810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95000"/>
              </a:lnSpc>
              <a:buNone/>
              <a:defRPr sz="1500" b="0">
                <a:solidFill>
                  <a:srgbClr val="D8DEE3"/>
                </a:solidFill>
                <a:latin typeface="DejaVu Sans"/>
                <a:ea typeface="DejaVu Sans"/>
                <a:cs typeface="DejaVu Sans"/>
              </a:defRPr>
            </a:pPr>
            <a:r>
              <a:rPr sz="1500" b="0">
                <a:solidFill>
                  <a:srgbClr val="D8DEE3"/>
                </a:solidFill>
                <a:latin typeface="DejaVu Sans"/>
                <a:ea typeface="DejaVu Sans"/>
                <a:cs typeface="DejaVu Sans"/>
              </a:rPr>
              <a:t>Drafts accelerate work. Phase gates authorize work.</a:t>
            </a:r>
            <a:r>
              <a:rPr sz="1500">
                <a:solidFill>
                  <a:srgbClr val="D8DEE3"/>
                </a:solidFill>
                <a:latin typeface="DejaVu Sans"/>
                <a:ea typeface="DejaVu Sans"/>
                <a:cs typeface="DejaVu Sans"/>
              </a:rPr>
              <a:t> Automated Engineering with Human in the loop</a:t>
            </a:r>
            <a:endParaRPr sz="1500" b="0">
              <a:solidFill>
                <a:srgbClr val="D8DEE3"/>
              </a:solidFill>
              <a:latin typeface="DejaVu Sans"/>
              <a:ea typeface="DejaVu Sans"/>
              <a:cs typeface="DejaVu Sans"/>
            </a:endParaRPr>
          </a:p>
        </p:txBody>
      </p:sp>
      <p:sp>
        <p:nvSpPr>
          <p:cNvPr id="6" name="Rectangle 5">
            <a:extLst xmlns:a="http://schemas.openxmlformats.org/drawingml/2006/main">
              <a:ext uri="{FF2B5EF4-FFF2-40B4-BE49-F238E27FC236}">
                <a16:creationId xmlns:a16="http://schemas.microsoft.com/office/drawing/2014/main" id="{F8C69C8A-58CB-4844-81E2-8BAD4ACE3041}"/>
              </a:ext>
            </a:extLst>
          </p:cNvPr>
          <p:cNvSpPr>
            <a:spLocks xmlns:a="http://schemas.openxmlformats.org/drawingml/2006/main" noGrp="1"/>
          </p:cNvSpPr>
          <p:nvPr/>
        </p:nvSpPr>
        <p:spPr>
          <a:xfrm xmlns:a="http://schemas.openxmlformats.org/drawingml/2006/main">
            <a:off x="895350" y="2552700"/>
            <a:ext cx="4972050" cy="38100"/>
          </a:xfrm>
          <a:prstGeom xmlns:a="http://schemas.openxmlformats.org/drawingml/2006/main" prst="rect">
            <a:avLst/>
          </a:prstGeom>
          <a:solidFill xmlns:a="http://schemas.openxmlformats.org/drawingml/2006/main">
            <a:srgbClr val="35414B"/>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7" name="Oval 6">
            <a:extLst xmlns:a="http://schemas.openxmlformats.org/drawingml/2006/main">
              <a:ext uri="{FF2B5EF4-FFF2-40B4-BE49-F238E27FC236}">
                <a16:creationId xmlns:a16="http://schemas.microsoft.com/office/drawing/2014/main" id="{1BBABCC8-4989-4AC3-AE36-589FA7C2F9B1}"/>
              </a:ext>
            </a:extLst>
          </p:cNvPr>
          <p:cNvSpPr>
            <a:spLocks xmlns:a="http://schemas.openxmlformats.org/drawingml/2006/main" noGrp="1"/>
          </p:cNvSpPr>
          <p:nvPr/>
        </p:nvSpPr>
        <p:spPr>
          <a:xfrm xmlns:a="http://schemas.openxmlformats.org/drawingml/2006/main">
            <a:off x="895350" y="2457450"/>
            <a:ext cx="228600" cy="228600"/>
          </a:xfrm>
          <a:prstGeom xmlns:a="http://schemas.openxmlformats.org/drawingml/2006/main" prst="ellipse">
            <a:avLst/>
          </a:prstGeom>
          <a:solidFill xmlns:a="http://schemas.openxmlformats.org/drawingml/2006/main">
            <a:srgbClr val="39D7FF"/>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8" name="Rectangle 7">
            <a:extLst xmlns:a="http://schemas.openxmlformats.org/drawingml/2006/main">
              <a:ext uri="{FF2B5EF4-FFF2-40B4-BE49-F238E27FC236}">
                <a16:creationId xmlns:a16="http://schemas.microsoft.com/office/drawing/2014/main" id="{11424A6B-7600-4D72-BBD0-3515B663117A}"/>
              </a:ext>
            </a:extLst>
          </p:cNvPr>
          <p:cNvSpPr>
            <a:spLocks xmlns:a="http://schemas.openxmlformats.org/drawingml/2006/main" noGrp="1"/>
          </p:cNvSpPr>
          <p:nvPr/>
        </p:nvSpPr>
        <p:spPr>
          <a:xfrm xmlns:a="http://schemas.openxmlformats.org/drawingml/2006/main">
            <a:off x="571500" y="2857500"/>
            <a:ext cx="895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975" b="1">
                <a:solidFill>
                  <a:srgbClr val="39D7FF"/>
                </a:solidFill>
                <a:latin typeface="DejaVu Sans Mono"/>
                <a:ea typeface="DejaVu Sans Mono"/>
                <a:cs typeface="DejaVu Sans Mono"/>
              </a:defRPr>
            </a:pPr>
            <a:r>
              <a:rPr sz="975" b="1">
                <a:solidFill>
                  <a:srgbClr val="39D7FF"/>
                </a:solidFill>
                <a:latin typeface="DejaVu Sans Mono"/>
                <a:ea typeface="DejaVu Sans Mono"/>
                <a:cs typeface="DejaVu Sans Mono"/>
              </a:rPr>
              <a:t>REQUIRE</a:t>
            </a:r>
          </a:p>
        </p:txBody>
      </p:sp>
      <p:sp>
        <p:nvSpPr>
          <p:cNvPr id="9" name="Rectangle 8">
            <a:extLst xmlns:a="http://schemas.openxmlformats.org/drawingml/2006/main">
              <a:ext uri="{FF2B5EF4-FFF2-40B4-BE49-F238E27FC236}">
                <a16:creationId xmlns:a16="http://schemas.microsoft.com/office/drawing/2014/main" id="{1C314A3D-0989-4AE4-8996-B644BF572617}"/>
              </a:ext>
            </a:extLst>
          </p:cNvPr>
          <p:cNvSpPr>
            <a:spLocks xmlns:a="http://schemas.openxmlformats.org/drawingml/2006/main" noGrp="1"/>
          </p:cNvSpPr>
          <p:nvPr/>
        </p:nvSpPr>
        <p:spPr>
          <a:xfrm xmlns:a="http://schemas.openxmlformats.org/drawingml/2006/main">
            <a:off x="552450" y="3124200"/>
            <a:ext cx="9334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050" b="0">
                <a:solidFill>
                  <a:srgbClr val="8D99A3"/>
                </a:solidFill>
                <a:latin typeface="DejaVu Sans"/>
                <a:ea typeface="DejaVu Sans"/>
                <a:cs typeface="DejaVu Sans"/>
              </a:defRPr>
            </a:pPr>
            <a:r>
              <a:rPr sz="1050" b="0">
                <a:solidFill>
                  <a:srgbClr val="8D99A3"/>
                </a:solidFill>
                <a:latin typeface="DejaVu Sans"/>
                <a:ea typeface="DejaVu Sans"/>
                <a:cs typeface="DejaVu Sans"/>
              </a:rPr>
              <a:t>mission + constraints</a:t>
            </a:r>
          </a:p>
        </p:txBody>
      </p:sp>
      <p:sp>
        <p:nvSpPr>
          <p:cNvPr id="10" name="Arrow: Right 9">
            <a:extLst xmlns:a="http://schemas.openxmlformats.org/drawingml/2006/main">
              <a:ext uri="{FF2B5EF4-FFF2-40B4-BE49-F238E27FC236}">
                <a16:creationId xmlns:a16="http://schemas.microsoft.com/office/drawing/2014/main" id="{2553C784-74FB-4186-98A7-435A07C839BF}"/>
              </a:ext>
            </a:extLst>
          </p:cNvPr>
          <p:cNvSpPr>
            <a:spLocks xmlns:a="http://schemas.openxmlformats.org/drawingml/2006/main" noGrp="1"/>
          </p:cNvSpPr>
          <p:nvPr/>
        </p:nvSpPr>
        <p:spPr>
          <a:xfrm xmlns:a="http://schemas.openxmlformats.org/drawingml/2006/main">
            <a:off x="1181100" y="2495550"/>
            <a:ext cx="476250" cy="152400"/>
          </a:xfrm>
          <a:prstGeom xmlns:a="http://schemas.openxmlformats.org/drawingml/2006/main" prst="rightArrow">
            <a:avLst/>
          </a:prstGeom>
          <a:solidFill xmlns:a="http://schemas.openxmlformats.org/drawingml/2006/main">
            <a:srgbClr val="39D7FF">
              <a:alpha val="55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1" name="Oval 10">
            <a:extLst xmlns:a="http://schemas.openxmlformats.org/drawingml/2006/main">
              <a:ext uri="{FF2B5EF4-FFF2-40B4-BE49-F238E27FC236}">
                <a16:creationId xmlns:a16="http://schemas.microsoft.com/office/drawing/2014/main" id="{A0E5096E-8CE5-4E06-B275-AC8ACED94C24}"/>
              </a:ext>
            </a:extLst>
          </p:cNvPr>
          <p:cNvSpPr>
            <a:spLocks xmlns:a="http://schemas.openxmlformats.org/drawingml/2006/main" noGrp="1"/>
          </p:cNvSpPr>
          <p:nvPr/>
        </p:nvSpPr>
        <p:spPr>
          <a:xfrm xmlns:a="http://schemas.openxmlformats.org/drawingml/2006/main">
            <a:off x="1866900" y="2457450"/>
            <a:ext cx="228600" cy="228600"/>
          </a:xfrm>
          <a:prstGeom xmlns:a="http://schemas.openxmlformats.org/drawingml/2006/main" prst="ellipse">
            <a:avLst/>
          </a:prstGeom>
          <a:solidFill xmlns:a="http://schemas.openxmlformats.org/drawingml/2006/main">
            <a:srgbClr val="39D7FF"/>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2" name="Rectangle 11">
            <a:extLst xmlns:a="http://schemas.openxmlformats.org/drawingml/2006/main">
              <a:ext uri="{FF2B5EF4-FFF2-40B4-BE49-F238E27FC236}">
                <a16:creationId xmlns:a16="http://schemas.microsoft.com/office/drawing/2014/main" id="{19CE5EFC-56AB-42FB-B05A-61DC38CEBD5B}"/>
              </a:ext>
            </a:extLst>
          </p:cNvPr>
          <p:cNvSpPr>
            <a:spLocks xmlns:a="http://schemas.openxmlformats.org/drawingml/2006/main" noGrp="1"/>
          </p:cNvSpPr>
          <p:nvPr/>
        </p:nvSpPr>
        <p:spPr>
          <a:xfrm xmlns:a="http://schemas.openxmlformats.org/drawingml/2006/main">
            <a:off x="1543050" y="2857500"/>
            <a:ext cx="895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975" b="1">
                <a:solidFill>
                  <a:srgbClr val="39D7FF"/>
                </a:solidFill>
                <a:latin typeface="DejaVu Sans Mono"/>
                <a:ea typeface="DejaVu Sans Mono"/>
                <a:cs typeface="DejaVu Sans Mono"/>
              </a:defRPr>
            </a:pPr>
            <a:r>
              <a:rPr sz="975" b="1">
                <a:solidFill>
                  <a:srgbClr val="39D7FF"/>
                </a:solidFill>
                <a:latin typeface="DejaVu Sans Mono"/>
                <a:ea typeface="DejaVu Sans Mono"/>
                <a:cs typeface="DejaVu Sans Mono"/>
              </a:rPr>
              <a:t>TRADE</a:t>
            </a:r>
          </a:p>
        </p:txBody>
      </p:sp>
      <p:sp>
        <p:nvSpPr>
          <p:cNvPr id="13" name="Rectangle 12">
            <a:extLst xmlns:a="http://schemas.openxmlformats.org/drawingml/2006/main">
              <a:ext uri="{FF2B5EF4-FFF2-40B4-BE49-F238E27FC236}">
                <a16:creationId xmlns:a16="http://schemas.microsoft.com/office/drawing/2014/main" id="{3225E171-F916-49B3-A553-55CB49506385}"/>
              </a:ext>
            </a:extLst>
          </p:cNvPr>
          <p:cNvSpPr>
            <a:spLocks xmlns:a="http://schemas.openxmlformats.org/drawingml/2006/main" noGrp="1"/>
          </p:cNvSpPr>
          <p:nvPr/>
        </p:nvSpPr>
        <p:spPr>
          <a:xfrm xmlns:a="http://schemas.openxmlformats.org/drawingml/2006/main">
            <a:off x="1524000" y="3124200"/>
            <a:ext cx="9334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050" b="0">
                <a:solidFill>
                  <a:srgbClr val="8D99A3"/>
                </a:solidFill>
                <a:latin typeface="DejaVu Sans"/>
                <a:ea typeface="DejaVu Sans"/>
                <a:cs typeface="DejaVu Sans"/>
              </a:defRPr>
            </a:pPr>
            <a:r>
              <a:rPr sz="1050" b="0">
                <a:solidFill>
                  <a:srgbClr val="8D99A3"/>
                </a:solidFill>
                <a:latin typeface="DejaVu Sans"/>
                <a:ea typeface="DejaVu Sans"/>
                <a:cs typeface="DejaVu Sans"/>
              </a:rPr>
              <a:t>architecture + margins</a:t>
            </a:r>
          </a:p>
        </p:txBody>
      </p:sp>
      <p:sp>
        <p:nvSpPr>
          <p:cNvPr id="14" name="Arrow: Right 13">
            <a:extLst xmlns:a="http://schemas.openxmlformats.org/drawingml/2006/main">
              <a:ext uri="{FF2B5EF4-FFF2-40B4-BE49-F238E27FC236}">
                <a16:creationId xmlns:a16="http://schemas.microsoft.com/office/drawing/2014/main" id="{631255F7-2693-47D3-9CDC-696BDE43C49E}"/>
              </a:ext>
            </a:extLst>
          </p:cNvPr>
          <p:cNvSpPr>
            <a:spLocks xmlns:a="http://schemas.openxmlformats.org/drawingml/2006/main" noGrp="1"/>
          </p:cNvSpPr>
          <p:nvPr/>
        </p:nvSpPr>
        <p:spPr>
          <a:xfrm xmlns:a="http://schemas.openxmlformats.org/drawingml/2006/main">
            <a:off x="2152650" y="2495550"/>
            <a:ext cx="476250" cy="152400"/>
          </a:xfrm>
          <a:prstGeom xmlns:a="http://schemas.openxmlformats.org/drawingml/2006/main" prst="rightArrow">
            <a:avLst/>
          </a:prstGeom>
          <a:solidFill xmlns:a="http://schemas.openxmlformats.org/drawingml/2006/main">
            <a:srgbClr val="39D7FF">
              <a:alpha val="55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5" name="Oval 14">
            <a:extLst xmlns:a="http://schemas.openxmlformats.org/drawingml/2006/main">
              <a:ext uri="{FF2B5EF4-FFF2-40B4-BE49-F238E27FC236}">
                <a16:creationId xmlns:a16="http://schemas.microsoft.com/office/drawing/2014/main" id="{A2D8F99B-668D-4040-B5A4-73E5F439494B}"/>
              </a:ext>
            </a:extLst>
          </p:cNvPr>
          <p:cNvSpPr>
            <a:spLocks xmlns:a="http://schemas.openxmlformats.org/drawingml/2006/main" noGrp="1"/>
          </p:cNvSpPr>
          <p:nvPr/>
        </p:nvSpPr>
        <p:spPr>
          <a:xfrm xmlns:a="http://schemas.openxmlformats.org/drawingml/2006/main">
            <a:off x="2838450" y="2457450"/>
            <a:ext cx="228600" cy="228600"/>
          </a:xfrm>
          <a:prstGeom xmlns:a="http://schemas.openxmlformats.org/drawingml/2006/main" prst="ellipse">
            <a:avLst/>
          </a:prstGeom>
          <a:solidFill xmlns:a="http://schemas.openxmlformats.org/drawingml/2006/main">
            <a:srgbClr val="F26B38"/>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6" name="Rectangle 15">
            <a:extLst xmlns:a="http://schemas.openxmlformats.org/drawingml/2006/main">
              <a:ext uri="{FF2B5EF4-FFF2-40B4-BE49-F238E27FC236}">
                <a16:creationId xmlns:a16="http://schemas.microsoft.com/office/drawing/2014/main" id="{CBC8F3C4-6C57-4501-BAF4-BB3A8FF13727}"/>
              </a:ext>
            </a:extLst>
          </p:cNvPr>
          <p:cNvSpPr>
            <a:spLocks xmlns:a="http://schemas.openxmlformats.org/drawingml/2006/main" noGrp="1"/>
          </p:cNvSpPr>
          <p:nvPr/>
        </p:nvSpPr>
        <p:spPr>
          <a:xfrm xmlns:a="http://schemas.openxmlformats.org/drawingml/2006/main">
            <a:off x="2514600" y="2857500"/>
            <a:ext cx="895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975" b="1">
                <a:solidFill>
                  <a:srgbClr val="F26B38"/>
                </a:solidFill>
                <a:latin typeface="DejaVu Sans Mono"/>
                <a:ea typeface="DejaVu Sans Mono"/>
                <a:cs typeface="DejaVu Sans Mono"/>
              </a:defRPr>
            </a:pPr>
            <a:r>
              <a:rPr sz="975" b="1">
                <a:solidFill>
                  <a:srgbClr val="F26B38"/>
                </a:solidFill>
                <a:latin typeface="DejaVu Sans Mono"/>
                <a:ea typeface="DejaVu Sans Mono"/>
                <a:cs typeface="DejaVu Sans Mono"/>
              </a:rPr>
              <a:t>DESIGN</a:t>
            </a:r>
          </a:p>
        </p:txBody>
      </p:sp>
      <p:sp>
        <p:nvSpPr>
          <p:cNvPr id="17" name="Rectangle 16">
            <a:extLst xmlns:a="http://schemas.openxmlformats.org/drawingml/2006/main">
              <a:ext uri="{FF2B5EF4-FFF2-40B4-BE49-F238E27FC236}">
                <a16:creationId xmlns:a16="http://schemas.microsoft.com/office/drawing/2014/main" id="{83498A43-764E-45E9-A535-9F31ED72A234}"/>
              </a:ext>
            </a:extLst>
          </p:cNvPr>
          <p:cNvSpPr>
            <a:spLocks xmlns:a="http://schemas.openxmlformats.org/drawingml/2006/main" noGrp="1"/>
          </p:cNvSpPr>
          <p:nvPr/>
        </p:nvSpPr>
        <p:spPr>
          <a:xfrm xmlns:a="http://schemas.openxmlformats.org/drawingml/2006/main">
            <a:off x="2495550" y="3124200"/>
            <a:ext cx="9334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050" b="0">
                <a:solidFill>
                  <a:srgbClr val="8D99A3"/>
                </a:solidFill>
                <a:latin typeface="DejaVu Sans"/>
                <a:ea typeface="DejaVu Sans"/>
                <a:cs typeface="DejaVu Sans"/>
              </a:defRPr>
            </a:pPr>
            <a:r>
              <a:rPr sz="1050" b="0">
                <a:solidFill>
                  <a:srgbClr val="8D99A3"/>
                </a:solidFill>
                <a:latin typeface="DejaVu Sans"/>
                <a:ea typeface="DejaVu Sans"/>
                <a:cs typeface="DejaVu Sans"/>
              </a:rPr>
              <a:t>PDR / CDR sprints</a:t>
            </a:r>
          </a:p>
        </p:txBody>
      </p:sp>
      <p:sp>
        <p:nvSpPr>
          <p:cNvPr id="18" name="Arrow: Right 17">
            <a:extLst xmlns:a="http://schemas.openxmlformats.org/drawingml/2006/main">
              <a:ext uri="{FF2B5EF4-FFF2-40B4-BE49-F238E27FC236}">
                <a16:creationId xmlns:a16="http://schemas.microsoft.com/office/drawing/2014/main" id="{DF02E7D5-7640-45DA-B953-2CEF444C90AB}"/>
              </a:ext>
            </a:extLst>
          </p:cNvPr>
          <p:cNvSpPr>
            <a:spLocks xmlns:a="http://schemas.openxmlformats.org/drawingml/2006/main" noGrp="1"/>
          </p:cNvSpPr>
          <p:nvPr/>
        </p:nvSpPr>
        <p:spPr>
          <a:xfrm xmlns:a="http://schemas.openxmlformats.org/drawingml/2006/main">
            <a:off x="3124200" y="2495550"/>
            <a:ext cx="476250" cy="152400"/>
          </a:xfrm>
          <a:prstGeom xmlns:a="http://schemas.openxmlformats.org/drawingml/2006/main" prst="rightArrow">
            <a:avLst/>
          </a:prstGeom>
          <a:solidFill xmlns:a="http://schemas.openxmlformats.org/drawingml/2006/main">
            <a:srgbClr val="F26B38">
              <a:alpha val="55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9" name="Oval 18">
            <a:extLst xmlns:a="http://schemas.openxmlformats.org/drawingml/2006/main">
              <a:ext uri="{FF2B5EF4-FFF2-40B4-BE49-F238E27FC236}">
                <a16:creationId xmlns:a16="http://schemas.microsoft.com/office/drawing/2014/main" id="{3A4713F4-419D-40A9-B7D2-E3CFB02D65DA}"/>
              </a:ext>
            </a:extLst>
          </p:cNvPr>
          <p:cNvSpPr>
            <a:spLocks xmlns:a="http://schemas.openxmlformats.org/drawingml/2006/main" noGrp="1"/>
          </p:cNvSpPr>
          <p:nvPr/>
        </p:nvSpPr>
        <p:spPr>
          <a:xfrm xmlns:a="http://schemas.openxmlformats.org/drawingml/2006/main">
            <a:off x="3810000" y="2457450"/>
            <a:ext cx="228600" cy="228600"/>
          </a:xfrm>
          <a:prstGeom xmlns:a="http://schemas.openxmlformats.org/drawingml/2006/main" prst="ellipse">
            <a:avLst/>
          </a:prstGeom>
          <a:solidFill xmlns:a="http://schemas.openxmlformats.org/drawingml/2006/main">
            <a:srgbClr val="F26B38"/>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0" name="Rectangle 19">
            <a:extLst xmlns:a="http://schemas.openxmlformats.org/drawingml/2006/main">
              <a:ext uri="{FF2B5EF4-FFF2-40B4-BE49-F238E27FC236}">
                <a16:creationId xmlns:a16="http://schemas.microsoft.com/office/drawing/2014/main" id="{D395837A-42F6-45A8-ADDB-1206572DD97E}"/>
              </a:ext>
            </a:extLst>
          </p:cNvPr>
          <p:cNvSpPr>
            <a:spLocks xmlns:a="http://schemas.openxmlformats.org/drawingml/2006/main" noGrp="1"/>
          </p:cNvSpPr>
          <p:nvPr/>
        </p:nvSpPr>
        <p:spPr>
          <a:xfrm xmlns:a="http://schemas.openxmlformats.org/drawingml/2006/main">
            <a:off x="3486150" y="2857500"/>
            <a:ext cx="895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975" b="1">
                <a:solidFill>
                  <a:srgbClr val="F26B38"/>
                </a:solidFill>
                <a:latin typeface="DejaVu Sans Mono"/>
                <a:ea typeface="DejaVu Sans Mono"/>
                <a:cs typeface="DejaVu Sans Mono"/>
              </a:defRPr>
            </a:pPr>
            <a:r>
              <a:rPr sz="975" b="1">
                <a:solidFill>
                  <a:srgbClr val="F26B38"/>
                </a:solidFill>
                <a:latin typeface="DejaVu Sans Mono"/>
                <a:ea typeface="DejaVu Sans Mono"/>
                <a:cs typeface="DejaVu Sans Mono"/>
              </a:rPr>
              <a:t>HARDEN</a:t>
            </a:r>
          </a:p>
        </p:txBody>
      </p:sp>
      <p:sp>
        <p:nvSpPr>
          <p:cNvPr id="21" name="Rectangle 20">
            <a:extLst xmlns:a="http://schemas.openxmlformats.org/drawingml/2006/main">
              <a:ext uri="{FF2B5EF4-FFF2-40B4-BE49-F238E27FC236}">
                <a16:creationId xmlns:a16="http://schemas.microsoft.com/office/drawing/2014/main" id="{2B80CD9C-83FE-487D-9CD3-1886F8020877}"/>
              </a:ext>
            </a:extLst>
          </p:cNvPr>
          <p:cNvSpPr>
            <a:spLocks xmlns:a="http://schemas.openxmlformats.org/drawingml/2006/main" noGrp="1"/>
          </p:cNvSpPr>
          <p:nvPr/>
        </p:nvSpPr>
        <p:spPr>
          <a:xfrm xmlns:a="http://schemas.openxmlformats.org/drawingml/2006/main">
            <a:off x="3467100" y="3124200"/>
            <a:ext cx="9334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050" b="0">
                <a:solidFill>
                  <a:srgbClr val="8D99A3"/>
                </a:solidFill>
                <a:latin typeface="DejaVu Sans"/>
                <a:ea typeface="DejaVu Sans"/>
                <a:cs typeface="DejaVu Sans"/>
              </a:defRPr>
            </a:pPr>
            <a:r>
              <a:rPr sz="1050" b="0">
                <a:solidFill>
                  <a:srgbClr val="8D99A3"/>
                </a:solidFill>
                <a:latin typeface="DejaVu Sans"/>
                <a:ea typeface="DejaVu Sans"/>
                <a:cs typeface="DejaVu Sans"/>
              </a:rPr>
              <a:t>DFMA • FMEA • faults</a:t>
            </a:r>
          </a:p>
        </p:txBody>
      </p:sp>
      <p:sp>
        <p:nvSpPr>
          <p:cNvPr id="22" name="Arrow: Right 21">
            <a:extLst xmlns:a="http://schemas.openxmlformats.org/drawingml/2006/main">
              <a:ext uri="{FF2B5EF4-FFF2-40B4-BE49-F238E27FC236}">
                <a16:creationId xmlns:a16="http://schemas.microsoft.com/office/drawing/2014/main" id="{9272C2C7-8C82-4FA6-A187-C6351203E3CC}"/>
              </a:ext>
            </a:extLst>
          </p:cNvPr>
          <p:cNvSpPr>
            <a:spLocks xmlns:a="http://schemas.openxmlformats.org/drawingml/2006/main" noGrp="1"/>
          </p:cNvSpPr>
          <p:nvPr/>
        </p:nvSpPr>
        <p:spPr>
          <a:xfrm xmlns:a="http://schemas.openxmlformats.org/drawingml/2006/main">
            <a:off x="4095750" y="2495550"/>
            <a:ext cx="476250" cy="152400"/>
          </a:xfrm>
          <a:prstGeom xmlns:a="http://schemas.openxmlformats.org/drawingml/2006/main" prst="rightArrow">
            <a:avLst/>
          </a:prstGeom>
          <a:solidFill xmlns:a="http://schemas.openxmlformats.org/drawingml/2006/main">
            <a:srgbClr val="F26B38">
              <a:alpha val="55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3" name="Oval 22">
            <a:extLst xmlns:a="http://schemas.openxmlformats.org/drawingml/2006/main">
              <a:ext uri="{FF2B5EF4-FFF2-40B4-BE49-F238E27FC236}">
                <a16:creationId xmlns:a16="http://schemas.microsoft.com/office/drawing/2014/main" id="{CB3A527E-21BC-4ACF-952E-6F7784211C4E}"/>
              </a:ext>
            </a:extLst>
          </p:cNvPr>
          <p:cNvSpPr>
            <a:spLocks xmlns:a="http://schemas.openxmlformats.org/drawingml/2006/main" noGrp="1"/>
          </p:cNvSpPr>
          <p:nvPr/>
        </p:nvSpPr>
        <p:spPr>
          <a:xfrm xmlns:a="http://schemas.openxmlformats.org/drawingml/2006/main">
            <a:off x="4781550" y="2457450"/>
            <a:ext cx="228600" cy="228600"/>
          </a:xfrm>
          <a:prstGeom xmlns:a="http://schemas.openxmlformats.org/drawingml/2006/main" prst="ellipse">
            <a:avLst/>
          </a:prstGeom>
          <a:solidFill xmlns:a="http://schemas.openxmlformats.org/drawingml/2006/main">
            <a:srgbClr val="62D6A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4" name="Rectangle 23">
            <a:extLst xmlns:a="http://schemas.openxmlformats.org/drawingml/2006/main">
              <a:ext uri="{FF2B5EF4-FFF2-40B4-BE49-F238E27FC236}">
                <a16:creationId xmlns:a16="http://schemas.microsoft.com/office/drawing/2014/main" id="{523BD147-B326-427B-8B70-63EB1F7BE80A}"/>
              </a:ext>
            </a:extLst>
          </p:cNvPr>
          <p:cNvSpPr>
            <a:spLocks xmlns:a="http://schemas.openxmlformats.org/drawingml/2006/main" noGrp="1"/>
          </p:cNvSpPr>
          <p:nvPr/>
        </p:nvSpPr>
        <p:spPr>
          <a:xfrm xmlns:a="http://schemas.openxmlformats.org/drawingml/2006/main">
            <a:off x="4457700" y="2857500"/>
            <a:ext cx="895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975" b="1">
                <a:solidFill>
                  <a:srgbClr val="62D6A7"/>
                </a:solidFill>
                <a:latin typeface="DejaVu Sans Mono"/>
                <a:ea typeface="DejaVu Sans Mono"/>
                <a:cs typeface="DejaVu Sans Mono"/>
              </a:defRPr>
            </a:pPr>
            <a:r>
              <a:rPr sz="975" b="1">
                <a:solidFill>
                  <a:srgbClr val="62D6A7"/>
                </a:solidFill>
                <a:latin typeface="DejaVu Sans Mono"/>
                <a:ea typeface="DejaVu Sans Mono"/>
                <a:cs typeface="DejaVu Sans Mono"/>
              </a:rPr>
              <a:t>VERIFY</a:t>
            </a:r>
          </a:p>
        </p:txBody>
      </p:sp>
      <p:sp>
        <p:nvSpPr>
          <p:cNvPr id="25" name="Rectangle 24">
            <a:extLst xmlns:a="http://schemas.openxmlformats.org/drawingml/2006/main">
              <a:ext uri="{FF2B5EF4-FFF2-40B4-BE49-F238E27FC236}">
                <a16:creationId xmlns:a16="http://schemas.microsoft.com/office/drawing/2014/main" id="{274201F0-BE97-4788-8774-C872056F47A8}"/>
              </a:ext>
            </a:extLst>
          </p:cNvPr>
          <p:cNvSpPr>
            <a:spLocks xmlns:a="http://schemas.openxmlformats.org/drawingml/2006/main" noGrp="1"/>
          </p:cNvSpPr>
          <p:nvPr/>
        </p:nvSpPr>
        <p:spPr>
          <a:xfrm xmlns:a="http://schemas.openxmlformats.org/drawingml/2006/main">
            <a:off x="4438650" y="3124200"/>
            <a:ext cx="9334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050" b="0">
                <a:solidFill>
                  <a:srgbClr val="8D99A3"/>
                </a:solidFill>
                <a:latin typeface="DejaVu Sans"/>
                <a:ea typeface="DejaVu Sans"/>
                <a:cs typeface="DejaVu Sans"/>
              </a:defRPr>
            </a:pPr>
            <a:r>
              <a:rPr sz="1050" b="0">
                <a:solidFill>
                  <a:srgbClr val="8D99A3"/>
                </a:solidFill>
                <a:latin typeface="DejaVu Sans"/>
                <a:ea typeface="DejaVu Sans"/>
                <a:cs typeface="DejaVu Sans"/>
              </a:rPr>
              <a:t>methods + acceptance</a:t>
            </a:r>
          </a:p>
        </p:txBody>
      </p:sp>
      <p:sp>
        <p:nvSpPr>
          <p:cNvPr id="26" name="Arrow: Right 25">
            <a:extLst xmlns:a="http://schemas.openxmlformats.org/drawingml/2006/main">
              <a:ext uri="{FF2B5EF4-FFF2-40B4-BE49-F238E27FC236}">
                <a16:creationId xmlns:a16="http://schemas.microsoft.com/office/drawing/2014/main" id="{7FAF4F4D-206E-464A-9541-887E2E23EB12}"/>
              </a:ext>
            </a:extLst>
          </p:cNvPr>
          <p:cNvSpPr>
            <a:spLocks xmlns:a="http://schemas.openxmlformats.org/drawingml/2006/main" noGrp="1"/>
          </p:cNvSpPr>
          <p:nvPr/>
        </p:nvSpPr>
        <p:spPr>
          <a:xfrm xmlns:a="http://schemas.openxmlformats.org/drawingml/2006/main">
            <a:off x="5067300" y="2495550"/>
            <a:ext cx="476250" cy="152400"/>
          </a:xfrm>
          <a:prstGeom xmlns:a="http://schemas.openxmlformats.org/drawingml/2006/main" prst="rightArrow">
            <a:avLst/>
          </a:prstGeom>
          <a:solidFill xmlns:a="http://schemas.openxmlformats.org/drawingml/2006/main">
            <a:srgbClr val="62D6A7">
              <a:alpha val="55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7" name="Oval 26">
            <a:extLst xmlns:a="http://schemas.openxmlformats.org/drawingml/2006/main">
              <a:ext uri="{FF2B5EF4-FFF2-40B4-BE49-F238E27FC236}">
                <a16:creationId xmlns:a16="http://schemas.microsoft.com/office/drawing/2014/main" id="{ACBE0F61-6DE7-41EC-AF60-5F7A2B8FAC8F}"/>
              </a:ext>
            </a:extLst>
          </p:cNvPr>
          <p:cNvSpPr>
            <a:spLocks xmlns:a="http://schemas.openxmlformats.org/drawingml/2006/main" noGrp="1"/>
          </p:cNvSpPr>
          <p:nvPr/>
        </p:nvSpPr>
        <p:spPr>
          <a:xfrm xmlns:a="http://schemas.openxmlformats.org/drawingml/2006/main">
            <a:off x="5753100" y="2457450"/>
            <a:ext cx="228600" cy="228600"/>
          </a:xfrm>
          <a:prstGeom xmlns:a="http://schemas.openxmlformats.org/drawingml/2006/main" prst="ellipse">
            <a:avLst/>
          </a:prstGeom>
          <a:solidFill xmlns:a="http://schemas.openxmlformats.org/drawingml/2006/main">
            <a:srgbClr val="FFC85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8" name="Rectangle 27">
            <a:extLst xmlns:a="http://schemas.openxmlformats.org/drawingml/2006/main">
              <a:ext uri="{FF2B5EF4-FFF2-40B4-BE49-F238E27FC236}">
                <a16:creationId xmlns:a16="http://schemas.microsoft.com/office/drawing/2014/main" id="{E160D0FB-B195-44A8-9AED-2CBA65C4A1F4}"/>
              </a:ext>
            </a:extLst>
          </p:cNvPr>
          <p:cNvSpPr>
            <a:spLocks xmlns:a="http://schemas.openxmlformats.org/drawingml/2006/main" noGrp="1"/>
          </p:cNvSpPr>
          <p:nvPr/>
        </p:nvSpPr>
        <p:spPr>
          <a:xfrm xmlns:a="http://schemas.openxmlformats.org/drawingml/2006/main">
            <a:off x="5429250" y="2857500"/>
            <a:ext cx="895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975" b="1">
                <a:solidFill>
                  <a:srgbClr val="FFC857"/>
                </a:solidFill>
                <a:latin typeface="DejaVu Sans Mono"/>
                <a:ea typeface="DejaVu Sans Mono"/>
                <a:cs typeface="DejaVu Sans Mono"/>
              </a:defRPr>
            </a:pPr>
            <a:r>
              <a:rPr sz="975" b="1">
                <a:solidFill>
                  <a:srgbClr val="FFC857"/>
                </a:solidFill>
                <a:latin typeface="DejaVu Sans Mono"/>
                <a:ea typeface="DejaVu Sans Mono"/>
                <a:cs typeface="DejaVu Sans Mono"/>
              </a:rPr>
              <a:t>RELEASE</a:t>
            </a:r>
          </a:p>
        </p:txBody>
      </p:sp>
      <p:sp>
        <p:nvSpPr>
          <p:cNvPr id="29" name="Rectangle 28">
            <a:extLst xmlns:a="http://schemas.openxmlformats.org/drawingml/2006/main">
              <a:ext uri="{FF2B5EF4-FFF2-40B4-BE49-F238E27FC236}">
                <a16:creationId xmlns:a16="http://schemas.microsoft.com/office/drawing/2014/main" id="{A5D090B7-22FE-4B60-BC91-4BEC943322B5}"/>
              </a:ext>
            </a:extLst>
          </p:cNvPr>
          <p:cNvSpPr>
            <a:spLocks xmlns:a="http://schemas.openxmlformats.org/drawingml/2006/main" noGrp="1"/>
          </p:cNvSpPr>
          <p:nvPr/>
        </p:nvSpPr>
        <p:spPr>
          <a:xfrm xmlns:a="http://schemas.openxmlformats.org/drawingml/2006/main">
            <a:off x="5410200" y="3124200"/>
            <a:ext cx="9334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050" b="0">
                <a:solidFill>
                  <a:srgbClr val="8D99A3"/>
                </a:solidFill>
                <a:latin typeface="DejaVu Sans"/>
                <a:ea typeface="DejaVu Sans"/>
                <a:cs typeface="DejaVu Sans"/>
              </a:defRPr>
            </a:pPr>
            <a:r>
              <a:rPr sz="1050" b="0">
                <a:solidFill>
                  <a:srgbClr val="8D99A3"/>
                </a:solidFill>
                <a:latin typeface="DejaVu Sans"/>
                <a:ea typeface="DejaVu Sans"/>
                <a:cs typeface="DejaVu Sans"/>
              </a:rPr>
              <a:t>locked baseline</a:t>
            </a:r>
          </a:p>
        </p:txBody>
      </p:sp>
      <p:sp>
        <p:nvSpPr>
          <p:cNvPr id="30" name="Rectangle: Rounded Corners 29">
            <a:extLst xmlns:a="http://schemas.openxmlformats.org/drawingml/2006/main">
              <a:ext uri="{FF2B5EF4-FFF2-40B4-BE49-F238E27FC236}">
                <a16:creationId xmlns:a16="http://schemas.microsoft.com/office/drawing/2014/main" id="{82E6344B-DC6B-4B78-A165-9ACD93EC640A}"/>
              </a:ext>
            </a:extLst>
          </p:cNvPr>
          <p:cNvSpPr>
            <a:spLocks xmlns:a="http://schemas.openxmlformats.org/drawingml/2006/main" noGrp="1"/>
          </p:cNvSpPr>
          <p:nvPr/>
        </p:nvSpPr>
        <p:spPr>
          <a:xfrm xmlns:a="http://schemas.openxmlformats.org/drawingml/2006/main">
            <a:off x="1466850" y="4171950"/>
            <a:ext cx="3867150" cy="590550"/>
          </a:xfrm>
          <a:prstGeom xmlns:a="http://schemas.openxmlformats.org/drawingml/2006/main" prst="roundRect">
            <a:avLst>
              <a:gd name="adj" fmla="val 25806"/>
            </a:avLst>
          </a:prstGeom>
          <a:solidFill xmlns:a="http://schemas.openxmlformats.org/drawingml/2006/main">
            <a:srgbClr val="17140F"/>
          </a:solidFill>
          <a:ln xmlns:a="http://schemas.openxmlformats.org/drawingml/2006/main" w="14288">
            <a:solidFill>
              <a:srgbClr val="FFC857"/>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500" b="1">
                <a:solidFill>
                  <a:srgbClr val="FFC857"/>
                </a:solidFill>
                <a:latin typeface="DejaVu Sans Mono"/>
                <a:ea typeface="DejaVu Sans Mono"/>
                <a:cs typeface="DejaVu Sans Mono"/>
              </a:defRPr>
            </a:pPr>
            <a:r>
              <a:rPr sz="1500" b="1">
                <a:solidFill>
                  <a:srgbClr val="FFC857"/>
                </a:solidFill>
                <a:latin typeface="DejaVu Sans Mono"/>
                <a:ea typeface="DejaVu Sans Mono"/>
                <a:cs typeface="DejaVu Sans Mono"/>
              </a:rPr>
              <a:t>LOCKED BASELINE</a:t>
            </a:r>
          </a:p>
        </p:txBody>
      </p:sp>
      <p:sp>
        <p:nvSpPr>
          <p:cNvPr id="31" name="Rectangle 30">
            <a:extLst xmlns:a="http://schemas.openxmlformats.org/drawingml/2006/main">
              <a:ext uri="{FF2B5EF4-FFF2-40B4-BE49-F238E27FC236}">
                <a16:creationId xmlns:a16="http://schemas.microsoft.com/office/drawing/2014/main" id="{23C967CD-2CD0-4EEB-B08A-DEE5633E26A8}"/>
              </a:ext>
            </a:extLst>
          </p:cNvPr>
          <p:cNvSpPr>
            <a:spLocks xmlns:a="http://schemas.openxmlformats.org/drawingml/2006/main" noGrp="1"/>
          </p:cNvSpPr>
          <p:nvPr/>
        </p:nvSpPr>
        <p:spPr>
          <a:xfrm xmlns:a="http://schemas.openxmlformats.org/drawingml/2006/main">
            <a:off x="1200150" y="5029200"/>
            <a:ext cx="4495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1350" b="1">
                <a:solidFill>
                  <a:srgbClr val="F4F6F8"/>
                </a:solidFill>
                <a:latin typeface="DejaVu Sans"/>
                <a:ea typeface="DejaVu Sans"/>
                <a:cs typeface="DejaVu Sans"/>
              </a:defRPr>
            </a:pPr>
            <a:r>
              <a:rPr sz="1350" b="1">
                <a:solidFill>
                  <a:srgbClr val="F4F6F8"/>
                </a:solidFill>
                <a:latin typeface="DejaVu Sans"/>
                <a:ea typeface="DejaVu Sans"/>
                <a:cs typeface="DejaVu Sans"/>
              </a:rPr>
              <a:t>Only reviewed phase outputs become authorized inputs downstream.</a:t>
            </a:r>
          </a:p>
        </p:txBody>
      </p:sp>
      <p:sp>
        <p:nvSpPr>
          <p:cNvPr id="32" name="Rectangle 31">
            <a:extLst xmlns:a="http://schemas.openxmlformats.org/drawingml/2006/main">
              <a:ext uri="{FF2B5EF4-FFF2-40B4-BE49-F238E27FC236}">
                <a16:creationId xmlns:a16="http://schemas.microsoft.com/office/drawing/2014/main" id="{F3C6B7E5-1614-4A93-830B-A99E8754EF16}"/>
              </a:ext>
            </a:extLst>
          </p:cNvPr>
          <p:cNvSpPr>
            <a:spLocks xmlns:a="http://schemas.openxmlformats.org/drawingml/2006/main" noGrp="1"/>
          </p:cNvSpPr>
          <p:nvPr/>
        </p:nvSpPr>
        <p:spPr>
          <a:xfrm xmlns:a="http://schemas.openxmlformats.org/drawingml/2006/main">
            <a:off x="0" y="6400800"/>
            <a:ext cx="12192000" cy="457200"/>
          </a:xfrm>
          <a:prstGeom xmlns:a="http://schemas.openxmlformats.org/drawingml/2006/main" prst="rect">
            <a:avLst/>
          </a:prstGeom>
          <a:solidFill xmlns:a="http://schemas.openxmlformats.org/drawingml/2006/main">
            <a:srgbClr val="07090C">
              <a:alpha val="76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3" name="Rectangle 32">
            <a:extLst xmlns:a="http://schemas.openxmlformats.org/drawingml/2006/main">
              <a:ext uri="{FF2B5EF4-FFF2-40B4-BE49-F238E27FC236}">
                <a16:creationId xmlns:a16="http://schemas.microsoft.com/office/drawing/2014/main" id="{9F8F202D-C6B4-4795-98AA-7F8FB1E841F6}"/>
              </a:ext>
            </a:extLst>
          </p:cNvPr>
          <p:cNvSpPr>
            <a:spLocks xmlns:a="http://schemas.openxmlformats.org/drawingml/2006/main" noGrp="1"/>
          </p:cNvSpPr>
          <p:nvPr/>
        </p:nvSpPr>
        <p:spPr>
          <a:xfrm xmlns:a="http://schemas.openxmlformats.org/drawingml/2006/main">
            <a:off x="609600" y="6553200"/>
            <a:ext cx="68580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MARS SOCIETY 2026  •  HARNESSED AGENTIC SCIENCE + ENGINEERING</a:t>
            </a:r>
          </a:p>
        </p:txBody>
      </p:sp>
      <p:sp>
        <p:nvSpPr>
          <p:cNvPr id="34" name="Rectangle 33">
            <a:extLst xmlns:a="http://schemas.openxmlformats.org/drawingml/2006/main">
              <a:ext uri="{FF2B5EF4-FFF2-40B4-BE49-F238E27FC236}">
                <a16:creationId xmlns:a16="http://schemas.microsoft.com/office/drawing/2014/main" id="{BCF2775D-A133-4E65-9D2B-7E5DEB8800AF}"/>
              </a:ext>
            </a:extLst>
          </p:cNvPr>
          <p:cNvSpPr>
            <a:spLocks xmlns:a="http://schemas.openxmlformats.org/drawingml/2006/main" noGrp="1"/>
          </p:cNvSpPr>
          <p:nvPr/>
        </p:nvSpPr>
        <p:spPr>
          <a:xfrm xmlns:a="http://schemas.openxmlformats.org/drawingml/2006/main">
            <a:off x="9525000" y="6553200"/>
            <a:ext cx="20574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BOB J MILLS     08</a:t>
            </a:r>
          </a:p>
        </p:txBody>
      </p:sp>
    </p:spTree>
    <p:extLst>
      <p:ext uri="{BB962C8B-B14F-4D97-AF65-F5344CB8AC3E}">
        <p14:creationId xmlns:p14="http://schemas.microsoft.com/office/powerpoint/2010/main" val="2112936637"/>
      </p:ext>
    </p:extLst>
  </p:cSld>
</p:sld>
</file>

<file path=ppt/slides/slide9.xml><?xml version="1.0" encoding="utf-8"?>
<p:sld xmlns:p="http://schemas.openxmlformats.org/presentationml/2006/main">
  <p:cSld>
    <p:bg>
      <p:bgPr>
        <a:solidFill xmlns:a="http://schemas.openxmlformats.org/drawingml/2006/main">
          <a:srgbClr val="07090C"/>
        </a:solidFill>
      </p:bgPr>
    </p:bg>
    <p:spTree>
      <p:nvGrpSpPr>
        <p:cNvPr id="1" name=""/>
        <p:cNvGrpSpPr/>
        <p:nvPr/>
      </p:nvGrpSpPr>
      <p:grpSpPr>
        <a:xfrm xmlns:a="http://schemas.openxmlformats.org/drawingml/2006/main"/>
      </p:grpSpPr>
      <p:sp>
        <p:nvSpPr>
          <p:cNvPr id="33" name="Rectangle 32">
            <a:extLst xmlns:a="http://schemas.openxmlformats.org/drawingml/2006/main">
              <a:ext uri="{FF2B5EF4-FFF2-40B4-BE49-F238E27FC236}">
                <a16:creationId xmlns:a16="http://schemas.microsoft.com/office/drawing/2014/main" id="{DEBAB9EB-389B-4B9F-A2FF-50B4E83828D6}"/>
              </a:ext>
            </a:extLst>
          </p:cNvPr>
          <p:cNvSpPr>
            <a:spLocks xmlns:a="http://schemas.openxmlformats.org/drawingml/2006/main" noGrp="1"/>
          </p:cNvSpPr>
          <p:nvPr/>
        </p:nvSpPr>
        <p:spPr>
          <a:xfrm xmlns:a="http://schemas.openxmlformats.org/drawingml/2006/main">
            <a:off x="609600" y="3429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75" b="1">
                <a:solidFill>
                  <a:srgbClr val="F26B38"/>
                </a:solidFill>
                <a:latin typeface="DejaVu Sans Mono"/>
                <a:ea typeface="DejaVu Sans Mono"/>
                <a:cs typeface="DejaVu Sans Mono"/>
              </a:defRPr>
            </a:pPr>
            <a:r>
              <a:rPr sz="975" b="1">
                <a:solidFill>
                  <a:srgbClr val="F26B38"/>
                </a:solidFill>
                <a:latin typeface="DejaVu Sans Mono"/>
                <a:ea typeface="DejaVu Sans Mono"/>
                <a:cs typeface="DejaVu Sans Mono"/>
              </a:rPr>
              <a:t>09  /  DIGITAL THREAD</a:t>
            </a:r>
          </a:p>
        </p:txBody>
      </p:sp>
      <p:sp>
        <p:nvSpPr>
          <p:cNvPr id="2" name="Rectangle 1">
            <a:extLst xmlns:a="http://schemas.openxmlformats.org/drawingml/2006/main">
              <a:ext uri="{FF2B5EF4-FFF2-40B4-BE49-F238E27FC236}">
                <a16:creationId xmlns:a16="http://schemas.microsoft.com/office/drawing/2014/main" id="{82E36457-5F90-4AE7-8126-5948870C8167}"/>
              </a:ext>
            </a:extLst>
          </p:cNvPr>
          <p:cNvSpPr>
            <a:spLocks xmlns:a="http://schemas.openxmlformats.org/drawingml/2006/main" noGrp="1"/>
          </p:cNvSpPr>
          <p:nvPr/>
        </p:nvSpPr>
        <p:spPr>
          <a:xfrm xmlns:a="http://schemas.openxmlformats.org/drawingml/2006/main">
            <a:off x="609600" y="647700"/>
            <a:ext cx="10972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0000"/>
              </a:lnSpc>
              <a:buNone/>
              <a:defRPr sz="2625" b="1">
                <a:solidFill>
                  <a:srgbClr val="F4F6F8"/>
                </a:solidFill>
                <a:latin typeface="DejaVu Sans"/>
                <a:ea typeface="DejaVu Sans"/>
                <a:cs typeface="DejaVu Sans"/>
              </a:defRPr>
            </a:pPr>
            <a:r>
              <a:rPr sz="2625" b="1">
                <a:solidFill>
                  <a:srgbClr val="F4F6F8"/>
                </a:solidFill>
                <a:latin typeface="DejaVu Sans"/>
                <a:ea typeface="DejaVu Sans"/>
                <a:cs typeface="DejaVu Sans"/>
              </a:rPr>
              <a:t>The handoff is structured—not conversational</a:t>
            </a:r>
          </a:p>
        </p:txBody>
      </p:sp>
      <p:sp>
        <p:nvSpPr>
          <p:cNvPr id="3" name="Rectangle 2">
            <a:extLst xmlns:a="http://schemas.openxmlformats.org/drawingml/2006/main">
              <a:ext uri="{FF2B5EF4-FFF2-40B4-BE49-F238E27FC236}">
                <a16:creationId xmlns:a16="http://schemas.microsoft.com/office/drawing/2014/main" id="{A44E6C34-B20A-42F1-B701-CD765AD9CB9C}"/>
              </a:ext>
            </a:extLst>
          </p:cNvPr>
          <p:cNvSpPr>
            <a:spLocks xmlns:a="http://schemas.openxmlformats.org/drawingml/2006/main" noGrp="1"/>
          </p:cNvSpPr>
          <p:nvPr/>
        </p:nvSpPr>
        <p:spPr>
          <a:xfrm xmlns:a="http://schemas.openxmlformats.org/drawingml/2006/main">
            <a:off x="628650" y="1238250"/>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25" b="0">
                <a:solidFill>
                  <a:srgbClr val="8D99A3"/>
                </a:solidFill>
                <a:latin typeface="DejaVu Sans"/>
                <a:ea typeface="DejaVu Sans"/>
                <a:cs typeface="DejaVu Sans"/>
              </a:defRPr>
            </a:pPr>
            <a:r>
              <a:rPr sz="1425" b="0">
                <a:solidFill>
                  <a:srgbClr val="8D99A3"/>
                </a:solidFill>
                <a:latin typeface="DejaVu Sans"/>
                <a:ea typeface="DejaVu Sans"/>
                <a:cs typeface="DejaVu Sans"/>
              </a:rPr>
              <a:t>Engineering inherits equations, bounds, provenance and tests together, so changed evidence can reopen the right decisions.</a:t>
            </a:r>
          </a:p>
        </p:txBody>
      </p:sp>
      <p:sp>
        <p:nvSpPr>
          <p:cNvPr id="4" name="Straight Connector 3">
            <a:extLst xmlns:a="http://schemas.openxmlformats.org/drawingml/2006/main">
              <a:ext uri="{FF2B5EF4-FFF2-40B4-BE49-F238E27FC236}">
                <a16:creationId xmlns:a16="http://schemas.microsoft.com/office/drawing/2014/main" id="{A4A192B9-26B2-4CF3-BBC2-49BB02F57F80}"/>
              </a:ext>
            </a:extLst>
          </p:cNvPr>
          <p:cNvSpPr>
            <a:spLocks xmlns:a="http://schemas.openxmlformats.org/drawingml/2006/main" noGrp="1"/>
          </p:cNvSpPr>
          <p:nvPr/>
        </p:nvSpPr>
        <p:spPr>
          <a:xfrm xmlns:a="http://schemas.openxmlformats.org/drawingml/2006/main">
            <a:off x="609600" y="1676400"/>
            <a:ext cx="10972800" cy="0"/>
          </a:xfrm>
          <a:prstGeom xmlns:a="http://schemas.openxmlformats.org/drawingml/2006/main" prst="line">
            <a:avLst/>
          </a:prstGeom>
          <a:noFill xmlns:a="http://schemas.openxmlformats.org/drawingml/2006/main"/>
          <a:ln xmlns:a="http://schemas.openxmlformats.org/drawingml/2006/main" w="9525">
            <a:solidFill>
              <a:srgbClr val="35414B"/>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Rectangle: Rounded Corners 4">
            <a:extLst xmlns:a="http://schemas.openxmlformats.org/drawingml/2006/main">
              <a:ext uri="{FF2B5EF4-FFF2-40B4-BE49-F238E27FC236}">
                <a16:creationId xmlns:a16="http://schemas.microsoft.com/office/drawing/2014/main" id="{548EDA53-E72D-4901-838C-1926E499B45C}"/>
              </a:ext>
            </a:extLst>
          </p:cNvPr>
          <p:cNvSpPr>
            <a:spLocks xmlns:a="http://schemas.openxmlformats.org/drawingml/2006/main" noGrp="1"/>
          </p:cNvSpPr>
          <p:nvPr/>
        </p:nvSpPr>
        <p:spPr>
          <a:xfrm xmlns:a="http://schemas.openxmlformats.org/drawingml/2006/main">
            <a:off x="723900" y="2000250"/>
            <a:ext cx="2133600" cy="419100"/>
          </a:xfrm>
          <a:prstGeom xmlns:a="http://schemas.openxmlformats.org/drawingml/2006/main" prst="roundRect">
            <a:avLst>
              <a:gd name="adj" fmla="val 36364"/>
            </a:avLst>
          </a:prstGeom>
          <a:solidFill xmlns:a="http://schemas.openxmlformats.org/drawingml/2006/main">
            <a:srgbClr val="11171C"/>
          </a:solidFill>
          <a:ln xmlns:a="http://schemas.openxmlformats.org/drawingml/2006/main" w="14288">
            <a:solidFill>
              <a:srgbClr val="39D7FF"/>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050" b="1">
                <a:solidFill>
                  <a:srgbClr val="39D7FF"/>
                </a:solidFill>
                <a:latin typeface="DejaVu Sans Mono"/>
                <a:ea typeface="DejaVu Sans Mono"/>
                <a:cs typeface="DejaVu Sans Mono"/>
              </a:defRPr>
            </a:pPr>
            <a:r>
              <a:rPr sz="1050" b="1">
                <a:solidFill>
                  <a:srgbClr val="39D7FF"/>
                </a:solidFill>
                <a:latin typeface="DejaVu Sans Mono"/>
                <a:ea typeface="DejaVu Sans Mono"/>
                <a:cs typeface="DejaVu Sans Mono"/>
              </a:rPr>
              <a:t>EQUATIONS</a:t>
            </a:r>
          </a:p>
        </p:txBody>
      </p:sp>
      <p:sp>
        <p:nvSpPr>
          <p:cNvPr id="6" name="Arrow: Right 5">
            <a:extLst xmlns:a="http://schemas.openxmlformats.org/drawingml/2006/main">
              <a:ext uri="{FF2B5EF4-FFF2-40B4-BE49-F238E27FC236}">
                <a16:creationId xmlns:a16="http://schemas.microsoft.com/office/drawing/2014/main" id="{B4F63093-3FBB-470A-961E-6113353B04AF}"/>
              </a:ext>
            </a:extLst>
          </p:cNvPr>
          <p:cNvSpPr>
            <a:spLocks xmlns:a="http://schemas.openxmlformats.org/drawingml/2006/main" noGrp="1"/>
          </p:cNvSpPr>
          <p:nvPr/>
        </p:nvSpPr>
        <p:spPr>
          <a:xfrm xmlns:a="http://schemas.openxmlformats.org/drawingml/2006/main">
            <a:off x="2919966" y="2133600"/>
            <a:ext cx="623334" cy="141670"/>
          </a:xfrm>
          <a:prstGeom xmlns:a="http://schemas.openxmlformats.org/drawingml/2006/main" prst="rightArrow">
            <a:avLst/>
          </a:prstGeom>
          <a:solidFill xmlns:a="http://schemas.openxmlformats.org/drawingml/2006/main">
            <a:srgbClr val="39D7FF">
              <a:alpha val="6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7" name="Rectangle: Rounded Corners 6">
            <a:extLst xmlns:a="http://schemas.openxmlformats.org/drawingml/2006/main">
              <a:ext uri="{FF2B5EF4-FFF2-40B4-BE49-F238E27FC236}">
                <a16:creationId xmlns:a16="http://schemas.microsoft.com/office/drawing/2014/main" id="{072CD3BF-61A1-4131-9D13-01248036B085}"/>
              </a:ext>
            </a:extLst>
          </p:cNvPr>
          <p:cNvSpPr>
            <a:spLocks xmlns:a="http://schemas.openxmlformats.org/drawingml/2006/main" noGrp="1"/>
          </p:cNvSpPr>
          <p:nvPr/>
        </p:nvSpPr>
        <p:spPr>
          <a:xfrm xmlns:a="http://schemas.openxmlformats.org/drawingml/2006/main">
            <a:off x="723900" y="2609850"/>
            <a:ext cx="2133600" cy="419100"/>
          </a:xfrm>
          <a:prstGeom xmlns:a="http://schemas.openxmlformats.org/drawingml/2006/main" prst="roundRect">
            <a:avLst>
              <a:gd name="adj" fmla="val 36364"/>
            </a:avLst>
          </a:prstGeom>
          <a:solidFill xmlns:a="http://schemas.openxmlformats.org/drawingml/2006/main">
            <a:srgbClr val="11171C"/>
          </a:solidFill>
          <a:ln xmlns:a="http://schemas.openxmlformats.org/drawingml/2006/main" w="14288">
            <a:solidFill>
              <a:srgbClr val="39D7FF"/>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050" b="1">
                <a:solidFill>
                  <a:srgbClr val="39D7FF"/>
                </a:solidFill>
                <a:latin typeface="DejaVu Sans Mono"/>
                <a:ea typeface="DejaVu Sans Mono"/>
                <a:cs typeface="DejaVu Sans Mono"/>
              </a:defRPr>
            </a:pPr>
            <a:r>
              <a:rPr sz="1050" b="1">
                <a:solidFill>
                  <a:srgbClr val="39D7FF"/>
                </a:solidFill>
                <a:latin typeface="DejaVu Sans Mono"/>
                <a:ea typeface="DejaVu Sans Mono"/>
                <a:cs typeface="DejaVu Sans Mono"/>
              </a:rPr>
              <a:t>DISTRIBUTIONS</a:t>
            </a:r>
          </a:p>
        </p:txBody>
      </p:sp>
      <p:sp>
        <p:nvSpPr>
          <p:cNvPr id="8" name="Arrow: Right 7">
            <a:extLst xmlns:a="http://schemas.openxmlformats.org/drawingml/2006/main">
              <a:ext uri="{FF2B5EF4-FFF2-40B4-BE49-F238E27FC236}">
                <a16:creationId xmlns:a16="http://schemas.microsoft.com/office/drawing/2014/main" id="{1EEED3AE-2B33-4D86-96BA-94070F71C2B6}"/>
              </a:ext>
            </a:extLst>
          </p:cNvPr>
          <p:cNvSpPr>
            <a:spLocks xmlns:a="http://schemas.openxmlformats.org/drawingml/2006/main" noGrp="1"/>
          </p:cNvSpPr>
          <p:nvPr/>
        </p:nvSpPr>
        <p:spPr>
          <a:xfrm xmlns:a="http://schemas.openxmlformats.org/drawingml/2006/main">
            <a:off x="2994692" y="2743200"/>
            <a:ext cx="720058" cy="141670"/>
          </a:xfrm>
          <a:prstGeom xmlns:a="http://schemas.openxmlformats.org/drawingml/2006/main" prst="rightArrow">
            <a:avLst/>
          </a:prstGeom>
          <a:solidFill xmlns:a="http://schemas.openxmlformats.org/drawingml/2006/main">
            <a:srgbClr val="39D7FF">
              <a:alpha val="6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9" name="Rectangle: Rounded Corners 8">
            <a:extLst xmlns:a="http://schemas.openxmlformats.org/drawingml/2006/main">
              <a:ext uri="{FF2B5EF4-FFF2-40B4-BE49-F238E27FC236}">
                <a16:creationId xmlns:a16="http://schemas.microsoft.com/office/drawing/2014/main" id="{C1C32321-196C-4E95-9FDB-59D5F8A5D629}"/>
              </a:ext>
            </a:extLst>
          </p:cNvPr>
          <p:cNvSpPr>
            <a:spLocks xmlns:a="http://schemas.openxmlformats.org/drawingml/2006/main" noGrp="1"/>
          </p:cNvSpPr>
          <p:nvPr/>
        </p:nvSpPr>
        <p:spPr>
          <a:xfrm xmlns:a="http://schemas.openxmlformats.org/drawingml/2006/main">
            <a:off x="723900" y="3219450"/>
            <a:ext cx="2133600" cy="419100"/>
          </a:xfrm>
          <a:prstGeom xmlns:a="http://schemas.openxmlformats.org/drawingml/2006/main" prst="roundRect">
            <a:avLst>
              <a:gd name="adj" fmla="val 36364"/>
            </a:avLst>
          </a:prstGeom>
          <a:solidFill xmlns:a="http://schemas.openxmlformats.org/drawingml/2006/main">
            <a:srgbClr val="11171C"/>
          </a:solidFill>
          <a:ln xmlns:a="http://schemas.openxmlformats.org/drawingml/2006/main" w="14288">
            <a:solidFill>
              <a:srgbClr val="F26B38"/>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050" b="1">
                <a:solidFill>
                  <a:srgbClr val="F26B38"/>
                </a:solidFill>
                <a:latin typeface="DejaVu Sans Mono"/>
                <a:ea typeface="DejaVu Sans Mono"/>
                <a:cs typeface="DejaVu Sans Mono"/>
              </a:defRPr>
            </a:pPr>
            <a:r>
              <a:rPr sz="1050" b="1">
                <a:solidFill>
                  <a:srgbClr val="F26B38"/>
                </a:solidFill>
                <a:latin typeface="DejaVu Sans Mono"/>
                <a:ea typeface="DejaVu Sans Mono"/>
                <a:cs typeface="DejaVu Sans Mono"/>
              </a:rPr>
              <a:t>ENVELOPES</a:t>
            </a:r>
          </a:p>
        </p:txBody>
      </p:sp>
      <p:sp>
        <p:nvSpPr>
          <p:cNvPr id="10" name="Arrow: Right 9">
            <a:extLst xmlns:a="http://schemas.openxmlformats.org/drawingml/2006/main">
              <a:ext uri="{FF2B5EF4-FFF2-40B4-BE49-F238E27FC236}">
                <a16:creationId xmlns:a16="http://schemas.microsoft.com/office/drawing/2014/main" id="{2A6253A5-FD10-4E16-8F6D-A97B7F4AC8E7}"/>
              </a:ext>
            </a:extLst>
          </p:cNvPr>
          <p:cNvSpPr>
            <a:spLocks xmlns:a="http://schemas.openxmlformats.org/drawingml/2006/main" noGrp="1"/>
          </p:cNvSpPr>
          <p:nvPr/>
        </p:nvSpPr>
        <p:spPr>
          <a:xfrm xmlns:a="http://schemas.openxmlformats.org/drawingml/2006/main">
            <a:off x="3069418" y="3352800"/>
            <a:ext cx="816782" cy="141670"/>
          </a:xfrm>
          <a:prstGeom xmlns:a="http://schemas.openxmlformats.org/drawingml/2006/main" prst="rightArrow">
            <a:avLst/>
          </a:prstGeom>
          <a:solidFill xmlns:a="http://schemas.openxmlformats.org/drawingml/2006/main">
            <a:srgbClr val="F26B38">
              <a:alpha val="6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1" name="Rectangle: Rounded Corners 10">
            <a:extLst xmlns:a="http://schemas.openxmlformats.org/drawingml/2006/main">
              <a:ext uri="{FF2B5EF4-FFF2-40B4-BE49-F238E27FC236}">
                <a16:creationId xmlns:a16="http://schemas.microsoft.com/office/drawing/2014/main" id="{74B2A5B8-D953-47B2-92E2-AB214FAED412}"/>
              </a:ext>
            </a:extLst>
          </p:cNvPr>
          <p:cNvSpPr>
            <a:spLocks xmlns:a="http://schemas.openxmlformats.org/drawingml/2006/main" noGrp="1"/>
          </p:cNvSpPr>
          <p:nvPr/>
        </p:nvSpPr>
        <p:spPr>
          <a:xfrm xmlns:a="http://schemas.openxmlformats.org/drawingml/2006/main">
            <a:off x="723900" y="3829050"/>
            <a:ext cx="2133600" cy="419100"/>
          </a:xfrm>
          <a:prstGeom xmlns:a="http://schemas.openxmlformats.org/drawingml/2006/main" prst="roundRect">
            <a:avLst>
              <a:gd name="adj" fmla="val 36364"/>
            </a:avLst>
          </a:prstGeom>
          <a:solidFill xmlns:a="http://schemas.openxmlformats.org/drawingml/2006/main">
            <a:srgbClr val="11171C"/>
          </a:solidFill>
          <a:ln xmlns:a="http://schemas.openxmlformats.org/drawingml/2006/main" w="14288">
            <a:solidFill>
              <a:srgbClr val="FFC857"/>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050" b="1">
                <a:solidFill>
                  <a:srgbClr val="FFC857"/>
                </a:solidFill>
                <a:latin typeface="DejaVu Sans Mono"/>
                <a:ea typeface="DejaVu Sans Mono"/>
                <a:cs typeface="DejaVu Sans Mono"/>
              </a:defRPr>
            </a:pPr>
            <a:r>
              <a:rPr sz="1050" b="1">
                <a:solidFill>
                  <a:srgbClr val="FFC857"/>
                </a:solidFill>
                <a:latin typeface="DejaVu Sans Mono"/>
                <a:ea typeface="DejaVu Sans Mono"/>
                <a:cs typeface="DejaVu Sans Mono"/>
              </a:rPr>
              <a:t>ASSUMPTIONS</a:t>
            </a:r>
          </a:p>
        </p:txBody>
      </p:sp>
      <p:sp>
        <p:nvSpPr>
          <p:cNvPr id="12" name="Arrow: Right 11">
            <a:extLst xmlns:a="http://schemas.openxmlformats.org/drawingml/2006/main">
              <a:ext uri="{FF2B5EF4-FFF2-40B4-BE49-F238E27FC236}">
                <a16:creationId xmlns:a16="http://schemas.microsoft.com/office/drawing/2014/main" id="{DD976BB9-9C51-417B-8645-1017B6BE3552}"/>
              </a:ext>
            </a:extLst>
          </p:cNvPr>
          <p:cNvSpPr>
            <a:spLocks xmlns:a="http://schemas.openxmlformats.org/drawingml/2006/main" noGrp="1"/>
          </p:cNvSpPr>
          <p:nvPr/>
        </p:nvSpPr>
        <p:spPr>
          <a:xfrm xmlns:a="http://schemas.openxmlformats.org/drawingml/2006/main">
            <a:off x="3144144" y="3962400"/>
            <a:ext cx="913506" cy="141670"/>
          </a:xfrm>
          <a:prstGeom xmlns:a="http://schemas.openxmlformats.org/drawingml/2006/main" prst="rightArrow">
            <a:avLst/>
          </a:prstGeom>
          <a:solidFill xmlns:a="http://schemas.openxmlformats.org/drawingml/2006/main">
            <a:srgbClr val="FFC857">
              <a:alpha val="6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3" name="Rectangle: Rounded Corners 12">
            <a:extLst xmlns:a="http://schemas.openxmlformats.org/drawingml/2006/main">
              <a:ext uri="{FF2B5EF4-FFF2-40B4-BE49-F238E27FC236}">
                <a16:creationId xmlns:a16="http://schemas.microsoft.com/office/drawing/2014/main" id="{7B26605A-C5DA-40B1-8121-A279085899CD}"/>
              </a:ext>
            </a:extLst>
          </p:cNvPr>
          <p:cNvSpPr>
            <a:spLocks xmlns:a="http://schemas.openxmlformats.org/drawingml/2006/main" noGrp="1"/>
          </p:cNvSpPr>
          <p:nvPr/>
        </p:nvSpPr>
        <p:spPr>
          <a:xfrm xmlns:a="http://schemas.openxmlformats.org/drawingml/2006/main">
            <a:off x="723900" y="4438650"/>
            <a:ext cx="2133600" cy="419100"/>
          </a:xfrm>
          <a:prstGeom xmlns:a="http://schemas.openxmlformats.org/drawingml/2006/main" prst="roundRect">
            <a:avLst>
              <a:gd name="adj" fmla="val 36364"/>
            </a:avLst>
          </a:prstGeom>
          <a:solidFill xmlns:a="http://schemas.openxmlformats.org/drawingml/2006/main">
            <a:srgbClr val="11171C"/>
          </a:solidFill>
          <a:ln xmlns:a="http://schemas.openxmlformats.org/drawingml/2006/main" w="14288">
            <a:solidFill>
              <a:srgbClr val="62D6A7"/>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050" b="1">
                <a:solidFill>
                  <a:srgbClr val="62D6A7"/>
                </a:solidFill>
                <a:latin typeface="DejaVu Sans Mono"/>
                <a:ea typeface="DejaVu Sans Mono"/>
                <a:cs typeface="DejaVu Sans Mono"/>
              </a:defRPr>
            </a:pPr>
            <a:r>
              <a:rPr sz="1050" b="1">
                <a:solidFill>
                  <a:srgbClr val="62D6A7"/>
                </a:solidFill>
                <a:latin typeface="DejaVu Sans Mono"/>
                <a:ea typeface="DejaVu Sans Mono"/>
                <a:cs typeface="DejaVu Sans Mono"/>
              </a:rPr>
              <a:t>PROVENANCE</a:t>
            </a:r>
          </a:p>
        </p:txBody>
      </p:sp>
      <p:sp>
        <p:nvSpPr>
          <p:cNvPr id="14" name="Arrow: Right 13">
            <a:extLst xmlns:a="http://schemas.openxmlformats.org/drawingml/2006/main">
              <a:ext uri="{FF2B5EF4-FFF2-40B4-BE49-F238E27FC236}">
                <a16:creationId xmlns:a16="http://schemas.microsoft.com/office/drawing/2014/main" id="{10449FC9-0FE4-4285-802B-27DD6D7A1174}"/>
              </a:ext>
            </a:extLst>
          </p:cNvPr>
          <p:cNvSpPr>
            <a:spLocks xmlns:a="http://schemas.openxmlformats.org/drawingml/2006/main" noGrp="1"/>
          </p:cNvSpPr>
          <p:nvPr/>
        </p:nvSpPr>
        <p:spPr>
          <a:xfrm xmlns:a="http://schemas.openxmlformats.org/drawingml/2006/main">
            <a:off x="3218870" y="4572000"/>
            <a:ext cx="1010230" cy="141670"/>
          </a:xfrm>
          <a:prstGeom xmlns:a="http://schemas.openxmlformats.org/drawingml/2006/main" prst="rightArrow">
            <a:avLst/>
          </a:prstGeom>
          <a:solidFill xmlns:a="http://schemas.openxmlformats.org/drawingml/2006/main">
            <a:srgbClr val="62D6A7">
              <a:alpha val="6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5" name="Rectangle: Rounded Corners 14">
            <a:extLst xmlns:a="http://schemas.openxmlformats.org/drawingml/2006/main">
              <a:ext uri="{FF2B5EF4-FFF2-40B4-BE49-F238E27FC236}">
                <a16:creationId xmlns:a16="http://schemas.microsoft.com/office/drawing/2014/main" id="{D35293C8-D6E3-4EAE-82F0-5F857B11F893}"/>
              </a:ext>
            </a:extLst>
          </p:cNvPr>
          <p:cNvSpPr>
            <a:spLocks xmlns:a="http://schemas.openxmlformats.org/drawingml/2006/main" noGrp="1"/>
          </p:cNvSpPr>
          <p:nvPr/>
        </p:nvSpPr>
        <p:spPr>
          <a:xfrm xmlns:a="http://schemas.openxmlformats.org/drawingml/2006/main">
            <a:off x="723900" y="5048250"/>
            <a:ext cx="2133600" cy="419100"/>
          </a:xfrm>
          <a:prstGeom xmlns:a="http://schemas.openxmlformats.org/drawingml/2006/main" prst="roundRect">
            <a:avLst>
              <a:gd name="adj" fmla="val 36364"/>
            </a:avLst>
          </a:prstGeom>
          <a:solidFill xmlns:a="http://schemas.openxmlformats.org/drawingml/2006/main">
            <a:srgbClr val="11171C"/>
          </a:solidFill>
          <a:ln xmlns:a="http://schemas.openxmlformats.org/drawingml/2006/main" w="14288">
            <a:solidFill>
              <a:srgbClr val="FF6262"/>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050" b="1">
                <a:solidFill>
                  <a:srgbClr val="FF6262"/>
                </a:solidFill>
                <a:latin typeface="DejaVu Sans Mono"/>
                <a:ea typeface="DejaVu Sans Mono"/>
                <a:cs typeface="DejaVu Sans Mono"/>
              </a:defRPr>
            </a:pPr>
            <a:r>
              <a:rPr sz="1050" b="1">
                <a:solidFill>
                  <a:srgbClr val="FF6262"/>
                </a:solidFill>
                <a:latin typeface="DejaVu Sans Mono"/>
                <a:ea typeface="DejaVu Sans Mono"/>
                <a:cs typeface="DejaVu Sans Mono"/>
              </a:rPr>
              <a:t>REQUIRED TESTS</a:t>
            </a:r>
          </a:p>
        </p:txBody>
      </p:sp>
      <p:sp>
        <p:nvSpPr>
          <p:cNvPr id="16" name="Arrow: Right 15">
            <a:extLst xmlns:a="http://schemas.openxmlformats.org/drawingml/2006/main">
              <a:ext uri="{FF2B5EF4-FFF2-40B4-BE49-F238E27FC236}">
                <a16:creationId xmlns:a16="http://schemas.microsoft.com/office/drawing/2014/main" id="{38CFD358-A039-49D4-8236-C629823E4BD7}"/>
              </a:ext>
            </a:extLst>
          </p:cNvPr>
          <p:cNvSpPr>
            <a:spLocks xmlns:a="http://schemas.openxmlformats.org/drawingml/2006/main" noGrp="1"/>
          </p:cNvSpPr>
          <p:nvPr/>
        </p:nvSpPr>
        <p:spPr>
          <a:xfrm xmlns:a="http://schemas.openxmlformats.org/drawingml/2006/main">
            <a:off x="3293594" y="5181600"/>
            <a:ext cx="1106955" cy="141670"/>
          </a:xfrm>
          <a:prstGeom xmlns:a="http://schemas.openxmlformats.org/drawingml/2006/main" prst="rightArrow">
            <a:avLst/>
          </a:prstGeom>
          <a:solidFill xmlns:a="http://schemas.openxmlformats.org/drawingml/2006/main">
            <a:srgbClr val="FF6262">
              <a:alpha val="6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7" name="Rectangle: Rounded Corners 16">
            <a:extLst xmlns:a="http://schemas.openxmlformats.org/drawingml/2006/main">
              <a:ext uri="{FF2B5EF4-FFF2-40B4-BE49-F238E27FC236}">
                <a16:creationId xmlns:a16="http://schemas.microsoft.com/office/drawing/2014/main" id="{F5D54286-F464-4AE6-AB8C-B9241045DD05}"/>
              </a:ext>
            </a:extLst>
          </p:cNvPr>
          <p:cNvSpPr>
            <a:spLocks xmlns:a="http://schemas.openxmlformats.org/drawingml/2006/main" noGrp="1"/>
          </p:cNvSpPr>
          <p:nvPr/>
        </p:nvSpPr>
        <p:spPr>
          <a:xfrm xmlns:a="http://schemas.openxmlformats.org/drawingml/2006/main">
            <a:off x="4514850" y="2057400"/>
            <a:ext cx="3105150" cy="3429000"/>
          </a:xfrm>
          <a:prstGeom xmlns:a="http://schemas.openxmlformats.org/drawingml/2006/main" prst="roundRect">
            <a:avLst>
              <a:gd name="adj" fmla="val 7362"/>
            </a:avLst>
          </a:prstGeom>
          <a:gradFill xmlns:a="http://schemas.openxmlformats.org/drawingml/2006/main">
            <a:gsLst>
              <a:gs pos="0">
                <a:srgbClr val="15232B"/>
              </a:gs>
              <a:gs pos="100000">
                <a:srgbClr val="0D1216"/>
              </a:gs>
            </a:gsLst>
            <a:lin ang="8100000"/>
          </a:gradFill>
          <a:ln xmlns:a="http://schemas.openxmlformats.org/drawingml/2006/main" w="14288">
            <a:solidFill>
              <a:srgbClr val="F4F6F8"/>
            </a:solidFill>
            <a:prstDash val="solid"/>
          </a:ln>
        </p:spPr>
        <p:txBody>
          <a:bodyPr xmlns:a="http://schemas.openxmlformats.org/drawingml/2006/main"/>
          <a:lstStyle xmlns:a="http://schemas.openxmlformats.org/drawingml/2006/main"/>
          <a:p xmlns:a="http://schemas.openxmlformats.org/drawingml/2006/main">
            <a:endParaRPr/>
          </a:p>
        </p:txBody>
      </p:sp>
      <p:sp>
        <p:nvSpPr>
          <p:cNvPr id="18" name="Rectangle 17">
            <a:extLst xmlns:a="http://schemas.openxmlformats.org/drawingml/2006/main">
              <a:ext uri="{FF2B5EF4-FFF2-40B4-BE49-F238E27FC236}">
                <a16:creationId xmlns:a16="http://schemas.microsoft.com/office/drawing/2014/main" id="{27F04D59-44B3-4562-B2F6-89164082B36C}"/>
              </a:ext>
            </a:extLst>
          </p:cNvPr>
          <p:cNvSpPr>
            <a:spLocks xmlns:a="http://schemas.openxmlformats.org/drawingml/2006/main" noGrp="1"/>
          </p:cNvSpPr>
          <p:nvPr/>
        </p:nvSpPr>
        <p:spPr>
          <a:xfrm xmlns:a="http://schemas.openxmlformats.org/drawingml/2006/main">
            <a:off x="4953000" y="2647950"/>
            <a:ext cx="22479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0000"/>
              </a:lnSpc>
              <a:buNone/>
              <a:defRPr sz="2250" b="1">
                <a:solidFill>
                  <a:srgbClr val="F4F6F8"/>
                </a:solidFill>
                <a:latin typeface="DejaVu Sans"/>
                <a:ea typeface="DejaVu Sans"/>
                <a:cs typeface="DejaVu Sans"/>
              </a:defRPr>
            </a:pPr>
            <a:r>
              <a:rPr sz="2250" b="1">
                <a:solidFill>
                  <a:srgbClr val="F4F6F8"/>
                </a:solidFill>
                <a:latin typeface="DejaVu Sans"/>
                <a:ea typeface="DejaVu Sans"/>
                <a:cs typeface="DejaVu Sans"/>
              </a:rPr>
              <a:t>ENGINEERING</a:t>
            </a:r>
          </a:p>
          <a:p xmlns:a="http://schemas.openxmlformats.org/drawingml/2006/main">
            <a:pPr algn="ctr">
              <a:lnSpc>
                <a:spcPct val="90000"/>
              </a:lnSpc>
              <a:buNone/>
              <a:defRPr sz="2250" b="1">
                <a:solidFill>
                  <a:srgbClr val="F4F6F8"/>
                </a:solidFill>
                <a:latin typeface="DejaVu Sans"/>
                <a:ea typeface="DejaVu Sans"/>
                <a:cs typeface="DejaVu Sans"/>
              </a:defRPr>
            </a:pPr>
            <a:r>
              <a:rPr sz="2250" b="1">
                <a:solidFill>
                  <a:srgbClr val="F4F6F8"/>
                </a:solidFill>
                <a:latin typeface="DejaVu Sans"/>
                <a:ea typeface="DejaVu Sans"/>
                <a:cs typeface="DejaVu Sans"/>
              </a:rPr>
              <a:t>EVIDENCE</a:t>
            </a:r>
          </a:p>
          <a:p xmlns:a="http://schemas.openxmlformats.org/drawingml/2006/main">
            <a:pPr algn="ctr">
              <a:lnSpc>
                <a:spcPct val="90000"/>
              </a:lnSpc>
              <a:buNone/>
              <a:defRPr sz="2250" b="1">
                <a:solidFill>
                  <a:srgbClr val="F4F6F8"/>
                </a:solidFill>
                <a:latin typeface="DejaVu Sans"/>
                <a:ea typeface="DejaVu Sans"/>
                <a:cs typeface="DejaVu Sans"/>
              </a:defRPr>
            </a:pPr>
            <a:r>
              <a:rPr sz="2250" b="1">
                <a:solidFill>
                  <a:srgbClr val="F4F6F8"/>
                </a:solidFill>
                <a:latin typeface="DejaVu Sans"/>
                <a:ea typeface="DejaVu Sans"/>
                <a:cs typeface="DejaVu Sans"/>
              </a:rPr>
              <a:t>PACKAGE</a:t>
            </a:r>
          </a:p>
        </p:txBody>
      </p:sp>
      <p:sp>
        <p:nvSpPr>
          <p:cNvPr id="19" name="Rectangle: Rounded Corners 18">
            <a:extLst xmlns:a="http://schemas.openxmlformats.org/drawingml/2006/main">
              <a:ext uri="{FF2B5EF4-FFF2-40B4-BE49-F238E27FC236}">
                <a16:creationId xmlns:a16="http://schemas.microsoft.com/office/drawing/2014/main" id="{DFD0A2EE-BB57-462A-A25A-D2C09D4CAD43}"/>
              </a:ext>
            </a:extLst>
          </p:cNvPr>
          <p:cNvSpPr>
            <a:spLocks xmlns:a="http://schemas.openxmlformats.org/drawingml/2006/main" noGrp="1"/>
          </p:cNvSpPr>
          <p:nvPr/>
        </p:nvSpPr>
        <p:spPr>
          <a:xfrm xmlns:a="http://schemas.openxmlformats.org/drawingml/2006/main">
            <a:off x="5010150" y="4095750"/>
            <a:ext cx="2114550" cy="361950"/>
          </a:xfrm>
          <a:prstGeom xmlns:a="http://schemas.openxmlformats.org/drawingml/2006/main" prst="roundRect">
            <a:avLst>
              <a:gd name="adj" fmla="val 23684"/>
            </a:avLst>
          </a:prstGeom>
          <a:solidFill xmlns:a="http://schemas.openxmlformats.org/drawingml/2006/main">
            <a:srgbClr val="0D151A"/>
          </a:solidFill>
          <a:ln xmlns:a="http://schemas.openxmlformats.org/drawingml/2006/main" w="9525">
            <a:solidFill>
              <a:srgbClr val="39D7FF">
                <a:alpha val="55000"/>
              </a:srgbClr>
            </a:solidFill>
            <a:prstDash val="solid"/>
          </a:ln>
        </p:spPr>
        <p:txBody>
          <a:bodyPr xmlns:a="http://schemas.openxmlformats.org/drawingml/2006/main" wrap="square" lIns="47625" tIns="19050" rIns="47625" bIns="19050" anchor="ctr">
            <a:noAutofit/>
          </a:bodyPr>
          <a:lstStyle xmlns:a="http://schemas.openxmlformats.org/drawingml/2006/main"/>
          <a:p xmlns:a="http://schemas.openxmlformats.org/drawingml/2006/main">
            <a:pPr algn="ctr">
              <a:lnSpc>
                <a:spcPct val="95000"/>
              </a:lnSpc>
              <a:buNone/>
              <a:defRPr sz="975" b="1">
                <a:solidFill>
                  <a:srgbClr val="39D7FF"/>
                </a:solidFill>
                <a:latin typeface="DejaVu Sans Mono"/>
                <a:ea typeface="DejaVu Sans Mono"/>
                <a:cs typeface="DejaVu Sans Mono"/>
              </a:defRPr>
            </a:pPr>
            <a:r>
              <a:rPr sz="975" b="1">
                <a:solidFill>
                  <a:srgbClr val="39D7FF"/>
                </a:solidFill>
                <a:latin typeface="DejaVu Sans Mono"/>
                <a:ea typeface="DejaVu Sans Mono"/>
                <a:cs typeface="DejaVu Sans Mono"/>
              </a:rPr>
              <a:t>MACHINE-READABLE LINKS</a:t>
            </a:r>
          </a:p>
        </p:txBody>
      </p:sp>
      <p:sp>
        <p:nvSpPr>
          <p:cNvPr id="20" name="Rectangle 19">
            <a:extLst xmlns:a="http://schemas.openxmlformats.org/drawingml/2006/main">
              <a:ext uri="{FF2B5EF4-FFF2-40B4-BE49-F238E27FC236}">
                <a16:creationId xmlns:a16="http://schemas.microsoft.com/office/drawing/2014/main" id="{147BAAF6-3C5C-4B15-B1C1-2AB90ECE60FE}"/>
              </a:ext>
            </a:extLst>
          </p:cNvPr>
          <p:cNvSpPr>
            <a:spLocks xmlns:a="http://schemas.openxmlformats.org/drawingml/2006/main" noGrp="1"/>
          </p:cNvSpPr>
          <p:nvPr/>
        </p:nvSpPr>
        <p:spPr>
          <a:xfrm xmlns:a="http://schemas.openxmlformats.org/drawingml/2006/main">
            <a:off x="4933950" y="4667250"/>
            <a:ext cx="22669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1125" b="0">
                <a:solidFill>
                  <a:srgbClr val="8D99A3"/>
                </a:solidFill>
                <a:latin typeface="DejaVu Sans Mono"/>
                <a:ea typeface="DejaVu Sans Mono"/>
                <a:cs typeface="DejaVu Sans Mono"/>
              </a:defRPr>
            </a:pPr>
            <a:r>
              <a:rPr sz="1125" b="0">
                <a:solidFill>
                  <a:srgbClr val="8D99A3"/>
                </a:solidFill>
                <a:latin typeface="DejaVu Sans Mono"/>
                <a:ea typeface="DejaVu Sans Mono"/>
                <a:cs typeface="DejaVu Sans Mono"/>
              </a:rPr>
              <a:t>source → claim → parameter → requirement → test → status</a:t>
            </a:r>
          </a:p>
        </p:txBody>
      </p:sp>
      <p:sp>
        <p:nvSpPr>
          <p:cNvPr id="21" name="Arrow: Right 20">
            <a:extLst xmlns:a="http://schemas.openxmlformats.org/drawingml/2006/main">
              <a:ext uri="{FF2B5EF4-FFF2-40B4-BE49-F238E27FC236}">
                <a16:creationId xmlns:a16="http://schemas.microsoft.com/office/drawing/2014/main" id="{6776D910-FB53-485C-B03B-28044DA4C2BE}"/>
              </a:ext>
            </a:extLst>
          </p:cNvPr>
          <p:cNvSpPr>
            <a:spLocks xmlns:a="http://schemas.openxmlformats.org/drawingml/2006/main" noGrp="1"/>
          </p:cNvSpPr>
          <p:nvPr/>
        </p:nvSpPr>
        <p:spPr>
          <a:xfrm xmlns:a="http://schemas.openxmlformats.org/drawingml/2006/main">
            <a:off x="7658100" y="2362200"/>
            <a:ext cx="1200150" cy="171450"/>
          </a:xfrm>
          <a:prstGeom xmlns:a="http://schemas.openxmlformats.org/drawingml/2006/main" prst="rightArrow">
            <a:avLst/>
          </a:prstGeom>
          <a:solidFill xmlns:a="http://schemas.openxmlformats.org/drawingml/2006/main">
            <a:srgbClr val="F26B38">
              <a:alpha val="6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2" name="Rectangle: Rounded Corners 21">
            <a:extLst xmlns:a="http://schemas.openxmlformats.org/drawingml/2006/main">
              <a:ext uri="{FF2B5EF4-FFF2-40B4-BE49-F238E27FC236}">
                <a16:creationId xmlns:a16="http://schemas.microsoft.com/office/drawing/2014/main" id="{F31846DA-D988-49DB-80E6-9BD798FA2110}"/>
              </a:ext>
            </a:extLst>
          </p:cNvPr>
          <p:cNvSpPr>
            <a:spLocks xmlns:a="http://schemas.openxmlformats.org/drawingml/2006/main" noGrp="1"/>
          </p:cNvSpPr>
          <p:nvPr/>
        </p:nvSpPr>
        <p:spPr>
          <a:xfrm xmlns:a="http://schemas.openxmlformats.org/drawingml/2006/main">
            <a:off x="8972550" y="2209800"/>
            <a:ext cx="2362200" cy="495300"/>
          </a:xfrm>
          <a:prstGeom xmlns:a="http://schemas.openxmlformats.org/drawingml/2006/main" prst="roundRect">
            <a:avLst>
              <a:gd name="adj" fmla="val 30769"/>
            </a:avLst>
          </a:prstGeom>
          <a:solidFill xmlns:a="http://schemas.openxmlformats.org/drawingml/2006/main">
            <a:srgbClr val="11171C"/>
          </a:solidFill>
          <a:ln xmlns:a="http://schemas.openxmlformats.org/drawingml/2006/main" w="14288">
            <a:solidFill>
              <a:srgbClr val="F26B38"/>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200" b="1">
                <a:solidFill>
                  <a:srgbClr val="F26B38"/>
                </a:solidFill>
                <a:latin typeface="DejaVu Sans Mono"/>
                <a:ea typeface="DejaVu Sans Mono"/>
                <a:cs typeface="DejaVu Sans Mono"/>
              </a:defRPr>
            </a:pPr>
            <a:r>
              <a:rPr sz="1200" b="1">
                <a:solidFill>
                  <a:srgbClr val="F26B38"/>
                </a:solidFill>
                <a:latin typeface="DejaVu Sans Mono"/>
                <a:ea typeface="DejaVu Sans Mono"/>
                <a:cs typeface="DejaVu Sans Mono"/>
              </a:rPr>
              <a:t>REQUIREMENTS</a:t>
            </a:r>
          </a:p>
        </p:txBody>
      </p:sp>
      <p:sp>
        <p:nvSpPr>
          <p:cNvPr id="23" name="Arrow: Right 22">
            <a:extLst xmlns:a="http://schemas.openxmlformats.org/drawingml/2006/main">
              <a:ext uri="{FF2B5EF4-FFF2-40B4-BE49-F238E27FC236}">
                <a16:creationId xmlns:a16="http://schemas.microsoft.com/office/drawing/2014/main" id="{563C4383-89EF-4D26-9F62-19C8C292AC91}"/>
              </a:ext>
            </a:extLst>
          </p:cNvPr>
          <p:cNvSpPr>
            <a:spLocks xmlns:a="http://schemas.openxmlformats.org/drawingml/2006/main" noGrp="1"/>
          </p:cNvSpPr>
          <p:nvPr/>
        </p:nvSpPr>
        <p:spPr>
          <a:xfrm xmlns:a="http://schemas.openxmlformats.org/drawingml/2006/main">
            <a:off x="7658100" y="3200400"/>
            <a:ext cx="1200150" cy="171450"/>
          </a:xfrm>
          <a:prstGeom xmlns:a="http://schemas.openxmlformats.org/drawingml/2006/main" prst="rightArrow">
            <a:avLst/>
          </a:prstGeom>
          <a:solidFill xmlns:a="http://schemas.openxmlformats.org/drawingml/2006/main">
            <a:srgbClr val="F26B38">
              <a:alpha val="6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4" name="Rectangle: Rounded Corners 23">
            <a:extLst xmlns:a="http://schemas.openxmlformats.org/drawingml/2006/main">
              <a:ext uri="{FF2B5EF4-FFF2-40B4-BE49-F238E27FC236}">
                <a16:creationId xmlns:a16="http://schemas.microsoft.com/office/drawing/2014/main" id="{0CE08517-7F94-42E0-921D-3AC1E8F8C26C}"/>
              </a:ext>
            </a:extLst>
          </p:cNvPr>
          <p:cNvSpPr>
            <a:spLocks xmlns:a="http://schemas.openxmlformats.org/drawingml/2006/main" noGrp="1"/>
          </p:cNvSpPr>
          <p:nvPr/>
        </p:nvSpPr>
        <p:spPr>
          <a:xfrm xmlns:a="http://schemas.openxmlformats.org/drawingml/2006/main">
            <a:off x="8972550" y="3048000"/>
            <a:ext cx="2362200" cy="495300"/>
          </a:xfrm>
          <a:prstGeom xmlns:a="http://schemas.openxmlformats.org/drawingml/2006/main" prst="roundRect">
            <a:avLst>
              <a:gd name="adj" fmla="val 30769"/>
            </a:avLst>
          </a:prstGeom>
          <a:solidFill xmlns:a="http://schemas.openxmlformats.org/drawingml/2006/main">
            <a:srgbClr val="11171C"/>
          </a:solidFill>
          <a:ln xmlns:a="http://schemas.openxmlformats.org/drawingml/2006/main" w="14288">
            <a:solidFill>
              <a:srgbClr val="F26B38"/>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200" b="1">
                <a:solidFill>
                  <a:srgbClr val="F26B38"/>
                </a:solidFill>
                <a:latin typeface="DejaVu Sans Mono"/>
                <a:ea typeface="DejaVu Sans Mono"/>
                <a:cs typeface="DejaVu Sans Mono"/>
              </a:defRPr>
            </a:pPr>
            <a:r>
              <a:rPr sz="1200" b="1">
                <a:solidFill>
                  <a:srgbClr val="F26B38"/>
                </a:solidFill>
                <a:latin typeface="DejaVu Sans Mono"/>
                <a:ea typeface="DejaVu Sans Mono"/>
                <a:cs typeface="DejaVu Sans Mono"/>
              </a:rPr>
              <a:t>TRADE STUDIES</a:t>
            </a:r>
          </a:p>
        </p:txBody>
      </p:sp>
      <p:sp>
        <p:nvSpPr>
          <p:cNvPr id="25" name="Arrow: Right 24">
            <a:extLst xmlns:a="http://schemas.openxmlformats.org/drawingml/2006/main">
              <a:ext uri="{FF2B5EF4-FFF2-40B4-BE49-F238E27FC236}">
                <a16:creationId xmlns:a16="http://schemas.microsoft.com/office/drawing/2014/main" id="{DA6B36AB-C326-42DB-A255-4CDFB8BBCB99}"/>
              </a:ext>
            </a:extLst>
          </p:cNvPr>
          <p:cNvSpPr>
            <a:spLocks xmlns:a="http://schemas.openxmlformats.org/drawingml/2006/main" noGrp="1"/>
          </p:cNvSpPr>
          <p:nvPr/>
        </p:nvSpPr>
        <p:spPr>
          <a:xfrm xmlns:a="http://schemas.openxmlformats.org/drawingml/2006/main">
            <a:off x="7658100" y="4038600"/>
            <a:ext cx="1200150" cy="171450"/>
          </a:xfrm>
          <a:prstGeom xmlns:a="http://schemas.openxmlformats.org/drawingml/2006/main" prst="rightArrow">
            <a:avLst/>
          </a:prstGeom>
          <a:solidFill xmlns:a="http://schemas.openxmlformats.org/drawingml/2006/main">
            <a:srgbClr val="62D6A7">
              <a:alpha val="6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6" name="Rectangle: Rounded Corners 25">
            <a:extLst xmlns:a="http://schemas.openxmlformats.org/drawingml/2006/main">
              <a:ext uri="{FF2B5EF4-FFF2-40B4-BE49-F238E27FC236}">
                <a16:creationId xmlns:a16="http://schemas.microsoft.com/office/drawing/2014/main" id="{9287D2D9-9F19-4ED4-BF08-3F6E906CBA33}"/>
              </a:ext>
            </a:extLst>
          </p:cNvPr>
          <p:cNvSpPr>
            <a:spLocks xmlns:a="http://schemas.openxmlformats.org/drawingml/2006/main" noGrp="1"/>
          </p:cNvSpPr>
          <p:nvPr/>
        </p:nvSpPr>
        <p:spPr>
          <a:xfrm xmlns:a="http://schemas.openxmlformats.org/drawingml/2006/main">
            <a:off x="8972550" y="3886200"/>
            <a:ext cx="2362200" cy="495300"/>
          </a:xfrm>
          <a:prstGeom xmlns:a="http://schemas.openxmlformats.org/drawingml/2006/main" prst="roundRect">
            <a:avLst>
              <a:gd name="adj" fmla="val 30769"/>
            </a:avLst>
          </a:prstGeom>
          <a:solidFill xmlns:a="http://schemas.openxmlformats.org/drawingml/2006/main">
            <a:srgbClr val="11171C"/>
          </a:solidFill>
          <a:ln xmlns:a="http://schemas.openxmlformats.org/drawingml/2006/main" w="14288">
            <a:solidFill>
              <a:srgbClr val="62D6A7"/>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200" b="1">
                <a:solidFill>
                  <a:srgbClr val="62D6A7"/>
                </a:solidFill>
                <a:latin typeface="DejaVu Sans Mono"/>
                <a:ea typeface="DejaVu Sans Mono"/>
                <a:cs typeface="DejaVu Sans Mono"/>
              </a:defRPr>
            </a:pPr>
            <a:r>
              <a:rPr sz="1200" b="1">
                <a:solidFill>
                  <a:srgbClr val="62D6A7"/>
                </a:solidFill>
                <a:latin typeface="DejaVu Sans Mono"/>
                <a:ea typeface="DejaVu Sans Mono"/>
                <a:cs typeface="DejaVu Sans Mono"/>
              </a:rPr>
              <a:t>V&amp;V MATRIX</a:t>
            </a:r>
          </a:p>
        </p:txBody>
      </p:sp>
      <p:sp>
        <p:nvSpPr>
          <p:cNvPr id="27" name="Arrow: Right 26">
            <a:extLst xmlns:a="http://schemas.openxmlformats.org/drawingml/2006/main">
              <a:ext uri="{FF2B5EF4-FFF2-40B4-BE49-F238E27FC236}">
                <a16:creationId xmlns:a16="http://schemas.microsoft.com/office/drawing/2014/main" id="{DFA4CB58-B4E3-46AC-99FA-C1D729707B0A}"/>
              </a:ext>
            </a:extLst>
          </p:cNvPr>
          <p:cNvSpPr>
            <a:spLocks xmlns:a="http://schemas.openxmlformats.org/drawingml/2006/main" noGrp="1"/>
          </p:cNvSpPr>
          <p:nvPr/>
        </p:nvSpPr>
        <p:spPr>
          <a:xfrm xmlns:a="http://schemas.openxmlformats.org/drawingml/2006/main">
            <a:off x="7658100" y="4876800"/>
            <a:ext cx="1200150" cy="171450"/>
          </a:xfrm>
          <a:prstGeom xmlns:a="http://schemas.openxmlformats.org/drawingml/2006/main" prst="rightArrow">
            <a:avLst/>
          </a:prstGeom>
          <a:solidFill xmlns:a="http://schemas.openxmlformats.org/drawingml/2006/main">
            <a:srgbClr val="FFC857">
              <a:alpha val="6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8" name="Rectangle: Rounded Corners 27">
            <a:extLst xmlns:a="http://schemas.openxmlformats.org/drawingml/2006/main">
              <a:ext uri="{FF2B5EF4-FFF2-40B4-BE49-F238E27FC236}">
                <a16:creationId xmlns:a16="http://schemas.microsoft.com/office/drawing/2014/main" id="{C98D9C05-C38D-47D4-8DC6-E9B1EF317579}"/>
              </a:ext>
            </a:extLst>
          </p:cNvPr>
          <p:cNvSpPr>
            <a:spLocks xmlns:a="http://schemas.openxmlformats.org/drawingml/2006/main" noGrp="1"/>
          </p:cNvSpPr>
          <p:nvPr/>
        </p:nvSpPr>
        <p:spPr>
          <a:xfrm xmlns:a="http://schemas.openxmlformats.org/drawingml/2006/main">
            <a:off x="8972550" y="4724400"/>
            <a:ext cx="2362200" cy="495300"/>
          </a:xfrm>
          <a:prstGeom xmlns:a="http://schemas.openxmlformats.org/drawingml/2006/main" prst="roundRect">
            <a:avLst>
              <a:gd name="adj" fmla="val 30769"/>
            </a:avLst>
          </a:prstGeom>
          <a:solidFill xmlns:a="http://schemas.openxmlformats.org/drawingml/2006/main">
            <a:srgbClr val="11171C"/>
          </a:solidFill>
          <a:ln xmlns:a="http://schemas.openxmlformats.org/drawingml/2006/main" w="14288">
            <a:solidFill>
              <a:srgbClr val="FFC857"/>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200" b="1">
                <a:solidFill>
                  <a:srgbClr val="FFC857"/>
                </a:solidFill>
                <a:latin typeface="DejaVu Sans Mono"/>
                <a:ea typeface="DejaVu Sans Mono"/>
                <a:cs typeface="DejaVu Sans Mono"/>
              </a:defRPr>
            </a:pPr>
            <a:r>
              <a:rPr sz="1200" b="1">
                <a:solidFill>
                  <a:srgbClr val="FFC857"/>
                </a:solidFill>
                <a:latin typeface="DejaVu Sans Mono"/>
                <a:ea typeface="DejaVu Sans Mono"/>
                <a:cs typeface="DejaVu Sans Mono"/>
              </a:rPr>
              <a:t>OPEN ISSUES</a:t>
            </a:r>
          </a:p>
        </p:txBody>
      </p:sp>
      <p:sp>
        <p:nvSpPr>
          <p:cNvPr id="29" name="Rectangle 28">
            <a:extLst xmlns:a="http://schemas.openxmlformats.org/drawingml/2006/main">
              <a:ext uri="{FF2B5EF4-FFF2-40B4-BE49-F238E27FC236}">
                <a16:creationId xmlns:a16="http://schemas.microsoft.com/office/drawing/2014/main" id="{4824375C-5B93-4E72-AA06-2D82ADE5044E}"/>
              </a:ext>
            </a:extLst>
          </p:cNvPr>
          <p:cNvSpPr>
            <a:spLocks xmlns:a="http://schemas.openxmlformats.org/drawingml/2006/main" noGrp="1"/>
          </p:cNvSpPr>
          <p:nvPr/>
        </p:nvSpPr>
        <p:spPr>
          <a:xfrm xmlns:a="http://schemas.openxmlformats.org/drawingml/2006/main">
            <a:off x="7620000" y="5638800"/>
            <a:ext cx="3714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95000"/>
              </a:lnSpc>
              <a:buNone/>
              <a:defRPr sz="1350" b="1">
                <a:solidFill>
                  <a:srgbClr val="F4F6F8"/>
                </a:solidFill>
                <a:latin typeface="DejaVu Sans"/>
                <a:ea typeface="DejaVu Sans"/>
                <a:cs typeface="DejaVu Sans"/>
              </a:defRPr>
            </a:pPr>
            <a:r>
              <a:rPr sz="1350" b="1">
                <a:solidFill>
                  <a:srgbClr val="F4F6F8"/>
                </a:solidFill>
                <a:latin typeface="DejaVu Sans"/>
                <a:ea typeface="DejaVu Sans"/>
                <a:cs typeface="DejaVu Sans"/>
              </a:rPr>
              <a:t>A changed parameter triggers focused rework—not a search through old chat.</a:t>
            </a:r>
          </a:p>
        </p:txBody>
      </p:sp>
      <p:sp>
        <p:nvSpPr>
          <p:cNvPr id="30" name="Rectangle 29">
            <a:extLst xmlns:a="http://schemas.openxmlformats.org/drawingml/2006/main">
              <a:ext uri="{FF2B5EF4-FFF2-40B4-BE49-F238E27FC236}">
                <a16:creationId xmlns:a16="http://schemas.microsoft.com/office/drawing/2014/main" id="{9ED67B93-AE1A-4BF1-8325-80FF09F5E95C}"/>
              </a:ext>
            </a:extLst>
          </p:cNvPr>
          <p:cNvSpPr>
            <a:spLocks xmlns:a="http://schemas.openxmlformats.org/drawingml/2006/main" noGrp="1"/>
          </p:cNvSpPr>
          <p:nvPr/>
        </p:nvSpPr>
        <p:spPr>
          <a:xfrm xmlns:a="http://schemas.openxmlformats.org/drawingml/2006/main">
            <a:off x="0" y="6400800"/>
            <a:ext cx="12192000" cy="457200"/>
          </a:xfrm>
          <a:prstGeom xmlns:a="http://schemas.openxmlformats.org/drawingml/2006/main" prst="rect">
            <a:avLst/>
          </a:prstGeom>
          <a:solidFill xmlns:a="http://schemas.openxmlformats.org/drawingml/2006/main">
            <a:srgbClr val="07090C">
              <a:alpha val="76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1" name="Rectangle 30">
            <a:extLst xmlns:a="http://schemas.openxmlformats.org/drawingml/2006/main">
              <a:ext uri="{FF2B5EF4-FFF2-40B4-BE49-F238E27FC236}">
                <a16:creationId xmlns:a16="http://schemas.microsoft.com/office/drawing/2014/main" id="{42146B0B-8947-42A9-82B5-72CA166196ED}"/>
              </a:ext>
            </a:extLst>
          </p:cNvPr>
          <p:cNvSpPr>
            <a:spLocks xmlns:a="http://schemas.openxmlformats.org/drawingml/2006/main" noGrp="1"/>
          </p:cNvSpPr>
          <p:nvPr/>
        </p:nvSpPr>
        <p:spPr>
          <a:xfrm xmlns:a="http://schemas.openxmlformats.org/drawingml/2006/main">
            <a:off x="609600" y="6553200"/>
            <a:ext cx="68580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MARS SOCIETY 2026  •  HARNESSED AGENTIC SCIENCE + ENGINEERING</a:t>
            </a:r>
          </a:p>
        </p:txBody>
      </p:sp>
      <p:sp>
        <p:nvSpPr>
          <p:cNvPr id="32" name="Rectangle 31">
            <a:extLst xmlns:a="http://schemas.openxmlformats.org/drawingml/2006/main">
              <a:ext uri="{FF2B5EF4-FFF2-40B4-BE49-F238E27FC236}">
                <a16:creationId xmlns:a16="http://schemas.microsoft.com/office/drawing/2014/main" id="{FE3649CC-CE69-4D1E-B51E-F666352B825A}"/>
              </a:ext>
            </a:extLst>
          </p:cNvPr>
          <p:cNvSpPr>
            <a:spLocks xmlns:a="http://schemas.openxmlformats.org/drawingml/2006/main" noGrp="1"/>
          </p:cNvSpPr>
          <p:nvPr/>
        </p:nvSpPr>
        <p:spPr>
          <a:xfrm xmlns:a="http://schemas.openxmlformats.org/drawingml/2006/main">
            <a:off x="9525000" y="6553200"/>
            <a:ext cx="20574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BOB J MILLS     09</a:t>
            </a:r>
          </a:p>
        </p:txBody>
      </p:sp>
    </p:spTree>
    <p:extLst>
      <p:ext uri="{BB962C8B-B14F-4D97-AF65-F5344CB8AC3E}">
        <p14:creationId xmlns:p14="http://schemas.microsoft.com/office/powerpoint/2010/main" val="214921414"/>
      </p:ext>
    </p:extLst>
  </p:cSld>
</p:sld>
</file>

<file path=ppt/slides/slide10.xml><?xml version="1.0" encoding="utf-8"?>
<p:sld xmlns:p="http://schemas.openxmlformats.org/presentationml/2006/main">
  <p:cSld>
    <p:bg>
      <p:bgPr>
        <a:solidFill xmlns:a="http://schemas.openxmlformats.org/drawingml/2006/main">
          <a:srgbClr val="07090C"/>
        </a:solidFill>
      </p:bgPr>
    </p:bg>
    <p:spTree>
      <p:nvGrpSpPr>
        <p:cNvPr id="1" name=""/>
        <p:cNvGrpSpPr/>
        <p:nvPr/>
      </p:nvGrpSpPr>
      <p:grpSpPr>
        <a:xfrm xmlns:a="http://schemas.openxmlformats.org/drawingml/2006/main"/>
      </p:grpSpPr>
      <p:sp>
        <p:nvSpPr>
          <p:cNvPr id="44" name="Rectangle 43">
            <a:extLst xmlns:a="http://schemas.openxmlformats.org/drawingml/2006/main">
              <a:ext uri="{FF2B5EF4-FFF2-40B4-BE49-F238E27FC236}">
                <a16:creationId xmlns:a16="http://schemas.microsoft.com/office/drawing/2014/main" id="{4125C123-F0C3-4C9D-9C7E-6A26242CE6F9}"/>
              </a:ext>
            </a:extLst>
          </p:cNvPr>
          <p:cNvSpPr>
            <a:spLocks xmlns:a="http://schemas.openxmlformats.org/drawingml/2006/main" noGrp="1"/>
          </p:cNvSpPr>
          <p:nvPr/>
        </p:nvSpPr>
        <p:spPr>
          <a:xfrm xmlns:a="http://schemas.openxmlformats.org/drawingml/2006/main">
            <a:off x="609600" y="3429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75" b="1">
                <a:solidFill>
                  <a:srgbClr val="F26B38"/>
                </a:solidFill>
                <a:latin typeface="DejaVu Sans Mono"/>
                <a:ea typeface="DejaVu Sans Mono"/>
                <a:cs typeface="DejaVu Sans Mono"/>
              </a:defRPr>
            </a:pPr>
            <a:r>
              <a:rPr sz="975" b="1">
                <a:solidFill>
                  <a:srgbClr val="F26B38"/>
                </a:solidFill>
                <a:latin typeface="DejaVu Sans Mono"/>
                <a:ea typeface="DejaVu Sans Mono"/>
                <a:cs typeface="DejaVu Sans Mono"/>
              </a:rPr>
              <a:t>10  /  COMPLETION LOOP</a:t>
            </a:r>
          </a:p>
        </p:txBody>
      </p:sp>
      <p:sp>
        <p:nvSpPr>
          <p:cNvPr id="2" name="Rectangle 1">
            <a:extLst xmlns:a="http://schemas.openxmlformats.org/drawingml/2006/main">
              <a:ext uri="{FF2B5EF4-FFF2-40B4-BE49-F238E27FC236}">
                <a16:creationId xmlns:a16="http://schemas.microsoft.com/office/drawing/2014/main" id="{C498E2FA-EA05-4E28-BF1B-8FC20676E710}"/>
              </a:ext>
            </a:extLst>
          </p:cNvPr>
          <p:cNvSpPr>
            <a:spLocks xmlns:a="http://schemas.openxmlformats.org/drawingml/2006/main" noGrp="1"/>
          </p:cNvSpPr>
          <p:nvPr/>
        </p:nvSpPr>
        <p:spPr>
          <a:xfrm xmlns:a="http://schemas.openxmlformats.org/drawingml/2006/main">
            <a:off x="609600" y="647700"/>
            <a:ext cx="10972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0000"/>
              </a:lnSpc>
              <a:buNone/>
              <a:defRPr sz="2325" b="1">
                <a:solidFill>
                  <a:srgbClr val="F4F6F8"/>
                </a:solidFill>
                <a:latin typeface="DejaVu Sans"/>
                <a:ea typeface="DejaVu Sans"/>
                <a:cs typeface="DejaVu Sans"/>
              </a:defRPr>
            </a:pPr>
            <a:r>
              <a:rPr sz="2325" b="1">
                <a:solidFill>
                  <a:srgbClr val="F4F6F8"/>
                </a:solidFill>
                <a:latin typeface="DejaVu Sans"/>
                <a:ea typeface="DejaVu Sans"/>
                <a:cs typeface="DejaVu Sans"/>
              </a:rPr>
              <a:t>The fastest path to completion includes a return to research</a:t>
            </a:r>
          </a:p>
        </p:txBody>
      </p:sp>
      <p:sp>
        <p:nvSpPr>
          <p:cNvPr id="3" name="Rectangle 2">
            <a:extLst xmlns:a="http://schemas.openxmlformats.org/drawingml/2006/main">
              <a:ext uri="{FF2B5EF4-FFF2-40B4-BE49-F238E27FC236}">
                <a16:creationId xmlns:a16="http://schemas.microsoft.com/office/drawing/2014/main" id="{AA53DFE9-9D5D-4660-B7AD-BFA5C5D129D0}"/>
              </a:ext>
            </a:extLst>
          </p:cNvPr>
          <p:cNvSpPr>
            <a:spLocks xmlns:a="http://schemas.openxmlformats.org/drawingml/2006/main" noGrp="1"/>
          </p:cNvSpPr>
          <p:nvPr/>
        </p:nvSpPr>
        <p:spPr>
          <a:xfrm xmlns:a="http://schemas.openxmlformats.org/drawingml/2006/main">
            <a:off x="628650" y="1238250"/>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25" b="0">
                <a:solidFill>
                  <a:srgbClr val="8D99A3"/>
                </a:solidFill>
                <a:latin typeface="DejaVu Sans"/>
                <a:ea typeface="DejaVu Sans"/>
                <a:cs typeface="DejaVu Sans"/>
              </a:defRPr>
            </a:pPr>
            <a:r>
              <a:rPr sz="1425" b="0">
                <a:solidFill>
                  <a:srgbClr val="8D99A3"/>
                </a:solidFill>
                <a:latin typeface="DejaVu Sans"/>
                <a:ea typeface="DejaVu Sans"/>
                <a:cs typeface="DejaVu Sans"/>
              </a:rPr>
              <a:t>Agents accelerate the issue → research request → evidence return → baseline update cycle instead of hiding uncertainty.</a:t>
            </a:r>
          </a:p>
        </p:txBody>
      </p:sp>
      <p:sp>
        <p:nvSpPr>
          <p:cNvPr id="4" name="Straight Connector 3">
            <a:extLst xmlns:a="http://schemas.openxmlformats.org/drawingml/2006/main">
              <a:ext uri="{FF2B5EF4-FFF2-40B4-BE49-F238E27FC236}">
                <a16:creationId xmlns:a16="http://schemas.microsoft.com/office/drawing/2014/main" id="{6AE7E7A8-1418-4015-BBBB-4A117EFA0646}"/>
              </a:ext>
            </a:extLst>
          </p:cNvPr>
          <p:cNvSpPr>
            <a:spLocks xmlns:a="http://schemas.openxmlformats.org/drawingml/2006/main" noGrp="1"/>
          </p:cNvSpPr>
          <p:nvPr/>
        </p:nvSpPr>
        <p:spPr>
          <a:xfrm xmlns:a="http://schemas.openxmlformats.org/drawingml/2006/main">
            <a:off x="609600" y="1849395"/>
            <a:ext cx="10972800" cy="0"/>
          </a:xfrm>
          <a:prstGeom xmlns:a="http://schemas.openxmlformats.org/drawingml/2006/main" prst="line">
            <a:avLst/>
          </a:prstGeom>
          <a:noFill xmlns:a="http://schemas.openxmlformats.org/drawingml/2006/main"/>
          <a:ln xmlns:a="http://schemas.openxmlformats.org/drawingml/2006/main" w="9525">
            <a:solidFill>
              <a:srgbClr val="35414B"/>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Oval 4">
            <a:extLst xmlns:a="http://schemas.openxmlformats.org/drawingml/2006/main">
              <a:ext uri="{FF2B5EF4-FFF2-40B4-BE49-F238E27FC236}">
                <a16:creationId xmlns:a16="http://schemas.microsoft.com/office/drawing/2014/main" id="{5A15124C-DB3F-4EF7-BADF-923F0F92961C}"/>
              </a:ext>
            </a:extLst>
          </p:cNvPr>
          <p:cNvSpPr>
            <a:spLocks xmlns:a="http://schemas.openxmlformats.org/drawingml/2006/main" noGrp="1"/>
          </p:cNvSpPr>
          <p:nvPr/>
        </p:nvSpPr>
        <p:spPr>
          <a:xfrm xmlns:a="http://schemas.openxmlformats.org/drawingml/2006/main">
            <a:off x="4095750" y="2095500"/>
            <a:ext cx="4000500" cy="3771900"/>
          </a:xfrm>
          <a:prstGeom xmlns:a="http://schemas.openxmlformats.org/drawingml/2006/main" prst="ellipse">
            <a:avLst/>
          </a:prstGeom>
          <a:noFill xmlns:a="http://schemas.openxmlformats.org/drawingml/2006/main"/>
          <a:ln xmlns:a="http://schemas.openxmlformats.org/drawingml/2006/main" w="19050">
            <a:solidFill>
              <a:srgbClr val="35414B"/>
            </a:solidFill>
            <a:prstDash val="dash"/>
          </a:ln>
        </p:spPr>
        <p:txBody>
          <a:bodyPr xmlns:a="http://schemas.openxmlformats.org/drawingml/2006/main"/>
          <a:lstStyle xmlns:a="http://schemas.openxmlformats.org/drawingml/2006/main"/>
          <a:p xmlns:a="http://schemas.openxmlformats.org/drawingml/2006/main">
            <a:endParaRPr/>
          </a:p>
        </p:txBody>
      </p:sp>
      <p:sp>
        <p:nvSpPr>
          <p:cNvPr id="6" name="Straight Connector 5">
            <a:extLst xmlns:a="http://schemas.openxmlformats.org/drawingml/2006/main">
              <a:ext uri="{FF2B5EF4-FFF2-40B4-BE49-F238E27FC236}">
                <a16:creationId xmlns:a16="http://schemas.microsoft.com/office/drawing/2014/main" id="{8ADD1A19-18DE-4440-BCD1-D1A4E2BB26BC}"/>
              </a:ext>
            </a:extLst>
          </p:cNvPr>
          <p:cNvSpPr>
            <a:spLocks xmlns:a="http://schemas.openxmlformats.org/drawingml/2006/main" noGrp="1"/>
          </p:cNvSpPr>
          <p:nvPr/>
        </p:nvSpPr>
        <p:spPr>
          <a:xfrm xmlns:a="http://schemas.openxmlformats.org/drawingml/2006/main">
            <a:off x="5619750" y="2581275"/>
            <a:ext cx="2057400" cy="0"/>
          </a:xfrm>
          <a:prstGeom xmlns:a="http://schemas.openxmlformats.org/drawingml/2006/main" prst="line">
            <a:avLst/>
          </a:prstGeom>
          <a:noFill xmlns:a="http://schemas.openxmlformats.org/drawingml/2006/main"/>
          <a:ln xmlns:a="http://schemas.openxmlformats.org/drawingml/2006/main" w="47625">
            <a:solidFill>
              <a:srgbClr val="39D7FF"/>
            </a:solidFill>
            <a:prstDash val="solid"/>
          </a:ln>
        </p:spPr>
        <p:txBody>
          <a:bodyPr xmlns:a="http://schemas.openxmlformats.org/drawingml/2006/main"/>
          <a:lstStyle xmlns:a="http://schemas.openxmlformats.org/drawingml/2006/main"/>
          <a:p xmlns:a="http://schemas.openxmlformats.org/drawingml/2006/main">
            <a:endParaRPr/>
          </a:p>
        </p:txBody>
      </p:sp>
      <p:sp>
        <p:nvSpPr>
          <p:cNvPr id="7" name="Straight Connector 6">
            <a:extLst xmlns:a="http://schemas.openxmlformats.org/drawingml/2006/main">
              <a:ext uri="{FF2B5EF4-FFF2-40B4-BE49-F238E27FC236}">
                <a16:creationId xmlns:a16="http://schemas.microsoft.com/office/drawing/2014/main" id="{FE0578C0-4A98-467C-859B-EE54F05CB795}"/>
              </a:ext>
            </a:extLst>
          </p:cNvPr>
          <p:cNvSpPr>
            <a:spLocks xmlns:a="http://schemas.openxmlformats.org/drawingml/2006/main" noGrp="1"/>
          </p:cNvSpPr>
          <p:nvPr/>
        </p:nvSpPr>
        <p:spPr>
          <a:xfrm xmlns:a="http://schemas.openxmlformats.org/drawingml/2006/main">
            <a:off x="7677150" y="2581275"/>
            <a:ext cx="0" cy="209550"/>
          </a:xfrm>
          <a:prstGeom xmlns:a="http://schemas.openxmlformats.org/drawingml/2006/main" prst="line">
            <a:avLst/>
          </a:prstGeom>
          <a:noFill xmlns:a="http://schemas.openxmlformats.org/drawingml/2006/main"/>
          <a:ln xmlns:a="http://schemas.openxmlformats.org/drawingml/2006/main" w="47625">
            <a:solidFill>
              <a:srgbClr val="39D7FF"/>
            </a:solidFill>
            <a:prstDash val="solid"/>
          </a:ln>
        </p:spPr>
        <p:txBody>
          <a:bodyPr xmlns:a="http://schemas.openxmlformats.org/drawingml/2006/main"/>
          <a:lstStyle xmlns:a="http://schemas.openxmlformats.org/drawingml/2006/main"/>
          <a:p xmlns:a="http://schemas.openxmlformats.org/drawingml/2006/main">
            <a:endParaRPr/>
          </a:p>
        </p:txBody>
      </p:sp>
      <p:sp>
        <p:nvSpPr>
          <p:cNvPr id="8" name="Straight Connector 7">
            <a:extLst xmlns:a="http://schemas.openxmlformats.org/drawingml/2006/main">
              <a:ext uri="{FF2B5EF4-FFF2-40B4-BE49-F238E27FC236}">
                <a16:creationId xmlns:a16="http://schemas.microsoft.com/office/drawing/2014/main" id="{8F4090D3-5BA3-4FC3-A0A6-3E22273B229A}"/>
              </a:ext>
            </a:extLst>
          </p:cNvPr>
          <p:cNvSpPr>
            <a:spLocks xmlns:a="http://schemas.openxmlformats.org/drawingml/2006/main" noGrp="1"/>
          </p:cNvSpPr>
          <p:nvPr/>
        </p:nvSpPr>
        <p:spPr>
          <a:xfrm xmlns:a="http://schemas.openxmlformats.org/drawingml/2006/main">
            <a:off x="7677150" y="2790825"/>
            <a:ext cx="800100" cy="0"/>
          </a:xfrm>
          <a:prstGeom xmlns:a="http://schemas.openxmlformats.org/drawingml/2006/main" prst="line">
            <a:avLst/>
          </a:prstGeom>
          <a:noFill xmlns:a="http://schemas.openxmlformats.org/drawingml/2006/main"/>
          <a:ln xmlns:a="http://schemas.openxmlformats.org/drawingml/2006/main" w="47625">
            <a:solidFill>
              <a:srgbClr val="F26B38"/>
            </a:solidFill>
            <a:prstDash val="solid"/>
          </a:ln>
        </p:spPr>
        <p:txBody>
          <a:bodyPr xmlns:a="http://schemas.openxmlformats.org/drawingml/2006/main"/>
          <a:lstStyle xmlns:a="http://schemas.openxmlformats.org/drawingml/2006/main"/>
          <a:p xmlns:a="http://schemas.openxmlformats.org/drawingml/2006/main">
            <a:endParaRPr/>
          </a:p>
        </p:txBody>
      </p:sp>
      <p:sp>
        <p:nvSpPr>
          <p:cNvPr id="9" name="Straight Connector 8">
            <a:extLst xmlns:a="http://schemas.openxmlformats.org/drawingml/2006/main">
              <a:ext uri="{FF2B5EF4-FFF2-40B4-BE49-F238E27FC236}">
                <a16:creationId xmlns:a16="http://schemas.microsoft.com/office/drawing/2014/main" id="{BB08F41F-37F2-49F8-9F09-DD2D2A6BC6E3}"/>
              </a:ext>
            </a:extLst>
          </p:cNvPr>
          <p:cNvSpPr>
            <a:spLocks xmlns:a="http://schemas.openxmlformats.org/drawingml/2006/main" noGrp="1"/>
          </p:cNvSpPr>
          <p:nvPr/>
        </p:nvSpPr>
        <p:spPr>
          <a:xfrm xmlns:a="http://schemas.openxmlformats.org/drawingml/2006/main">
            <a:off x="8477250" y="2790825"/>
            <a:ext cx="0" cy="1524000"/>
          </a:xfrm>
          <a:prstGeom xmlns:a="http://schemas.openxmlformats.org/drawingml/2006/main" prst="line">
            <a:avLst/>
          </a:prstGeom>
          <a:noFill xmlns:a="http://schemas.openxmlformats.org/drawingml/2006/main"/>
          <a:ln xmlns:a="http://schemas.openxmlformats.org/drawingml/2006/main" w="47625">
            <a:solidFill>
              <a:srgbClr val="F26B38"/>
            </a:solidFill>
            <a:prstDash val="solid"/>
          </a:ln>
        </p:spPr>
        <p:txBody>
          <a:bodyPr xmlns:a="http://schemas.openxmlformats.org/drawingml/2006/main"/>
          <a:lstStyle xmlns:a="http://schemas.openxmlformats.org/drawingml/2006/main"/>
          <a:p xmlns:a="http://schemas.openxmlformats.org/drawingml/2006/main">
            <a:endParaRPr/>
          </a:p>
        </p:txBody>
      </p:sp>
      <p:sp>
        <p:nvSpPr>
          <p:cNvPr id="10" name="Straight Connector 9">
            <a:extLst xmlns:a="http://schemas.openxmlformats.org/drawingml/2006/main">
              <a:ext uri="{FF2B5EF4-FFF2-40B4-BE49-F238E27FC236}">
                <a16:creationId xmlns:a16="http://schemas.microsoft.com/office/drawing/2014/main" id="{F0BC5DC6-89B2-4583-A89B-20EC9BB42227}"/>
              </a:ext>
            </a:extLst>
          </p:cNvPr>
          <p:cNvSpPr>
            <a:spLocks xmlns:a="http://schemas.openxmlformats.org/drawingml/2006/main" noGrp="1"/>
          </p:cNvSpPr>
          <p:nvPr/>
        </p:nvSpPr>
        <p:spPr>
          <a:xfrm xmlns:a="http://schemas.openxmlformats.org/drawingml/2006/main">
            <a:off x="7372350" y="4314825"/>
            <a:ext cx="1104900" cy="0"/>
          </a:xfrm>
          <a:prstGeom xmlns:a="http://schemas.openxmlformats.org/drawingml/2006/main" prst="line">
            <a:avLst/>
          </a:prstGeom>
          <a:noFill xmlns:a="http://schemas.openxmlformats.org/drawingml/2006/main"/>
          <a:ln xmlns:a="http://schemas.openxmlformats.org/drawingml/2006/main" w="47625">
            <a:solidFill>
              <a:srgbClr val="FF6262"/>
            </a:solidFill>
            <a:prstDash val="solid"/>
          </a:ln>
        </p:spPr>
        <p:txBody>
          <a:bodyPr xmlns:a="http://schemas.openxmlformats.org/drawingml/2006/main"/>
          <a:lstStyle xmlns:a="http://schemas.openxmlformats.org/drawingml/2006/main"/>
          <a:p xmlns:a="http://schemas.openxmlformats.org/drawingml/2006/main">
            <a:endParaRPr/>
          </a:p>
        </p:txBody>
      </p:sp>
      <p:sp>
        <p:nvSpPr>
          <p:cNvPr id="11" name="Straight Connector 10">
            <a:extLst xmlns:a="http://schemas.openxmlformats.org/drawingml/2006/main">
              <a:ext uri="{FF2B5EF4-FFF2-40B4-BE49-F238E27FC236}">
                <a16:creationId xmlns:a16="http://schemas.microsoft.com/office/drawing/2014/main" id="{BF8E2BF2-E756-45A8-A67B-FED95B2C7258}"/>
              </a:ext>
            </a:extLst>
          </p:cNvPr>
          <p:cNvSpPr>
            <a:spLocks xmlns:a="http://schemas.openxmlformats.org/drawingml/2006/main" noGrp="1"/>
          </p:cNvSpPr>
          <p:nvPr/>
        </p:nvSpPr>
        <p:spPr>
          <a:xfrm xmlns:a="http://schemas.openxmlformats.org/drawingml/2006/main">
            <a:off x="7372350" y="4314825"/>
            <a:ext cx="0" cy="1352550"/>
          </a:xfrm>
          <a:prstGeom xmlns:a="http://schemas.openxmlformats.org/drawingml/2006/main" prst="line">
            <a:avLst/>
          </a:prstGeom>
          <a:noFill xmlns:a="http://schemas.openxmlformats.org/drawingml/2006/main"/>
          <a:ln xmlns:a="http://schemas.openxmlformats.org/drawingml/2006/main" w="47625">
            <a:solidFill>
              <a:srgbClr val="FF6262"/>
            </a:solidFill>
            <a:prstDash val="solid"/>
          </a:ln>
        </p:spPr>
        <p:txBody>
          <a:bodyPr xmlns:a="http://schemas.openxmlformats.org/drawingml/2006/main"/>
          <a:lstStyle xmlns:a="http://schemas.openxmlformats.org/drawingml/2006/main"/>
          <a:p xmlns:a="http://schemas.openxmlformats.org/drawingml/2006/main">
            <a:endParaRPr/>
          </a:p>
        </p:txBody>
      </p:sp>
      <p:sp>
        <p:nvSpPr>
          <p:cNvPr id="12" name="Straight Connector 11">
            <a:extLst xmlns:a="http://schemas.openxmlformats.org/drawingml/2006/main">
              <a:ext uri="{FF2B5EF4-FFF2-40B4-BE49-F238E27FC236}">
                <a16:creationId xmlns:a16="http://schemas.microsoft.com/office/drawing/2014/main" id="{F6D2C345-6FF7-4420-9C9F-B29411BE985A}"/>
              </a:ext>
            </a:extLst>
          </p:cNvPr>
          <p:cNvSpPr>
            <a:spLocks xmlns:a="http://schemas.openxmlformats.org/drawingml/2006/main" noGrp="1"/>
          </p:cNvSpPr>
          <p:nvPr/>
        </p:nvSpPr>
        <p:spPr>
          <a:xfrm xmlns:a="http://schemas.openxmlformats.org/drawingml/2006/main">
            <a:off x="5295900" y="5667375"/>
            <a:ext cx="2076450" cy="0"/>
          </a:xfrm>
          <a:prstGeom xmlns:a="http://schemas.openxmlformats.org/drawingml/2006/main" prst="line">
            <a:avLst/>
          </a:prstGeom>
          <a:noFill xmlns:a="http://schemas.openxmlformats.org/drawingml/2006/main"/>
          <a:ln xmlns:a="http://schemas.openxmlformats.org/drawingml/2006/main" w="47625">
            <a:solidFill>
              <a:srgbClr val="FFC857"/>
            </a:solidFill>
            <a:prstDash val="solid"/>
          </a:ln>
        </p:spPr>
        <p:txBody>
          <a:bodyPr xmlns:a="http://schemas.openxmlformats.org/drawingml/2006/main"/>
          <a:lstStyle xmlns:a="http://schemas.openxmlformats.org/drawingml/2006/main"/>
          <a:p xmlns:a="http://schemas.openxmlformats.org/drawingml/2006/main">
            <a:endParaRPr/>
          </a:p>
        </p:txBody>
      </p:sp>
      <p:sp>
        <p:nvSpPr>
          <p:cNvPr id="13" name="Straight Connector 12">
            <a:extLst xmlns:a="http://schemas.openxmlformats.org/drawingml/2006/main">
              <a:ext uri="{FF2B5EF4-FFF2-40B4-BE49-F238E27FC236}">
                <a16:creationId xmlns:a16="http://schemas.microsoft.com/office/drawing/2014/main" id="{252B482C-616F-4C95-91A9-53C1E98B07BB}"/>
              </a:ext>
            </a:extLst>
          </p:cNvPr>
          <p:cNvSpPr>
            <a:spLocks xmlns:a="http://schemas.openxmlformats.org/drawingml/2006/main" noGrp="1"/>
          </p:cNvSpPr>
          <p:nvPr/>
        </p:nvSpPr>
        <p:spPr>
          <a:xfrm xmlns:a="http://schemas.openxmlformats.org/drawingml/2006/main">
            <a:off x="5295900" y="5591175"/>
            <a:ext cx="0" cy="76200"/>
          </a:xfrm>
          <a:prstGeom xmlns:a="http://schemas.openxmlformats.org/drawingml/2006/main" prst="line">
            <a:avLst/>
          </a:prstGeom>
          <a:noFill xmlns:a="http://schemas.openxmlformats.org/drawingml/2006/main"/>
          <a:ln xmlns:a="http://schemas.openxmlformats.org/drawingml/2006/main" w="47625">
            <a:solidFill>
              <a:srgbClr val="FFC857"/>
            </a:solidFill>
            <a:prstDash val="solid"/>
          </a:ln>
        </p:spPr>
        <p:txBody>
          <a:bodyPr xmlns:a="http://schemas.openxmlformats.org/drawingml/2006/main"/>
          <a:lstStyle xmlns:a="http://schemas.openxmlformats.org/drawingml/2006/main"/>
          <a:p xmlns:a="http://schemas.openxmlformats.org/drawingml/2006/main">
            <a:endParaRPr/>
          </a:p>
        </p:txBody>
      </p:sp>
      <p:sp>
        <p:nvSpPr>
          <p:cNvPr id="14" name="Straight Connector 13">
            <a:extLst xmlns:a="http://schemas.openxmlformats.org/drawingml/2006/main">
              <a:ext uri="{FF2B5EF4-FFF2-40B4-BE49-F238E27FC236}">
                <a16:creationId xmlns:a16="http://schemas.microsoft.com/office/drawing/2014/main" id="{7BFB57A2-8F00-4924-84B7-2AB811D3CE57}"/>
              </a:ext>
            </a:extLst>
          </p:cNvPr>
          <p:cNvSpPr>
            <a:spLocks xmlns:a="http://schemas.openxmlformats.org/drawingml/2006/main" noGrp="1"/>
          </p:cNvSpPr>
          <p:nvPr/>
        </p:nvSpPr>
        <p:spPr>
          <a:xfrm xmlns:a="http://schemas.openxmlformats.org/drawingml/2006/main">
            <a:off x="4248150" y="5591175"/>
            <a:ext cx="1047750" cy="0"/>
          </a:xfrm>
          <a:prstGeom xmlns:a="http://schemas.openxmlformats.org/drawingml/2006/main" prst="line">
            <a:avLst/>
          </a:prstGeom>
          <a:noFill xmlns:a="http://schemas.openxmlformats.org/drawingml/2006/main"/>
          <a:ln xmlns:a="http://schemas.openxmlformats.org/drawingml/2006/main" w="47625">
            <a:solidFill>
              <a:srgbClr val="62D6A7"/>
            </a:solidFill>
            <a:prstDash val="solid"/>
          </a:ln>
        </p:spPr>
        <p:txBody>
          <a:bodyPr xmlns:a="http://schemas.openxmlformats.org/drawingml/2006/main"/>
          <a:lstStyle xmlns:a="http://schemas.openxmlformats.org/drawingml/2006/main"/>
          <a:p xmlns:a="http://schemas.openxmlformats.org/drawingml/2006/main">
            <a:endParaRPr/>
          </a:p>
        </p:txBody>
      </p:sp>
      <p:sp>
        <p:nvSpPr>
          <p:cNvPr id="15" name="Straight Connector 14">
            <a:extLst xmlns:a="http://schemas.openxmlformats.org/drawingml/2006/main">
              <a:ext uri="{FF2B5EF4-FFF2-40B4-BE49-F238E27FC236}">
                <a16:creationId xmlns:a16="http://schemas.microsoft.com/office/drawing/2014/main" id="{92EDD940-BD8A-40BB-88C7-B2FCF35F2CA0}"/>
              </a:ext>
            </a:extLst>
          </p:cNvPr>
          <p:cNvSpPr>
            <a:spLocks xmlns:a="http://schemas.openxmlformats.org/drawingml/2006/main" noGrp="1"/>
          </p:cNvSpPr>
          <p:nvPr/>
        </p:nvSpPr>
        <p:spPr>
          <a:xfrm xmlns:a="http://schemas.openxmlformats.org/drawingml/2006/main">
            <a:off x="4248150" y="4086225"/>
            <a:ext cx="0" cy="1504950"/>
          </a:xfrm>
          <a:prstGeom xmlns:a="http://schemas.openxmlformats.org/drawingml/2006/main" prst="line">
            <a:avLst/>
          </a:prstGeom>
          <a:noFill xmlns:a="http://schemas.openxmlformats.org/drawingml/2006/main"/>
          <a:ln xmlns:a="http://schemas.openxmlformats.org/drawingml/2006/main" w="47625">
            <a:solidFill>
              <a:srgbClr val="62D6A7"/>
            </a:solidFill>
            <a:prstDash val="solid"/>
          </a:ln>
        </p:spPr>
        <p:txBody>
          <a:bodyPr xmlns:a="http://schemas.openxmlformats.org/drawingml/2006/main"/>
          <a:lstStyle xmlns:a="http://schemas.openxmlformats.org/drawingml/2006/main"/>
          <a:p xmlns:a="http://schemas.openxmlformats.org/drawingml/2006/main">
            <a:endParaRPr/>
          </a:p>
        </p:txBody>
      </p:sp>
      <p:sp>
        <p:nvSpPr>
          <p:cNvPr id="16" name="Straight Connector 15">
            <a:extLst xmlns:a="http://schemas.openxmlformats.org/drawingml/2006/main">
              <a:ext uri="{FF2B5EF4-FFF2-40B4-BE49-F238E27FC236}">
                <a16:creationId xmlns:a16="http://schemas.microsoft.com/office/drawing/2014/main" id="{F96CA0D5-7F70-4737-BA8B-47F79714D503}"/>
              </a:ext>
            </a:extLst>
          </p:cNvPr>
          <p:cNvSpPr>
            <a:spLocks xmlns:a="http://schemas.openxmlformats.org/drawingml/2006/main" noGrp="1"/>
          </p:cNvSpPr>
          <p:nvPr/>
        </p:nvSpPr>
        <p:spPr>
          <a:xfrm xmlns:a="http://schemas.openxmlformats.org/drawingml/2006/main">
            <a:off x="4248150" y="4086225"/>
            <a:ext cx="1371600" cy="0"/>
          </a:xfrm>
          <a:prstGeom xmlns:a="http://schemas.openxmlformats.org/drawingml/2006/main" prst="line">
            <a:avLst/>
          </a:prstGeom>
          <a:noFill xmlns:a="http://schemas.openxmlformats.org/drawingml/2006/main"/>
          <a:ln xmlns:a="http://schemas.openxmlformats.org/drawingml/2006/main" w="47625">
            <a:solidFill>
              <a:srgbClr val="39D7FF"/>
            </a:solidFill>
            <a:prstDash val="solid"/>
          </a:ln>
        </p:spPr>
        <p:txBody>
          <a:bodyPr xmlns:a="http://schemas.openxmlformats.org/drawingml/2006/main"/>
          <a:lstStyle xmlns:a="http://schemas.openxmlformats.org/drawingml/2006/main"/>
          <a:p xmlns:a="http://schemas.openxmlformats.org/drawingml/2006/main">
            <a:endParaRPr/>
          </a:p>
        </p:txBody>
      </p:sp>
      <p:sp>
        <p:nvSpPr>
          <p:cNvPr id="17" name="Straight Connector 16">
            <a:extLst xmlns:a="http://schemas.openxmlformats.org/drawingml/2006/main">
              <a:ext uri="{FF2B5EF4-FFF2-40B4-BE49-F238E27FC236}">
                <a16:creationId xmlns:a16="http://schemas.microsoft.com/office/drawing/2014/main" id="{8758A6EF-3E18-4909-BB77-01F624697FEB}"/>
              </a:ext>
            </a:extLst>
          </p:cNvPr>
          <p:cNvSpPr>
            <a:spLocks xmlns:a="http://schemas.openxmlformats.org/drawingml/2006/main" noGrp="1"/>
          </p:cNvSpPr>
          <p:nvPr/>
        </p:nvSpPr>
        <p:spPr>
          <a:xfrm xmlns:a="http://schemas.openxmlformats.org/drawingml/2006/main">
            <a:off x="5619750" y="2581275"/>
            <a:ext cx="0" cy="1504950"/>
          </a:xfrm>
          <a:prstGeom xmlns:a="http://schemas.openxmlformats.org/drawingml/2006/main" prst="line">
            <a:avLst/>
          </a:prstGeom>
          <a:noFill xmlns:a="http://schemas.openxmlformats.org/drawingml/2006/main"/>
          <a:ln xmlns:a="http://schemas.openxmlformats.org/drawingml/2006/main" w="47625">
            <a:solidFill>
              <a:srgbClr val="39D7FF"/>
            </a:solidFill>
            <a:prstDash val="solid"/>
          </a:ln>
        </p:spPr>
        <p:txBody>
          <a:bodyPr xmlns:a="http://schemas.openxmlformats.org/drawingml/2006/main"/>
          <a:lstStyle xmlns:a="http://schemas.openxmlformats.org/drawingml/2006/main"/>
          <a:p xmlns:a="http://schemas.openxmlformats.org/drawingml/2006/main">
            <a:endParaRPr/>
          </a:p>
        </p:txBody>
      </p:sp>
      <p:sp>
        <p:nvSpPr>
          <p:cNvPr id="18" name="Rectangle: Rounded Corners 17">
            <a:extLst xmlns:a="http://schemas.openxmlformats.org/drawingml/2006/main">
              <a:ext uri="{FF2B5EF4-FFF2-40B4-BE49-F238E27FC236}">
                <a16:creationId xmlns:a16="http://schemas.microsoft.com/office/drawing/2014/main" id="{D2AF2417-49EE-45D8-B76F-9977AB032AD0}"/>
              </a:ext>
            </a:extLst>
          </p:cNvPr>
          <p:cNvSpPr>
            <a:spLocks xmlns:a="http://schemas.openxmlformats.org/drawingml/2006/main" noGrp="1"/>
          </p:cNvSpPr>
          <p:nvPr/>
        </p:nvSpPr>
        <p:spPr>
          <a:xfrm xmlns:a="http://schemas.openxmlformats.org/drawingml/2006/main">
            <a:off x="4953000" y="2133600"/>
            <a:ext cx="1333500" cy="895350"/>
          </a:xfrm>
          <a:prstGeom xmlns:a="http://schemas.openxmlformats.org/drawingml/2006/main" prst="roundRect">
            <a:avLst>
              <a:gd name="adj" fmla="val 19149"/>
            </a:avLst>
          </a:prstGeom>
          <a:solidFill xmlns:a="http://schemas.openxmlformats.org/drawingml/2006/main">
            <a:srgbClr val="11171C"/>
          </a:solidFill>
          <a:ln xmlns:a="http://schemas.openxmlformats.org/drawingml/2006/main" w="14288">
            <a:solidFill>
              <a:srgbClr val="39D7FF"/>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125" b="1">
                <a:solidFill>
                  <a:srgbClr val="F4F6F8"/>
                </a:solidFill>
                <a:latin typeface="DejaVu Sans"/>
                <a:ea typeface="DejaVu Sans"/>
                <a:cs typeface="DejaVu Sans"/>
              </a:defRPr>
            </a:pPr>
            <a:r>
              <a:rPr sz="1125" b="1">
                <a:solidFill>
                  <a:srgbClr val="F4F6F8"/>
                </a:solidFill>
                <a:latin typeface="DejaVu Sans"/>
                <a:ea typeface="DejaVu Sans"/>
                <a:cs typeface="DejaVu Sans"/>
              </a:rPr>
              <a:t>APPROVED</a:t>
            </a:r>
          </a:p>
          <a:p xmlns:a="http://schemas.openxmlformats.org/drawingml/2006/main">
            <a:pPr algn="ctr">
              <a:lnSpc>
                <a:spcPct val="90000"/>
              </a:lnSpc>
              <a:buNone/>
              <a:defRPr sz="1125" b="1">
                <a:solidFill>
                  <a:srgbClr val="F4F6F8"/>
                </a:solidFill>
                <a:latin typeface="DejaVu Sans"/>
                <a:ea typeface="DejaVu Sans"/>
                <a:cs typeface="DejaVu Sans"/>
              </a:defRPr>
            </a:pPr>
            <a:r>
              <a:rPr sz="1125" b="1">
                <a:solidFill>
                  <a:srgbClr val="F4F6F8"/>
                </a:solidFill>
                <a:latin typeface="DejaVu Sans"/>
                <a:ea typeface="DejaVu Sans"/>
                <a:cs typeface="DejaVu Sans"/>
              </a:rPr>
              <a:t>EVIDENCE</a:t>
            </a:r>
          </a:p>
        </p:txBody>
      </p:sp>
      <p:sp>
        <p:nvSpPr>
          <p:cNvPr id="19" name="Oval 18">
            <a:extLst xmlns:a="http://schemas.openxmlformats.org/drawingml/2006/main">
              <a:ext uri="{FF2B5EF4-FFF2-40B4-BE49-F238E27FC236}">
                <a16:creationId xmlns:a16="http://schemas.microsoft.com/office/drawing/2014/main" id="{59248DB1-9D46-4713-BA60-875DBBF0A58B}"/>
              </a:ext>
            </a:extLst>
          </p:cNvPr>
          <p:cNvSpPr>
            <a:spLocks xmlns:a="http://schemas.openxmlformats.org/drawingml/2006/main" noGrp="1"/>
          </p:cNvSpPr>
          <p:nvPr/>
        </p:nvSpPr>
        <p:spPr>
          <a:xfrm xmlns:a="http://schemas.openxmlformats.org/drawingml/2006/main">
            <a:off x="4981575" y="2162175"/>
            <a:ext cx="266700" cy="266700"/>
          </a:xfrm>
          <a:prstGeom xmlns:a="http://schemas.openxmlformats.org/drawingml/2006/main" prst="ellipse">
            <a:avLst/>
          </a:prstGeom>
          <a:solidFill xmlns:a="http://schemas.openxmlformats.org/drawingml/2006/main">
            <a:srgbClr val="39D7FF"/>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0" name="Rectangle 19">
            <a:extLst xmlns:a="http://schemas.openxmlformats.org/drawingml/2006/main">
              <a:ext uri="{FF2B5EF4-FFF2-40B4-BE49-F238E27FC236}">
                <a16:creationId xmlns:a16="http://schemas.microsoft.com/office/drawing/2014/main" id="{B4764C73-193E-4B12-AEDE-0DDC2D83D8EC}"/>
              </a:ext>
            </a:extLst>
          </p:cNvPr>
          <p:cNvSpPr>
            <a:spLocks xmlns:a="http://schemas.openxmlformats.org/drawingml/2006/main" noGrp="1"/>
          </p:cNvSpPr>
          <p:nvPr/>
        </p:nvSpPr>
        <p:spPr>
          <a:xfrm xmlns:a="http://schemas.openxmlformats.org/drawingml/2006/main">
            <a:off x="5029200" y="2209800"/>
            <a:ext cx="171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5000"/>
              </a:lnSpc>
              <a:buNone/>
              <a:defRPr sz="900" b="1">
                <a:solidFill>
                  <a:srgbClr val="07090C"/>
                </a:solidFill>
                <a:latin typeface="DejaVu Sans Mono"/>
                <a:ea typeface="DejaVu Sans Mono"/>
                <a:cs typeface="DejaVu Sans Mono"/>
              </a:defRPr>
            </a:pPr>
            <a:r>
              <a:rPr sz="900" b="1">
                <a:solidFill>
                  <a:srgbClr val="07090C"/>
                </a:solidFill>
                <a:latin typeface="DejaVu Sans Mono"/>
                <a:ea typeface="DejaVu Sans Mono"/>
                <a:cs typeface="DejaVu Sans Mono"/>
              </a:rPr>
              <a:t>1</a:t>
            </a:r>
          </a:p>
        </p:txBody>
      </p:sp>
      <p:sp>
        <p:nvSpPr>
          <p:cNvPr id="21" name="Rectangle: Rounded Corners 20">
            <a:extLst xmlns:a="http://schemas.openxmlformats.org/drawingml/2006/main">
              <a:ext uri="{FF2B5EF4-FFF2-40B4-BE49-F238E27FC236}">
                <a16:creationId xmlns:a16="http://schemas.microsoft.com/office/drawing/2014/main" id="{95F1D345-4ECA-4650-89B0-1542F553363E}"/>
              </a:ext>
            </a:extLst>
          </p:cNvPr>
          <p:cNvSpPr>
            <a:spLocks xmlns:a="http://schemas.openxmlformats.org/drawingml/2006/main" noGrp="1"/>
          </p:cNvSpPr>
          <p:nvPr/>
        </p:nvSpPr>
        <p:spPr>
          <a:xfrm xmlns:a="http://schemas.openxmlformats.org/drawingml/2006/main">
            <a:off x="6724650" y="2238376"/>
            <a:ext cx="1619250" cy="1000124"/>
          </a:xfrm>
          <a:prstGeom xmlns:a="http://schemas.openxmlformats.org/drawingml/2006/main" prst="roundRect">
            <a:avLst>
              <a:gd name="adj" fmla="val 19149"/>
            </a:avLst>
          </a:prstGeom>
          <a:solidFill xmlns:a="http://schemas.openxmlformats.org/drawingml/2006/main">
            <a:srgbClr val="11171C"/>
          </a:solidFill>
          <a:ln xmlns:a="http://schemas.openxmlformats.org/drawingml/2006/main" w="14288">
            <a:solidFill>
              <a:srgbClr val="F26B38"/>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125" b="1">
                <a:solidFill>
                  <a:srgbClr val="F4F6F8"/>
                </a:solidFill>
                <a:latin typeface="DejaVu Sans"/>
                <a:ea typeface="DejaVu Sans"/>
                <a:cs typeface="DejaVu Sans"/>
              </a:defRPr>
            </a:pPr>
            <a:r>
              <a:rPr sz="1125" b="1">
                <a:solidFill>
                  <a:srgbClr val="F4F6F8"/>
                </a:solidFill>
                <a:latin typeface="DejaVu Sans"/>
                <a:ea typeface="DejaVu Sans"/>
                <a:cs typeface="DejaVu Sans"/>
              </a:rPr>
              <a:t>REQUIREMENTS</a:t>
            </a:r>
          </a:p>
          <a:p xmlns:a="http://schemas.openxmlformats.org/drawingml/2006/main">
            <a:pPr algn="ctr">
              <a:lnSpc>
                <a:spcPct val="90000"/>
              </a:lnSpc>
              <a:buNone/>
              <a:defRPr sz="1125" b="1">
                <a:solidFill>
                  <a:srgbClr val="F4F6F8"/>
                </a:solidFill>
                <a:latin typeface="DejaVu Sans"/>
                <a:ea typeface="DejaVu Sans"/>
                <a:cs typeface="DejaVu Sans"/>
              </a:defRPr>
            </a:pPr>
            <a:r>
              <a:rPr sz="1125" b="1">
                <a:solidFill>
                  <a:srgbClr val="F4F6F8"/>
                </a:solidFill>
                <a:latin typeface="DejaVu Sans"/>
                <a:ea typeface="DejaVu Sans"/>
                <a:cs typeface="DejaVu Sans"/>
              </a:rPr>
              <a:t>+ TRADES</a:t>
            </a:r>
          </a:p>
        </p:txBody>
      </p:sp>
      <p:sp>
        <p:nvSpPr>
          <p:cNvPr id="22" name="Oval 21">
            <a:extLst xmlns:a="http://schemas.openxmlformats.org/drawingml/2006/main">
              <a:ext uri="{FF2B5EF4-FFF2-40B4-BE49-F238E27FC236}">
                <a16:creationId xmlns:a16="http://schemas.microsoft.com/office/drawing/2014/main" id="{0F6BEC3F-62CD-4EC8-8E02-7D13E707E453}"/>
              </a:ext>
            </a:extLst>
          </p:cNvPr>
          <p:cNvSpPr>
            <a:spLocks xmlns:a="http://schemas.openxmlformats.org/drawingml/2006/main" noGrp="1"/>
          </p:cNvSpPr>
          <p:nvPr/>
        </p:nvSpPr>
        <p:spPr>
          <a:xfrm xmlns:a="http://schemas.openxmlformats.org/drawingml/2006/main">
            <a:off x="7038976" y="2293001"/>
            <a:ext cx="266700" cy="266700"/>
          </a:xfrm>
          <a:prstGeom xmlns:a="http://schemas.openxmlformats.org/drawingml/2006/main" prst="ellipse">
            <a:avLst/>
          </a:prstGeom>
          <a:solidFill xmlns:a="http://schemas.openxmlformats.org/drawingml/2006/main">
            <a:srgbClr val="F26B38"/>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3" name="Rectangle 22">
            <a:extLst xmlns:a="http://schemas.openxmlformats.org/drawingml/2006/main">
              <a:ext uri="{FF2B5EF4-FFF2-40B4-BE49-F238E27FC236}">
                <a16:creationId xmlns:a16="http://schemas.microsoft.com/office/drawing/2014/main" id="{311067C9-235F-4DA3-B38D-568ED9B99405}"/>
              </a:ext>
            </a:extLst>
          </p:cNvPr>
          <p:cNvSpPr>
            <a:spLocks xmlns:a="http://schemas.openxmlformats.org/drawingml/2006/main" noGrp="1"/>
          </p:cNvSpPr>
          <p:nvPr/>
        </p:nvSpPr>
        <p:spPr>
          <a:xfrm xmlns:a="http://schemas.openxmlformats.org/drawingml/2006/main">
            <a:off x="7086600" y="2335324"/>
            <a:ext cx="171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5000"/>
              </a:lnSpc>
              <a:buNone/>
              <a:defRPr sz="900" b="1">
                <a:solidFill>
                  <a:srgbClr val="07090C"/>
                </a:solidFill>
                <a:latin typeface="DejaVu Sans Mono"/>
                <a:ea typeface="DejaVu Sans Mono"/>
                <a:cs typeface="DejaVu Sans Mono"/>
              </a:defRPr>
            </a:pPr>
            <a:r>
              <a:rPr sz="900" b="1">
                <a:solidFill>
                  <a:srgbClr val="07090C"/>
                </a:solidFill>
                <a:latin typeface="DejaVu Sans Mono"/>
                <a:ea typeface="DejaVu Sans Mono"/>
                <a:cs typeface="DejaVu Sans Mono"/>
              </a:rPr>
              <a:t>2</a:t>
            </a:r>
          </a:p>
        </p:txBody>
      </p:sp>
      <p:sp>
        <p:nvSpPr>
          <p:cNvPr id="24" name="Rectangle: Rounded Corners 23">
            <a:extLst xmlns:a="http://schemas.openxmlformats.org/drawingml/2006/main">
              <a:ext uri="{FF2B5EF4-FFF2-40B4-BE49-F238E27FC236}">
                <a16:creationId xmlns:a16="http://schemas.microsoft.com/office/drawing/2014/main" id="{EFB074C3-58AA-40F4-BF6F-4AAC71B2D14F}"/>
              </a:ext>
            </a:extLst>
          </p:cNvPr>
          <p:cNvSpPr>
            <a:spLocks xmlns:a="http://schemas.openxmlformats.org/drawingml/2006/main" noGrp="1"/>
          </p:cNvSpPr>
          <p:nvPr/>
        </p:nvSpPr>
        <p:spPr>
          <a:xfrm xmlns:a="http://schemas.openxmlformats.org/drawingml/2006/main">
            <a:off x="7810500" y="3867150"/>
            <a:ext cx="1333500" cy="895350"/>
          </a:xfrm>
          <a:prstGeom xmlns:a="http://schemas.openxmlformats.org/drawingml/2006/main" prst="roundRect">
            <a:avLst>
              <a:gd name="adj" fmla="val 19149"/>
            </a:avLst>
          </a:prstGeom>
          <a:solidFill xmlns:a="http://schemas.openxmlformats.org/drawingml/2006/main">
            <a:srgbClr val="11171C"/>
          </a:solidFill>
          <a:ln xmlns:a="http://schemas.openxmlformats.org/drawingml/2006/main" w="14288">
            <a:solidFill>
              <a:srgbClr val="FF6262"/>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125" b="1">
                <a:solidFill>
                  <a:srgbClr val="F4F6F8"/>
                </a:solidFill>
                <a:latin typeface="DejaVu Sans"/>
                <a:ea typeface="DejaVu Sans"/>
                <a:cs typeface="DejaVu Sans"/>
              </a:defRPr>
            </a:pPr>
            <a:r>
              <a:rPr sz="1125" b="1">
                <a:solidFill>
                  <a:srgbClr val="F4F6F8"/>
                </a:solidFill>
                <a:latin typeface="DejaVu Sans"/>
                <a:ea typeface="DejaVu Sans"/>
                <a:cs typeface="DejaVu Sans"/>
              </a:rPr>
              <a:t>DESIGN ISSUE</a:t>
            </a:r>
          </a:p>
          <a:p xmlns:a="http://schemas.openxmlformats.org/drawingml/2006/main">
            <a:pPr algn="ctr">
              <a:lnSpc>
                <a:spcPct val="90000"/>
              </a:lnSpc>
              <a:buNone/>
              <a:defRPr sz="1125" b="1">
                <a:solidFill>
                  <a:srgbClr val="F4F6F8"/>
                </a:solidFill>
                <a:latin typeface="DejaVu Sans"/>
                <a:ea typeface="DejaVu Sans"/>
                <a:cs typeface="DejaVu Sans"/>
              </a:defRPr>
            </a:pPr>
            <a:r>
              <a:rPr sz="1125" b="1">
                <a:solidFill>
                  <a:srgbClr val="F4F6F8"/>
                </a:solidFill>
                <a:latin typeface="DejaVu Sans"/>
                <a:ea typeface="DejaVu Sans"/>
                <a:cs typeface="DejaVu Sans"/>
              </a:rPr>
              <a:t>SURFACED</a:t>
            </a:r>
          </a:p>
        </p:txBody>
      </p:sp>
      <p:sp>
        <p:nvSpPr>
          <p:cNvPr id="25" name="Oval 24">
            <a:extLst xmlns:a="http://schemas.openxmlformats.org/drawingml/2006/main">
              <a:ext uri="{FF2B5EF4-FFF2-40B4-BE49-F238E27FC236}">
                <a16:creationId xmlns:a16="http://schemas.microsoft.com/office/drawing/2014/main" id="{2411BE7B-95CE-4463-AD29-78B073D9FA30}"/>
              </a:ext>
            </a:extLst>
          </p:cNvPr>
          <p:cNvSpPr>
            <a:spLocks xmlns:a="http://schemas.openxmlformats.org/drawingml/2006/main" noGrp="1"/>
          </p:cNvSpPr>
          <p:nvPr/>
        </p:nvSpPr>
        <p:spPr>
          <a:xfrm xmlns:a="http://schemas.openxmlformats.org/drawingml/2006/main">
            <a:off x="7839075" y="3895725"/>
            <a:ext cx="266700" cy="266700"/>
          </a:xfrm>
          <a:prstGeom xmlns:a="http://schemas.openxmlformats.org/drawingml/2006/main" prst="ellipse">
            <a:avLst/>
          </a:prstGeom>
          <a:solidFill xmlns:a="http://schemas.openxmlformats.org/drawingml/2006/main">
            <a:srgbClr val="FF6262"/>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6" name="Rectangle 25">
            <a:extLst xmlns:a="http://schemas.openxmlformats.org/drawingml/2006/main">
              <a:ext uri="{FF2B5EF4-FFF2-40B4-BE49-F238E27FC236}">
                <a16:creationId xmlns:a16="http://schemas.microsoft.com/office/drawing/2014/main" id="{0EAA2F19-5E81-42CB-BF53-6713B41531CC}"/>
              </a:ext>
            </a:extLst>
          </p:cNvPr>
          <p:cNvSpPr>
            <a:spLocks xmlns:a="http://schemas.openxmlformats.org/drawingml/2006/main" noGrp="1"/>
          </p:cNvSpPr>
          <p:nvPr/>
        </p:nvSpPr>
        <p:spPr>
          <a:xfrm xmlns:a="http://schemas.openxmlformats.org/drawingml/2006/main">
            <a:off x="7886700" y="3943350"/>
            <a:ext cx="171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5000"/>
              </a:lnSpc>
              <a:buNone/>
              <a:defRPr sz="900" b="1">
                <a:solidFill>
                  <a:srgbClr val="07090C"/>
                </a:solidFill>
                <a:latin typeface="DejaVu Sans Mono"/>
                <a:ea typeface="DejaVu Sans Mono"/>
                <a:cs typeface="DejaVu Sans Mono"/>
              </a:defRPr>
            </a:pPr>
            <a:r>
              <a:rPr sz="900" b="1">
                <a:solidFill>
                  <a:srgbClr val="07090C"/>
                </a:solidFill>
                <a:latin typeface="DejaVu Sans Mono"/>
                <a:ea typeface="DejaVu Sans Mono"/>
                <a:cs typeface="DejaVu Sans Mono"/>
              </a:rPr>
              <a:t>3</a:t>
            </a:r>
          </a:p>
        </p:txBody>
      </p:sp>
      <p:sp>
        <p:nvSpPr>
          <p:cNvPr id="27" name="Rectangle: Rounded Corners 26">
            <a:extLst xmlns:a="http://schemas.openxmlformats.org/drawingml/2006/main">
              <a:ext uri="{FF2B5EF4-FFF2-40B4-BE49-F238E27FC236}">
                <a16:creationId xmlns:a16="http://schemas.microsoft.com/office/drawing/2014/main" id="{A4A3321A-799F-4D15-9CFE-8973FC4D00E3}"/>
              </a:ext>
            </a:extLst>
          </p:cNvPr>
          <p:cNvSpPr>
            <a:spLocks xmlns:a="http://schemas.openxmlformats.org/drawingml/2006/main" noGrp="1"/>
          </p:cNvSpPr>
          <p:nvPr/>
        </p:nvSpPr>
        <p:spPr>
          <a:xfrm xmlns:a="http://schemas.openxmlformats.org/drawingml/2006/main">
            <a:off x="6705600" y="5219700"/>
            <a:ext cx="1333500" cy="895350"/>
          </a:xfrm>
          <a:prstGeom xmlns:a="http://schemas.openxmlformats.org/drawingml/2006/main" prst="roundRect">
            <a:avLst>
              <a:gd name="adj" fmla="val 19149"/>
            </a:avLst>
          </a:prstGeom>
          <a:solidFill xmlns:a="http://schemas.openxmlformats.org/drawingml/2006/main">
            <a:srgbClr val="11171C"/>
          </a:solidFill>
          <a:ln xmlns:a="http://schemas.openxmlformats.org/drawingml/2006/main" w="14288">
            <a:solidFill>
              <a:srgbClr val="FFC857"/>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125" b="1">
                <a:solidFill>
                  <a:srgbClr val="F4F6F8"/>
                </a:solidFill>
                <a:latin typeface="DejaVu Sans"/>
                <a:ea typeface="DejaVu Sans"/>
                <a:cs typeface="DejaVu Sans"/>
              </a:defRPr>
            </a:pPr>
            <a:r>
              <a:rPr sz="1125" b="1">
                <a:solidFill>
                  <a:srgbClr val="F4F6F8"/>
                </a:solidFill>
                <a:latin typeface="DejaVu Sans"/>
                <a:ea typeface="DejaVu Sans"/>
                <a:cs typeface="DejaVu Sans"/>
              </a:rPr>
              <a:t>RESEARCH</a:t>
            </a:r>
          </a:p>
          <a:p xmlns:a="http://schemas.openxmlformats.org/drawingml/2006/main">
            <a:pPr algn="ctr">
              <a:lnSpc>
                <a:spcPct val="90000"/>
              </a:lnSpc>
              <a:buNone/>
              <a:defRPr sz="1125" b="1">
                <a:solidFill>
                  <a:srgbClr val="F4F6F8"/>
                </a:solidFill>
                <a:latin typeface="DejaVu Sans"/>
                <a:ea typeface="DejaVu Sans"/>
                <a:cs typeface="DejaVu Sans"/>
              </a:defRPr>
            </a:pPr>
            <a:r>
              <a:rPr sz="1125" b="1">
                <a:solidFill>
                  <a:srgbClr val="F4F6F8"/>
                </a:solidFill>
                <a:latin typeface="DejaVu Sans"/>
                <a:ea typeface="DejaVu Sans"/>
                <a:cs typeface="DejaVu Sans"/>
              </a:rPr>
              <a:t>REQUEST</a:t>
            </a:r>
          </a:p>
        </p:txBody>
      </p:sp>
      <p:sp>
        <p:nvSpPr>
          <p:cNvPr id="28" name="Oval 27">
            <a:extLst xmlns:a="http://schemas.openxmlformats.org/drawingml/2006/main">
              <a:ext uri="{FF2B5EF4-FFF2-40B4-BE49-F238E27FC236}">
                <a16:creationId xmlns:a16="http://schemas.microsoft.com/office/drawing/2014/main" id="{BFDE5269-BB40-492D-805D-F3DD05DDF060}"/>
              </a:ext>
            </a:extLst>
          </p:cNvPr>
          <p:cNvSpPr>
            <a:spLocks xmlns:a="http://schemas.openxmlformats.org/drawingml/2006/main" noGrp="1"/>
          </p:cNvSpPr>
          <p:nvPr/>
        </p:nvSpPr>
        <p:spPr>
          <a:xfrm xmlns:a="http://schemas.openxmlformats.org/drawingml/2006/main">
            <a:off x="6734175" y="5248275"/>
            <a:ext cx="266700" cy="266700"/>
          </a:xfrm>
          <a:prstGeom xmlns:a="http://schemas.openxmlformats.org/drawingml/2006/main" prst="ellipse">
            <a:avLst/>
          </a:prstGeom>
          <a:solidFill xmlns:a="http://schemas.openxmlformats.org/drawingml/2006/main">
            <a:srgbClr val="FFC85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9" name="Rectangle 28">
            <a:extLst xmlns:a="http://schemas.openxmlformats.org/drawingml/2006/main">
              <a:ext uri="{FF2B5EF4-FFF2-40B4-BE49-F238E27FC236}">
                <a16:creationId xmlns:a16="http://schemas.microsoft.com/office/drawing/2014/main" id="{3C2AF934-986E-4AEF-B7A1-31AD83AE560F}"/>
              </a:ext>
            </a:extLst>
          </p:cNvPr>
          <p:cNvSpPr>
            <a:spLocks xmlns:a="http://schemas.openxmlformats.org/drawingml/2006/main" noGrp="1"/>
          </p:cNvSpPr>
          <p:nvPr/>
        </p:nvSpPr>
        <p:spPr>
          <a:xfrm xmlns:a="http://schemas.openxmlformats.org/drawingml/2006/main">
            <a:off x="6781800" y="5295900"/>
            <a:ext cx="171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5000"/>
              </a:lnSpc>
              <a:buNone/>
              <a:defRPr sz="900" b="1">
                <a:solidFill>
                  <a:srgbClr val="07090C"/>
                </a:solidFill>
                <a:latin typeface="DejaVu Sans Mono"/>
                <a:ea typeface="DejaVu Sans Mono"/>
                <a:cs typeface="DejaVu Sans Mono"/>
              </a:defRPr>
            </a:pPr>
            <a:r>
              <a:rPr sz="900" b="1">
                <a:solidFill>
                  <a:srgbClr val="07090C"/>
                </a:solidFill>
                <a:latin typeface="DejaVu Sans Mono"/>
                <a:ea typeface="DejaVu Sans Mono"/>
                <a:cs typeface="DejaVu Sans Mono"/>
              </a:rPr>
              <a:t>4</a:t>
            </a:r>
          </a:p>
        </p:txBody>
      </p:sp>
      <p:sp>
        <p:nvSpPr>
          <p:cNvPr id="30" name="Rectangle: Rounded Corners 29">
            <a:extLst xmlns:a="http://schemas.openxmlformats.org/drawingml/2006/main">
              <a:ext uri="{FF2B5EF4-FFF2-40B4-BE49-F238E27FC236}">
                <a16:creationId xmlns:a16="http://schemas.microsoft.com/office/drawing/2014/main" id="{1AACCFC5-F4A4-4B4F-9364-81A9CF477BE0}"/>
              </a:ext>
            </a:extLst>
          </p:cNvPr>
          <p:cNvSpPr>
            <a:spLocks xmlns:a="http://schemas.openxmlformats.org/drawingml/2006/main" noGrp="1"/>
          </p:cNvSpPr>
          <p:nvPr/>
        </p:nvSpPr>
        <p:spPr>
          <a:xfrm xmlns:a="http://schemas.openxmlformats.org/drawingml/2006/main">
            <a:off x="4629150" y="5143500"/>
            <a:ext cx="1333500" cy="895350"/>
          </a:xfrm>
          <a:prstGeom xmlns:a="http://schemas.openxmlformats.org/drawingml/2006/main" prst="roundRect">
            <a:avLst>
              <a:gd name="adj" fmla="val 19149"/>
            </a:avLst>
          </a:prstGeom>
          <a:solidFill xmlns:a="http://schemas.openxmlformats.org/drawingml/2006/main">
            <a:srgbClr val="11171C"/>
          </a:solidFill>
          <a:ln xmlns:a="http://schemas.openxmlformats.org/drawingml/2006/main" w="14288">
            <a:solidFill>
              <a:srgbClr val="62D6A7"/>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125" b="1">
                <a:solidFill>
                  <a:srgbClr val="F4F6F8"/>
                </a:solidFill>
                <a:latin typeface="DejaVu Sans"/>
                <a:ea typeface="DejaVu Sans"/>
                <a:cs typeface="DejaVu Sans"/>
              </a:defRPr>
            </a:pPr>
            <a:r>
              <a:rPr sz="1125" b="1">
                <a:solidFill>
                  <a:srgbClr val="F4F6F8"/>
                </a:solidFill>
                <a:latin typeface="DejaVu Sans"/>
                <a:ea typeface="DejaVu Sans"/>
                <a:cs typeface="DejaVu Sans"/>
              </a:rPr>
              <a:t>TARGETED</a:t>
            </a:r>
          </a:p>
          <a:p xmlns:a="http://schemas.openxmlformats.org/drawingml/2006/main">
            <a:pPr algn="ctr">
              <a:lnSpc>
                <a:spcPct val="90000"/>
              </a:lnSpc>
              <a:buNone/>
              <a:defRPr sz="1125" b="1">
                <a:solidFill>
                  <a:srgbClr val="F4F6F8"/>
                </a:solidFill>
                <a:latin typeface="DejaVu Sans"/>
                <a:ea typeface="DejaVu Sans"/>
                <a:cs typeface="DejaVu Sans"/>
              </a:defRPr>
            </a:pPr>
            <a:r>
              <a:rPr sz="1125" b="1">
                <a:solidFill>
                  <a:srgbClr val="F4F6F8"/>
                </a:solidFill>
                <a:latin typeface="DejaVu Sans"/>
                <a:ea typeface="DejaVu Sans"/>
                <a:cs typeface="DejaVu Sans"/>
              </a:rPr>
              <a:t>EVIDENCE</a:t>
            </a:r>
          </a:p>
        </p:txBody>
      </p:sp>
      <p:sp>
        <p:nvSpPr>
          <p:cNvPr id="31" name="Oval 30">
            <a:extLst xmlns:a="http://schemas.openxmlformats.org/drawingml/2006/main">
              <a:ext uri="{FF2B5EF4-FFF2-40B4-BE49-F238E27FC236}">
                <a16:creationId xmlns:a16="http://schemas.microsoft.com/office/drawing/2014/main" id="{3A732017-E673-4D44-919C-0DC404F1167C}"/>
              </a:ext>
            </a:extLst>
          </p:cNvPr>
          <p:cNvSpPr>
            <a:spLocks xmlns:a="http://schemas.openxmlformats.org/drawingml/2006/main" noGrp="1"/>
          </p:cNvSpPr>
          <p:nvPr/>
        </p:nvSpPr>
        <p:spPr>
          <a:xfrm xmlns:a="http://schemas.openxmlformats.org/drawingml/2006/main">
            <a:off x="4657725" y="5172075"/>
            <a:ext cx="266700" cy="266700"/>
          </a:xfrm>
          <a:prstGeom xmlns:a="http://schemas.openxmlformats.org/drawingml/2006/main" prst="ellipse">
            <a:avLst/>
          </a:prstGeom>
          <a:solidFill xmlns:a="http://schemas.openxmlformats.org/drawingml/2006/main">
            <a:srgbClr val="62D6A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2" name="Rectangle 31">
            <a:extLst xmlns:a="http://schemas.openxmlformats.org/drawingml/2006/main">
              <a:ext uri="{FF2B5EF4-FFF2-40B4-BE49-F238E27FC236}">
                <a16:creationId xmlns:a16="http://schemas.microsoft.com/office/drawing/2014/main" id="{7F98B7C4-E392-46B4-8C5A-DF0974874130}"/>
              </a:ext>
            </a:extLst>
          </p:cNvPr>
          <p:cNvSpPr>
            <a:spLocks xmlns:a="http://schemas.openxmlformats.org/drawingml/2006/main" noGrp="1"/>
          </p:cNvSpPr>
          <p:nvPr/>
        </p:nvSpPr>
        <p:spPr>
          <a:xfrm xmlns:a="http://schemas.openxmlformats.org/drawingml/2006/main">
            <a:off x="4705350" y="5219700"/>
            <a:ext cx="171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5000"/>
              </a:lnSpc>
              <a:buNone/>
              <a:defRPr sz="900" b="1">
                <a:solidFill>
                  <a:srgbClr val="07090C"/>
                </a:solidFill>
                <a:latin typeface="DejaVu Sans Mono"/>
                <a:ea typeface="DejaVu Sans Mono"/>
                <a:cs typeface="DejaVu Sans Mono"/>
              </a:defRPr>
            </a:pPr>
            <a:r>
              <a:rPr sz="900" b="1">
                <a:solidFill>
                  <a:srgbClr val="07090C"/>
                </a:solidFill>
                <a:latin typeface="DejaVu Sans Mono"/>
                <a:ea typeface="DejaVu Sans Mono"/>
                <a:cs typeface="DejaVu Sans Mono"/>
              </a:rPr>
              <a:t>5</a:t>
            </a:r>
          </a:p>
        </p:txBody>
      </p:sp>
      <p:sp>
        <p:nvSpPr>
          <p:cNvPr id="33" name="Rectangle: Rounded Corners 32">
            <a:extLst xmlns:a="http://schemas.openxmlformats.org/drawingml/2006/main">
              <a:ext uri="{FF2B5EF4-FFF2-40B4-BE49-F238E27FC236}">
                <a16:creationId xmlns:a16="http://schemas.microsoft.com/office/drawing/2014/main" id="{E249D150-BABA-4E74-BBCB-6D23DC846D0E}"/>
              </a:ext>
            </a:extLst>
          </p:cNvPr>
          <p:cNvSpPr>
            <a:spLocks xmlns:a="http://schemas.openxmlformats.org/drawingml/2006/main" noGrp="1"/>
          </p:cNvSpPr>
          <p:nvPr/>
        </p:nvSpPr>
        <p:spPr>
          <a:xfrm xmlns:a="http://schemas.openxmlformats.org/drawingml/2006/main">
            <a:off x="3228975" y="3590925"/>
            <a:ext cx="1333500" cy="895350"/>
          </a:xfrm>
          <a:prstGeom xmlns:a="http://schemas.openxmlformats.org/drawingml/2006/main" prst="roundRect">
            <a:avLst>
              <a:gd name="adj" fmla="val 19149"/>
            </a:avLst>
          </a:prstGeom>
          <a:solidFill xmlns:a="http://schemas.openxmlformats.org/drawingml/2006/main">
            <a:srgbClr val="11171C"/>
          </a:solidFill>
          <a:ln xmlns:a="http://schemas.openxmlformats.org/drawingml/2006/main" w="14288">
            <a:solidFill>
              <a:srgbClr val="39D7FF"/>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125" b="1">
                <a:solidFill>
                  <a:srgbClr val="F4F6F8"/>
                </a:solidFill>
                <a:latin typeface="DejaVu Sans"/>
                <a:ea typeface="DejaVu Sans"/>
                <a:cs typeface="DejaVu Sans"/>
              </a:defRPr>
            </a:pPr>
            <a:r>
              <a:rPr sz="1125" b="1">
                <a:solidFill>
                  <a:srgbClr val="F4F6F8"/>
                </a:solidFill>
                <a:latin typeface="DejaVu Sans"/>
                <a:ea typeface="DejaVu Sans"/>
                <a:cs typeface="DejaVu Sans"/>
              </a:rPr>
              <a:t>BASELINE UPDATE</a:t>
            </a:r>
          </a:p>
          <a:p xmlns:a="http://schemas.openxmlformats.org/drawingml/2006/main">
            <a:pPr algn="ctr">
              <a:lnSpc>
                <a:spcPct val="90000"/>
              </a:lnSpc>
              <a:buNone/>
              <a:defRPr sz="1125" b="1">
                <a:solidFill>
                  <a:srgbClr val="F4F6F8"/>
                </a:solidFill>
                <a:latin typeface="DejaVu Sans"/>
                <a:ea typeface="DejaVu Sans"/>
                <a:cs typeface="DejaVu Sans"/>
              </a:defRPr>
            </a:pPr>
            <a:r>
              <a:rPr sz="1125" b="1">
                <a:solidFill>
                  <a:srgbClr val="F4F6F8"/>
                </a:solidFill>
                <a:latin typeface="DejaVu Sans"/>
                <a:ea typeface="DejaVu Sans"/>
                <a:cs typeface="DejaVu Sans"/>
              </a:rPr>
              <a:t>+ CONTINUE</a:t>
            </a:r>
          </a:p>
        </p:txBody>
      </p:sp>
      <p:sp>
        <p:nvSpPr>
          <p:cNvPr id="34" name="Oval 33">
            <a:extLst xmlns:a="http://schemas.openxmlformats.org/drawingml/2006/main">
              <a:ext uri="{FF2B5EF4-FFF2-40B4-BE49-F238E27FC236}">
                <a16:creationId xmlns:a16="http://schemas.microsoft.com/office/drawing/2014/main" id="{1EB7F439-7A83-4A13-8304-6F7B9D5DBC7A}"/>
              </a:ext>
            </a:extLst>
          </p:cNvPr>
          <p:cNvSpPr>
            <a:spLocks xmlns:a="http://schemas.openxmlformats.org/drawingml/2006/main" noGrp="1"/>
          </p:cNvSpPr>
          <p:nvPr/>
        </p:nvSpPr>
        <p:spPr>
          <a:xfrm xmlns:a="http://schemas.openxmlformats.org/drawingml/2006/main">
            <a:off x="3257550" y="3619500"/>
            <a:ext cx="266700" cy="266700"/>
          </a:xfrm>
          <a:prstGeom xmlns:a="http://schemas.openxmlformats.org/drawingml/2006/main" prst="ellipse">
            <a:avLst/>
          </a:prstGeom>
          <a:solidFill xmlns:a="http://schemas.openxmlformats.org/drawingml/2006/main">
            <a:srgbClr val="39D7FF"/>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5" name="Rectangle 34">
            <a:extLst xmlns:a="http://schemas.openxmlformats.org/drawingml/2006/main">
              <a:ext uri="{FF2B5EF4-FFF2-40B4-BE49-F238E27FC236}">
                <a16:creationId xmlns:a16="http://schemas.microsoft.com/office/drawing/2014/main" id="{5F875145-477E-4D27-8D8A-8EA4A458E8C3}"/>
              </a:ext>
            </a:extLst>
          </p:cNvPr>
          <p:cNvSpPr>
            <a:spLocks xmlns:a="http://schemas.openxmlformats.org/drawingml/2006/main" noGrp="1"/>
          </p:cNvSpPr>
          <p:nvPr/>
        </p:nvSpPr>
        <p:spPr>
          <a:xfrm xmlns:a="http://schemas.openxmlformats.org/drawingml/2006/main">
            <a:off x="3305175" y="3667125"/>
            <a:ext cx="171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5000"/>
              </a:lnSpc>
              <a:buNone/>
              <a:defRPr sz="900" b="1">
                <a:solidFill>
                  <a:srgbClr val="07090C"/>
                </a:solidFill>
                <a:latin typeface="DejaVu Sans Mono"/>
                <a:ea typeface="DejaVu Sans Mono"/>
                <a:cs typeface="DejaVu Sans Mono"/>
              </a:defRPr>
            </a:pPr>
            <a:r>
              <a:rPr sz="900" b="1">
                <a:solidFill>
                  <a:srgbClr val="07090C"/>
                </a:solidFill>
                <a:latin typeface="DejaVu Sans Mono"/>
                <a:ea typeface="DejaVu Sans Mono"/>
                <a:cs typeface="DejaVu Sans Mono"/>
              </a:rPr>
              <a:t>6</a:t>
            </a:r>
          </a:p>
        </p:txBody>
      </p:sp>
      <p:sp>
        <p:nvSpPr>
          <p:cNvPr id="36" name="Oval 35">
            <a:extLst xmlns:a="http://schemas.openxmlformats.org/drawingml/2006/main">
              <a:ext uri="{FF2B5EF4-FFF2-40B4-BE49-F238E27FC236}">
                <a16:creationId xmlns:a16="http://schemas.microsoft.com/office/drawing/2014/main" id="{1C63ACC4-8102-4BBD-A6D0-5C504127BAF8}"/>
              </a:ext>
            </a:extLst>
          </p:cNvPr>
          <p:cNvSpPr>
            <a:spLocks xmlns:a="http://schemas.openxmlformats.org/drawingml/2006/main" noGrp="1"/>
          </p:cNvSpPr>
          <p:nvPr/>
        </p:nvSpPr>
        <p:spPr>
          <a:xfrm xmlns:a="http://schemas.openxmlformats.org/drawingml/2006/main">
            <a:off x="4895850" y="3200400"/>
            <a:ext cx="2400300" cy="1562100"/>
          </a:xfrm>
          <a:prstGeom xmlns:a="http://schemas.openxmlformats.org/drawingml/2006/main" prst="ellipse">
            <a:avLst/>
          </a:prstGeom>
          <a:gradFill xmlns:a="http://schemas.openxmlformats.org/drawingml/2006/main">
            <a:gsLst>
              <a:gs pos="0">
                <a:srgbClr val="1B252C"/>
              </a:gs>
              <a:gs pos="100000">
                <a:srgbClr val="0A0E12"/>
              </a:gs>
            </a:gsLst>
            <a:path path="shape"/>
          </a:gradFill>
          <a:ln xmlns:a="http://schemas.openxmlformats.org/drawingml/2006/main" w="14288">
            <a:solidFill>
              <a:srgbClr val="F4F6F8"/>
            </a:solidFill>
            <a:prstDash val="solid"/>
          </a:ln>
        </p:spPr>
        <p:txBody>
          <a:bodyPr xmlns:a="http://schemas.openxmlformats.org/drawingml/2006/main"/>
          <a:lstStyle xmlns:a="http://schemas.openxmlformats.org/drawingml/2006/main"/>
          <a:p xmlns:a="http://schemas.openxmlformats.org/drawingml/2006/main">
            <a:endParaRPr/>
          </a:p>
        </p:txBody>
      </p:sp>
      <p:sp>
        <p:nvSpPr>
          <p:cNvPr id="37" name="Rectangle 36">
            <a:extLst xmlns:a="http://schemas.openxmlformats.org/drawingml/2006/main">
              <a:ext uri="{FF2B5EF4-FFF2-40B4-BE49-F238E27FC236}">
                <a16:creationId xmlns:a16="http://schemas.microsoft.com/office/drawing/2014/main" id="{A270C06A-B927-4218-8127-B589045193D5}"/>
              </a:ext>
            </a:extLst>
          </p:cNvPr>
          <p:cNvSpPr>
            <a:spLocks xmlns:a="http://schemas.openxmlformats.org/drawingml/2006/main" noGrp="1"/>
          </p:cNvSpPr>
          <p:nvPr/>
        </p:nvSpPr>
        <p:spPr>
          <a:xfrm xmlns:a="http://schemas.openxmlformats.org/drawingml/2006/main">
            <a:off x="5105400" y="3600450"/>
            <a:ext cx="19812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0000"/>
              </a:lnSpc>
              <a:buNone/>
              <a:defRPr sz="1800" b="1">
                <a:solidFill>
                  <a:srgbClr val="F4F6F8"/>
                </a:solidFill>
                <a:latin typeface="DejaVu Sans"/>
                <a:ea typeface="DejaVu Sans"/>
                <a:cs typeface="DejaVu Sans"/>
              </a:defRPr>
            </a:pPr>
            <a:r>
              <a:rPr sz="1800" b="1">
                <a:solidFill>
                  <a:srgbClr val="F4F6F8"/>
                </a:solidFill>
                <a:latin typeface="DejaVu Sans"/>
                <a:ea typeface="DejaVu Sans"/>
                <a:cs typeface="DejaVu Sans"/>
              </a:rPr>
              <a:t>ENGINEERING</a:t>
            </a:r>
          </a:p>
          <a:p xmlns:a="http://schemas.openxmlformats.org/drawingml/2006/main">
            <a:pPr algn="ctr">
              <a:lnSpc>
                <a:spcPct val="90000"/>
              </a:lnSpc>
              <a:buNone/>
              <a:defRPr sz="1800" b="1">
                <a:solidFill>
                  <a:srgbClr val="F4F6F8"/>
                </a:solidFill>
                <a:latin typeface="DejaVu Sans"/>
                <a:ea typeface="DejaVu Sans"/>
                <a:cs typeface="DejaVu Sans"/>
              </a:defRPr>
            </a:pPr>
            <a:r>
              <a:rPr sz="1800" b="1">
                <a:solidFill>
                  <a:srgbClr val="F4F6F8"/>
                </a:solidFill>
                <a:latin typeface="DejaVu Sans"/>
                <a:ea typeface="DejaVu Sans"/>
                <a:cs typeface="DejaVu Sans"/>
              </a:rPr>
              <a:t>TO COMPLETION</a:t>
            </a:r>
          </a:p>
        </p:txBody>
      </p:sp>
      <p:sp>
        <p:nvSpPr>
          <p:cNvPr id="38" name="Rectangle: Rounded Corners 37">
            <a:extLst xmlns:a="http://schemas.openxmlformats.org/drawingml/2006/main">
              <a:ext uri="{FF2B5EF4-FFF2-40B4-BE49-F238E27FC236}">
                <a16:creationId xmlns:a16="http://schemas.microsoft.com/office/drawing/2014/main" id="{7A14EDB7-1BAC-4539-A174-08EDDDADF1D4}"/>
              </a:ext>
            </a:extLst>
          </p:cNvPr>
          <p:cNvSpPr>
            <a:spLocks xmlns:a="http://schemas.openxmlformats.org/drawingml/2006/main" noGrp="1"/>
          </p:cNvSpPr>
          <p:nvPr/>
        </p:nvSpPr>
        <p:spPr>
          <a:xfrm xmlns:a="http://schemas.openxmlformats.org/drawingml/2006/main">
            <a:off x="742950" y="2381250"/>
            <a:ext cx="2190750" cy="400050"/>
          </a:xfrm>
          <a:prstGeom xmlns:a="http://schemas.openxmlformats.org/drawingml/2006/main" prst="roundRect">
            <a:avLst>
              <a:gd name="adj" fmla="val 21429"/>
            </a:avLst>
          </a:prstGeom>
          <a:solidFill xmlns:a="http://schemas.openxmlformats.org/drawingml/2006/main">
            <a:srgbClr val="1A0F11"/>
          </a:solidFill>
          <a:ln xmlns:a="http://schemas.openxmlformats.org/drawingml/2006/main" w="9525">
            <a:solidFill>
              <a:srgbClr val="FF6262">
                <a:alpha val="55000"/>
              </a:srgbClr>
            </a:solidFill>
            <a:prstDash val="solid"/>
          </a:ln>
        </p:spPr>
        <p:txBody>
          <a:bodyPr xmlns:a="http://schemas.openxmlformats.org/drawingml/2006/main" wrap="square" lIns="47625" tIns="19050" rIns="47625" bIns="19050" anchor="ctr">
            <a:noAutofit/>
          </a:bodyPr>
          <a:lstStyle xmlns:a="http://schemas.openxmlformats.org/drawingml/2006/main"/>
          <a:p xmlns:a="http://schemas.openxmlformats.org/drawingml/2006/main">
            <a:pPr algn="ctr">
              <a:lnSpc>
                <a:spcPct val="95000"/>
              </a:lnSpc>
              <a:buNone/>
              <a:defRPr sz="975" b="1">
                <a:solidFill>
                  <a:srgbClr val="FF6262"/>
                </a:solidFill>
                <a:latin typeface="DejaVu Sans Mono"/>
                <a:ea typeface="DejaVu Sans Mono"/>
                <a:cs typeface="DejaVu Sans Mono"/>
              </a:defRPr>
            </a:pPr>
            <a:r>
              <a:rPr sz="975" b="1">
                <a:solidFill>
                  <a:srgbClr val="FF6262"/>
                </a:solidFill>
                <a:latin typeface="DejaVu Sans Mono"/>
                <a:ea typeface="DejaVu Sans Mono"/>
                <a:cs typeface="DejaVu Sans Mono"/>
              </a:rPr>
              <a:t>NO FAKE CERTAINTY</a:t>
            </a:r>
          </a:p>
        </p:txBody>
      </p:sp>
      <p:sp>
        <p:nvSpPr>
          <p:cNvPr id="39" name="Rectangle 38">
            <a:extLst xmlns:a="http://schemas.openxmlformats.org/drawingml/2006/main">
              <a:ext uri="{FF2B5EF4-FFF2-40B4-BE49-F238E27FC236}">
                <a16:creationId xmlns:a16="http://schemas.microsoft.com/office/drawing/2014/main" id="{5E1FAE89-6629-4A1B-9CEA-18843072E69D}"/>
              </a:ext>
            </a:extLst>
          </p:cNvPr>
          <p:cNvSpPr>
            <a:spLocks xmlns:a="http://schemas.openxmlformats.org/drawingml/2006/main" noGrp="1"/>
          </p:cNvSpPr>
          <p:nvPr/>
        </p:nvSpPr>
        <p:spPr>
          <a:xfrm xmlns:a="http://schemas.openxmlformats.org/drawingml/2006/main">
            <a:off x="742950" y="3048000"/>
            <a:ext cx="2381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25" b="0">
                <a:solidFill>
                  <a:srgbClr val="D8DEE3"/>
                </a:solidFill>
                <a:latin typeface="DejaVu Sans"/>
                <a:ea typeface="DejaVu Sans"/>
                <a:cs typeface="DejaVu Sans"/>
              </a:defRPr>
            </a:pPr>
            <a:r>
              <a:rPr sz="1425" b="0">
                <a:solidFill>
                  <a:srgbClr val="D8DEE3"/>
                </a:solidFill>
                <a:latin typeface="DejaVu Sans"/>
                <a:ea typeface="DejaVu Sans"/>
                <a:cs typeface="DejaVu Sans"/>
              </a:rPr>
              <a:t>Verification, manufacturing and operations can reopen any earlier node.</a:t>
            </a:r>
          </a:p>
        </p:txBody>
      </p:sp>
      <p:sp>
        <p:nvSpPr>
          <p:cNvPr id="40" name="Rectangle 39">
            <a:extLst xmlns:a="http://schemas.openxmlformats.org/drawingml/2006/main">
              <a:ext uri="{FF2B5EF4-FFF2-40B4-BE49-F238E27FC236}">
                <a16:creationId xmlns:a16="http://schemas.microsoft.com/office/drawing/2014/main" id="{998DC478-9E5E-4038-B9CD-E594F5A39917}"/>
              </a:ext>
            </a:extLst>
          </p:cNvPr>
          <p:cNvSpPr>
            <a:spLocks xmlns:a="http://schemas.openxmlformats.org/drawingml/2006/main" noGrp="1"/>
          </p:cNvSpPr>
          <p:nvPr/>
        </p:nvSpPr>
        <p:spPr>
          <a:xfrm xmlns:a="http://schemas.openxmlformats.org/drawingml/2006/main">
            <a:off x="8572500" y="5581650"/>
            <a:ext cx="2838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95000"/>
              </a:lnSpc>
              <a:buNone/>
              <a:defRPr sz="1125" b="1">
                <a:solidFill>
                  <a:srgbClr val="F26B38"/>
                </a:solidFill>
                <a:latin typeface="DejaVu Sans Mono"/>
                <a:ea typeface="DejaVu Sans Mono"/>
                <a:cs typeface="DejaVu Sans Mono"/>
              </a:defRPr>
            </a:pPr>
            <a:r>
              <a:rPr sz="1125" b="1">
                <a:solidFill>
                  <a:srgbClr val="F26B38"/>
                </a:solidFill>
                <a:latin typeface="DejaVu Sans Mono"/>
                <a:ea typeface="DejaVu Sans Mono"/>
                <a:cs typeface="DejaVu Sans Mono"/>
              </a:rPr>
              <a:t>THE RETURN PATH IS A FEATURE</a:t>
            </a:r>
          </a:p>
        </p:txBody>
      </p:sp>
      <p:sp>
        <p:nvSpPr>
          <p:cNvPr id="41" name="Rectangle 40">
            <a:extLst xmlns:a="http://schemas.openxmlformats.org/drawingml/2006/main">
              <a:ext uri="{FF2B5EF4-FFF2-40B4-BE49-F238E27FC236}">
                <a16:creationId xmlns:a16="http://schemas.microsoft.com/office/drawing/2014/main" id="{D5440BE0-5F0E-4EF9-B3D5-358DDAD9691B}"/>
              </a:ext>
            </a:extLst>
          </p:cNvPr>
          <p:cNvSpPr>
            <a:spLocks xmlns:a="http://schemas.openxmlformats.org/drawingml/2006/main" noGrp="1"/>
          </p:cNvSpPr>
          <p:nvPr/>
        </p:nvSpPr>
        <p:spPr>
          <a:xfrm xmlns:a="http://schemas.openxmlformats.org/drawingml/2006/main">
            <a:off x="0" y="6400800"/>
            <a:ext cx="12192000" cy="457200"/>
          </a:xfrm>
          <a:prstGeom xmlns:a="http://schemas.openxmlformats.org/drawingml/2006/main" prst="rect">
            <a:avLst/>
          </a:prstGeom>
          <a:solidFill xmlns:a="http://schemas.openxmlformats.org/drawingml/2006/main">
            <a:srgbClr val="07090C">
              <a:alpha val="76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42" name="Rectangle 41">
            <a:extLst xmlns:a="http://schemas.openxmlformats.org/drawingml/2006/main">
              <a:ext uri="{FF2B5EF4-FFF2-40B4-BE49-F238E27FC236}">
                <a16:creationId xmlns:a16="http://schemas.microsoft.com/office/drawing/2014/main" id="{D0A567DD-8564-4CB6-A799-E485ABF67052}"/>
              </a:ext>
            </a:extLst>
          </p:cNvPr>
          <p:cNvSpPr>
            <a:spLocks xmlns:a="http://schemas.openxmlformats.org/drawingml/2006/main" noGrp="1"/>
          </p:cNvSpPr>
          <p:nvPr/>
        </p:nvSpPr>
        <p:spPr>
          <a:xfrm xmlns:a="http://schemas.openxmlformats.org/drawingml/2006/main">
            <a:off x="609600" y="6553200"/>
            <a:ext cx="68580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MARS SOCIETY 2026  •  HARNESSED AGENTIC SCIENCE + ENGINEERING</a:t>
            </a:r>
          </a:p>
        </p:txBody>
      </p:sp>
      <p:sp>
        <p:nvSpPr>
          <p:cNvPr id="43" name="Rectangle 42">
            <a:extLst xmlns:a="http://schemas.openxmlformats.org/drawingml/2006/main">
              <a:ext uri="{FF2B5EF4-FFF2-40B4-BE49-F238E27FC236}">
                <a16:creationId xmlns:a16="http://schemas.microsoft.com/office/drawing/2014/main" id="{95F63C3C-F7CD-43F7-ACFA-D6C18C3BDD16}"/>
              </a:ext>
            </a:extLst>
          </p:cNvPr>
          <p:cNvSpPr>
            <a:spLocks xmlns:a="http://schemas.openxmlformats.org/drawingml/2006/main" noGrp="1"/>
          </p:cNvSpPr>
          <p:nvPr/>
        </p:nvSpPr>
        <p:spPr>
          <a:xfrm xmlns:a="http://schemas.openxmlformats.org/drawingml/2006/main">
            <a:off x="9525000" y="6553200"/>
            <a:ext cx="20574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BOB J MILLS     10</a:t>
            </a:r>
          </a:p>
        </p:txBody>
      </p:sp>
    </p:spTree>
    <p:extLst>
      <p:ext uri="{BB962C8B-B14F-4D97-AF65-F5344CB8AC3E}">
        <p14:creationId xmlns:p14="http://schemas.microsoft.com/office/powerpoint/2010/main" val="1284996730"/>
      </p:ext>
    </p:extLst>
  </p:cSld>
</p:sld>
</file>

<file path=ppt/slides/slide11.xml><?xml version="1.0" encoding="utf-8"?>
<p:sld xmlns:p="http://schemas.openxmlformats.org/presentationml/2006/main">
  <p:cSld>
    <p:bg>
      <p:bgPr>
        <a:solidFill xmlns:a="http://schemas.openxmlformats.org/drawingml/2006/main">
          <a:srgbClr val="07090C"/>
        </a:solidFill>
      </p:bgPr>
    </p:bg>
    <p:spTree>
      <p:nvGrpSpPr>
        <p:cNvPr id="1" name=""/>
        <p:cNvGrpSpPr/>
        <p:nvPr/>
      </p:nvGrpSpPr>
      <p:grpSpPr>
        <a:xfrm xmlns:a="http://schemas.openxmlformats.org/drawingml/2006/main"/>
      </p:grpSpPr>
      <p:sp>
        <p:nvSpPr>
          <p:cNvPr id="62" name="Rectangle: Rounded Corners 61">
            <a:extLst xmlns:a="http://schemas.openxmlformats.org/drawingml/2006/main">
              <a:ext uri="{FF2B5EF4-FFF2-40B4-BE49-F238E27FC236}">
                <a16:creationId xmlns:a16="http://schemas.microsoft.com/office/drawing/2014/main" id="{98524D10-0A34-4279-86BA-E73AC0114CB9}"/>
              </a:ext>
            </a:extLst>
          </p:cNvPr>
          <p:cNvSpPr>
            <a:spLocks xmlns:a="http://schemas.openxmlformats.org/drawingml/2006/main" noGrp="1"/>
          </p:cNvSpPr>
          <p:nvPr/>
        </p:nvSpPr>
        <p:spPr>
          <a:xfrm xmlns:a="http://schemas.openxmlformats.org/drawingml/2006/main">
            <a:off x="7033466" y="5471468"/>
            <a:ext cx="4324864" cy="590550"/>
          </a:xfrm>
          <a:prstGeom xmlns:a="http://schemas.openxmlformats.org/drawingml/2006/main" prst="roundRect">
            <a:avLst>
              <a:gd name="adj" fmla="val 22581"/>
            </a:avLst>
          </a:prstGeom>
          <a:solidFill xmlns:a="http://schemas.openxmlformats.org/drawingml/2006/main">
            <a:srgbClr val="0D1216"/>
          </a:solidFill>
          <a:ln xmlns:a="http://schemas.openxmlformats.org/drawingml/2006/main" w="9525">
            <a:solidFill>
              <a:srgbClr val="35414B"/>
            </a:solidFill>
            <a:prstDash val="solid"/>
          </a:ln>
        </p:spPr>
        <p:txBody>
          <a:bodyPr xmlns:a="http://schemas.openxmlformats.org/drawingml/2006/main"/>
          <a:lstStyle xmlns:a="http://schemas.openxmlformats.org/drawingml/2006/main"/>
          <a:p xmlns:a="http://schemas.openxmlformats.org/drawingml/2006/main">
            <a:endParaRPr/>
          </a:p>
        </p:txBody>
      </p:sp>
      <p:sp>
        <p:nvSpPr>
          <p:cNvPr id="60" name="Rectangle 59">
            <a:extLst xmlns:a="http://schemas.openxmlformats.org/drawingml/2006/main">
              <a:ext uri="{FF2B5EF4-FFF2-40B4-BE49-F238E27FC236}">
                <a16:creationId xmlns:a16="http://schemas.microsoft.com/office/drawing/2014/main" id="{EA7F7C61-B38D-488C-98FF-503F92D98FBA}"/>
              </a:ext>
            </a:extLst>
          </p:cNvPr>
          <p:cNvSpPr>
            <a:spLocks xmlns:a="http://schemas.openxmlformats.org/drawingml/2006/main" noGrp="1"/>
          </p:cNvSpPr>
          <p:nvPr/>
        </p:nvSpPr>
        <p:spPr>
          <a:xfrm xmlns:a="http://schemas.openxmlformats.org/drawingml/2006/main">
            <a:off x="609600" y="3429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75" b="1">
                <a:solidFill>
                  <a:srgbClr val="F26B38"/>
                </a:solidFill>
                <a:latin typeface="DejaVu Sans Mono"/>
                <a:ea typeface="DejaVu Sans Mono"/>
                <a:cs typeface="DejaVu Sans Mono"/>
              </a:defRPr>
            </a:pPr>
            <a:r>
              <a:rPr sz="975" b="1">
                <a:solidFill>
                  <a:srgbClr val="F26B38"/>
                </a:solidFill>
                <a:latin typeface="DejaVu Sans Mono"/>
                <a:ea typeface="DejaVu Sans Mono"/>
                <a:cs typeface="DejaVu Sans Mono"/>
              </a:rPr>
              <a:t>11  /  AGENTIC ACCELERATION</a:t>
            </a:r>
          </a:p>
        </p:txBody>
      </p:sp>
      <p:sp>
        <p:nvSpPr>
          <p:cNvPr id="2" name="Rectangle 1">
            <a:extLst xmlns:a="http://schemas.openxmlformats.org/drawingml/2006/main">
              <a:ext uri="{FF2B5EF4-FFF2-40B4-BE49-F238E27FC236}">
                <a16:creationId xmlns:a16="http://schemas.microsoft.com/office/drawing/2014/main" id="{15C259EE-8862-4C93-8B1E-D484FB038FE9}"/>
              </a:ext>
            </a:extLst>
          </p:cNvPr>
          <p:cNvSpPr>
            <a:spLocks xmlns:a="http://schemas.openxmlformats.org/drawingml/2006/main" noGrp="1"/>
          </p:cNvSpPr>
          <p:nvPr/>
        </p:nvSpPr>
        <p:spPr>
          <a:xfrm xmlns:a="http://schemas.openxmlformats.org/drawingml/2006/main">
            <a:off x="609600" y="647700"/>
            <a:ext cx="10972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0000"/>
              </a:lnSpc>
              <a:buNone/>
              <a:defRPr sz="2325" b="1">
                <a:solidFill>
                  <a:srgbClr val="F4F6F8"/>
                </a:solidFill>
                <a:latin typeface="DejaVu Sans"/>
                <a:ea typeface="DejaVu Sans"/>
                <a:cs typeface="DejaVu Sans"/>
              </a:defRPr>
            </a:pPr>
            <a:r>
              <a:rPr sz="2325" b="1">
                <a:solidFill>
                  <a:srgbClr val="F4F6F8"/>
                </a:solidFill>
                <a:latin typeface="DejaVu Sans"/>
                <a:ea typeface="DejaVu Sans"/>
                <a:cs typeface="DejaVu Sans"/>
              </a:rPr>
              <a:t>Parallel work shortens waiting; gates preserve truth</a:t>
            </a:r>
          </a:p>
        </p:txBody>
      </p:sp>
      <p:sp>
        <p:nvSpPr>
          <p:cNvPr id="3" name="Rectangle 2">
            <a:extLst xmlns:a="http://schemas.openxmlformats.org/drawingml/2006/main">
              <a:ext uri="{FF2B5EF4-FFF2-40B4-BE49-F238E27FC236}">
                <a16:creationId xmlns:a16="http://schemas.microsoft.com/office/drawing/2014/main" id="{839FD45F-69C3-482E-9913-B9769CA39F0B}"/>
              </a:ext>
            </a:extLst>
          </p:cNvPr>
          <p:cNvSpPr>
            <a:spLocks xmlns:a="http://schemas.openxmlformats.org/drawingml/2006/main" noGrp="1"/>
          </p:cNvSpPr>
          <p:nvPr/>
        </p:nvSpPr>
        <p:spPr>
          <a:xfrm xmlns:a="http://schemas.openxmlformats.org/drawingml/2006/main">
            <a:off x="628650" y="1238250"/>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25" b="0">
                <a:solidFill>
                  <a:srgbClr val="8D99A3"/>
                </a:solidFill>
                <a:latin typeface="DejaVu Sans"/>
                <a:ea typeface="DejaVu Sans"/>
                <a:cs typeface="DejaVu Sans"/>
              </a:defRPr>
            </a:pPr>
            <a:r>
              <a:rPr sz="1425" b="0">
                <a:solidFill>
                  <a:srgbClr val="8D99A3"/>
                </a:solidFill>
                <a:latin typeface="DejaVu Sans"/>
                <a:ea typeface="DejaVu Sans"/>
                <a:cs typeface="DejaVu Sans"/>
              </a:rPr>
              <a:t>The harness coordinates independent searches, analyses and critiques—then merges only reviewed work.</a:t>
            </a:r>
          </a:p>
        </p:txBody>
      </p:sp>
      <p:sp>
        <p:nvSpPr>
          <p:cNvPr id="4" name="Straight Connector 3">
            <a:extLst xmlns:a="http://schemas.openxmlformats.org/drawingml/2006/main">
              <a:ext uri="{FF2B5EF4-FFF2-40B4-BE49-F238E27FC236}">
                <a16:creationId xmlns:a16="http://schemas.microsoft.com/office/drawing/2014/main" id="{1522A33B-098A-4B9B-B8FC-DA01CBB090C1}"/>
              </a:ext>
            </a:extLst>
          </p:cNvPr>
          <p:cNvSpPr>
            <a:spLocks xmlns:a="http://schemas.openxmlformats.org/drawingml/2006/main" noGrp="1"/>
          </p:cNvSpPr>
          <p:nvPr/>
        </p:nvSpPr>
        <p:spPr>
          <a:xfrm xmlns:a="http://schemas.openxmlformats.org/drawingml/2006/main">
            <a:off x="609600" y="1676400"/>
            <a:ext cx="10972800" cy="0"/>
          </a:xfrm>
          <a:prstGeom xmlns:a="http://schemas.openxmlformats.org/drawingml/2006/main" prst="line">
            <a:avLst/>
          </a:prstGeom>
          <a:noFill xmlns:a="http://schemas.openxmlformats.org/drawingml/2006/main"/>
          <a:ln xmlns:a="http://schemas.openxmlformats.org/drawingml/2006/main" w="9525">
            <a:solidFill>
              <a:srgbClr val="35414B"/>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Rectangle: Rounded Corners 4">
            <a:extLst xmlns:a="http://schemas.openxmlformats.org/drawingml/2006/main">
              <a:ext uri="{FF2B5EF4-FFF2-40B4-BE49-F238E27FC236}">
                <a16:creationId xmlns:a16="http://schemas.microsoft.com/office/drawing/2014/main" id="{00AFCEC8-0553-42B1-BAC9-9C1CDBE1B2FA}"/>
              </a:ext>
            </a:extLst>
          </p:cNvPr>
          <p:cNvSpPr>
            <a:spLocks xmlns:a="http://schemas.openxmlformats.org/drawingml/2006/main" noGrp="1"/>
          </p:cNvSpPr>
          <p:nvPr/>
        </p:nvSpPr>
        <p:spPr>
          <a:xfrm xmlns:a="http://schemas.openxmlformats.org/drawingml/2006/main">
            <a:off x="666750" y="3086100"/>
            <a:ext cx="1409700" cy="1143000"/>
          </a:xfrm>
          <a:prstGeom xmlns:a="http://schemas.openxmlformats.org/drawingml/2006/main" prst="roundRect">
            <a:avLst>
              <a:gd name="adj" fmla="val 13333"/>
            </a:avLst>
          </a:prstGeom>
          <a:solidFill xmlns:a="http://schemas.openxmlformats.org/drawingml/2006/main">
            <a:srgbClr val="11171C"/>
          </a:solidFill>
          <a:ln xmlns:a="http://schemas.openxmlformats.org/drawingml/2006/main" w="14288">
            <a:solidFill>
              <a:srgbClr val="F4F6F8"/>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200" b="1">
                <a:solidFill>
                  <a:srgbClr val="F4F6F8"/>
                </a:solidFill>
                <a:latin typeface="DejaVu Sans"/>
                <a:ea typeface="DejaVu Sans"/>
                <a:cs typeface="DejaVu Sans"/>
              </a:defRPr>
            </a:pPr>
            <a:r>
              <a:rPr sz="1200" b="1">
                <a:solidFill>
                  <a:srgbClr val="F4F6F8"/>
                </a:solidFill>
                <a:latin typeface="DejaVu Sans"/>
                <a:ea typeface="DejaVu Sans"/>
                <a:cs typeface="DejaVu Sans"/>
              </a:rPr>
              <a:t>MISSION</a:t>
            </a:r>
          </a:p>
          <a:p xmlns:a="http://schemas.openxmlformats.org/drawingml/2006/main">
            <a:pPr algn="ctr">
              <a:lnSpc>
                <a:spcPct val="90000"/>
              </a:lnSpc>
              <a:buNone/>
              <a:defRPr sz="1200" b="1">
                <a:solidFill>
                  <a:srgbClr val="F4F6F8"/>
                </a:solidFill>
                <a:latin typeface="DejaVu Sans"/>
                <a:ea typeface="DejaVu Sans"/>
                <a:cs typeface="DejaVu Sans"/>
              </a:defRPr>
            </a:pPr>
            <a:r>
              <a:rPr sz="1200" b="1">
                <a:solidFill>
                  <a:srgbClr val="F4F6F8"/>
                </a:solidFill>
                <a:latin typeface="DejaVu Sans"/>
                <a:ea typeface="DejaVu Sans"/>
                <a:cs typeface="DejaVu Sans"/>
              </a:rPr>
              <a:t>QUESTION</a:t>
            </a:r>
          </a:p>
        </p:txBody>
      </p:sp>
      <p:sp>
        <p:nvSpPr>
          <p:cNvPr id="6" name="Arrow: Right 5">
            <a:extLst xmlns:a="http://schemas.openxmlformats.org/drawingml/2006/main">
              <a:ext uri="{FF2B5EF4-FFF2-40B4-BE49-F238E27FC236}">
                <a16:creationId xmlns:a16="http://schemas.microsoft.com/office/drawing/2014/main" id="{D4255A62-315C-46CC-87D2-2D4878926EED}"/>
              </a:ext>
            </a:extLst>
          </p:cNvPr>
          <p:cNvSpPr>
            <a:spLocks xmlns:a="http://schemas.openxmlformats.org/drawingml/2006/main" noGrp="1"/>
          </p:cNvSpPr>
          <p:nvPr/>
        </p:nvSpPr>
        <p:spPr>
          <a:xfrm xmlns:a="http://schemas.openxmlformats.org/drawingml/2006/main">
            <a:off x="2133600" y="2324100"/>
            <a:ext cx="723900" cy="171450"/>
          </a:xfrm>
          <a:prstGeom xmlns:a="http://schemas.openxmlformats.org/drawingml/2006/main" prst="rightArrow">
            <a:avLst/>
          </a:prstGeom>
          <a:solidFill xmlns:a="http://schemas.openxmlformats.org/drawingml/2006/main">
            <a:srgbClr val="39D7FF">
              <a:alpha val="65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7" name="Rectangle: Rounded Corners 6">
            <a:extLst xmlns:a="http://schemas.openxmlformats.org/drawingml/2006/main">
              <a:ext uri="{FF2B5EF4-FFF2-40B4-BE49-F238E27FC236}">
                <a16:creationId xmlns:a16="http://schemas.microsoft.com/office/drawing/2014/main" id="{89C2D083-2295-4B43-9D1C-E3FEEAFA9A5F}"/>
              </a:ext>
            </a:extLst>
          </p:cNvPr>
          <p:cNvSpPr>
            <a:spLocks xmlns:a="http://schemas.openxmlformats.org/drawingml/2006/main" noGrp="1"/>
          </p:cNvSpPr>
          <p:nvPr/>
        </p:nvSpPr>
        <p:spPr>
          <a:xfrm xmlns:a="http://schemas.openxmlformats.org/drawingml/2006/main">
            <a:off x="2971800" y="2076450"/>
            <a:ext cx="4762500" cy="647700"/>
          </a:xfrm>
          <a:prstGeom xmlns:a="http://schemas.openxmlformats.org/drawingml/2006/main" prst="roundRect">
            <a:avLst>
              <a:gd name="adj" fmla="val 20588"/>
            </a:avLst>
          </a:prstGeom>
          <a:solidFill xmlns:a="http://schemas.openxmlformats.org/drawingml/2006/main">
            <a:srgbClr val="10161B"/>
          </a:solidFill>
          <a:ln xmlns:a="http://schemas.openxmlformats.org/drawingml/2006/main" w="11430">
            <a:solidFill>
              <a:srgbClr val="39D7FF"/>
            </a:solidFill>
            <a:prstDash val="solid"/>
          </a:ln>
        </p:spPr>
        <p:txBody>
          <a:bodyPr xmlns:a="http://schemas.openxmlformats.org/drawingml/2006/main"/>
          <a:lstStyle xmlns:a="http://schemas.openxmlformats.org/drawingml/2006/main"/>
          <a:p xmlns:a="http://schemas.openxmlformats.org/drawingml/2006/main">
            <a:endParaRPr/>
          </a:p>
        </p:txBody>
      </p:sp>
      <p:sp>
        <p:nvSpPr>
          <p:cNvPr id="8" name="Rectangle 7">
            <a:extLst xmlns:a="http://schemas.openxmlformats.org/drawingml/2006/main">
              <a:ext uri="{FF2B5EF4-FFF2-40B4-BE49-F238E27FC236}">
                <a16:creationId xmlns:a16="http://schemas.microsoft.com/office/drawing/2014/main" id="{FA96D190-D136-49F2-B0BA-8295004896FB}"/>
              </a:ext>
            </a:extLst>
          </p:cNvPr>
          <p:cNvSpPr>
            <a:spLocks xmlns:a="http://schemas.openxmlformats.org/drawingml/2006/main" noGrp="1"/>
          </p:cNvSpPr>
          <p:nvPr/>
        </p:nvSpPr>
        <p:spPr>
          <a:xfrm xmlns:a="http://schemas.openxmlformats.org/drawingml/2006/main">
            <a:off x="3181350" y="2181225"/>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200" b="1">
                <a:solidFill>
                  <a:srgbClr val="39D7FF"/>
                </a:solidFill>
                <a:latin typeface="DejaVu Sans Mono"/>
                <a:ea typeface="DejaVu Sans Mono"/>
                <a:cs typeface="DejaVu Sans Mono"/>
              </a:defRPr>
            </a:pPr>
            <a:r>
              <a:rPr sz="1200" b="1">
                <a:solidFill>
                  <a:srgbClr val="39D7FF"/>
                </a:solidFill>
                <a:latin typeface="DejaVu Sans Mono"/>
                <a:ea typeface="DejaVu Sans Mono"/>
                <a:cs typeface="DejaVu Sans Mono"/>
              </a:rPr>
              <a:t>EVIDENCE SEARCH</a:t>
            </a:r>
          </a:p>
        </p:txBody>
      </p:sp>
      <p:sp>
        <p:nvSpPr>
          <p:cNvPr id="9" name="Rectangle 8">
            <a:extLst xmlns:a="http://schemas.openxmlformats.org/drawingml/2006/main">
              <a:ext uri="{FF2B5EF4-FFF2-40B4-BE49-F238E27FC236}">
                <a16:creationId xmlns:a16="http://schemas.microsoft.com/office/drawing/2014/main" id="{C2D5CDE7-996A-436E-8300-B0B7C2E7AD10}"/>
              </a:ext>
            </a:extLst>
          </p:cNvPr>
          <p:cNvSpPr>
            <a:spLocks xmlns:a="http://schemas.openxmlformats.org/drawingml/2006/main" noGrp="1"/>
          </p:cNvSpPr>
          <p:nvPr/>
        </p:nvSpPr>
        <p:spPr>
          <a:xfrm xmlns:a="http://schemas.openxmlformats.org/drawingml/2006/main">
            <a:off x="5391150" y="2181225"/>
            <a:ext cx="213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95000"/>
              </a:lnSpc>
              <a:buNone/>
              <a:defRPr sz="1200" b="0">
                <a:solidFill>
                  <a:srgbClr val="D8DEE3"/>
                </a:solidFill>
                <a:latin typeface="DejaVu Sans"/>
                <a:ea typeface="DejaVu Sans"/>
                <a:cs typeface="DejaVu Sans"/>
              </a:defRPr>
            </a:pPr>
            <a:r>
              <a:rPr sz="1200" b="0">
                <a:solidFill>
                  <a:srgbClr val="D8DEE3"/>
                </a:solidFill>
                <a:latin typeface="DejaVu Sans"/>
                <a:ea typeface="DejaVu Sans"/>
                <a:cs typeface="DejaVu Sans"/>
              </a:rPr>
              <a:t>sources • conflicts • gaps</a:t>
            </a:r>
          </a:p>
        </p:txBody>
      </p:sp>
      <p:sp>
        <p:nvSpPr>
          <p:cNvPr id="10" name="Rectangle 9">
            <a:extLst xmlns:a="http://schemas.openxmlformats.org/drawingml/2006/main">
              <a:ext uri="{FF2B5EF4-FFF2-40B4-BE49-F238E27FC236}">
                <a16:creationId xmlns:a16="http://schemas.microsoft.com/office/drawing/2014/main" id="{CC7661DC-FAC9-4B5F-BE19-44687729CCF3}"/>
              </a:ext>
            </a:extLst>
          </p:cNvPr>
          <p:cNvSpPr>
            <a:spLocks xmlns:a="http://schemas.openxmlformats.org/drawingml/2006/main" noGrp="1"/>
          </p:cNvSpPr>
          <p:nvPr/>
        </p:nvSpPr>
        <p:spPr>
          <a:xfrm xmlns:a="http://schemas.openxmlformats.org/drawingml/2006/main">
            <a:off x="3472815" y="2533650"/>
            <a:ext cx="723900" cy="47625"/>
          </a:xfrm>
          <a:prstGeom xmlns:a="http://schemas.openxmlformats.org/drawingml/2006/main" prst="rect">
            <a:avLst/>
          </a:prstGeom>
          <a:solidFill xmlns:a="http://schemas.openxmlformats.org/drawingml/2006/main">
            <a:srgbClr val="39D7FF">
              <a:alpha val="5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1" name="Rectangle 10">
            <a:extLst xmlns:a="http://schemas.openxmlformats.org/drawingml/2006/main">
              <a:ext uri="{FF2B5EF4-FFF2-40B4-BE49-F238E27FC236}">
                <a16:creationId xmlns:a16="http://schemas.microsoft.com/office/drawing/2014/main" id="{57A47871-9CF2-4D49-BC10-8DDA81A0D5D0}"/>
              </a:ext>
            </a:extLst>
          </p:cNvPr>
          <p:cNvSpPr>
            <a:spLocks xmlns:a="http://schemas.openxmlformats.org/drawingml/2006/main" noGrp="1"/>
          </p:cNvSpPr>
          <p:nvPr/>
        </p:nvSpPr>
        <p:spPr>
          <a:xfrm xmlns:a="http://schemas.openxmlformats.org/drawingml/2006/main">
            <a:off x="4175760" y="2533650"/>
            <a:ext cx="723900" cy="47625"/>
          </a:xfrm>
          <a:prstGeom xmlns:a="http://schemas.openxmlformats.org/drawingml/2006/main" prst="rect">
            <a:avLst/>
          </a:prstGeom>
          <a:solidFill xmlns:a="http://schemas.openxmlformats.org/drawingml/2006/main">
            <a:srgbClr val="39D7FF">
              <a:alpha val="6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2" name="Rectangle 11">
            <a:extLst xmlns:a="http://schemas.openxmlformats.org/drawingml/2006/main">
              <a:ext uri="{FF2B5EF4-FFF2-40B4-BE49-F238E27FC236}">
                <a16:creationId xmlns:a16="http://schemas.microsoft.com/office/drawing/2014/main" id="{6A872ACA-8F57-4D30-9928-4B2C135995BF}"/>
              </a:ext>
            </a:extLst>
          </p:cNvPr>
          <p:cNvSpPr>
            <a:spLocks xmlns:a="http://schemas.openxmlformats.org/drawingml/2006/main" noGrp="1"/>
          </p:cNvSpPr>
          <p:nvPr/>
        </p:nvSpPr>
        <p:spPr>
          <a:xfrm xmlns:a="http://schemas.openxmlformats.org/drawingml/2006/main">
            <a:off x="5034915" y="2533650"/>
            <a:ext cx="723900" cy="47625"/>
          </a:xfrm>
          <a:prstGeom xmlns:a="http://schemas.openxmlformats.org/drawingml/2006/main" prst="rect">
            <a:avLst/>
          </a:prstGeom>
          <a:solidFill xmlns:a="http://schemas.openxmlformats.org/drawingml/2006/main">
            <a:srgbClr val="39D7FF">
              <a:alpha val="7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3" name="Rectangle 12">
            <a:extLst xmlns:a="http://schemas.openxmlformats.org/drawingml/2006/main">
              <a:ext uri="{FF2B5EF4-FFF2-40B4-BE49-F238E27FC236}">
                <a16:creationId xmlns:a16="http://schemas.microsoft.com/office/drawing/2014/main" id="{9DC4DF97-7491-4DC5-9319-87549B3FA0B2}"/>
              </a:ext>
            </a:extLst>
          </p:cNvPr>
          <p:cNvSpPr>
            <a:spLocks xmlns:a="http://schemas.openxmlformats.org/drawingml/2006/main" noGrp="1"/>
          </p:cNvSpPr>
          <p:nvPr/>
        </p:nvSpPr>
        <p:spPr>
          <a:xfrm xmlns:a="http://schemas.openxmlformats.org/drawingml/2006/main">
            <a:off x="5894070" y="2533650"/>
            <a:ext cx="723900" cy="47625"/>
          </a:xfrm>
          <a:prstGeom xmlns:a="http://schemas.openxmlformats.org/drawingml/2006/main" prst="rect">
            <a:avLst/>
          </a:prstGeom>
          <a:solidFill xmlns:a="http://schemas.openxmlformats.org/drawingml/2006/main">
            <a:srgbClr val="39D7FF">
              <a:alpha val="8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4" name="Arrow: Right 13">
            <a:extLst xmlns:a="http://schemas.openxmlformats.org/drawingml/2006/main">
              <a:ext uri="{FF2B5EF4-FFF2-40B4-BE49-F238E27FC236}">
                <a16:creationId xmlns:a16="http://schemas.microsoft.com/office/drawing/2014/main" id="{7B5EF38A-FBD6-4E49-AF2C-897DAD92BF3F}"/>
              </a:ext>
            </a:extLst>
          </p:cNvPr>
          <p:cNvSpPr>
            <a:spLocks xmlns:a="http://schemas.openxmlformats.org/drawingml/2006/main" noGrp="1"/>
          </p:cNvSpPr>
          <p:nvPr/>
        </p:nvSpPr>
        <p:spPr>
          <a:xfrm xmlns:a="http://schemas.openxmlformats.org/drawingml/2006/main">
            <a:off x="7829550" y="2324100"/>
            <a:ext cx="609600" cy="171450"/>
          </a:xfrm>
          <a:prstGeom xmlns:a="http://schemas.openxmlformats.org/drawingml/2006/main" prst="rightArrow">
            <a:avLst/>
          </a:prstGeom>
          <a:solidFill xmlns:a="http://schemas.openxmlformats.org/drawingml/2006/main">
            <a:srgbClr val="39D7FF">
              <a:alpha val="65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5" name="Arrow: Right 14">
            <a:extLst xmlns:a="http://schemas.openxmlformats.org/drawingml/2006/main">
              <a:ext uri="{FF2B5EF4-FFF2-40B4-BE49-F238E27FC236}">
                <a16:creationId xmlns:a16="http://schemas.microsoft.com/office/drawing/2014/main" id="{779E014F-E21D-4D12-8A3B-264947157C99}"/>
              </a:ext>
            </a:extLst>
          </p:cNvPr>
          <p:cNvSpPr>
            <a:spLocks xmlns:a="http://schemas.openxmlformats.org/drawingml/2006/main" noGrp="1"/>
          </p:cNvSpPr>
          <p:nvPr/>
        </p:nvSpPr>
        <p:spPr>
          <a:xfrm xmlns:a="http://schemas.openxmlformats.org/drawingml/2006/main">
            <a:off x="2133600" y="3200400"/>
            <a:ext cx="723900" cy="171450"/>
          </a:xfrm>
          <a:prstGeom xmlns:a="http://schemas.openxmlformats.org/drawingml/2006/main" prst="rightArrow">
            <a:avLst/>
          </a:prstGeom>
          <a:solidFill xmlns:a="http://schemas.openxmlformats.org/drawingml/2006/main">
            <a:srgbClr val="F26B38">
              <a:alpha val="65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6" name="Rectangle: Rounded Corners 15">
            <a:extLst xmlns:a="http://schemas.openxmlformats.org/drawingml/2006/main">
              <a:ext uri="{FF2B5EF4-FFF2-40B4-BE49-F238E27FC236}">
                <a16:creationId xmlns:a16="http://schemas.microsoft.com/office/drawing/2014/main" id="{F8C51056-23CA-4069-9A8E-FEC7CF500DF3}"/>
              </a:ext>
            </a:extLst>
          </p:cNvPr>
          <p:cNvSpPr>
            <a:spLocks xmlns:a="http://schemas.openxmlformats.org/drawingml/2006/main" noGrp="1"/>
          </p:cNvSpPr>
          <p:nvPr/>
        </p:nvSpPr>
        <p:spPr>
          <a:xfrm xmlns:a="http://schemas.openxmlformats.org/drawingml/2006/main">
            <a:off x="2971800" y="2952750"/>
            <a:ext cx="4762500" cy="647700"/>
          </a:xfrm>
          <a:prstGeom xmlns:a="http://schemas.openxmlformats.org/drawingml/2006/main" prst="roundRect">
            <a:avLst>
              <a:gd name="adj" fmla="val 20588"/>
            </a:avLst>
          </a:prstGeom>
          <a:solidFill xmlns:a="http://schemas.openxmlformats.org/drawingml/2006/main">
            <a:srgbClr val="10161B"/>
          </a:solidFill>
          <a:ln xmlns:a="http://schemas.openxmlformats.org/drawingml/2006/main" w="11430">
            <a:solidFill>
              <a:srgbClr val="F26B38"/>
            </a:solidFill>
            <a:prstDash val="solid"/>
          </a:ln>
        </p:spPr>
        <p:txBody>
          <a:bodyPr xmlns:a="http://schemas.openxmlformats.org/drawingml/2006/main"/>
          <a:lstStyle xmlns:a="http://schemas.openxmlformats.org/drawingml/2006/main"/>
          <a:p xmlns:a="http://schemas.openxmlformats.org/drawingml/2006/main">
            <a:endParaRPr/>
          </a:p>
        </p:txBody>
      </p:sp>
      <p:sp>
        <p:nvSpPr>
          <p:cNvPr id="17" name="Rectangle 16">
            <a:extLst xmlns:a="http://schemas.openxmlformats.org/drawingml/2006/main">
              <a:ext uri="{FF2B5EF4-FFF2-40B4-BE49-F238E27FC236}">
                <a16:creationId xmlns:a16="http://schemas.microsoft.com/office/drawing/2014/main" id="{8EF77381-B5B3-4A2A-9A22-A1CADB211B15}"/>
              </a:ext>
            </a:extLst>
          </p:cNvPr>
          <p:cNvSpPr>
            <a:spLocks xmlns:a="http://schemas.openxmlformats.org/drawingml/2006/main" noGrp="1"/>
          </p:cNvSpPr>
          <p:nvPr/>
        </p:nvSpPr>
        <p:spPr>
          <a:xfrm xmlns:a="http://schemas.openxmlformats.org/drawingml/2006/main">
            <a:off x="3181350" y="3057525"/>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200" b="1">
                <a:solidFill>
                  <a:srgbClr val="F26B38"/>
                </a:solidFill>
                <a:latin typeface="DejaVu Sans Mono"/>
                <a:ea typeface="DejaVu Sans Mono"/>
                <a:cs typeface="DejaVu Sans Mono"/>
              </a:defRPr>
            </a:pPr>
            <a:r>
              <a:rPr sz="1200" b="1">
                <a:solidFill>
                  <a:srgbClr val="F26B38"/>
                </a:solidFill>
                <a:latin typeface="DejaVu Sans Mono"/>
                <a:ea typeface="DejaVu Sans Mono"/>
                <a:cs typeface="DejaVu Sans Mono"/>
              </a:rPr>
              <a:t>MODELS + TRADES</a:t>
            </a:r>
          </a:p>
        </p:txBody>
      </p:sp>
      <p:sp>
        <p:nvSpPr>
          <p:cNvPr id="18" name="Rectangle 17">
            <a:extLst xmlns:a="http://schemas.openxmlformats.org/drawingml/2006/main">
              <a:ext uri="{FF2B5EF4-FFF2-40B4-BE49-F238E27FC236}">
                <a16:creationId xmlns:a16="http://schemas.microsoft.com/office/drawing/2014/main" id="{B2CF1BA1-A236-4154-8F0B-6FAB681D6531}"/>
              </a:ext>
            </a:extLst>
          </p:cNvPr>
          <p:cNvSpPr>
            <a:spLocks xmlns:a="http://schemas.openxmlformats.org/drawingml/2006/main" noGrp="1"/>
          </p:cNvSpPr>
          <p:nvPr/>
        </p:nvSpPr>
        <p:spPr>
          <a:xfrm xmlns:a="http://schemas.openxmlformats.org/drawingml/2006/main">
            <a:off x="5391150" y="3057525"/>
            <a:ext cx="213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95000"/>
              </a:lnSpc>
              <a:buNone/>
              <a:defRPr sz="1200" b="0">
                <a:solidFill>
                  <a:srgbClr val="D8DEE3"/>
                </a:solidFill>
                <a:latin typeface="DejaVu Sans"/>
                <a:ea typeface="DejaVu Sans"/>
                <a:cs typeface="DejaVu Sans"/>
              </a:defRPr>
            </a:pPr>
            <a:r>
              <a:rPr sz="1200" b="0">
                <a:solidFill>
                  <a:srgbClr val="D8DEE3"/>
                </a:solidFill>
                <a:latin typeface="DejaVu Sans"/>
                <a:ea typeface="DejaVu Sans"/>
                <a:cs typeface="DejaVu Sans"/>
              </a:rPr>
              <a:t>simulation • sensitivity</a:t>
            </a:r>
          </a:p>
        </p:txBody>
      </p:sp>
      <p:sp>
        <p:nvSpPr>
          <p:cNvPr id="19" name="Rectangle 18">
            <a:extLst xmlns:a="http://schemas.openxmlformats.org/drawingml/2006/main">
              <a:ext uri="{FF2B5EF4-FFF2-40B4-BE49-F238E27FC236}">
                <a16:creationId xmlns:a16="http://schemas.microsoft.com/office/drawing/2014/main" id="{AF920994-F943-4F53-BAFB-8085A9BD5B2F}"/>
              </a:ext>
            </a:extLst>
          </p:cNvPr>
          <p:cNvSpPr>
            <a:spLocks xmlns:a="http://schemas.openxmlformats.org/drawingml/2006/main" noGrp="1"/>
          </p:cNvSpPr>
          <p:nvPr/>
        </p:nvSpPr>
        <p:spPr>
          <a:xfrm xmlns:a="http://schemas.openxmlformats.org/drawingml/2006/main">
            <a:off x="3472815" y="3409950"/>
            <a:ext cx="723900" cy="47625"/>
          </a:xfrm>
          <a:prstGeom xmlns:a="http://schemas.openxmlformats.org/drawingml/2006/main" prst="rect">
            <a:avLst/>
          </a:prstGeom>
          <a:solidFill xmlns:a="http://schemas.openxmlformats.org/drawingml/2006/main">
            <a:srgbClr val="F26B38">
              <a:alpha val="5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0" name="Rectangle 19">
            <a:extLst xmlns:a="http://schemas.openxmlformats.org/drawingml/2006/main">
              <a:ext uri="{FF2B5EF4-FFF2-40B4-BE49-F238E27FC236}">
                <a16:creationId xmlns:a16="http://schemas.microsoft.com/office/drawing/2014/main" id="{E936C13E-50F4-419D-B80F-1DC4AEEA6F1B}"/>
              </a:ext>
            </a:extLst>
          </p:cNvPr>
          <p:cNvSpPr>
            <a:spLocks xmlns:a="http://schemas.openxmlformats.org/drawingml/2006/main" noGrp="1"/>
          </p:cNvSpPr>
          <p:nvPr/>
        </p:nvSpPr>
        <p:spPr>
          <a:xfrm xmlns:a="http://schemas.openxmlformats.org/drawingml/2006/main">
            <a:off x="4175760" y="3409950"/>
            <a:ext cx="723900" cy="47625"/>
          </a:xfrm>
          <a:prstGeom xmlns:a="http://schemas.openxmlformats.org/drawingml/2006/main" prst="rect">
            <a:avLst/>
          </a:prstGeom>
          <a:solidFill xmlns:a="http://schemas.openxmlformats.org/drawingml/2006/main">
            <a:srgbClr val="F26B38">
              <a:alpha val="6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1" name="Rectangle 20">
            <a:extLst xmlns:a="http://schemas.openxmlformats.org/drawingml/2006/main">
              <a:ext uri="{FF2B5EF4-FFF2-40B4-BE49-F238E27FC236}">
                <a16:creationId xmlns:a16="http://schemas.microsoft.com/office/drawing/2014/main" id="{E218E7E1-C82E-4EFE-9919-186FA76C7FD9}"/>
              </a:ext>
            </a:extLst>
          </p:cNvPr>
          <p:cNvSpPr>
            <a:spLocks xmlns:a="http://schemas.openxmlformats.org/drawingml/2006/main" noGrp="1"/>
          </p:cNvSpPr>
          <p:nvPr/>
        </p:nvSpPr>
        <p:spPr>
          <a:xfrm xmlns:a="http://schemas.openxmlformats.org/drawingml/2006/main">
            <a:off x="5034915" y="3409950"/>
            <a:ext cx="723900" cy="47625"/>
          </a:xfrm>
          <a:prstGeom xmlns:a="http://schemas.openxmlformats.org/drawingml/2006/main" prst="rect">
            <a:avLst/>
          </a:prstGeom>
          <a:solidFill xmlns:a="http://schemas.openxmlformats.org/drawingml/2006/main">
            <a:srgbClr val="F26B38">
              <a:alpha val="7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2" name="Rectangle 21">
            <a:extLst xmlns:a="http://schemas.openxmlformats.org/drawingml/2006/main">
              <a:ext uri="{FF2B5EF4-FFF2-40B4-BE49-F238E27FC236}">
                <a16:creationId xmlns:a16="http://schemas.microsoft.com/office/drawing/2014/main" id="{6947DEA8-84DE-48BF-901D-C73648B3FF28}"/>
              </a:ext>
            </a:extLst>
          </p:cNvPr>
          <p:cNvSpPr>
            <a:spLocks xmlns:a="http://schemas.openxmlformats.org/drawingml/2006/main" noGrp="1"/>
          </p:cNvSpPr>
          <p:nvPr/>
        </p:nvSpPr>
        <p:spPr>
          <a:xfrm xmlns:a="http://schemas.openxmlformats.org/drawingml/2006/main">
            <a:off x="5894070" y="3409950"/>
            <a:ext cx="723900" cy="47625"/>
          </a:xfrm>
          <a:prstGeom xmlns:a="http://schemas.openxmlformats.org/drawingml/2006/main" prst="rect">
            <a:avLst/>
          </a:prstGeom>
          <a:solidFill xmlns:a="http://schemas.openxmlformats.org/drawingml/2006/main">
            <a:srgbClr val="F26B38">
              <a:alpha val="8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3" name="Arrow: Right 22">
            <a:extLst xmlns:a="http://schemas.openxmlformats.org/drawingml/2006/main">
              <a:ext uri="{FF2B5EF4-FFF2-40B4-BE49-F238E27FC236}">
                <a16:creationId xmlns:a16="http://schemas.microsoft.com/office/drawing/2014/main" id="{CC8762D6-64B9-4B30-99A1-91E912A3BB62}"/>
              </a:ext>
            </a:extLst>
          </p:cNvPr>
          <p:cNvSpPr>
            <a:spLocks xmlns:a="http://schemas.openxmlformats.org/drawingml/2006/main" noGrp="1"/>
          </p:cNvSpPr>
          <p:nvPr/>
        </p:nvSpPr>
        <p:spPr>
          <a:xfrm xmlns:a="http://schemas.openxmlformats.org/drawingml/2006/main">
            <a:off x="7829550" y="3200400"/>
            <a:ext cx="609600" cy="171450"/>
          </a:xfrm>
          <a:prstGeom xmlns:a="http://schemas.openxmlformats.org/drawingml/2006/main" prst="rightArrow">
            <a:avLst/>
          </a:prstGeom>
          <a:solidFill xmlns:a="http://schemas.openxmlformats.org/drawingml/2006/main">
            <a:srgbClr val="F26B38">
              <a:alpha val="65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4" name="Arrow: Right 23">
            <a:extLst xmlns:a="http://schemas.openxmlformats.org/drawingml/2006/main">
              <a:ext uri="{FF2B5EF4-FFF2-40B4-BE49-F238E27FC236}">
                <a16:creationId xmlns:a16="http://schemas.microsoft.com/office/drawing/2014/main" id="{FBB80932-C874-4D33-8BEC-1589E2CB0585}"/>
              </a:ext>
            </a:extLst>
          </p:cNvPr>
          <p:cNvSpPr>
            <a:spLocks xmlns:a="http://schemas.openxmlformats.org/drawingml/2006/main" noGrp="1"/>
          </p:cNvSpPr>
          <p:nvPr/>
        </p:nvSpPr>
        <p:spPr>
          <a:xfrm xmlns:a="http://schemas.openxmlformats.org/drawingml/2006/main">
            <a:off x="2133600" y="4076700"/>
            <a:ext cx="723900" cy="171450"/>
          </a:xfrm>
          <a:prstGeom xmlns:a="http://schemas.openxmlformats.org/drawingml/2006/main" prst="rightArrow">
            <a:avLst/>
          </a:prstGeom>
          <a:solidFill xmlns:a="http://schemas.openxmlformats.org/drawingml/2006/main">
            <a:srgbClr val="FF6262">
              <a:alpha val="65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5" name="Rectangle: Rounded Corners 24">
            <a:extLst xmlns:a="http://schemas.openxmlformats.org/drawingml/2006/main">
              <a:ext uri="{FF2B5EF4-FFF2-40B4-BE49-F238E27FC236}">
                <a16:creationId xmlns:a16="http://schemas.microsoft.com/office/drawing/2014/main" id="{1381C519-BCE7-4E43-971B-977C96FE6BD0}"/>
              </a:ext>
            </a:extLst>
          </p:cNvPr>
          <p:cNvSpPr>
            <a:spLocks xmlns:a="http://schemas.openxmlformats.org/drawingml/2006/main" noGrp="1"/>
          </p:cNvSpPr>
          <p:nvPr/>
        </p:nvSpPr>
        <p:spPr>
          <a:xfrm xmlns:a="http://schemas.openxmlformats.org/drawingml/2006/main">
            <a:off x="2971800" y="3829050"/>
            <a:ext cx="4762500" cy="647700"/>
          </a:xfrm>
          <a:prstGeom xmlns:a="http://schemas.openxmlformats.org/drawingml/2006/main" prst="roundRect">
            <a:avLst>
              <a:gd name="adj" fmla="val 20588"/>
            </a:avLst>
          </a:prstGeom>
          <a:solidFill xmlns:a="http://schemas.openxmlformats.org/drawingml/2006/main">
            <a:srgbClr val="10161B"/>
          </a:solidFill>
          <a:ln xmlns:a="http://schemas.openxmlformats.org/drawingml/2006/main" w="11430">
            <a:solidFill>
              <a:srgbClr val="FF6262"/>
            </a:solidFill>
            <a:prstDash val="solid"/>
          </a:ln>
        </p:spPr>
        <p:txBody>
          <a:bodyPr xmlns:a="http://schemas.openxmlformats.org/drawingml/2006/main"/>
          <a:lstStyle xmlns:a="http://schemas.openxmlformats.org/drawingml/2006/main"/>
          <a:p xmlns:a="http://schemas.openxmlformats.org/drawingml/2006/main">
            <a:endParaRPr/>
          </a:p>
        </p:txBody>
      </p:sp>
      <p:sp>
        <p:nvSpPr>
          <p:cNvPr id="26" name="Rectangle 25">
            <a:extLst xmlns:a="http://schemas.openxmlformats.org/drawingml/2006/main">
              <a:ext uri="{FF2B5EF4-FFF2-40B4-BE49-F238E27FC236}">
                <a16:creationId xmlns:a16="http://schemas.microsoft.com/office/drawing/2014/main" id="{7BCEE4CB-6CA0-44B2-8722-4B309D141F33}"/>
              </a:ext>
            </a:extLst>
          </p:cNvPr>
          <p:cNvSpPr>
            <a:spLocks xmlns:a="http://schemas.openxmlformats.org/drawingml/2006/main" noGrp="1"/>
          </p:cNvSpPr>
          <p:nvPr/>
        </p:nvSpPr>
        <p:spPr>
          <a:xfrm xmlns:a="http://schemas.openxmlformats.org/drawingml/2006/main">
            <a:off x="3181350" y="3933825"/>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200" b="1">
                <a:solidFill>
                  <a:srgbClr val="FF6262"/>
                </a:solidFill>
                <a:latin typeface="DejaVu Sans Mono"/>
                <a:ea typeface="DejaVu Sans Mono"/>
                <a:cs typeface="DejaVu Sans Mono"/>
              </a:defRPr>
            </a:pPr>
            <a:r>
              <a:rPr sz="1200" b="1">
                <a:solidFill>
                  <a:srgbClr val="FF6262"/>
                </a:solidFill>
                <a:latin typeface="DejaVu Sans Mono"/>
                <a:ea typeface="DejaVu Sans Mono"/>
                <a:cs typeface="DejaVu Sans Mono"/>
              </a:rPr>
              <a:t>ADVERSARIAL ATTACK</a:t>
            </a:r>
          </a:p>
        </p:txBody>
      </p:sp>
      <p:sp>
        <p:nvSpPr>
          <p:cNvPr id="27" name="Rectangle 26">
            <a:extLst xmlns:a="http://schemas.openxmlformats.org/drawingml/2006/main">
              <a:ext uri="{FF2B5EF4-FFF2-40B4-BE49-F238E27FC236}">
                <a16:creationId xmlns:a16="http://schemas.microsoft.com/office/drawing/2014/main" id="{0C8D4D52-7833-4C86-953B-4029BD0C14B1}"/>
              </a:ext>
            </a:extLst>
          </p:cNvPr>
          <p:cNvSpPr>
            <a:spLocks xmlns:a="http://schemas.openxmlformats.org/drawingml/2006/main" noGrp="1"/>
          </p:cNvSpPr>
          <p:nvPr/>
        </p:nvSpPr>
        <p:spPr>
          <a:xfrm xmlns:a="http://schemas.openxmlformats.org/drawingml/2006/main">
            <a:off x="5391150" y="3933825"/>
            <a:ext cx="213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95000"/>
              </a:lnSpc>
              <a:buNone/>
              <a:defRPr sz="1200" b="0">
                <a:solidFill>
                  <a:srgbClr val="D8DEE3"/>
                </a:solidFill>
                <a:latin typeface="DejaVu Sans"/>
                <a:ea typeface="DejaVu Sans"/>
                <a:cs typeface="DejaVu Sans"/>
              </a:defRPr>
            </a:pPr>
            <a:r>
              <a:rPr sz="1200" b="0">
                <a:solidFill>
                  <a:srgbClr val="D8DEE3"/>
                </a:solidFill>
                <a:latin typeface="DejaVu Sans"/>
                <a:ea typeface="DejaVu Sans"/>
                <a:cs typeface="DejaVu Sans"/>
              </a:rPr>
              <a:t>failure • counterexample</a:t>
            </a:r>
          </a:p>
        </p:txBody>
      </p:sp>
      <p:sp>
        <p:nvSpPr>
          <p:cNvPr id="28" name="Rectangle 27">
            <a:extLst xmlns:a="http://schemas.openxmlformats.org/drawingml/2006/main">
              <a:ext uri="{FF2B5EF4-FFF2-40B4-BE49-F238E27FC236}">
                <a16:creationId xmlns:a16="http://schemas.microsoft.com/office/drawing/2014/main" id="{03085810-A1ED-4FD8-90CD-7403087362E3}"/>
              </a:ext>
            </a:extLst>
          </p:cNvPr>
          <p:cNvSpPr>
            <a:spLocks xmlns:a="http://schemas.openxmlformats.org/drawingml/2006/main" noGrp="1"/>
          </p:cNvSpPr>
          <p:nvPr/>
        </p:nvSpPr>
        <p:spPr>
          <a:xfrm xmlns:a="http://schemas.openxmlformats.org/drawingml/2006/main">
            <a:off x="3472815" y="4286250"/>
            <a:ext cx="723900" cy="47625"/>
          </a:xfrm>
          <a:prstGeom xmlns:a="http://schemas.openxmlformats.org/drawingml/2006/main" prst="rect">
            <a:avLst/>
          </a:prstGeom>
          <a:solidFill xmlns:a="http://schemas.openxmlformats.org/drawingml/2006/main">
            <a:srgbClr val="FF6262">
              <a:alpha val="5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9" name="Rectangle 28">
            <a:extLst xmlns:a="http://schemas.openxmlformats.org/drawingml/2006/main">
              <a:ext uri="{FF2B5EF4-FFF2-40B4-BE49-F238E27FC236}">
                <a16:creationId xmlns:a16="http://schemas.microsoft.com/office/drawing/2014/main" id="{7DBE9187-E36C-41E4-89F3-6C4FD6CA03CB}"/>
              </a:ext>
            </a:extLst>
          </p:cNvPr>
          <p:cNvSpPr>
            <a:spLocks xmlns:a="http://schemas.openxmlformats.org/drawingml/2006/main" noGrp="1"/>
          </p:cNvSpPr>
          <p:nvPr/>
        </p:nvSpPr>
        <p:spPr>
          <a:xfrm xmlns:a="http://schemas.openxmlformats.org/drawingml/2006/main">
            <a:off x="4175760" y="4286250"/>
            <a:ext cx="723900" cy="47625"/>
          </a:xfrm>
          <a:prstGeom xmlns:a="http://schemas.openxmlformats.org/drawingml/2006/main" prst="rect">
            <a:avLst/>
          </a:prstGeom>
          <a:solidFill xmlns:a="http://schemas.openxmlformats.org/drawingml/2006/main">
            <a:srgbClr val="FF6262">
              <a:alpha val="6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0" name="Rectangle 29">
            <a:extLst xmlns:a="http://schemas.openxmlformats.org/drawingml/2006/main">
              <a:ext uri="{FF2B5EF4-FFF2-40B4-BE49-F238E27FC236}">
                <a16:creationId xmlns:a16="http://schemas.microsoft.com/office/drawing/2014/main" id="{9A9FD2D5-8B96-47FD-93A7-E8EB5FEF187D}"/>
              </a:ext>
            </a:extLst>
          </p:cNvPr>
          <p:cNvSpPr>
            <a:spLocks xmlns:a="http://schemas.openxmlformats.org/drawingml/2006/main" noGrp="1"/>
          </p:cNvSpPr>
          <p:nvPr/>
        </p:nvSpPr>
        <p:spPr>
          <a:xfrm xmlns:a="http://schemas.openxmlformats.org/drawingml/2006/main">
            <a:off x="5034915" y="4286250"/>
            <a:ext cx="723900" cy="47625"/>
          </a:xfrm>
          <a:prstGeom xmlns:a="http://schemas.openxmlformats.org/drawingml/2006/main" prst="rect">
            <a:avLst/>
          </a:prstGeom>
          <a:solidFill xmlns:a="http://schemas.openxmlformats.org/drawingml/2006/main">
            <a:srgbClr val="FF6262">
              <a:alpha val="7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1" name="Rectangle 30">
            <a:extLst xmlns:a="http://schemas.openxmlformats.org/drawingml/2006/main">
              <a:ext uri="{FF2B5EF4-FFF2-40B4-BE49-F238E27FC236}">
                <a16:creationId xmlns:a16="http://schemas.microsoft.com/office/drawing/2014/main" id="{6CCB4C30-E77D-4134-9B6C-69474E6791AF}"/>
              </a:ext>
            </a:extLst>
          </p:cNvPr>
          <p:cNvSpPr>
            <a:spLocks xmlns:a="http://schemas.openxmlformats.org/drawingml/2006/main" noGrp="1"/>
          </p:cNvSpPr>
          <p:nvPr/>
        </p:nvSpPr>
        <p:spPr>
          <a:xfrm xmlns:a="http://schemas.openxmlformats.org/drawingml/2006/main">
            <a:off x="5894070" y="4286250"/>
            <a:ext cx="723900" cy="47625"/>
          </a:xfrm>
          <a:prstGeom xmlns:a="http://schemas.openxmlformats.org/drawingml/2006/main" prst="rect">
            <a:avLst/>
          </a:prstGeom>
          <a:solidFill xmlns:a="http://schemas.openxmlformats.org/drawingml/2006/main">
            <a:srgbClr val="FF6262">
              <a:alpha val="8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2" name="Arrow: Right 31">
            <a:extLst xmlns:a="http://schemas.openxmlformats.org/drawingml/2006/main">
              <a:ext uri="{FF2B5EF4-FFF2-40B4-BE49-F238E27FC236}">
                <a16:creationId xmlns:a16="http://schemas.microsoft.com/office/drawing/2014/main" id="{E55AEEC0-547B-49B6-9F7F-7C8B180EE0B7}"/>
              </a:ext>
            </a:extLst>
          </p:cNvPr>
          <p:cNvSpPr>
            <a:spLocks xmlns:a="http://schemas.openxmlformats.org/drawingml/2006/main" noGrp="1"/>
          </p:cNvSpPr>
          <p:nvPr/>
        </p:nvSpPr>
        <p:spPr>
          <a:xfrm xmlns:a="http://schemas.openxmlformats.org/drawingml/2006/main">
            <a:off x="7829550" y="4076700"/>
            <a:ext cx="609600" cy="171450"/>
          </a:xfrm>
          <a:prstGeom xmlns:a="http://schemas.openxmlformats.org/drawingml/2006/main" prst="rightArrow">
            <a:avLst/>
          </a:prstGeom>
          <a:solidFill xmlns:a="http://schemas.openxmlformats.org/drawingml/2006/main">
            <a:srgbClr val="FF6262">
              <a:alpha val="65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3" name="Arrow: Right 32">
            <a:extLst xmlns:a="http://schemas.openxmlformats.org/drawingml/2006/main">
              <a:ext uri="{FF2B5EF4-FFF2-40B4-BE49-F238E27FC236}">
                <a16:creationId xmlns:a16="http://schemas.microsoft.com/office/drawing/2014/main" id="{5FCE1381-CDDB-45FC-89EF-CA8EBD28EEC6}"/>
              </a:ext>
            </a:extLst>
          </p:cNvPr>
          <p:cNvSpPr>
            <a:spLocks xmlns:a="http://schemas.openxmlformats.org/drawingml/2006/main" noGrp="1"/>
          </p:cNvSpPr>
          <p:nvPr/>
        </p:nvSpPr>
        <p:spPr>
          <a:xfrm xmlns:a="http://schemas.openxmlformats.org/drawingml/2006/main">
            <a:off x="2133600" y="4953000"/>
            <a:ext cx="723900" cy="171450"/>
          </a:xfrm>
          <a:prstGeom xmlns:a="http://schemas.openxmlformats.org/drawingml/2006/main" prst="rightArrow">
            <a:avLst/>
          </a:prstGeom>
          <a:solidFill xmlns:a="http://schemas.openxmlformats.org/drawingml/2006/main">
            <a:srgbClr val="62D6A7">
              <a:alpha val="65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4" name="Rectangle: Rounded Corners 33">
            <a:extLst xmlns:a="http://schemas.openxmlformats.org/drawingml/2006/main">
              <a:ext uri="{FF2B5EF4-FFF2-40B4-BE49-F238E27FC236}">
                <a16:creationId xmlns:a16="http://schemas.microsoft.com/office/drawing/2014/main" id="{F1C313FE-EF40-4D52-8035-420AC9BB15B5}"/>
              </a:ext>
            </a:extLst>
          </p:cNvPr>
          <p:cNvSpPr>
            <a:spLocks xmlns:a="http://schemas.openxmlformats.org/drawingml/2006/main" noGrp="1"/>
          </p:cNvSpPr>
          <p:nvPr/>
        </p:nvSpPr>
        <p:spPr>
          <a:xfrm xmlns:a="http://schemas.openxmlformats.org/drawingml/2006/main">
            <a:off x="2971800" y="4705350"/>
            <a:ext cx="4762500" cy="647700"/>
          </a:xfrm>
          <a:prstGeom xmlns:a="http://schemas.openxmlformats.org/drawingml/2006/main" prst="roundRect">
            <a:avLst>
              <a:gd name="adj" fmla="val 20588"/>
            </a:avLst>
          </a:prstGeom>
          <a:solidFill xmlns:a="http://schemas.openxmlformats.org/drawingml/2006/main">
            <a:srgbClr val="10161B"/>
          </a:solidFill>
          <a:ln xmlns:a="http://schemas.openxmlformats.org/drawingml/2006/main" w="11430">
            <a:solidFill>
              <a:srgbClr val="62D6A7"/>
            </a:solidFill>
            <a:prstDash val="solid"/>
          </a:ln>
        </p:spPr>
        <p:txBody>
          <a:bodyPr xmlns:a="http://schemas.openxmlformats.org/drawingml/2006/main"/>
          <a:lstStyle xmlns:a="http://schemas.openxmlformats.org/drawingml/2006/main"/>
          <a:p xmlns:a="http://schemas.openxmlformats.org/drawingml/2006/main">
            <a:endParaRPr/>
          </a:p>
        </p:txBody>
      </p:sp>
      <p:sp>
        <p:nvSpPr>
          <p:cNvPr id="35" name="Rectangle 34">
            <a:extLst xmlns:a="http://schemas.openxmlformats.org/drawingml/2006/main">
              <a:ext uri="{FF2B5EF4-FFF2-40B4-BE49-F238E27FC236}">
                <a16:creationId xmlns:a16="http://schemas.microsoft.com/office/drawing/2014/main" id="{59B79144-CBA9-45EA-9BDF-7D1EE3A2DD3C}"/>
              </a:ext>
            </a:extLst>
          </p:cNvPr>
          <p:cNvSpPr>
            <a:spLocks xmlns:a="http://schemas.openxmlformats.org/drawingml/2006/main" noGrp="1"/>
          </p:cNvSpPr>
          <p:nvPr/>
        </p:nvSpPr>
        <p:spPr>
          <a:xfrm xmlns:a="http://schemas.openxmlformats.org/drawingml/2006/main">
            <a:off x="3181350" y="4810125"/>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200" b="1">
                <a:solidFill>
                  <a:srgbClr val="62D6A7"/>
                </a:solidFill>
                <a:latin typeface="DejaVu Sans Mono"/>
                <a:ea typeface="DejaVu Sans Mono"/>
                <a:cs typeface="DejaVu Sans Mono"/>
              </a:defRPr>
            </a:pPr>
            <a:r>
              <a:rPr sz="1200" b="1">
                <a:solidFill>
                  <a:srgbClr val="62D6A7"/>
                </a:solidFill>
                <a:latin typeface="DejaVu Sans Mono"/>
                <a:ea typeface="DejaVu Sans Mono"/>
                <a:cs typeface="DejaVu Sans Mono"/>
              </a:rPr>
              <a:t>ARTIFACT BUILD</a:t>
            </a:r>
          </a:p>
        </p:txBody>
      </p:sp>
      <p:sp>
        <p:nvSpPr>
          <p:cNvPr id="36" name="Rectangle 35">
            <a:extLst xmlns:a="http://schemas.openxmlformats.org/drawingml/2006/main">
              <a:ext uri="{FF2B5EF4-FFF2-40B4-BE49-F238E27FC236}">
                <a16:creationId xmlns:a16="http://schemas.microsoft.com/office/drawing/2014/main" id="{F8087D1F-F324-4128-B7AD-8233B6D2F2D1}"/>
              </a:ext>
            </a:extLst>
          </p:cNvPr>
          <p:cNvSpPr>
            <a:spLocks xmlns:a="http://schemas.openxmlformats.org/drawingml/2006/main" noGrp="1"/>
          </p:cNvSpPr>
          <p:nvPr/>
        </p:nvSpPr>
        <p:spPr>
          <a:xfrm xmlns:a="http://schemas.openxmlformats.org/drawingml/2006/main">
            <a:off x="5391150" y="4810125"/>
            <a:ext cx="213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95000"/>
              </a:lnSpc>
              <a:buNone/>
              <a:defRPr sz="1200" b="0">
                <a:solidFill>
                  <a:srgbClr val="D8DEE3"/>
                </a:solidFill>
                <a:latin typeface="DejaVu Sans"/>
                <a:ea typeface="DejaVu Sans"/>
                <a:cs typeface="DejaVu Sans"/>
              </a:defRPr>
            </a:pPr>
            <a:r>
              <a:rPr sz="1200" b="0">
                <a:solidFill>
                  <a:srgbClr val="D8DEE3"/>
                </a:solidFill>
                <a:latin typeface="DejaVu Sans"/>
                <a:ea typeface="DejaVu Sans"/>
                <a:cs typeface="DejaVu Sans"/>
              </a:rPr>
              <a:t>trace • report • review pack</a:t>
            </a:r>
          </a:p>
        </p:txBody>
      </p:sp>
      <p:sp>
        <p:nvSpPr>
          <p:cNvPr id="37" name="Rectangle 36">
            <a:extLst xmlns:a="http://schemas.openxmlformats.org/drawingml/2006/main">
              <a:ext uri="{FF2B5EF4-FFF2-40B4-BE49-F238E27FC236}">
                <a16:creationId xmlns:a16="http://schemas.microsoft.com/office/drawing/2014/main" id="{9CCE2E48-C89B-4147-931B-9075CB861D3B}"/>
              </a:ext>
            </a:extLst>
          </p:cNvPr>
          <p:cNvSpPr>
            <a:spLocks xmlns:a="http://schemas.openxmlformats.org/drawingml/2006/main" noGrp="1"/>
          </p:cNvSpPr>
          <p:nvPr/>
        </p:nvSpPr>
        <p:spPr>
          <a:xfrm xmlns:a="http://schemas.openxmlformats.org/drawingml/2006/main">
            <a:off x="3472815" y="5162550"/>
            <a:ext cx="723900" cy="47625"/>
          </a:xfrm>
          <a:prstGeom xmlns:a="http://schemas.openxmlformats.org/drawingml/2006/main" prst="rect">
            <a:avLst/>
          </a:prstGeom>
          <a:solidFill xmlns:a="http://schemas.openxmlformats.org/drawingml/2006/main">
            <a:srgbClr val="62D6A7">
              <a:alpha val="5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8" name="Rectangle 37">
            <a:extLst xmlns:a="http://schemas.openxmlformats.org/drawingml/2006/main">
              <a:ext uri="{FF2B5EF4-FFF2-40B4-BE49-F238E27FC236}">
                <a16:creationId xmlns:a16="http://schemas.microsoft.com/office/drawing/2014/main" id="{D4B2B5EE-C393-410E-8FE5-8206633548FD}"/>
              </a:ext>
            </a:extLst>
          </p:cNvPr>
          <p:cNvSpPr>
            <a:spLocks xmlns:a="http://schemas.openxmlformats.org/drawingml/2006/main" noGrp="1"/>
          </p:cNvSpPr>
          <p:nvPr/>
        </p:nvSpPr>
        <p:spPr>
          <a:xfrm xmlns:a="http://schemas.openxmlformats.org/drawingml/2006/main">
            <a:off x="4175760" y="5162550"/>
            <a:ext cx="723900" cy="47625"/>
          </a:xfrm>
          <a:prstGeom xmlns:a="http://schemas.openxmlformats.org/drawingml/2006/main" prst="rect">
            <a:avLst/>
          </a:prstGeom>
          <a:solidFill xmlns:a="http://schemas.openxmlformats.org/drawingml/2006/main">
            <a:srgbClr val="62D6A7">
              <a:alpha val="6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9" name="Rectangle 38">
            <a:extLst xmlns:a="http://schemas.openxmlformats.org/drawingml/2006/main">
              <a:ext uri="{FF2B5EF4-FFF2-40B4-BE49-F238E27FC236}">
                <a16:creationId xmlns:a16="http://schemas.microsoft.com/office/drawing/2014/main" id="{E7454A3A-338D-4A7C-A763-D5E1D26EFA28}"/>
              </a:ext>
            </a:extLst>
          </p:cNvPr>
          <p:cNvSpPr>
            <a:spLocks xmlns:a="http://schemas.openxmlformats.org/drawingml/2006/main" noGrp="1"/>
          </p:cNvSpPr>
          <p:nvPr/>
        </p:nvSpPr>
        <p:spPr>
          <a:xfrm xmlns:a="http://schemas.openxmlformats.org/drawingml/2006/main">
            <a:off x="5034915" y="5162550"/>
            <a:ext cx="723900" cy="47625"/>
          </a:xfrm>
          <a:prstGeom xmlns:a="http://schemas.openxmlformats.org/drawingml/2006/main" prst="rect">
            <a:avLst/>
          </a:prstGeom>
          <a:solidFill xmlns:a="http://schemas.openxmlformats.org/drawingml/2006/main">
            <a:srgbClr val="62D6A7">
              <a:alpha val="7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40" name="Rectangle 39">
            <a:extLst xmlns:a="http://schemas.openxmlformats.org/drawingml/2006/main">
              <a:ext uri="{FF2B5EF4-FFF2-40B4-BE49-F238E27FC236}">
                <a16:creationId xmlns:a16="http://schemas.microsoft.com/office/drawing/2014/main" id="{C7B1E213-56A2-4047-83DD-4E47642343F1}"/>
              </a:ext>
            </a:extLst>
          </p:cNvPr>
          <p:cNvSpPr>
            <a:spLocks xmlns:a="http://schemas.openxmlformats.org/drawingml/2006/main" noGrp="1"/>
          </p:cNvSpPr>
          <p:nvPr/>
        </p:nvSpPr>
        <p:spPr>
          <a:xfrm xmlns:a="http://schemas.openxmlformats.org/drawingml/2006/main">
            <a:off x="5894070" y="5162550"/>
            <a:ext cx="723900" cy="47625"/>
          </a:xfrm>
          <a:prstGeom xmlns:a="http://schemas.openxmlformats.org/drawingml/2006/main" prst="rect">
            <a:avLst/>
          </a:prstGeom>
          <a:solidFill xmlns:a="http://schemas.openxmlformats.org/drawingml/2006/main">
            <a:srgbClr val="62D6A7">
              <a:alpha val="8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41" name="Arrow: Right 40">
            <a:extLst xmlns:a="http://schemas.openxmlformats.org/drawingml/2006/main">
              <a:ext uri="{FF2B5EF4-FFF2-40B4-BE49-F238E27FC236}">
                <a16:creationId xmlns:a16="http://schemas.microsoft.com/office/drawing/2014/main" id="{DE3D3819-4CEB-43AC-B46C-931D9328B4D2}"/>
              </a:ext>
            </a:extLst>
          </p:cNvPr>
          <p:cNvSpPr>
            <a:spLocks xmlns:a="http://schemas.openxmlformats.org/drawingml/2006/main" noGrp="1"/>
          </p:cNvSpPr>
          <p:nvPr/>
        </p:nvSpPr>
        <p:spPr>
          <a:xfrm xmlns:a="http://schemas.openxmlformats.org/drawingml/2006/main">
            <a:off x="7829550" y="4953000"/>
            <a:ext cx="609600" cy="171450"/>
          </a:xfrm>
          <a:prstGeom xmlns:a="http://schemas.openxmlformats.org/drawingml/2006/main" prst="rightArrow">
            <a:avLst/>
          </a:prstGeom>
          <a:solidFill xmlns:a="http://schemas.openxmlformats.org/drawingml/2006/main">
            <a:srgbClr val="62D6A7">
              <a:alpha val="65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42" name="Rectangle: Rounded Corners 41">
            <a:extLst xmlns:a="http://schemas.openxmlformats.org/drawingml/2006/main">
              <a:ext uri="{FF2B5EF4-FFF2-40B4-BE49-F238E27FC236}">
                <a16:creationId xmlns:a16="http://schemas.microsoft.com/office/drawing/2014/main" id="{D7BF8DEF-A797-4C1D-817C-CE8911277863}"/>
              </a:ext>
            </a:extLst>
          </p:cNvPr>
          <p:cNvSpPr>
            <a:spLocks xmlns:a="http://schemas.openxmlformats.org/drawingml/2006/main" noGrp="1"/>
          </p:cNvSpPr>
          <p:nvPr/>
        </p:nvSpPr>
        <p:spPr>
          <a:xfrm xmlns:a="http://schemas.openxmlformats.org/drawingml/2006/main">
            <a:off x="8572500" y="2686050"/>
            <a:ext cx="1581150" cy="1924050"/>
          </a:xfrm>
          <a:prstGeom xmlns:a="http://schemas.openxmlformats.org/drawingml/2006/main" prst="roundRect">
            <a:avLst>
              <a:gd name="adj" fmla="val 9639"/>
            </a:avLst>
          </a:prstGeom>
          <a:solidFill xmlns:a="http://schemas.openxmlformats.org/drawingml/2006/main">
            <a:srgbClr val="161B20"/>
          </a:solidFill>
          <a:ln xmlns:a="http://schemas.openxmlformats.org/drawingml/2006/main" w="14288">
            <a:solidFill>
              <a:srgbClr val="FFC857"/>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200" b="1">
                <a:solidFill>
                  <a:srgbClr val="FFC857"/>
                </a:solidFill>
                <a:latin typeface="DejaVu Sans"/>
                <a:ea typeface="DejaVu Sans"/>
                <a:cs typeface="DejaVu Sans"/>
              </a:defRPr>
            </a:pPr>
            <a:r>
              <a:rPr sz="1200" b="1">
                <a:solidFill>
                  <a:srgbClr val="FFC857"/>
                </a:solidFill>
                <a:latin typeface="DejaVu Sans"/>
                <a:ea typeface="DejaVu Sans"/>
                <a:cs typeface="DejaVu Sans"/>
              </a:rPr>
              <a:t>VALIDATE</a:t>
            </a:r>
          </a:p>
          <a:p xmlns:a="http://schemas.openxmlformats.org/drawingml/2006/main">
            <a:pPr algn="ctr">
              <a:lnSpc>
                <a:spcPct val="90000"/>
              </a:lnSpc>
              <a:buNone/>
              <a:defRPr sz="1200" b="1">
                <a:solidFill>
                  <a:srgbClr val="FFC857"/>
                </a:solidFill>
                <a:latin typeface="DejaVu Sans"/>
                <a:ea typeface="DejaVu Sans"/>
                <a:cs typeface="DejaVu Sans"/>
              </a:defRPr>
            </a:pPr>
            <a:r>
              <a:rPr sz="1200" b="1">
                <a:solidFill>
                  <a:srgbClr val="FFC857"/>
                </a:solidFill>
                <a:latin typeface="DejaVu Sans"/>
                <a:ea typeface="DejaVu Sans"/>
                <a:cs typeface="DejaVu Sans"/>
              </a:rPr>
              <a:t>CRITIQUE</a:t>
            </a:r>
          </a:p>
          <a:p xmlns:a="http://schemas.openxmlformats.org/drawingml/2006/main">
            <a:pPr algn="ctr">
              <a:lnSpc>
                <a:spcPct val="90000"/>
              </a:lnSpc>
              <a:buNone/>
              <a:defRPr sz="1200" b="1">
                <a:solidFill>
                  <a:srgbClr val="FFC857"/>
                </a:solidFill>
                <a:latin typeface="DejaVu Sans"/>
                <a:ea typeface="DejaVu Sans"/>
                <a:cs typeface="DejaVu Sans"/>
              </a:defRPr>
            </a:pPr>
            <a:r>
              <a:rPr sz="1200" b="1">
                <a:solidFill>
                  <a:srgbClr val="FFC857"/>
                </a:solidFill>
                <a:latin typeface="DejaVu Sans"/>
                <a:ea typeface="DejaVu Sans"/>
                <a:cs typeface="DejaVu Sans"/>
              </a:rPr>
              <a:t>APPROVE</a:t>
            </a:r>
          </a:p>
        </p:txBody>
      </p:sp>
      <p:sp>
        <p:nvSpPr>
          <p:cNvPr id="43" name="Arrow: Right 42">
            <a:extLst xmlns:a="http://schemas.openxmlformats.org/drawingml/2006/main">
              <a:ext uri="{FF2B5EF4-FFF2-40B4-BE49-F238E27FC236}">
                <a16:creationId xmlns:a16="http://schemas.microsoft.com/office/drawing/2014/main" id="{F9FF0E31-6686-4F86-9FAE-356CF9875CBC}"/>
              </a:ext>
            </a:extLst>
          </p:cNvPr>
          <p:cNvSpPr>
            <a:spLocks xmlns:a="http://schemas.openxmlformats.org/drawingml/2006/main" noGrp="1"/>
          </p:cNvSpPr>
          <p:nvPr/>
        </p:nvSpPr>
        <p:spPr>
          <a:xfrm xmlns:a="http://schemas.openxmlformats.org/drawingml/2006/main">
            <a:off x="10229850" y="3495675"/>
            <a:ext cx="419100" cy="209550"/>
          </a:xfrm>
          <a:prstGeom xmlns:a="http://schemas.openxmlformats.org/drawingml/2006/main" prst="rightArrow">
            <a:avLst/>
          </a:prstGeom>
          <a:solidFill xmlns:a="http://schemas.openxmlformats.org/drawingml/2006/main">
            <a:srgbClr val="FFC857">
              <a:alpha val="75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44" name="Rectangle: Rounded Corners 43">
            <a:extLst xmlns:a="http://schemas.openxmlformats.org/drawingml/2006/main">
              <a:ext uri="{FF2B5EF4-FFF2-40B4-BE49-F238E27FC236}">
                <a16:creationId xmlns:a16="http://schemas.microsoft.com/office/drawing/2014/main" id="{1E0447A7-F874-4DF8-A792-FC88DE4A067F}"/>
              </a:ext>
            </a:extLst>
          </p:cNvPr>
          <p:cNvSpPr>
            <a:spLocks xmlns:a="http://schemas.openxmlformats.org/drawingml/2006/main" noGrp="1"/>
          </p:cNvSpPr>
          <p:nvPr/>
        </p:nvSpPr>
        <p:spPr>
          <a:xfrm xmlns:a="http://schemas.openxmlformats.org/drawingml/2006/main">
            <a:off x="10706100" y="3143250"/>
            <a:ext cx="1104900" cy="1123950"/>
          </a:xfrm>
          <a:prstGeom xmlns:a="http://schemas.openxmlformats.org/drawingml/2006/main" prst="roundRect">
            <a:avLst>
              <a:gd name="adj" fmla="val 13793"/>
            </a:avLst>
          </a:prstGeom>
          <a:solidFill xmlns:a="http://schemas.openxmlformats.org/drawingml/2006/main">
            <a:srgbClr val="101A17"/>
          </a:solidFill>
          <a:ln xmlns:a="http://schemas.openxmlformats.org/drawingml/2006/main" w="14288">
            <a:solidFill>
              <a:srgbClr val="62D6A7"/>
            </a:solidFill>
            <a:prstDash val="solid"/>
          </a:ln>
        </p:spPr>
        <p:txBody>
          <a:bodyPr xmlns:a="http://schemas.openxmlformats.org/drawingml/2006/main" lIns="47625" tIns="76200" rIns="47625" bIns="76200" anchor="ctr">
            <a:noAutofit/>
          </a:bodyPr>
          <a:lstStyle xmlns:a="http://schemas.openxmlformats.org/drawingml/2006/main"/>
          <a:p xmlns:a="http://schemas.openxmlformats.org/drawingml/2006/main">
            <a:pPr algn="ctr">
              <a:lnSpc>
                <a:spcPct val="90000"/>
              </a:lnSpc>
              <a:buNone/>
              <a:defRPr sz="1050" b="1">
                <a:solidFill>
                  <a:srgbClr val="62D6A7"/>
                </a:solidFill>
                <a:latin typeface="DejaVu Sans"/>
                <a:ea typeface="DejaVu Sans"/>
                <a:cs typeface="DejaVu Sans"/>
              </a:defRPr>
            </a:pPr>
            <a:r>
              <a:rPr sz="1050" b="1">
                <a:solidFill>
                  <a:srgbClr val="62D6A7"/>
                </a:solidFill>
                <a:latin typeface="DejaVu Sans"/>
                <a:ea typeface="DejaVu Sans"/>
                <a:cs typeface="DejaVu Sans"/>
              </a:rPr>
              <a:t>ONE</a:t>
            </a:r>
          </a:p>
          <a:p xmlns:a="http://schemas.openxmlformats.org/drawingml/2006/main">
            <a:pPr algn="ctr">
              <a:lnSpc>
                <a:spcPct val="90000"/>
              </a:lnSpc>
              <a:buNone/>
              <a:defRPr sz="1050" b="1">
                <a:solidFill>
                  <a:srgbClr val="62D6A7"/>
                </a:solidFill>
                <a:latin typeface="DejaVu Sans"/>
                <a:ea typeface="DejaVu Sans"/>
                <a:cs typeface="DejaVu Sans"/>
              </a:defRPr>
            </a:pPr>
            <a:r>
              <a:rPr sz="1050" b="1">
                <a:solidFill>
                  <a:srgbClr val="62D6A7"/>
                </a:solidFill>
                <a:latin typeface="DejaVu Sans"/>
                <a:ea typeface="DejaVu Sans"/>
                <a:cs typeface="DejaVu Sans"/>
              </a:rPr>
              <a:t>REVIEWED</a:t>
            </a:r>
          </a:p>
          <a:p xmlns:a="http://schemas.openxmlformats.org/drawingml/2006/main">
            <a:pPr algn="ctr">
              <a:lnSpc>
                <a:spcPct val="90000"/>
              </a:lnSpc>
              <a:buNone/>
              <a:defRPr sz="1050" b="1">
                <a:solidFill>
                  <a:srgbClr val="62D6A7"/>
                </a:solidFill>
                <a:latin typeface="DejaVu Sans"/>
                <a:ea typeface="DejaVu Sans"/>
                <a:cs typeface="DejaVu Sans"/>
              </a:defRPr>
            </a:pPr>
            <a:r>
              <a:rPr sz="1050" b="1">
                <a:solidFill>
                  <a:srgbClr val="62D6A7"/>
                </a:solidFill>
                <a:latin typeface="DejaVu Sans"/>
                <a:ea typeface="DejaVu Sans"/>
                <a:cs typeface="DejaVu Sans"/>
              </a:rPr>
              <a:t>PACKAGE</a:t>
            </a:r>
          </a:p>
        </p:txBody>
      </p:sp>
      <p:sp>
        <p:nvSpPr>
          <p:cNvPr id="45" name="Rectangle: Rounded Corners 44">
            <a:extLst xmlns:a="http://schemas.openxmlformats.org/drawingml/2006/main">
              <a:ext uri="{FF2B5EF4-FFF2-40B4-BE49-F238E27FC236}">
                <a16:creationId xmlns:a16="http://schemas.microsoft.com/office/drawing/2014/main" id="{E136AA2E-2C6C-4833-854C-E0054FBC783F}"/>
              </a:ext>
            </a:extLst>
          </p:cNvPr>
          <p:cNvSpPr>
            <a:spLocks xmlns:a="http://schemas.openxmlformats.org/drawingml/2006/main" noGrp="1"/>
          </p:cNvSpPr>
          <p:nvPr/>
        </p:nvSpPr>
        <p:spPr>
          <a:xfrm xmlns:a="http://schemas.openxmlformats.org/drawingml/2006/main">
            <a:off x="666750" y="5467350"/>
            <a:ext cx="5951220" cy="590550"/>
          </a:xfrm>
          <a:prstGeom xmlns:a="http://schemas.openxmlformats.org/drawingml/2006/main" prst="roundRect">
            <a:avLst>
              <a:gd name="adj" fmla="val 22581"/>
            </a:avLst>
          </a:prstGeom>
          <a:solidFill xmlns:a="http://schemas.openxmlformats.org/drawingml/2006/main">
            <a:srgbClr val="0D1216"/>
          </a:solidFill>
          <a:ln xmlns:a="http://schemas.openxmlformats.org/drawingml/2006/main" w="9525">
            <a:solidFill>
              <a:srgbClr val="35414B"/>
            </a:solidFill>
            <a:prstDash val="solid"/>
          </a:ln>
        </p:spPr>
        <p:txBody>
          <a:bodyPr xmlns:a="http://schemas.openxmlformats.org/drawingml/2006/main"/>
          <a:lstStyle xmlns:a="http://schemas.openxmlformats.org/drawingml/2006/main"/>
          <a:p xmlns:a="http://schemas.openxmlformats.org/drawingml/2006/main">
            <a:endParaRPr/>
          </a:p>
        </p:txBody>
      </p:sp>
      <p:sp>
        <p:nvSpPr>
          <p:cNvPr id="46" name="Rectangle 45">
            <a:extLst xmlns:a="http://schemas.openxmlformats.org/drawingml/2006/main">
              <a:ext uri="{FF2B5EF4-FFF2-40B4-BE49-F238E27FC236}">
                <a16:creationId xmlns:a16="http://schemas.microsoft.com/office/drawing/2014/main" id="{9F252A4F-4A09-44FE-8DC7-0C38381C5829}"/>
              </a:ext>
            </a:extLst>
          </p:cNvPr>
          <p:cNvSpPr>
            <a:spLocks xmlns:a="http://schemas.openxmlformats.org/drawingml/2006/main" noGrp="1"/>
          </p:cNvSpPr>
          <p:nvPr/>
        </p:nvSpPr>
        <p:spPr>
          <a:xfrm xmlns:a="http://schemas.openxmlformats.org/drawingml/2006/main">
            <a:off x="876300" y="5619750"/>
            <a:ext cx="1104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75" b="1">
                <a:solidFill>
                  <a:srgbClr val="8D99A3"/>
                </a:solidFill>
                <a:latin typeface="DejaVu Sans Mono"/>
                <a:ea typeface="DejaVu Sans Mono"/>
                <a:cs typeface="DejaVu Sans Mono"/>
              </a:defRPr>
            </a:pPr>
            <a:r>
              <a:rPr sz="975" b="1">
                <a:solidFill>
                  <a:srgbClr val="8D99A3"/>
                </a:solidFill>
                <a:latin typeface="DejaVu Sans Mono"/>
                <a:ea typeface="DejaVu Sans Mono"/>
                <a:cs typeface="DejaVu Sans Mono"/>
              </a:rPr>
              <a:t>SEQUENTIAL</a:t>
            </a:r>
          </a:p>
        </p:txBody>
      </p:sp>
      <p:sp>
        <p:nvSpPr>
          <p:cNvPr id="47" name="Rectangle 46">
            <a:extLst xmlns:a="http://schemas.openxmlformats.org/drawingml/2006/main">
              <a:ext uri="{FF2B5EF4-FFF2-40B4-BE49-F238E27FC236}">
                <a16:creationId xmlns:a16="http://schemas.microsoft.com/office/drawing/2014/main" id="{FC1F3D4C-316A-48CE-A708-064FB416CDBB}"/>
              </a:ext>
            </a:extLst>
          </p:cNvPr>
          <p:cNvSpPr>
            <a:spLocks xmlns:a="http://schemas.openxmlformats.org/drawingml/2006/main" noGrp="1"/>
          </p:cNvSpPr>
          <p:nvPr/>
        </p:nvSpPr>
        <p:spPr>
          <a:xfrm xmlns:a="http://schemas.openxmlformats.org/drawingml/2006/main">
            <a:off x="2133600" y="5619750"/>
            <a:ext cx="1047750" cy="95250"/>
          </a:xfrm>
          <a:prstGeom xmlns:a="http://schemas.openxmlformats.org/drawingml/2006/main" prst="rect">
            <a:avLst/>
          </a:prstGeom>
          <a:solidFill xmlns:a="http://schemas.openxmlformats.org/drawingml/2006/main">
            <a:srgbClr val="39D7FF"/>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48" name="Rectangle 47">
            <a:extLst xmlns:a="http://schemas.openxmlformats.org/drawingml/2006/main">
              <a:ext uri="{FF2B5EF4-FFF2-40B4-BE49-F238E27FC236}">
                <a16:creationId xmlns:a16="http://schemas.microsoft.com/office/drawing/2014/main" id="{36970CB5-E6BD-4D11-AF48-B07BC05A3C01}"/>
              </a:ext>
            </a:extLst>
          </p:cNvPr>
          <p:cNvSpPr>
            <a:spLocks xmlns:a="http://schemas.openxmlformats.org/drawingml/2006/main" noGrp="1"/>
          </p:cNvSpPr>
          <p:nvPr/>
        </p:nvSpPr>
        <p:spPr>
          <a:xfrm xmlns:a="http://schemas.openxmlformats.org/drawingml/2006/main">
            <a:off x="3257550" y="5619750"/>
            <a:ext cx="1047750" cy="95250"/>
          </a:xfrm>
          <a:prstGeom xmlns:a="http://schemas.openxmlformats.org/drawingml/2006/main" prst="rect">
            <a:avLst/>
          </a:prstGeom>
          <a:solidFill xmlns:a="http://schemas.openxmlformats.org/drawingml/2006/main">
            <a:srgbClr val="F26B38"/>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49" name="Rectangle 48">
            <a:extLst xmlns:a="http://schemas.openxmlformats.org/drawingml/2006/main">
              <a:ext uri="{FF2B5EF4-FFF2-40B4-BE49-F238E27FC236}">
                <a16:creationId xmlns:a16="http://schemas.microsoft.com/office/drawing/2014/main" id="{C74F52E4-D24F-45E2-AFDF-FE98B99B94EF}"/>
              </a:ext>
            </a:extLst>
          </p:cNvPr>
          <p:cNvSpPr>
            <a:spLocks xmlns:a="http://schemas.openxmlformats.org/drawingml/2006/main" noGrp="1"/>
          </p:cNvSpPr>
          <p:nvPr/>
        </p:nvSpPr>
        <p:spPr>
          <a:xfrm xmlns:a="http://schemas.openxmlformats.org/drawingml/2006/main">
            <a:off x="4381500" y="5619750"/>
            <a:ext cx="1047750" cy="95250"/>
          </a:xfrm>
          <a:prstGeom xmlns:a="http://schemas.openxmlformats.org/drawingml/2006/main" prst="rect">
            <a:avLst/>
          </a:prstGeom>
          <a:solidFill xmlns:a="http://schemas.openxmlformats.org/drawingml/2006/main">
            <a:srgbClr val="FF6262"/>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50" name="Rectangle 49">
            <a:extLst xmlns:a="http://schemas.openxmlformats.org/drawingml/2006/main">
              <a:ext uri="{FF2B5EF4-FFF2-40B4-BE49-F238E27FC236}">
                <a16:creationId xmlns:a16="http://schemas.microsoft.com/office/drawing/2014/main" id="{6102A3A1-CB4E-494E-B4C3-FBFF1B300873}"/>
              </a:ext>
            </a:extLst>
          </p:cNvPr>
          <p:cNvSpPr>
            <a:spLocks xmlns:a="http://schemas.openxmlformats.org/drawingml/2006/main" noGrp="1"/>
          </p:cNvSpPr>
          <p:nvPr/>
        </p:nvSpPr>
        <p:spPr>
          <a:xfrm xmlns:a="http://schemas.openxmlformats.org/drawingml/2006/main">
            <a:off x="5505450" y="5619750"/>
            <a:ext cx="1047750" cy="95250"/>
          </a:xfrm>
          <a:prstGeom xmlns:a="http://schemas.openxmlformats.org/drawingml/2006/main" prst="rect">
            <a:avLst/>
          </a:prstGeom>
          <a:solidFill xmlns:a="http://schemas.openxmlformats.org/drawingml/2006/main">
            <a:srgbClr val="62D6A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51" name="Rectangle 50">
            <a:extLst xmlns:a="http://schemas.openxmlformats.org/drawingml/2006/main">
              <a:ext uri="{FF2B5EF4-FFF2-40B4-BE49-F238E27FC236}">
                <a16:creationId xmlns:a16="http://schemas.microsoft.com/office/drawing/2014/main" id="{47C2EFA4-E3E5-4C0A-9460-B545DBE68AC6}"/>
              </a:ext>
            </a:extLst>
          </p:cNvPr>
          <p:cNvSpPr>
            <a:spLocks xmlns:a="http://schemas.openxmlformats.org/drawingml/2006/main" noGrp="1"/>
          </p:cNvSpPr>
          <p:nvPr/>
        </p:nvSpPr>
        <p:spPr>
          <a:xfrm xmlns:a="http://schemas.openxmlformats.org/drawingml/2006/main">
            <a:off x="7384091" y="56197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75" b="1">
                <a:solidFill>
                  <a:srgbClr val="39D7FF"/>
                </a:solidFill>
                <a:latin typeface="DejaVu Sans Mono"/>
                <a:ea typeface="DejaVu Sans Mono"/>
                <a:cs typeface="DejaVu Sans Mono"/>
              </a:defRPr>
            </a:pPr>
            <a:r>
              <a:rPr sz="975" b="1">
                <a:solidFill>
                  <a:srgbClr val="39D7FF"/>
                </a:solidFill>
                <a:latin typeface="DejaVu Sans Mono"/>
                <a:ea typeface="DejaVu Sans Mono"/>
                <a:cs typeface="DejaVu Sans Mono"/>
              </a:rPr>
              <a:t>HARNESS</a:t>
            </a:r>
          </a:p>
        </p:txBody>
      </p:sp>
      <p:sp>
        <p:nvSpPr>
          <p:cNvPr id="52" name="Rectangle 51">
            <a:extLst xmlns:a="http://schemas.openxmlformats.org/drawingml/2006/main">
              <a:ext uri="{FF2B5EF4-FFF2-40B4-BE49-F238E27FC236}">
                <a16:creationId xmlns:a16="http://schemas.microsoft.com/office/drawing/2014/main" id="{F7819F1E-0364-499C-8791-149E22C49833}"/>
              </a:ext>
            </a:extLst>
          </p:cNvPr>
          <p:cNvSpPr>
            <a:spLocks xmlns:a="http://schemas.openxmlformats.org/drawingml/2006/main" noGrp="1"/>
          </p:cNvSpPr>
          <p:nvPr/>
        </p:nvSpPr>
        <p:spPr>
          <a:xfrm xmlns:a="http://schemas.openxmlformats.org/drawingml/2006/main">
            <a:off x="8336591" y="5619750"/>
            <a:ext cx="1333500" cy="76200"/>
          </a:xfrm>
          <a:prstGeom xmlns:a="http://schemas.openxmlformats.org/drawingml/2006/main" prst="rect">
            <a:avLst/>
          </a:prstGeom>
          <a:solidFill xmlns:a="http://schemas.openxmlformats.org/drawingml/2006/main">
            <a:srgbClr val="39D7FF">
              <a:alpha val="8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53" name="Rectangle 52">
            <a:extLst xmlns:a="http://schemas.openxmlformats.org/drawingml/2006/main">
              <a:ext uri="{FF2B5EF4-FFF2-40B4-BE49-F238E27FC236}">
                <a16:creationId xmlns:a16="http://schemas.microsoft.com/office/drawing/2014/main" id="{7FEEB8AC-30A3-48F6-AA07-53CD9F0B7007}"/>
              </a:ext>
            </a:extLst>
          </p:cNvPr>
          <p:cNvSpPr>
            <a:spLocks xmlns:a="http://schemas.openxmlformats.org/drawingml/2006/main" noGrp="1"/>
          </p:cNvSpPr>
          <p:nvPr/>
        </p:nvSpPr>
        <p:spPr>
          <a:xfrm xmlns:a="http://schemas.openxmlformats.org/drawingml/2006/main">
            <a:off x="8698541" y="5667374"/>
            <a:ext cx="1333500" cy="85721"/>
          </a:xfrm>
          <a:prstGeom xmlns:a="http://schemas.openxmlformats.org/drawingml/2006/main" prst="rect">
            <a:avLst/>
          </a:prstGeom>
          <a:solidFill xmlns:a="http://schemas.openxmlformats.org/drawingml/2006/main">
            <a:srgbClr val="F26B38">
              <a:alpha val="8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54" name="Rectangle 53">
            <a:extLst xmlns:a="http://schemas.openxmlformats.org/drawingml/2006/main">
              <a:ext uri="{FF2B5EF4-FFF2-40B4-BE49-F238E27FC236}">
                <a16:creationId xmlns:a16="http://schemas.microsoft.com/office/drawing/2014/main" id="{59039007-D800-4DA6-803C-4601BD649AB9}"/>
              </a:ext>
            </a:extLst>
          </p:cNvPr>
          <p:cNvSpPr>
            <a:spLocks xmlns:a="http://schemas.openxmlformats.org/drawingml/2006/main" noGrp="1"/>
          </p:cNvSpPr>
          <p:nvPr/>
        </p:nvSpPr>
        <p:spPr>
          <a:xfrm xmlns:a="http://schemas.openxmlformats.org/drawingml/2006/main">
            <a:off x="9060491" y="5714999"/>
            <a:ext cx="1333500" cy="85721"/>
          </a:xfrm>
          <a:prstGeom xmlns:a="http://schemas.openxmlformats.org/drawingml/2006/main" prst="rect">
            <a:avLst/>
          </a:prstGeom>
          <a:solidFill xmlns:a="http://schemas.openxmlformats.org/drawingml/2006/main">
            <a:srgbClr val="FF6262">
              <a:alpha val="8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55" name="Rectangle 54">
            <a:extLst xmlns:a="http://schemas.openxmlformats.org/drawingml/2006/main">
              <a:ext uri="{FF2B5EF4-FFF2-40B4-BE49-F238E27FC236}">
                <a16:creationId xmlns:a16="http://schemas.microsoft.com/office/drawing/2014/main" id="{CC934B13-6C21-48E8-8A33-E06F2563D4C9}"/>
              </a:ext>
            </a:extLst>
          </p:cNvPr>
          <p:cNvSpPr>
            <a:spLocks xmlns:a="http://schemas.openxmlformats.org/drawingml/2006/main" noGrp="1"/>
          </p:cNvSpPr>
          <p:nvPr/>
        </p:nvSpPr>
        <p:spPr>
          <a:xfrm xmlns:a="http://schemas.openxmlformats.org/drawingml/2006/main">
            <a:off x="9422441" y="5762624"/>
            <a:ext cx="1333500" cy="85721"/>
          </a:xfrm>
          <a:prstGeom xmlns:a="http://schemas.openxmlformats.org/drawingml/2006/main" prst="rect">
            <a:avLst/>
          </a:prstGeom>
          <a:solidFill xmlns:a="http://schemas.openxmlformats.org/drawingml/2006/main">
            <a:srgbClr val="62D6A7">
              <a:alpha val="8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56" name="Rectangle 55">
            <a:extLst xmlns:a="http://schemas.openxmlformats.org/drawingml/2006/main">
              <a:ext uri="{FF2B5EF4-FFF2-40B4-BE49-F238E27FC236}">
                <a16:creationId xmlns:a16="http://schemas.microsoft.com/office/drawing/2014/main" id="{CED00886-3672-46A3-B205-0796EF987263}"/>
              </a:ext>
            </a:extLst>
          </p:cNvPr>
          <p:cNvSpPr>
            <a:spLocks xmlns:a="http://schemas.openxmlformats.org/drawingml/2006/main" noGrp="1"/>
          </p:cNvSpPr>
          <p:nvPr/>
        </p:nvSpPr>
        <p:spPr>
          <a:xfrm xmlns:a="http://schemas.openxmlformats.org/drawingml/2006/main">
            <a:off x="7648575" y="6124575"/>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95000"/>
              </a:lnSpc>
              <a:buNone/>
              <a:defRPr sz="900" b="1">
                <a:solidFill>
                  <a:srgbClr val="F4F6F8"/>
                </a:solidFill>
                <a:latin typeface="DejaVu Sans Mono"/>
                <a:ea typeface="DejaVu Sans Mono"/>
                <a:cs typeface="DejaVu Sans Mono"/>
              </a:defRPr>
            </a:pPr>
            <a:r>
              <a:rPr sz="900" b="1">
                <a:solidFill>
                  <a:srgbClr val="F4F6F8"/>
                </a:solidFill>
                <a:latin typeface="DejaVu Sans Mono"/>
                <a:ea typeface="DejaVu Sans Mono"/>
                <a:cs typeface="DejaVu Sans Mono"/>
              </a:rPr>
              <a:t>same evidence standard • less avoidable waiting</a:t>
            </a:r>
          </a:p>
        </p:txBody>
      </p:sp>
      <p:sp>
        <p:nvSpPr>
          <p:cNvPr id="57" name="Rectangle 56">
            <a:extLst xmlns:a="http://schemas.openxmlformats.org/drawingml/2006/main">
              <a:ext uri="{FF2B5EF4-FFF2-40B4-BE49-F238E27FC236}">
                <a16:creationId xmlns:a16="http://schemas.microsoft.com/office/drawing/2014/main" id="{3FD116B8-389F-4F32-97D4-9D25BD6AD8A5}"/>
              </a:ext>
            </a:extLst>
          </p:cNvPr>
          <p:cNvSpPr>
            <a:spLocks xmlns:a="http://schemas.openxmlformats.org/drawingml/2006/main" noGrp="1"/>
          </p:cNvSpPr>
          <p:nvPr/>
        </p:nvSpPr>
        <p:spPr>
          <a:xfrm xmlns:a="http://schemas.openxmlformats.org/drawingml/2006/main">
            <a:off x="0" y="6400800"/>
            <a:ext cx="12192000" cy="457200"/>
          </a:xfrm>
          <a:prstGeom xmlns:a="http://schemas.openxmlformats.org/drawingml/2006/main" prst="rect">
            <a:avLst/>
          </a:prstGeom>
          <a:solidFill xmlns:a="http://schemas.openxmlformats.org/drawingml/2006/main">
            <a:srgbClr val="07090C">
              <a:alpha val="76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58" name="Rectangle 57">
            <a:extLst xmlns:a="http://schemas.openxmlformats.org/drawingml/2006/main">
              <a:ext uri="{FF2B5EF4-FFF2-40B4-BE49-F238E27FC236}">
                <a16:creationId xmlns:a16="http://schemas.microsoft.com/office/drawing/2014/main" id="{C0911BC2-C87F-44D6-8961-0CA7C2A7EC16}"/>
              </a:ext>
            </a:extLst>
          </p:cNvPr>
          <p:cNvSpPr>
            <a:spLocks xmlns:a="http://schemas.openxmlformats.org/drawingml/2006/main" noGrp="1"/>
          </p:cNvSpPr>
          <p:nvPr/>
        </p:nvSpPr>
        <p:spPr>
          <a:xfrm xmlns:a="http://schemas.openxmlformats.org/drawingml/2006/main">
            <a:off x="609600" y="6553200"/>
            <a:ext cx="68580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MARS SOCIETY 2026  •  HARNESSED AGENTIC SCIENCE + ENGINEERING</a:t>
            </a:r>
          </a:p>
        </p:txBody>
      </p:sp>
      <p:sp>
        <p:nvSpPr>
          <p:cNvPr id="59" name="Rectangle 58">
            <a:extLst xmlns:a="http://schemas.openxmlformats.org/drawingml/2006/main">
              <a:ext uri="{FF2B5EF4-FFF2-40B4-BE49-F238E27FC236}">
                <a16:creationId xmlns:a16="http://schemas.microsoft.com/office/drawing/2014/main" id="{6F8B85C5-6488-4F3E-B1B5-356745B4B62D}"/>
              </a:ext>
            </a:extLst>
          </p:cNvPr>
          <p:cNvSpPr>
            <a:spLocks xmlns:a="http://schemas.openxmlformats.org/drawingml/2006/main" noGrp="1"/>
          </p:cNvSpPr>
          <p:nvPr/>
        </p:nvSpPr>
        <p:spPr>
          <a:xfrm xmlns:a="http://schemas.openxmlformats.org/drawingml/2006/main">
            <a:off x="9525000" y="6553200"/>
            <a:ext cx="20574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BOB J MILLS     11</a:t>
            </a:r>
          </a:p>
        </p:txBody>
      </p:sp>
    </p:spTree>
    <p:extLst>
      <p:ext uri="{BB962C8B-B14F-4D97-AF65-F5344CB8AC3E}">
        <p14:creationId xmlns:p14="http://schemas.microsoft.com/office/powerpoint/2010/main" val="887281897"/>
      </p:ext>
    </p:extLst>
  </p:cSld>
</p:sld>
</file>

<file path=ppt/slides/slide12.xml><?xml version="1.0" encoding="utf-8"?>
<p:sld xmlns:p="http://schemas.openxmlformats.org/presentationml/2006/main">
  <p:cSld>
    <p:bg>
      <p:bgPr>
        <a:solidFill xmlns:a="http://schemas.openxmlformats.org/drawingml/2006/main">
          <a:srgbClr val="07090C"/>
        </a:solidFill>
      </p:bgPr>
    </p:bg>
    <p:spTree>
      <p:nvGrpSpPr>
        <p:cNvPr id="1" name=""/>
        <p:cNvGrpSpPr/>
        <p:nvPr/>
      </p:nvGrpSpPr>
      <p:grpSpPr>
        <a:xfrm xmlns:a="http://schemas.openxmlformats.org/drawingml/2006/main"/>
      </p:grpSpPr>
      <p:sp>
        <p:nvSpPr>
          <p:cNvPr id="33" name="Rectangle 32">
            <a:extLst xmlns:a="http://schemas.openxmlformats.org/drawingml/2006/main">
              <a:ext uri="{FF2B5EF4-FFF2-40B4-BE49-F238E27FC236}">
                <a16:creationId xmlns:a16="http://schemas.microsoft.com/office/drawing/2014/main" id="{8CB0722F-565D-45C6-A40B-EEC7B3416B90}"/>
              </a:ext>
            </a:extLst>
          </p:cNvPr>
          <p:cNvSpPr>
            <a:spLocks xmlns:a="http://schemas.openxmlformats.org/drawingml/2006/main" noGrp="1"/>
          </p:cNvSpPr>
          <p:nvPr/>
        </p:nvSpPr>
        <p:spPr>
          <a:xfrm xmlns:a="http://schemas.openxmlformats.org/drawingml/2006/main">
            <a:off x="609600" y="3429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75" b="1">
                <a:solidFill>
                  <a:srgbClr val="F26B38"/>
                </a:solidFill>
                <a:latin typeface="DejaVu Sans Mono"/>
                <a:ea typeface="DejaVu Sans Mono"/>
                <a:cs typeface="DejaVu Sans Mono"/>
              </a:defRPr>
            </a:pPr>
            <a:r>
              <a:rPr sz="975" b="1">
                <a:solidFill>
                  <a:srgbClr val="F26B38"/>
                </a:solidFill>
                <a:latin typeface="DejaVu Sans Mono"/>
                <a:ea typeface="DejaVu Sans Mono"/>
                <a:cs typeface="DejaVu Sans Mono"/>
              </a:rPr>
              <a:t>12  /  VERIFICATION</a:t>
            </a:r>
          </a:p>
        </p:txBody>
      </p:sp>
      <p:sp>
        <p:nvSpPr>
          <p:cNvPr id="2" name="Rectangle 1">
            <a:extLst xmlns:a="http://schemas.openxmlformats.org/drawingml/2006/main">
              <a:ext uri="{FF2B5EF4-FFF2-40B4-BE49-F238E27FC236}">
                <a16:creationId xmlns:a16="http://schemas.microsoft.com/office/drawing/2014/main" id="{E6825FFB-CA17-4952-9EC0-BC32ABB3A5B4}"/>
              </a:ext>
            </a:extLst>
          </p:cNvPr>
          <p:cNvSpPr>
            <a:spLocks xmlns:a="http://schemas.openxmlformats.org/drawingml/2006/main" noGrp="1"/>
          </p:cNvSpPr>
          <p:nvPr/>
        </p:nvSpPr>
        <p:spPr>
          <a:xfrm xmlns:a="http://schemas.openxmlformats.org/drawingml/2006/main">
            <a:off x="609600" y="647700"/>
            <a:ext cx="10972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0000"/>
              </a:lnSpc>
              <a:buNone/>
              <a:defRPr sz="2625" b="1">
                <a:solidFill>
                  <a:srgbClr val="F4F6F8"/>
                </a:solidFill>
                <a:latin typeface="DejaVu Sans"/>
                <a:ea typeface="DejaVu Sans"/>
                <a:cs typeface="DejaVu Sans"/>
              </a:defRPr>
            </a:pPr>
            <a:r>
              <a:rPr sz="2625" b="1">
                <a:solidFill>
                  <a:srgbClr val="F4F6F8"/>
                </a:solidFill>
                <a:latin typeface="DejaVu Sans"/>
                <a:ea typeface="DejaVu Sans"/>
                <a:cs typeface="DejaVu Sans"/>
              </a:rPr>
              <a:t>Verification starts at the first claim</a:t>
            </a:r>
          </a:p>
        </p:txBody>
      </p:sp>
      <p:sp>
        <p:nvSpPr>
          <p:cNvPr id="3" name="Rectangle 2">
            <a:extLst xmlns:a="http://schemas.openxmlformats.org/drawingml/2006/main">
              <a:ext uri="{FF2B5EF4-FFF2-40B4-BE49-F238E27FC236}">
                <a16:creationId xmlns:a16="http://schemas.microsoft.com/office/drawing/2014/main" id="{1AB7E6DB-9BB0-4419-86CC-E0CD31BBBB2E}"/>
              </a:ext>
            </a:extLst>
          </p:cNvPr>
          <p:cNvSpPr>
            <a:spLocks xmlns:a="http://schemas.openxmlformats.org/drawingml/2006/main" noGrp="1"/>
          </p:cNvSpPr>
          <p:nvPr/>
        </p:nvSpPr>
        <p:spPr>
          <a:xfrm xmlns:a="http://schemas.openxmlformats.org/drawingml/2006/main">
            <a:off x="628650" y="1238250"/>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25" b="0">
                <a:solidFill>
                  <a:srgbClr val="8D99A3"/>
                </a:solidFill>
                <a:latin typeface="DejaVu Sans"/>
                <a:ea typeface="DejaVu Sans"/>
                <a:cs typeface="DejaVu Sans"/>
              </a:defRPr>
            </a:pPr>
            <a:r>
              <a:rPr sz="1425" b="0">
                <a:solidFill>
                  <a:srgbClr val="8D99A3"/>
                </a:solidFill>
                <a:latin typeface="DejaVu Sans"/>
                <a:ea typeface="DejaVu Sans"/>
                <a:cs typeface="DejaVu Sans"/>
              </a:rPr>
              <a:t>Agents maintain the links, expose breaks and launch focused rework before a review gate.</a:t>
            </a:r>
          </a:p>
        </p:txBody>
      </p:sp>
      <p:sp>
        <p:nvSpPr>
          <p:cNvPr id="4" name="Straight Connector 3">
            <a:extLst xmlns:a="http://schemas.openxmlformats.org/drawingml/2006/main">
              <a:ext uri="{FF2B5EF4-FFF2-40B4-BE49-F238E27FC236}">
                <a16:creationId xmlns:a16="http://schemas.microsoft.com/office/drawing/2014/main" id="{F42CC990-423D-47FC-B315-6FE603AD546C}"/>
              </a:ext>
            </a:extLst>
          </p:cNvPr>
          <p:cNvSpPr>
            <a:spLocks xmlns:a="http://schemas.openxmlformats.org/drawingml/2006/main" noGrp="1"/>
          </p:cNvSpPr>
          <p:nvPr/>
        </p:nvSpPr>
        <p:spPr>
          <a:xfrm xmlns:a="http://schemas.openxmlformats.org/drawingml/2006/main">
            <a:off x="609600" y="1676400"/>
            <a:ext cx="10972800" cy="0"/>
          </a:xfrm>
          <a:prstGeom xmlns:a="http://schemas.openxmlformats.org/drawingml/2006/main" prst="line">
            <a:avLst/>
          </a:prstGeom>
          <a:noFill xmlns:a="http://schemas.openxmlformats.org/drawingml/2006/main"/>
          <a:ln xmlns:a="http://schemas.openxmlformats.org/drawingml/2006/main" w="9525">
            <a:solidFill>
              <a:srgbClr val="35414B"/>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Arrow: Right 4">
            <a:extLst xmlns:a="http://schemas.openxmlformats.org/drawingml/2006/main">
              <a:ext uri="{FF2B5EF4-FFF2-40B4-BE49-F238E27FC236}">
                <a16:creationId xmlns:a16="http://schemas.microsoft.com/office/drawing/2014/main" id="{71FCF1CD-6FF3-4858-9F08-B9B3237CAE95}"/>
              </a:ext>
            </a:extLst>
          </p:cNvPr>
          <p:cNvSpPr>
            <a:spLocks xmlns:a="http://schemas.openxmlformats.org/drawingml/2006/main" noGrp="1"/>
          </p:cNvSpPr>
          <p:nvPr/>
        </p:nvSpPr>
        <p:spPr>
          <a:xfrm xmlns:a="http://schemas.openxmlformats.org/drawingml/2006/main">
            <a:off x="2266950" y="2724150"/>
            <a:ext cx="476250" cy="171450"/>
          </a:xfrm>
          <a:prstGeom xmlns:a="http://schemas.openxmlformats.org/drawingml/2006/main" prst="rightArrow">
            <a:avLst/>
          </a:prstGeom>
          <a:solidFill xmlns:a="http://schemas.openxmlformats.org/drawingml/2006/main">
            <a:srgbClr val="39D7FF">
              <a:alpha val="6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6" name="Arrow: Right 5">
            <a:extLst xmlns:a="http://schemas.openxmlformats.org/drawingml/2006/main">
              <a:ext uri="{FF2B5EF4-FFF2-40B4-BE49-F238E27FC236}">
                <a16:creationId xmlns:a16="http://schemas.microsoft.com/office/drawing/2014/main" id="{26FBEC1F-E6A0-4FC5-8CAE-4BAEAEDEB963}"/>
              </a:ext>
            </a:extLst>
          </p:cNvPr>
          <p:cNvSpPr>
            <a:spLocks xmlns:a="http://schemas.openxmlformats.org/drawingml/2006/main" noGrp="1"/>
          </p:cNvSpPr>
          <p:nvPr/>
        </p:nvSpPr>
        <p:spPr>
          <a:xfrm xmlns:a="http://schemas.openxmlformats.org/drawingml/2006/main">
            <a:off x="4152900" y="2724150"/>
            <a:ext cx="476250" cy="171450"/>
          </a:xfrm>
          <a:prstGeom xmlns:a="http://schemas.openxmlformats.org/drawingml/2006/main" prst="rightArrow">
            <a:avLst/>
          </a:prstGeom>
          <a:solidFill xmlns:a="http://schemas.openxmlformats.org/drawingml/2006/main">
            <a:srgbClr val="39D7FF">
              <a:alpha val="6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7" name="Arrow: Right 6">
            <a:extLst xmlns:a="http://schemas.openxmlformats.org/drawingml/2006/main">
              <a:ext uri="{FF2B5EF4-FFF2-40B4-BE49-F238E27FC236}">
                <a16:creationId xmlns:a16="http://schemas.microsoft.com/office/drawing/2014/main" id="{B2FD01D1-915B-46C7-9919-1463F2251704}"/>
              </a:ext>
            </a:extLst>
          </p:cNvPr>
          <p:cNvSpPr>
            <a:spLocks xmlns:a="http://schemas.openxmlformats.org/drawingml/2006/main" noGrp="1"/>
          </p:cNvSpPr>
          <p:nvPr/>
        </p:nvSpPr>
        <p:spPr>
          <a:xfrm xmlns:a="http://schemas.openxmlformats.org/drawingml/2006/main">
            <a:off x="6038850" y="2724150"/>
            <a:ext cx="476250" cy="171450"/>
          </a:xfrm>
          <a:prstGeom xmlns:a="http://schemas.openxmlformats.org/drawingml/2006/main" prst="rightArrow">
            <a:avLst/>
          </a:prstGeom>
          <a:solidFill xmlns:a="http://schemas.openxmlformats.org/drawingml/2006/main">
            <a:srgbClr val="F26B38">
              <a:alpha val="6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8" name="Arrow: Right 7">
            <a:extLst xmlns:a="http://schemas.openxmlformats.org/drawingml/2006/main">
              <a:ext uri="{FF2B5EF4-FFF2-40B4-BE49-F238E27FC236}">
                <a16:creationId xmlns:a16="http://schemas.microsoft.com/office/drawing/2014/main" id="{583F68F1-84C2-4966-B28B-9C1DC3918D8B}"/>
              </a:ext>
            </a:extLst>
          </p:cNvPr>
          <p:cNvSpPr>
            <a:spLocks xmlns:a="http://schemas.openxmlformats.org/drawingml/2006/main" noGrp="1"/>
          </p:cNvSpPr>
          <p:nvPr/>
        </p:nvSpPr>
        <p:spPr>
          <a:xfrm xmlns:a="http://schemas.openxmlformats.org/drawingml/2006/main">
            <a:off x="7924800" y="2724150"/>
            <a:ext cx="476250" cy="171450"/>
          </a:xfrm>
          <a:prstGeom xmlns:a="http://schemas.openxmlformats.org/drawingml/2006/main" prst="rightArrow">
            <a:avLst/>
          </a:prstGeom>
          <a:solidFill xmlns:a="http://schemas.openxmlformats.org/drawingml/2006/main">
            <a:srgbClr val="62D6A7">
              <a:alpha val="6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9" name="Arrow: Right 8">
            <a:extLst xmlns:a="http://schemas.openxmlformats.org/drawingml/2006/main">
              <a:ext uri="{FF2B5EF4-FFF2-40B4-BE49-F238E27FC236}">
                <a16:creationId xmlns:a16="http://schemas.microsoft.com/office/drawing/2014/main" id="{2EA58EBC-348A-4208-9A51-4A642FFCCBA3}"/>
              </a:ext>
            </a:extLst>
          </p:cNvPr>
          <p:cNvSpPr>
            <a:spLocks xmlns:a="http://schemas.openxmlformats.org/drawingml/2006/main" noGrp="1"/>
          </p:cNvSpPr>
          <p:nvPr/>
        </p:nvSpPr>
        <p:spPr>
          <a:xfrm xmlns:a="http://schemas.openxmlformats.org/drawingml/2006/main">
            <a:off x="9810750" y="2724150"/>
            <a:ext cx="476250" cy="171450"/>
          </a:xfrm>
          <a:prstGeom xmlns:a="http://schemas.openxmlformats.org/drawingml/2006/main" prst="rightArrow">
            <a:avLst/>
          </a:prstGeom>
          <a:solidFill xmlns:a="http://schemas.openxmlformats.org/drawingml/2006/main">
            <a:srgbClr val="62D6A7">
              <a:alpha val="6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0" name="Rectangle: Rounded Corners 9">
            <a:extLst xmlns:a="http://schemas.openxmlformats.org/drawingml/2006/main">
              <a:ext uri="{FF2B5EF4-FFF2-40B4-BE49-F238E27FC236}">
                <a16:creationId xmlns:a16="http://schemas.microsoft.com/office/drawing/2014/main" id="{B1C76504-AF32-4C9A-BC42-076FE178CC21}"/>
              </a:ext>
            </a:extLst>
          </p:cNvPr>
          <p:cNvSpPr>
            <a:spLocks xmlns:a="http://schemas.openxmlformats.org/drawingml/2006/main" noGrp="1"/>
          </p:cNvSpPr>
          <p:nvPr/>
        </p:nvSpPr>
        <p:spPr>
          <a:xfrm xmlns:a="http://schemas.openxmlformats.org/drawingml/2006/main">
            <a:off x="647700" y="2305050"/>
            <a:ext cx="1524000" cy="590550"/>
          </a:xfrm>
          <a:prstGeom xmlns:a="http://schemas.openxmlformats.org/drawingml/2006/main" prst="roundRect">
            <a:avLst>
              <a:gd name="adj" fmla="val 25806"/>
            </a:avLst>
          </a:prstGeom>
          <a:solidFill xmlns:a="http://schemas.openxmlformats.org/drawingml/2006/main">
            <a:srgbClr val="11171C"/>
          </a:solidFill>
          <a:ln xmlns:a="http://schemas.openxmlformats.org/drawingml/2006/main" w="14288">
            <a:solidFill>
              <a:srgbClr val="39D7FF"/>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125" b="1">
                <a:solidFill>
                  <a:srgbClr val="39D7FF"/>
                </a:solidFill>
                <a:latin typeface="DejaVu Sans Mono"/>
                <a:ea typeface="DejaVu Sans Mono"/>
                <a:cs typeface="DejaVu Sans Mono"/>
              </a:defRPr>
            </a:pPr>
            <a:r>
              <a:rPr sz="1125" b="1">
                <a:solidFill>
                  <a:srgbClr val="39D7FF"/>
                </a:solidFill>
                <a:latin typeface="DejaVu Sans Mono"/>
                <a:ea typeface="DejaVu Sans Mono"/>
                <a:cs typeface="DejaVu Sans Mono"/>
              </a:rPr>
              <a:t>CLAIM</a:t>
            </a:r>
          </a:p>
        </p:txBody>
      </p:sp>
      <p:sp>
        <p:nvSpPr>
          <p:cNvPr id="11" name="Rectangle 10">
            <a:extLst xmlns:a="http://schemas.openxmlformats.org/drawingml/2006/main">
              <a:ext uri="{FF2B5EF4-FFF2-40B4-BE49-F238E27FC236}">
                <a16:creationId xmlns:a16="http://schemas.microsoft.com/office/drawing/2014/main" id="{7B9C7885-143E-47D8-9D4E-2A3D05622A35}"/>
              </a:ext>
            </a:extLst>
          </p:cNvPr>
          <p:cNvSpPr>
            <a:spLocks xmlns:a="http://schemas.openxmlformats.org/drawingml/2006/main" noGrp="1"/>
          </p:cNvSpPr>
          <p:nvPr/>
        </p:nvSpPr>
        <p:spPr>
          <a:xfrm xmlns:a="http://schemas.openxmlformats.org/drawingml/2006/main">
            <a:off x="647700" y="3048000"/>
            <a:ext cx="1524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200" b="0">
                <a:solidFill>
                  <a:srgbClr val="D8DEE3"/>
                </a:solidFill>
                <a:latin typeface="DejaVu Sans"/>
                <a:ea typeface="DejaVu Sans"/>
                <a:cs typeface="DejaVu Sans"/>
              </a:defRPr>
            </a:pPr>
            <a:r>
              <a:rPr sz="1200" b="0">
                <a:solidFill>
                  <a:srgbClr val="D8DEE3"/>
                </a:solidFill>
                <a:latin typeface="DejaVu Sans"/>
                <a:ea typeface="DejaVu Sans"/>
                <a:cs typeface="DejaVu Sans"/>
              </a:rPr>
              <a:t>dust fouling dominates</a:t>
            </a:r>
          </a:p>
        </p:txBody>
      </p:sp>
      <p:sp>
        <p:nvSpPr>
          <p:cNvPr id="12" name="Rectangle: Rounded Corners 11">
            <a:extLst xmlns:a="http://schemas.openxmlformats.org/drawingml/2006/main">
              <a:ext uri="{FF2B5EF4-FFF2-40B4-BE49-F238E27FC236}">
                <a16:creationId xmlns:a16="http://schemas.microsoft.com/office/drawing/2014/main" id="{455A714C-E0AD-46CC-8B99-70A94B8E4C9C}"/>
              </a:ext>
            </a:extLst>
          </p:cNvPr>
          <p:cNvSpPr>
            <a:spLocks xmlns:a="http://schemas.openxmlformats.org/drawingml/2006/main" noGrp="1"/>
          </p:cNvSpPr>
          <p:nvPr/>
        </p:nvSpPr>
        <p:spPr>
          <a:xfrm xmlns:a="http://schemas.openxmlformats.org/drawingml/2006/main">
            <a:off x="2533650" y="2305050"/>
            <a:ext cx="1524000" cy="590550"/>
          </a:xfrm>
          <a:prstGeom xmlns:a="http://schemas.openxmlformats.org/drawingml/2006/main" prst="roundRect">
            <a:avLst>
              <a:gd name="adj" fmla="val 25806"/>
            </a:avLst>
          </a:prstGeom>
          <a:solidFill xmlns:a="http://schemas.openxmlformats.org/drawingml/2006/main">
            <a:srgbClr val="11171C"/>
          </a:solidFill>
          <a:ln xmlns:a="http://schemas.openxmlformats.org/drawingml/2006/main" w="14288">
            <a:solidFill>
              <a:srgbClr val="39D7FF"/>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125" b="1">
                <a:solidFill>
                  <a:srgbClr val="39D7FF"/>
                </a:solidFill>
                <a:latin typeface="DejaVu Sans Mono"/>
                <a:ea typeface="DejaVu Sans Mono"/>
                <a:cs typeface="DejaVu Sans Mono"/>
              </a:defRPr>
            </a:pPr>
            <a:r>
              <a:rPr sz="1125" b="1">
                <a:solidFill>
                  <a:srgbClr val="39D7FF"/>
                </a:solidFill>
                <a:latin typeface="DejaVu Sans Mono"/>
                <a:ea typeface="DejaVu Sans Mono"/>
                <a:cs typeface="DejaVu Sans Mono"/>
              </a:rPr>
              <a:t>SOURCE</a:t>
            </a:r>
          </a:p>
        </p:txBody>
      </p:sp>
      <p:sp>
        <p:nvSpPr>
          <p:cNvPr id="13" name="Rectangle 12">
            <a:extLst xmlns:a="http://schemas.openxmlformats.org/drawingml/2006/main">
              <a:ext uri="{FF2B5EF4-FFF2-40B4-BE49-F238E27FC236}">
                <a16:creationId xmlns:a16="http://schemas.microsoft.com/office/drawing/2014/main" id="{CD1D18E6-B3DF-4116-AAF4-BFCD7D11F8E3}"/>
              </a:ext>
            </a:extLst>
          </p:cNvPr>
          <p:cNvSpPr>
            <a:spLocks xmlns:a="http://schemas.openxmlformats.org/drawingml/2006/main" noGrp="1"/>
          </p:cNvSpPr>
          <p:nvPr/>
        </p:nvSpPr>
        <p:spPr>
          <a:xfrm xmlns:a="http://schemas.openxmlformats.org/drawingml/2006/main">
            <a:off x="2533650" y="3048000"/>
            <a:ext cx="1524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200" b="0">
                <a:solidFill>
                  <a:srgbClr val="D8DEE3"/>
                </a:solidFill>
                <a:latin typeface="DejaVu Sans"/>
                <a:ea typeface="DejaVu Sans"/>
                <a:cs typeface="DejaVu Sans"/>
              </a:defRPr>
            </a:pPr>
            <a:r>
              <a:rPr sz="1200" b="0">
                <a:solidFill>
                  <a:srgbClr val="D8DEE3"/>
                </a:solidFill>
                <a:latin typeface="DejaVu Sans"/>
                <a:ea typeface="DejaVu Sans"/>
                <a:cs typeface="DejaVu Sans"/>
              </a:rPr>
              <a:t>literature + model</a:t>
            </a:r>
          </a:p>
        </p:txBody>
      </p:sp>
      <p:sp>
        <p:nvSpPr>
          <p:cNvPr id="14" name="Rectangle: Rounded Corners 13">
            <a:extLst xmlns:a="http://schemas.openxmlformats.org/drawingml/2006/main">
              <a:ext uri="{FF2B5EF4-FFF2-40B4-BE49-F238E27FC236}">
                <a16:creationId xmlns:a16="http://schemas.microsoft.com/office/drawing/2014/main" id="{F52A1986-5E4D-42BE-966F-D47C9D1A1F40}"/>
              </a:ext>
            </a:extLst>
          </p:cNvPr>
          <p:cNvSpPr>
            <a:spLocks xmlns:a="http://schemas.openxmlformats.org/drawingml/2006/main" noGrp="1"/>
          </p:cNvSpPr>
          <p:nvPr/>
        </p:nvSpPr>
        <p:spPr>
          <a:xfrm xmlns:a="http://schemas.openxmlformats.org/drawingml/2006/main">
            <a:off x="4419600" y="2305050"/>
            <a:ext cx="1524000" cy="590550"/>
          </a:xfrm>
          <a:prstGeom xmlns:a="http://schemas.openxmlformats.org/drawingml/2006/main" prst="roundRect">
            <a:avLst>
              <a:gd name="adj" fmla="val 25806"/>
            </a:avLst>
          </a:prstGeom>
          <a:solidFill xmlns:a="http://schemas.openxmlformats.org/drawingml/2006/main">
            <a:srgbClr val="11171C"/>
          </a:solidFill>
          <a:ln xmlns:a="http://schemas.openxmlformats.org/drawingml/2006/main" w="14288">
            <a:solidFill>
              <a:srgbClr val="F26B38"/>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125" b="1">
                <a:solidFill>
                  <a:srgbClr val="F26B38"/>
                </a:solidFill>
                <a:latin typeface="DejaVu Sans Mono"/>
                <a:ea typeface="DejaVu Sans Mono"/>
                <a:cs typeface="DejaVu Sans Mono"/>
              </a:defRPr>
            </a:pPr>
            <a:r>
              <a:rPr sz="1125" b="1">
                <a:solidFill>
                  <a:srgbClr val="F26B38"/>
                </a:solidFill>
                <a:latin typeface="DejaVu Sans Mono"/>
                <a:ea typeface="DejaVu Sans Mono"/>
                <a:cs typeface="DejaVu Sans Mono"/>
              </a:rPr>
              <a:t>REQUIREMENT</a:t>
            </a:r>
          </a:p>
        </p:txBody>
      </p:sp>
      <p:sp>
        <p:nvSpPr>
          <p:cNvPr id="15" name="Rectangle 14">
            <a:extLst xmlns:a="http://schemas.openxmlformats.org/drawingml/2006/main">
              <a:ext uri="{FF2B5EF4-FFF2-40B4-BE49-F238E27FC236}">
                <a16:creationId xmlns:a16="http://schemas.microsoft.com/office/drawing/2014/main" id="{7EEA1C57-E85F-46D9-BBEA-E09B02684A66}"/>
              </a:ext>
            </a:extLst>
          </p:cNvPr>
          <p:cNvSpPr>
            <a:spLocks xmlns:a="http://schemas.openxmlformats.org/drawingml/2006/main" noGrp="1"/>
          </p:cNvSpPr>
          <p:nvPr/>
        </p:nvSpPr>
        <p:spPr>
          <a:xfrm xmlns:a="http://schemas.openxmlformats.org/drawingml/2006/main">
            <a:off x="4419600" y="3048000"/>
            <a:ext cx="1524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200" b="0">
                <a:solidFill>
                  <a:srgbClr val="D8DEE3"/>
                </a:solidFill>
                <a:latin typeface="DejaVu Sans"/>
                <a:ea typeface="DejaVu Sans"/>
                <a:cs typeface="DejaVu Sans"/>
              </a:defRPr>
            </a:pPr>
            <a:r>
              <a:rPr sz="1200" b="0">
                <a:solidFill>
                  <a:srgbClr val="D8DEE3"/>
                </a:solidFill>
                <a:latin typeface="DejaVu Sans"/>
                <a:ea typeface="DejaVu Sans"/>
                <a:cs typeface="DejaVu Sans"/>
              </a:rPr>
              <a:t>recover performance</a:t>
            </a:r>
          </a:p>
        </p:txBody>
      </p:sp>
      <p:sp>
        <p:nvSpPr>
          <p:cNvPr id="16" name="Rectangle: Rounded Corners 15">
            <a:extLst xmlns:a="http://schemas.openxmlformats.org/drawingml/2006/main">
              <a:ext uri="{FF2B5EF4-FFF2-40B4-BE49-F238E27FC236}">
                <a16:creationId xmlns:a16="http://schemas.microsoft.com/office/drawing/2014/main" id="{1C226A1B-9CD6-4B0F-92B7-5A20D5EA24DD}"/>
              </a:ext>
            </a:extLst>
          </p:cNvPr>
          <p:cNvSpPr>
            <a:spLocks xmlns:a="http://schemas.openxmlformats.org/drawingml/2006/main" noGrp="1"/>
          </p:cNvSpPr>
          <p:nvPr/>
        </p:nvSpPr>
        <p:spPr>
          <a:xfrm xmlns:a="http://schemas.openxmlformats.org/drawingml/2006/main">
            <a:off x="6305550" y="2305050"/>
            <a:ext cx="1524000" cy="590550"/>
          </a:xfrm>
          <a:prstGeom xmlns:a="http://schemas.openxmlformats.org/drawingml/2006/main" prst="roundRect">
            <a:avLst>
              <a:gd name="adj" fmla="val 25806"/>
            </a:avLst>
          </a:prstGeom>
          <a:solidFill xmlns:a="http://schemas.openxmlformats.org/drawingml/2006/main">
            <a:srgbClr val="11171C"/>
          </a:solidFill>
          <a:ln xmlns:a="http://schemas.openxmlformats.org/drawingml/2006/main" w="14288">
            <a:solidFill>
              <a:srgbClr val="62D6A7"/>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125" b="1">
                <a:solidFill>
                  <a:srgbClr val="62D6A7"/>
                </a:solidFill>
                <a:latin typeface="DejaVu Sans Mono"/>
                <a:ea typeface="DejaVu Sans Mono"/>
                <a:cs typeface="DejaVu Sans Mono"/>
              </a:defRPr>
            </a:pPr>
            <a:r>
              <a:rPr sz="1125" b="1">
                <a:solidFill>
                  <a:srgbClr val="62D6A7"/>
                </a:solidFill>
                <a:latin typeface="DejaVu Sans Mono"/>
                <a:ea typeface="DejaVu Sans Mono"/>
                <a:cs typeface="DejaVu Sans Mono"/>
              </a:rPr>
              <a:t>METHOD</a:t>
            </a:r>
          </a:p>
        </p:txBody>
      </p:sp>
      <p:sp>
        <p:nvSpPr>
          <p:cNvPr id="17" name="Rectangle 16">
            <a:extLst xmlns:a="http://schemas.openxmlformats.org/drawingml/2006/main">
              <a:ext uri="{FF2B5EF4-FFF2-40B4-BE49-F238E27FC236}">
                <a16:creationId xmlns:a16="http://schemas.microsoft.com/office/drawing/2014/main" id="{F5FE2369-0EB4-4C4C-B1B4-12AEEA838189}"/>
              </a:ext>
            </a:extLst>
          </p:cNvPr>
          <p:cNvSpPr>
            <a:spLocks xmlns:a="http://schemas.openxmlformats.org/drawingml/2006/main" noGrp="1"/>
          </p:cNvSpPr>
          <p:nvPr/>
        </p:nvSpPr>
        <p:spPr>
          <a:xfrm xmlns:a="http://schemas.openxmlformats.org/drawingml/2006/main">
            <a:off x="6305550" y="3048000"/>
            <a:ext cx="1524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200" b="0">
                <a:solidFill>
                  <a:srgbClr val="D8DEE3"/>
                </a:solidFill>
                <a:latin typeface="DejaVu Sans"/>
                <a:ea typeface="DejaVu Sans"/>
                <a:cs typeface="DejaVu Sans"/>
              </a:defRPr>
            </a:pPr>
            <a:r>
              <a:rPr sz="1200" b="0">
                <a:solidFill>
                  <a:srgbClr val="D8DEE3"/>
                </a:solidFill>
                <a:latin typeface="DejaVu Sans"/>
                <a:ea typeface="DejaVu Sans"/>
                <a:cs typeface="DejaVu Sans"/>
              </a:rPr>
              <a:t>Mars dust chamber</a:t>
            </a:r>
          </a:p>
        </p:txBody>
      </p:sp>
      <p:sp>
        <p:nvSpPr>
          <p:cNvPr id="18" name="Rectangle: Rounded Corners 17">
            <a:extLst xmlns:a="http://schemas.openxmlformats.org/drawingml/2006/main">
              <a:ext uri="{FF2B5EF4-FFF2-40B4-BE49-F238E27FC236}">
                <a16:creationId xmlns:a16="http://schemas.microsoft.com/office/drawing/2014/main" id="{B8BD195C-999C-4BED-A17E-6E7304B2E26E}"/>
              </a:ext>
            </a:extLst>
          </p:cNvPr>
          <p:cNvSpPr>
            <a:spLocks xmlns:a="http://schemas.openxmlformats.org/drawingml/2006/main" noGrp="1"/>
          </p:cNvSpPr>
          <p:nvPr/>
        </p:nvSpPr>
        <p:spPr>
          <a:xfrm xmlns:a="http://schemas.openxmlformats.org/drawingml/2006/main">
            <a:off x="8191500" y="2305050"/>
            <a:ext cx="1524000" cy="590550"/>
          </a:xfrm>
          <a:prstGeom xmlns:a="http://schemas.openxmlformats.org/drawingml/2006/main" prst="roundRect">
            <a:avLst>
              <a:gd name="adj" fmla="val 25806"/>
            </a:avLst>
          </a:prstGeom>
          <a:solidFill xmlns:a="http://schemas.openxmlformats.org/drawingml/2006/main">
            <a:srgbClr val="11171C"/>
          </a:solidFill>
          <a:ln xmlns:a="http://schemas.openxmlformats.org/drawingml/2006/main" w="14288">
            <a:solidFill>
              <a:srgbClr val="62D6A7"/>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125" b="1">
                <a:solidFill>
                  <a:srgbClr val="62D6A7"/>
                </a:solidFill>
                <a:latin typeface="DejaVu Sans Mono"/>
                <a:ea typeface="DejaVu Sans Mono"/>
                <a:cs typeface="DejaVu Sans Mono"/>
              </a:defRPr>
            </a:pPr>
            <a:r>
              <a:rPr sz="1125" b="1">
                <a:solidFill>
                  <a:srgbClr val="62D6A7"/>
                </a:solidFill>
                <a:latin typeface="DejaVu Sans Mono"/>
                <a:ea typeface="DejaVu Sans Mono"/>
                <a:cs typeface="DejaVu Sans Mono"/>
              </a:rPr>
              <a:t>RESULT</a:t>
            </a:r>
          </a:p>
        </p:txBody>
      </p:sp>
      <p:sp>
        <p:nvSpPr>
          <p:cNvPr id="19" name="Rectangle 18">
            <a:extLst xmlns:a="http://schemas.openxmlformats.org/drawingml/2006/main">
              <a:ext uri="{FF2B5EF4-FFF2-40B4-BE49-F238E27FC236}">
                <a16:creationId xmlns:a16="http://schemas.microsoft.com/office/drawing/2014/main" id="{E04ECBE3-69BE-4C8A-B887-79CFAC8E2EEB}"/>
              </a:ext>
            </a:extLst>
          </p:cNvPr>
          <p:cNvSpPr>
            <a:spLocks xmlns:a="http://schemas.openxmlformats.org/drawingml/2006/main" noGrp="1"/>
          </p:cNvSpPr>
          <p:nvPr/>
        </p:nvSpPr>
        <p:spPr>
          <a:xfrm xmlns:a="http://schemas.openxmlformats.org/drawingml/2006/main">
            <a:off x="8191500" y="3048000"/>
            <a:ext cx="1524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200" b="0">
                <a:solidFill>
                  <a:srgbClr val="D8DEE3"/>
                </a:solidFill>
                <a:latin typeface="DejaVu Sans"/>
                <a:ea typeface="DejaVu Sans"/>
                <a:cs typeface="DejaVu Sans"/>
              </a:defRPr>
            </a:pPr>
            <a:r>
              <a:rPr sz="1200" b="0">
                <a:solidFill>
                  <a:srgbClr val="D8DEE3"/>
                </a:solidFill>
                <a:latin typeface="DejaVu Sans"/>
                <a:ea typeface="DejaVu Sans"/>
                <a:cs typeface="DejaVu Sans"/>
              </a:rPr>
              <a:t>measured evidence</a:t>
            </a:r>
          </a:p>
        </p:txBody>
      </p:sp>
      <p:sp>
        <p:nvSpPr>
          <p:cNvPr id="20" name="Rectangle: Rounded Corners 19">
            <a:extLst xmlns:a="http://schemas.openxmlformats.org/drawingml/2006/main">
              <a:ext uri="{FF2B5EF4-FFF2-40B4-BE49-F238E27FC236}">
                <a16:creationId xmlns:a16="http://schemas.microsoft.com/office/drawing/2014/main" id="{1A32E0DE-6CA1-476F-A95F-CD1FC0F79756}"/>
              </a:ext>
            </a:extLst>
          </p:cNvPr>
          <p:cNvSpPr>
            <a:spLocks xmlns:a="http://schemas.openxmlformats.org/drawingml/2006/main" noGrp="1"/>
          </p:cNvSpPr>
          <p:nvPr/>
        </p:nvSpPr>
        <p:spPr>
          <a:xfrm xmlns:a="http://schemas.openxmlformats.org/drawingml/2006/main">
            <a:off x="10077450" y="2305050"/>
            <a:ext cx="1524000" cy="590550"/>
          </a:xfrm>
          <a:prstGeom xmlns:a="http://schemas.openxmlformats.org/drawingml/2006/main" prst="roundRect">
            <a:avLst>
              <a:gd name="adj" fmla="val 25806"/>
            </a:avLst>
          </a:prstGeom>
          <a:solidFill xmlns:a="http://schemas.openxmlformats.org/drawingml/2006/main">
            <a:srgbClr val="11171C"/>
          </a:solidFill>
          <a:ln xmlns:a="http://schemas.openxmlformats.org/drawingml/2006/main" w="14288">
            <a:solidFill>
              <a:srgbClr val="FFC857"/>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125" b="1">
                <a:solidFill>
                  <a:srgbClr val="FFC857"/>
                </a:solidFill>
                <a:latin typeface="DejaVu Sans Mono"/>
                <a:ea typeface="DejaVu Sans Mono"/>
                <a:cs typeface="DejaVu Sans Mono"/>
              </a:defRPr>
            </a:pPr>
            <a:r>
              <a:rPr sz="1125" b="1">
                <a:solidFill>
                  <a:srgbClr val="FFC857"/>
                </a:solidFill>
                <a:latin typeface="DejaVu Sans Mono"/>
                <a:ea typeface="DejaVu Sans Mono"/>
                <a:cs typeface="DejaVu Sans Mono"/>
              </a:rPr>
              <a:t>STATUS</a:t>
            </a:r>
          </a:p>
        </p:txBody>
      </p:sp>
      <p:sp>
        <p:nvSpPr>
          <p:cNvPr id="21" name="Rectangle 20">
            <a:extLst xmlns:a="http://schemas.openxmlformats.org/drawingml/2006/main">
              <a:ext uri="{FF2B5EF4-FFF2-40B4-BE49-F238E27FC236}">
                <a16:creationId xmlns:a16="http://schemas.microsoft.com/office/drawing/2014/main" id="{00F18078-4030-42AE-99AB-613027708856}"/>
              </a:ext>
            </a:extLst>
          </p:cNvPr>
          <p:cNvSpPr>
            <a:spLocks xmlns:a="http://schemas.openxmlformats.org/drawingml/2006/main" noGrp="1"/>
          </p:cNvSpPr>
          <p:nvPr/>
        </p:nvSpPr>
        <p:spPr>
          <a:xfrm xmlns:a="http://schemas.openxmlformats.org/drawingml/2006/main">
            <a:off x="10077450" y="3048000"/>
            <a:ext cx="1524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200" b="0">
                <a:solidFill>
                  <a:srgbClr val="D8DEE3"/>
                </a:solidFill>
                <a:latin typeface="DejaVu Sans"/>
                <a:ea typeface="DejaVu Sans"/>
                <a:cs typeface="DejaVu Sans"/>
              </a:defRPr>
            </a:pPr>
            <a:r>
              <a:rPr sz="1200" b="0">
                <a:solidFill>
                  <a:srgbClr val="D8DEE3"/>
                </a:solidFill>
                <a:latin typeface="DejaVu Sans"/>
                <a:ea typeface="DejaVu Sans"/>
                <a:cs typeface="DejaVu Sans"/>
              </a:rPr>
              <a:t>open / accepted</a:t>
            </a:r>
          </a:p>
        </p:txBody>
      </p:sp>
      <p:sp>
        <p:nvSpPr>
          <p:cNvPr id="22" name="Rectangle 21">
            <a:extLst xmlns:a="http://schemas.openxmlformats.org/drawingml/2006/main">
              <a:ext uri="{FF2B5EF4-FFF2-40B4-BE49-F238E27FC236}">
                <a16:creationId xmlns:a16="http://schemas.microsoft.com/office/drawing/2014/main" id="{5F207637-FC99-4E73-B8D4-B1591DBBDBED}"/>
              </a:ext>
            </a:extLst>
          </p:cNvPr>
          <p:cNvSpPr>
            <a:spLocks xmlns:a="http://schemas.openxmlformats.org/drawingml/2006/main" noGrp="1"/>
          </p:cNvSpPr>
          <p:nvPr/>
        </p:nvSpPr>
        <p:spPr>
          <a:xfrm xmlns:a="http://schemas.openxmlformats.org/drawingml/2006/main">
            <a:off x="6115050" y="2133600"/>
            <a:ext cx="47625" cy="1771650"/>
          </a:xfrm>
          <a:prstGeom xmlns:a="http://schemas.openxmlformats.org/drawingml/2006/main" prst="rect">
            <a:avLst/>
          </a:prstGeom>
          <a:solidFill xmlns:a="http://schemas.openxmlformats.org/drawingml/2006/main">
            <a:srgbClr val="FF6262"/>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3" name="Rectangle: Rounded Corners 22">
            <a:extLst xmlns:a="http://schemas.openxmlformats.org/drawingml/2006/main">
              <a:ext uri="{FF2B5EF4-FFF2-40B4-BE49-F238E27FC236}">
                <a16:creationId xmlns:a16="http://schemas.microsoft.com/office/drawing/2014/main" id="{2E6D4F92-D8C3-40AC-926D-098CCDB12C3F}"/>
              </a:ext>
            </a:extLst>
          </p:cNvPr>
          <p:cNvSpPr>
            <a:spLocks xmlns:a="http://schemas.openxmlformats.org/drawingml/2006/main" noGrp="1"/>
          </p:cNvSpPr>
          <p:nvPr/>
        </p:nvSpPr>
        <p:spPr>
          <a:xfrm xmlns:a="http://schemas.openxmlformats.org/drawingml/2006/main">
            <a:off x="5334000" y="3943350"/>
            <a:ext cx="1619250" cy="381000"/>
          </a:xfrm>
          <a:prstGeom xmlns:a="http://schemas.openxmlformats.org/drawingml/2006/main" prst="roundRect">
            <a:avLst>
              <a:gd name="adj" fmla="val 22500"/>
            </a:avLst>
          </a:prstGeom>
          <a:solidFill xmlns:a="http://schemas.openxmlformats.org/drawingml/2006/main">
            <a:srgbClr val="1A0E11"/>
          </a:solidFill>
          <a:ln xmlns:a="http://schemas.openxmlformats.org/drawingml/2006/main" w="9525">
            <a:solidFill>
              <a:srgbClr val="FF6262">
                <a:alpha val="55000"/>
              </a:srgbClr>
            </a:solidFill>
            <a:prstDash val="solid"/>
          </a:ln>
        </p:spPr>
        <p:txBody>
          <a:bodyPr xmlns:a="http://schemas.openxmlformats.org/drawingml/2006/main" wrap="square" lIns="47625" tIns="19050" rIns="47625" bIns="19050" anchor="ctr">
            <a:noAutofit/>
          </a:bodyPr>
          <a:lstStyle xmlns:a="http://schemas.openxmlformats.org/drawingml/2006/main"/>
          <a:p xmlns:a="http://schemas.openxmlformats.org/drawingml/2006/main">
            <a:pPr algn="ctr">
              <a:lnSpc>
                <a:spcPct val="95000"/>
              </a:lnSpc>
              <a:buNone/>
              <a:defRPr sz="975" b="1">
                <a:solidFill>
                  <a:srgbClr val="FF6262"/>
                </a:solidFill>
                <a:latin typeface="DejaVu Sans Mono"/>
                <a:ea typeface="DejaVu Sans Mono"/>
                <a:cs typeface="DejaVu Sans Mono"/>
              </a:defRPr>
            </a:pPr>
            <a:r>
              <a:rPr sz="975" b="1">
                <a:solidFill>
                  <a:srgbClr val="FF6262"/>
                </a:solidFill>
                <a:latin typeface="DejaVu Sans Mono"/>
                <a:ea typeface="DejaVu Sans Mono"/>
                <a:cs typeface="DejaVu Sans Mono"/>
              </a:rPr>
              <a:t>BROKEN LINK → REWORK</a:t>
            </a:r>
          </a:p>
        </p:txBody>
      </p:sp>
      <p:sp>
        <p:nvSpPr>
          <p:cNvPr id="24" name="Rectangle 23">
            <a:extLst xmlns:a="http://schemas.openxmlformats.org/drawingml/2006/main">
              <a:ext uri="{FF2B5EF4-FFF2-40B4-BE49-F238E27FC236}">
                <a16:creationId xmlns:a16="http://schemas.microsoft.com/office/drawing/2014/main" id="{38ECF846-3625-4DC7-B9CA-E2A01E205055}"/>
              </a:ext>
            </a:extLst>
          </p:cNvPr>
          <p:cNvSpPr>
            <a:spLocks xmlns:a="http://schemas.openxmlformats.org/drawingml/2006/main" noGrp="1"/>
          </p:cNvSpPr>
          <p:nvPr/>
        </p:nvSpPr>
        <p:spPr>
          <a:xfrm xmlns:a="http://schemas.openxmlformats.org/drawingml/2006/main">
            <a:off x="704850" y="4629150"/>
            <a:ext cx="4210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800" b="1">
                <a:solidFill>
                  <a:srgbClr val="F4F6F8"/>
                </a:solidFill>
                <a:latin typeface="DejaVu Sans"/>
                <a:ea typeface="DejaVu Sans"/>
                <a:cs typeface="DejaVu Sans"/>
              </a:defRPr>
            </a:pPr>
            <a:r>
              <a:rPr sz="1800" b="1">
                <a:solidFill>
                  <a:srgbClr val="F4F6F8"/>
                </a:solidFill>
                <a:latin typeface="DejaVu Sans"/>
                <a:ea typeface="DejaVu Sans"/>
                <a:cs typeface="DejaVu Sans"/>
              </a:rPr>
              <a:t>Every uncertainty gets a disposition</a:t>
            </a:r>
          </a:p>
        </p:txBody>
      </p:sp>
      <p:sp>
        <p:nvSpPr>
          <p:cNvPr id="25" name="Rectangle: Rounded Corners 24">
            <a:extLst xmlns:a="http://schemas.openxmlformats.org/drawingml/2006/main">
              <a:ext uri="{FF2B5EF4-FFF2-40B4-BE49-F238E27FC236}">
                <a16:creationId xmlns:a16="http://schemas.microsoft.com/office/drawing/2014/main" id="{0F528141-3FBF-4CCB-BCED-C78E16DEDA31}"/>
              </a:ext>
            </a:extLst>
          </p:cNvPr>
          <p:cNvSpPr>
            <a:spLocks xmlns:a="http://schemas.openxmlformats.org/drawingml/2006/main" noGrp="1"/>
          </p:cNvSpPr>
          <p:nvPr/>
        </p:nvSpPr>
        <p:spPr>
          <a:xfrm xmlns:a="http://schemas.openxmlformats.org/drawingml/2006/main">
            <a:off x="704850" y="5219700"/>
            <a:ext cx="2247900" cy="609600"/>
          </a:xfrm>
          <a:prstGeom xmlns:a="http://schemas.openxmlformats.org/drawingml/2006/main" prst="roundRect">
            <a:avLst>
              <a:gd name="adj" fmla="val 25000"/>
            </a:avLst>
          </a:prstGeom>
          <a:solidFill xmlns:a="http://schemas.openxmlformats.org/drawingml/2006/main">
            <a:srgbClr val="11171C"/>
          </a:solidFill>
          <a:ln xmlns:a="http://schemas.openxmlformats.org/drawingml/2006/main" w="14288">
            <a:solidFill>
              <a:srgbClr val="39D7FF"/>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275" b="1">
                <a:solidFill>
                  <a:srgbClr val="39D7FF"/>
                </a:solidFill>
                <a:latin typeface="DejaVu Sans Mono"/>
                <a:ea typeface="DejaVu Sans Mono"/>
                <a:cs typeface="DejaVu Sans Mono"/>
              </a:defRPr>
            </a:pPr>
            <a:r>
              <a:rPr sz="1275" b="1">
                <a:solidFill>
                  <a:srgbClr val="39D7FF"/>
                </a:solidFill>
                <a:latin typeface="DejaVu Sans Mono"/>
                <a:ea typeface="DejaVu Sans Mono"/>
                <a:cs typeface="DejaVu Sans Mono"/>
              </a:rPr>
              <a:t>ANALYZE</a:t>
            </a:r>
          </a:p>
        </p:txBody>
      </p:sp>
      <p:sp>
        <p:nvSpPr>
          <p:cNvPr id="26" name="Rectangle: Rounded Corners 25">
            <a:extLst xmlns:a="http://schemas.openxmlformats.org/drawingml/2006/main">
              <a:ext uri="{FF2B5EF4-FFF2-40B4-BE49-F238E27FC236}">
                <a16:creationId xmlns:a16="http://schemas.microsoft.com/office/drawing/2014/main" id="{B945B6B8-F7C0-4D21-AF7D-79BCF741B608}"/>
              </a:ext>
            </a:extLst>
          </p:cNvPr>
          <p:cNvSpPr>
            <a:spLocks xmlns:a="http://schemas.openxmlformats.org/drawingml/2006/main" noGrp="1"/>
          </p:cNvSpPr>
          <p:nvPr/>
        </p:nvSpPr>
        <p:spPr>
          <a:xfrm xmlns:a="http://schemas.openxmlformats.org/drawingml/2006/main">
            <a:off x="3409950" y="5219700"/>
            <a:ext cx="2247900" cy="609600"/>
          </a:xfrm>
          <a:prstGeom xmlns:a="http://schemas.openxmlformats.org/drawingml/2006/main" prst="roundRect">
            <a:avLst>
              <a:gd name="adj" fmla="val 25000"/>
            </a:avLst>
          </a:prstGeom>
          <a:solidFill xmlns:a="http://schemas.openxmlformats.org/drawingml/2006/main">
            <a:srgbClr val="11171C"/>
          </a:solidFill>
          <a:ln xmlns:a="http://schemas.openxmlformats.org/drawingml/2006/main" w="14288">
            <a:solidFill>
              <a:srgbClr val="62D6A7"/>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275" b="1">
                <a:solidFill>
                  <a:srgbClr val="62D6A7"/>
                </a:solidFill>
                <a:latin typeface="DejaVu Sans Mono"/>
                <a:ea typeface="DejaVu Sans Mono"/>
                <a:cs typeface="DejaVu Sans Mono"/>
              </a:defRPr>
            </a:pPr>
            <a:r>
              <a:rPr sz="1275" b="1">
                <a:solidFill>
                  <a:srgbClr val="62D6A7"/>
                </a:solidFill>
                <a:latin typeface="DejaVu Sans Mono"/>
                <a:ea typeface="DejaVu Sans Mono"/>
                <a:cs typeface="DejaVu Sans Mono"/>
              </a:rPr>
              <a:t>TEST</a:t>
            </a:r>
          </a:p>
        </p:txBody>
      </p:sp>
      <p:sp>
        <p:nvSpPr>
          <p:cNvPr id="27" name="Rectangle: Rounded Corners 26">
            <a:extLst xmlns:a="http://schemas.openxmlformats.org/drawingml/2006/main">
              <a:ext uri="{FF2B5EF4-FFF2-40B4-BE49-F238E27FC236}">
                <a16:creationId xmlns:a16="http://schemas.microsoft.com/office/drawing/2014/main" id="{3E84F133-8AC1-480C-8651-3E8714DA849B}"/>
              </a:ext>
            </a:extLst>
          </p:cNvPr>
          <p:cNvSpPr>
            <a:spLocks xmlns:a="http://schemas.openxmlformats.org/drawingml/2006/main" noGrp="1"/>
          </p:cNvSpPr>
          <p:nvPr/>
        </p:nvSpPr>
        <p:spPr>
          <a:xfrm xmlns:a="http://schemas.openxmlformats.org/drawingml/2006/main">
            <a:off x="6115050" y="5219700"/>
            <a:ext cx="2247900" cy="609600"/>
          </a:xfrm>
          <a:prstGeom xmlns:a="http://schemas.openxmlformats.org/drawingml/2006/main" prst="roundRect">
            <a:avLst>
              <a:gd name="adj" fmla="val 25000"/>
            </a:avLst>
          </a:prstGeom>
          <a:solidFill xmlns:a="http://schemas.openxmlformats.org/drawingml/2006/main">
            <a:srgbClr val="11171C"/>
          </a:solidFill>
          <a:ln xmlns:a="http://schemas.openxmlformats.org/drawingml/2006/main" w="14288">
            <a:solidFill>
              <a:srgbClr val="F26B38"/>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275" b="1">
                <a:solidFill>
                  <a:srgbClr val="F26B38"/>
                </a:solidFill>
                <a:latin typeface="DejaVu Sans Mono"/>
                <a:ea typeface="DejaVu Sans Mono"/>
                <a:cs typeface="DejaVu Sans Mono"/>
              </a:defRPr>
            </a:pPr>
            <a:r>
              <a:rPr sz="1275" b="1">
                <a:solidFill>
                  <a:srgbClr val="F26B38"/>
                </a:solidFill>
                <a:latin typeface="DejaVu Sans Mono"/>
                <a:ea typeface="DejaVu Sans Mono"/>
                <a:cs typeface="DejaVu Sans Mono"/>
              </a:rPr>
              <a:t>CONSTRAIN</a:t>
            </a:r>
          </a:p>
        </p:txBody>
      </p:sp>
      <p:sp>
        <p:nvSpPr>
          <p:cNvPr id="28" name="Rectangle: Rounded Corners 27">
            <a:extLst xmlns:a="http://schemas.openxmlformats.org/drawingml/2006/main">
              <a:ext uri="{FF2B5EF4-FFF2-40B4-BE49-F238E27FC236}">
                <a16:creationId xmlns:a16="http://schemas.microsoft.com/office/drawing/2014/main" id="{CC22D0F1-0821-4C2A-90C5-CEF627FC4B41}"/>
              </a:ext>
            </a:extLst>
          </p:cNvPr>
          <p:cNvSpPr>
            <a:spLocks xmlns:a="http://schemas.openxmlformats.org/drawingml/2006/main" noGrp="1"/>
          </p:cNvSpPr>
          <p:nvPr/>
        </p:nvSpPr>
        <p:spPr>
          <a:xfrm xmlns:a="http://schemas.openxmlformats.org/drawingml/2006/main">
            <a:off x="8820150" y="5219700"/>
            <a:ext cx="2247900" cy="609600"/>
          </a:xfrm>
          <a:prstGeom xmlns:a="http://schemas.openxmlformats.org/drawingml/2006/main" prst="roundRect">
            <a:avLst>
              <a:gd name="adj" fmla="val 25000"/>
            </a:avLst>
          </a:prstGeom>
          <a:solidFill xmlns:a="http://schemas.openxmlformats.org/drawingml/2006/main">
            <a:srgbClr val="11171C"/>
          </a:solidFill>
          <a:ln xmlns:a="http://schemas.openxmlformats.org/drawingml/2006/main" w="14288">
            <a:solidFill>
              <a:srgbClr val="FFC857"/>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275" b="1">
                <a:solidFill>
                  <a:srgbClr val="FFC857"/>
                </a:solidFill>
                <a:latin typeface="DejaVu Sans Mono"/>
                <a:ea typeface="DejaVu Sans Mono"/>
                <a:cs typeface="DejaVu Sans Mono"/>
              </a:defRPr>
            </a:pPr>
            <a:r>
              <a:rPr sz="1275" b="1">
                <a:solidFill>
                  <a:srgbClr val="FFC857"/>
                </a:solidFill>
                <a:latin typeface="DejaVu Sans Mono"/>
                <a:ea typeface="DejaVu Sans Mono"/>
                <a:cs typeface="DejaVu Sans Mono"/>
              </a:rPr>
              <a:t>ACCEPT RISK</a:t>
            </a:r>
          </a:p>
        </p:txBody>
      </p:sp>
      <p:sp>
        <p:nvSpPr>
          <p:cNvPr id="29" name="Rectangle 28">
            <a:extLst xmlns:a="http://schemas.openxmlformats.org/drawingml/2006/main">
              <a:ext uri="{FF2B5EF4-FFF2-40B4-BE49-F238E27FC236}">
                <a16:creationId xmlns:a16="http://schemas.microsoft.com/office/drawing/2014/main" id="{1A74D94A-DFCA-4584-BD2C-03D80738E72E}"/>
              </a:ext>
            </a:extLst>
          </p:cNvPr>
          <p:cNvSpPr>
            <a:spLocks xmlns:a="http://schemas.openxmlformats.org/drawingml/2006/main" noGrp="1"/>
          </p:cNvSpPr>
          <p:nvPr/>
        </p:nvSpPr>
        <p:spPr>
          <a:xfrm xmlns:a="http://schemas.openxmlformats.org/drawingml/2006/main">
            <a:off x="2647950" y="6038850"/>
            <a:ext cx="68961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1350" b="1">
                <a:solidFill>
                  <a:srgbClr val="F4F6F8"/>
                </a:solidFill>
                <a:latin typeface="DejaVu Sans"/>
                <a:ea typeface="DejaVu Sans"/>
                <a:cs typeface="DejaVu Sans"/>
              </a:defRPr>
            </a:pPr>
            <a:r>
              <a:rPr sz="1350" b="1">
                <a:solidFill>
                  <a:srgbClr val="F4F6F8"/>
                </a:solidFill>
                <a:latin typeface="DejaVu Sans"/>
                <a:ea typeface="DejaVu Sans"/>
                <a:cs typeface="DejaVu Sans"/>
              </a:rPr>
              <a:t>AI can assist verification. It cannot make missing physical evidence real.</a:t>
            </a:r>
          </a:p>
        </p:txBody>
      </p:sp>
      <p:sp>
        <p:nvSpPr>
          <p:cNvPr id="30" name="Rectangle 29">
            <a:extLst xmlns:a="http://schemas.openxmlformats.org/drawingml/2006/main">
              <a:ext uri="{FF2B5EF4-FFF2-40B4-BE49-F238E27FC236}">
                <a16:creationId xmlns:a16="http://schemas.microsoft.com/office/drawing/2014/main" id="{EACD2F37-5085-4E9C-A343-FA438D30E96A}"/>
              </a:ext>
            </a:extLst>
          </p:cNvPr>
          <p:cNvSpPr>
            <a:spLocks xmlns:a="http://schemas.openxmlformats.org/drawingml/2006/main" noGrp="1"/>
          </p:cNvSpPr>
          <p:nvPr/>
        </p:nvSpPr>
        <p:spPr>
          <a:xfrm xmlns:a="http://schemas.openxmlformats.org/drawingml/2006/main">
            <a:off x="0" y="6400800"/>
            <a:ext cx="12192000" cy="457200"/>
          </a:xfrm>
          <a:prstGeom xmlns:a="http://schemas.openxmlformats.org/drawingml/2006/main" prst="rect">
            <a:avLst/>
          </a:prstGeom>
          <a:solidFill xmlns:a="http://schemas.openxmlformats.org/drawingml/2006/main">
            <a:srgbClr val="07090C">
              <a:alpha val="76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1" name="Rectangle 30">
            <a:extLst xmlns:a="http://schemas.openxmlformats.org/drawingml/2006/main">
              <a:ext uri="{FF2B5EF4-FFF2-40B4-BE49-F238E27FC236}">
                <a16:creationId xmlns:a16="http://schemas.microsoft.com/office/drawing/2014/main" id="{CE29E089-96D7-427C-B044-CE4A61049D07}"/>
              </a:ext>
            </a:extLst>
          </p:cNvPr>
          <p:cNvSpPr>
            <a:spLocks xmlns:a="http://schemas.openxmlformats.org/drawingml/2006/main" noGrp="1"/>
          </p:cNvSpPr>
          <p:nvPr/>
        </p:nvSpPr>
        <p:spPr>
          <a:xfrm xmlns:a="http://schemas.openxmlformats.org/drawingml/2006/main">
            <a:off x="609600" y="6553200"/>
            <a:ext cx="68580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MARS SOCIETY 2026  •  HARNESSED AGENTIC SCIENCE + ENGINEERING</a:t>
            </a:r>
          </a:p>
        </p:txBody>
      </p:sp>
      <p:sp>
        <p:nvSpPr>
          <p:cNvPr id="32" name="Rectangle 31">
            <a:extLst xmlns:a="http://schemas.openxmlformats.org/drawingml/2006/main">
              <a:ext uri="{FF2B5EF4-FFF2-40B4-BE49-F238E27FC236}">
                <a16:creationId xmlns:a16="http://schemas.microsoft.com/office/drawing/2014/main" id="{D4F29724-A265-47D8-BC6D-2ED3BAD79357}"/>
              </a:ext>
            </a:extLst>
          </p:cNvPr>
          <p:cNvSpPr>
            <a:spLocks xmlns:a="http://schemas.openxmlformats.org/drawingml/2006/main" noGrp="1"/>
          </p:cNvSpPr>
          <p:nvPr/>
        </p:nvSpPr>
        <p:spPr>
          <a:xfrm xmlns:a="http://schemas.openxmlformats.org/drawingml/2006/main">
            <a:off x="9525000" y="6553200"/>
            <a:ext cx="20574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BOB J MILLS     12</a:t>
            </a:r>
          </a:p>
        </p:txBody>
      </p:sp>
    </p:spTree>
    <p:extLst>
      <p:ext uri="{BB962C8B-B14F-4D97-AF65-F5344CB8AC3E}">
        <p14:creationId xmlns:p14="http://schemas.microsoft.com/office/powerpoint/2010/main" val="1681551927"/>
      </p:ext>
    </p:extLst>
  </p:cSld>
</p:sld>
</file>

<file path=ppt/slides/slide13.xml><?xml version="1.0" encoding="utf-8"?>
<p:sld xmlns:p="http://schemas.openxmlformats.org/presentationml/2006/main">
  <p:cSld>
    <p:bg>
      <p:bgPr>
        <a:solidFill xmlns:a="http://schemas.openxmlformats.org/drawingml/2006/main">
          <a:srgbClr val="07090C"/>
        </a:solidFill>
      </p:bgPr>
    </p:bg>
    <p:spTree>
      <p:nvGrpSpPr>
        <p:cNvPr id="1" name=""/>
        <p:cNvGrpSpPr/>
        <p:nvPr/>
      </p:nvGrpSpPr>
      <p:grpSpPr>
        <a:xfrm xmlns:a="http://schemas.openxmlformats.org/drawingml/2006/main"/>
      </p:grpSpPr>
      <p:sp>
        <p:nvSpPr>
          <p:cNvPr id="36" name="Rectangle 35">
            <a:extLst xmlns:a="http://schemas.openxmlformats.org/drawingml/2006/main">
              <a:ext uri="{FF2B5EF4-FFF2-40B4-BE49-F238E27FC236}">
                <a16:creationId xmlns:a16="http://schemas.microsoft.com/office/drawing/2014/main" id="{FC6BA27A-9F95-4242-92D8-037DE1D09916}"/>
              </a:ext>
            </a:extLst>
          </p:cNvPr>
          <p:cNvSpPr>
            <a:spLocks xmlns:a="http://schemas.openxmlformats.org/drawingml/2006/main" noGrp="1"/>
          </p:cNvSpPr>
          <p:nvPr/>
        </p:nvSpPr>
        <p:spPr>
          <a:xfrm xmlns:a="http://schemas.openxmlformats.org/drawingml/2006/main">
            <a:off x="609600" y="3429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75" b="1">
                <a:solidFill>
                  <a:srgbClr val="F26B38"/>
                </a:solidFill>
                <a:latin typeface="DejaVu Sans Mono"/>
                <a:ea typeface="DejaVu Sans Mono"/>
                <a:cs typeface="DejaVu Sans Mono"/>
              </a:defRPr>
            </a:pPr>
            <a:r>
              <a:rPr sz="975" b="1">
                <a:solidFill>
                  <a:srgbClr val="F26B38"/>
                </a:solidFill>
                <a:latin typeface="DejaVu Sans Mono"/>
                <a:ea typeface="DejaVu Sans Mono"/>
                <a:cs typeface="DejaVu Sans Mono"/>
              </a:rPr>
              <a:t>13  /  MISSION MEMORY</a:t>
            </a:r>
          </a:p>
        </p:txBody>
      </p:sp>
      <p:sp>
        <p:nvSpPr>
          <p:cNvPr id="2" name="Rectangle 1">
            <a:extLst xmlns:a="http://schemas.openxmlformats.org/drawingml/2006/main">
              <a:ext uri="{FF2B5EF4-FFF2-40B4-BE49-F238E27FC236}">
                <a16:creationId xmlns:a16="http://schemas.microsoft.com/office/drawing/2014/main" id="{2F1F4276-3CC7-47A0-AAEE-D70CF4DD0F0D}"/>
              </a:ext>
            </a:extLst>
          </p:cNvPr>
          <p:cNvSpPr>
            <a:spLocks xmlns:a="http://schemas.openxmlformats.org/drawingml/2006/main" noGrp="1"/>
          </p:cNvSpPr>
          <p:nvPr/>
        </p:nvSpPr>
        <p:spPr>
          <a:xfrm xmlns:a="http://schemas.openxmlformats.org/drawingml/2006/main">
            <a:off x="609600" y="647700"/>
            <a:ext cx="10972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0000"/>
              </a:lnSpc>
              <a:buNone/>
              <a:defRPr sz="2625" b="1">
                <a:solidFill>
                  <a:srgbClr val="F4F6F8"/>
                </a:solidFill>
                <a:latin typeface="DejaVu Sans"/>
                <a:ea typeface="DejaVu Sans"/>
                <a:cs typeface="DejaVu Sans"/>
              </a:defRPr>
            </a:pPr>
            <a:r>
              <a:rPr sz="2625" b="1">
                <a:solidFill>
                  <a:srgbClr val="F4F6F8"/>
                </a:solidFill>
                <a:latin typeface="DejaVu Sans"/>
                <a:ea typeface="DejaVu Sans"/>
                <a:cs typeface="DejaVu Sans"/>
              </a:rPr>
              <a:t>Mission memory is the compounding asset</a:t>
            </a:r>
          </a:p>
        </p:txBody>
      </p:sp>
      <p:sp>
        <p:nvSpPr>
          <p:cNvPr id="3" name="Rectangle 2">
            <a:extLst xmlns:a="http://schemas.openxmlformats.org/drawingml/2006/main">
              <a:ext uri="{FF2B5EF4-FFF2-40B4-BE49-F238E27FC236}">
                <a16:creationId xmlns:a16="http://schemas.microsoft.com/office/drawing/2014/main" id="{74CA68CB-51C3-4D7A-85AB-C4BAF36E83C4}"/>
              </a:ext>
            </a:extLst>
          </p:cNvPr>
          <p:cNvSpPr>
            <a:spLocks xmlns:a="http://schemas.openxmlformats.org/drawingml/2006/main" noGrp="1"/>
          </p:cNvSpPr>
          <p:nvPr/>
        </p:nvSpPr>
        <p:spPr>
          <a:xfrm xmlns:a="http://schemas.openxmlformats.org/drawingml/2006/main">
            <a:off x="628650" y="1238250"/>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25" b="0">
                <a:solidFill>
                  <a:srgbClr val="8D99A3"/>
                </a:solidFill>
                <a:latin typeface="DejaVu Sans"/>
                <a:ea typeface="DejaVu Sans"/>
                <a:cs typeface="DejaVu Sans"/>
              </a:defRPr>
            </a:pPr>
            <a:r>
              <a:rPr sz="1425" b="0">
                <a:solidFill>
                  <a:srgbClr val="8D99A3"/>
                </a:solidFill>
                <a:latin typeface="DejaVu Sans"/>
                <a:ea typeface="DejaVu Sans"/>
                <a:cs typeface="DejaVu Sans"/>
              </a:rPr>
              <a:t>A governed knowledge graph preserves what the mission knows, assumes, decides, tests and learns across model generations.</a:t>
            </a:r>
          </a:p>
        </p:txBody>
      </p:sp>
      <p:sp>
        <p:nvSpPr>
          <p:cNvPr id="4" name="Straight Connector 3">
            <a:extLst xmlns:a="http://schemas.openxmlformats.org/drawingml/2006/main">
              <a:ext uri="{FF2B5EF4-FFF2-40B4-BE49-F238E27FC236}">
                <a16:creationId xmlns:a16="http://schemas.microsoft.com/office/drawing/2014/main" id="{ADC2DAFE-A519-4841-B338-D32EF2A133B3}"/>
              </a:ext>
            </a:extLst>
          </p:cNvPr>
          <p:cNvSpPr>
            <a:spLocks xmlns:a="http://schemas.openxmlformats.org/drawingml/2006/main" noGrp="1"/>
          </p:cNvSpPr>
          <p:nvPr/>
        </p:nvSpPr>
        <p:spPr>
          <a:xfrm xmlns:a="http://schemas.openxmlformats.org/drawingml/2006/main">
            <a:off x="609600" y="1676400"/>
            <a:ext cx="10972800" cy="0"/>
          </a:xfrm>
          <a:prstGeom xmlns:a="http://schemas.openxmlformats.org/drawingml/2006/main" prst="line">
            <a:avLst/>
          </a:prstGeom>
          <a:noFill xmlns:a="http://schemas.openxmlformats.org/drawingml/2006/main"/>
          <a:ln xmlns:a="http://schemas.openxmlformats.org/drawingml/2006/main" w="9525">
            <a:solidFill>
              <a:srgbClr val="35414B"/>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Straight Connector 4">
            <a:extLst xmlns:a="http://schemas.openxmlformats.org/drawingml/2006/main">
              <a:ext uri="{FF2B5EF4-FFF2-40B4-BE49-F238E27FC236}">
                <a16:creationId xmlns:a16="http://schemas.microsoft.com/office/drawing/2014/main" id="{87809445-8C8B-4F6B-923F-DD39BD4FFBB5}"/>
              </a:ext>
            </a:extLst>
          </p:cNvPr>
          <p:cNvSpPr>
            <a:spLocks xmlns:a="http://schemas.openxmlformats.org/drawingml/2006/main" noGrp="1"/>
          </p:cNvSpPr>
          <p:nvPr/>
        </p:nvSpPr>
        <p:spPr>
          <a:xfrm xmlns:a="http://schemas.openxmlformats.org/drawingml/2006/main">
            <a:off x="1560299" y="3886200"/>
            <a:ext cx="3638550" cy="0"/>
          </a:xfrm>
          <a:prstGeom xmlns:a="http://schemas.openxmlformats.org/drawingml/2006/main" prst="line">
            <a:avLst/>
          </a:prstGeom>
          <a:noFill xmlns:a="http://schemas.openxmlformats.org/drawingml/2006/main"/>
          <a:ln xmlns:a="http://schemas.openxmlformats.org/drawingml/2006/main" w="23813">
            <a:solidFill>
              <a:srgbClr val="39D7FF">
                <a:alpha val="4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6" name="Straight Connector 5">
            <a:extLst xmlns:a="http://schemas.openxmlformats.org/drawingml/2006/main">
              <a:ext uri="{FF2B5EF4-FFF2-40B4-BE49-F238E27FC236}">
                <a16:creationId xmlns:a16="http://schemas.microsoft.com/office/drawing/2014/main" id="{068A91BC-D8FE-4BD6-A4FC-223136AB0318}"/>
              </a:ext>
            </a:extLst>
          </p:cNvPr>
          <p:cNvSpPr>
            <a:spLocks xmlns:a="http://schemas.openxmlformats.org/drawingml/2006/main" noGrp="1"/>
          </p:cNvSpPr>
          <p:nvPr/>
        </p:nvSpPr>
        <p:spPr>
          <a:xfrm xmlns:a="http://schemas.openxmlformats.org/drawingml/2006/main">
            <a:off x="1560298" y="2590799"/>
            <a:ext cx="19017" cy="1295381"/>
          </a:xfrm>
          <a:prstGeom xmlns:a="http://schemas.openxmlformats.org/drawingml/2006/main" prst="line">
            <a:avLst/>
          </a:prstGeom>
          <a:noFill xmlns:a="http://schemas.openxmlformats.org/drawingml/2006/main"/>
          <a:ln xmlns:a="http://schemas.openxmlformats.org/drawingml/2006/main" w="23813">
            <a:solidFill>
              <a:srgbClr val="39D7FF">
                <a:alpha val="4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7" name="Straight Connector 6">
            <a:extLst xmlns:a="http://schemas.openxmlformats.org/drawingml/2006/main">
              <a:ext uri="{FF2B5EF4-FFF2-40B4-BE49-F238E27FC236}">
                <a16:creationId xmlns:a16="http://schemas.microsoft.com/office/drawing/2014/main" id="{20D29714-9238-4771-9EFF-0C00443D2068}"/>
              </a:ext>
            </a:extLst>
          </p:cNvPr>
          <p:cNvSpPr>
            <a:spLocks xmlns:a="http://schemas.openxmlformats.org/drawingml/2006/main" noGrp="1"/>
          </p:cNvSpPr>
          <p:nvPr/>
        </p:nvSpPr>
        <p:spPr>
          <a:xfrm xmlns:a="http://schemas.openxmlformats.org/drawingml/2006/main">
            <a:off x="3922499" y="3886200"/>
            <a:ext cx="1276350" cy="0"/>
          </a:xfrm>
          <a:prstGeom xmlns:a="http://schemas.openxmlformats.org/drawingml/2006/main" prst="line">
            <a:avLst/>
          </a:prstGeom>
          <a:noFill xmlns:a="http://schemas.openxmlformats.org/drawingml/2006/main"/>
          <a:ln xmlns:a="http://schemas.openxmlformats.org/drawingml/2006/main" w="23813">
            <a:solidFill>
              <a:srgbClr val="FFC857">
                <a:alpha val="4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9" name="Straight Connector 8">
            <a:extLst xmlns:a="http://schemas.openxmlformats.org/drawingml/2006/main">
              <a:ext uri="{FF2B5EF4-FFF2-40B4-BE49-F238E27FC236}">
                <a16:creationId xmlns:a16="http://schemas.microsoft.com/office/drawing/2014/main" id="{160B0B57-7AF0-432A-89AC-27D0F50154A9}"/>
              </a:ext>
            </a:extLst>
          </p:cNvPr>
          <p:cNvSpPr>
            <a:spLocks xmlns:a="http://schemas.openxmlformats.org/drawingml/2006/main" noGrp="1"/>
          </p:cNvSpPr>
          <p:nvPr/>
        </p:nvSpPr>
        <p:spPr>
          <a:xfrm xmlns:a="http://schemas.openxmlformats.org/drawingml/2006/main">
            <a:off x="6096000" y="3886200"/>
            <a:ext cx="2171700" cy="0"/>
          </a:xfrm>
          <a:prstGeom xmlns:a="http://schemas.openxmlformats.org/drawingml/2006/main" prst="line">
            <a:avLst/>
          </a:prstGeom>
          <a:noFill xmlns:a="http://schemas.openxmlformats.org/drawingml/2006/main"/>
          <a:ln xmlns:a="http://schemas.openxmlformats.org/drawingml/2006/main" w="23813">
            <a:solidFill>
              <a:srgbClr val="39D7FF">
                <a:alpha val="4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10" name="Straight Connector 9">
            <a:extLst xmlns:a="http://schemas.openxmlformats.org/drawingml/2006/main">
              <a:ext uri="{FF2B5EF4-FFF2-40B4-BE49-F238E27FC236}">
                <a16:creationId xmlns:a16="http://schemas.microsoft.com/office/drawing/2014/main" id="{D7060877-ED9C-4A93-B570-F6FD4F1CCADF}"/>
              </a:ext>
            </a:extLst>
          </p:cNvPr>
          <p:cNvSpPr>
            <a:spLocks xmlns:a="http://schemas.openxmlformats.org/drawingml/2006/main" noGrp="1"/>
          </p:cNvSpPr>
          <p:nvPr/>
        </p:nvSpPr>
        <p:spPr>
          <a:xfrm xmlns:a="http://schemas.openxmlformats.org/drawingml/2006/main">
            <a:off x="8267700" y="2305050"/>
            <a:ext cx="0" cy="1581150"/>
          </a:xfrm>
          <a:prstGeom xmlns:a="http://schemas.openxmlformats.org/drawingml/2006/main" prst="line">
            <a:avLst/>
          </a:prstGeom>
          <a:noFill xmlns:a="http://schemas.openxmlformats.org/drawingml/2006/main"/>
          <a:ln xmlns:a="http://schemas.openxmlformats.org/drawingml/2006/main" w="23813">
            <a:solidFill>
              <a:srgbClr val="39D7FF">
                <a:alpha val="4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11" name="Straight Connector 10">
            <a:extLst xmlns:a="http://schemas.openxmlformats.org/drawingml/2006/main">
              <a:ext uri="{FF2B5EF4-FFF2-40B4-BE49-F238E27FC236}">
                <a16:creationId xmlns:a16="http://schemas.microsoft.com/office/drawing/2014/main" id="{B58ABFC2-4D84-4209-B9F2-E72619FE390E}"/>
              </a:ext>
            </a:extLst>
          </p:cNvPr>
          <p:cNvSpPr>
            <a:spLocks xmlns:a="http://schemas.openxmlformats.org/drawingml/2006/main" noGrp="1"/>
          </p:cNvSpPr>
          <p:nvPr/>
        </p:nvSpPr>
        <p:spPr>
          <a:xfrm xmlns:a="http://schemas.openxmlformats.org/drawingml/2006/main">
            <a:off x="6096000" y="3886200"/>
            <a:ext cx="4324350" cy="0"/>
          </a:xfrm>
          <a:prstGeom xmlns:a="http://schemas.openxmlformats.org/drawingml/2006/main" prst="line">
            <a:avLst/>
          </a:prstGeom>
          <a:noFill xmlns:a="http://schemas.openxmlformats.org/drawingml/2006/main"/>
          <a:ln xmlns:a="http://schemas.openxmlformats.org/drawingml/2006/main" w="23813">
            <a:solidFill>
              <a:srgbClr val="F26B38">
                <a:alpha val="4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12" name="Straight Connector 11">
            <a:extLst xmlns:a="http://schemas.openxmlformats.org/drawingml/2006/main">
              <a:ext uri="{FF2B5EF4-FFF2-40B4-BE49-F238E27FC236}">
                <a16:creationId xmlns:a16="http://schemas.microsoft.com/office/drawing/2014/main" id="{2D5BE966-CE89-42BB-8381-47B40188F3AD}"/>
              </a:ext>
            </a:extLst>
          </p:cNvPr>
          <p:cNvSpPr>
            <a:spLocks xmlns:a="http://schemas.openxmlformats.org/drawingml/2006/main" noGrp="1"/>
          </p:cNvSpPr>
          <p:nvPr/>
        </p:nvSpPr>
        <p:spPr>
          <a:xfrm xmlns:a="http://schemas.openxmlformats.org/drawingml/2006/main" flipH="1">
            <a:off x="10420350" y="2724150"/>
            <a:ext cx="0" cy="1162042"/>
          </a:xfrm>
          <a:prstGeom xmlns:a="http://schemas.openxmlformats.org/drawingml/2006/main" prst="line">
            <a:avLst/>
          </a:prstGeom>
          <a:noFill xmlns:a="http://schemas.openxmlformats.org/drawingml/2006/main"/>
          <a:ln xmlns:a="http://schemas.openxmlformats.org/drawingml/2006/main" w="23813">
            <a:solidFill>
              <a:srgbClr val="F26B38">
                <a:alpha val="4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13" name="Straight Connector 12">
            <a:extLst xmlns:a="http://schemas.openxmlformats.org/drawingml/2006/main">
              <a:ext uri="{FF2B5EF4-FFF2-40B4-BE49-F238E27FC236}">
                <a16:creationId xmlns:a16="http://schemas.microsoft.com/office/drawing/2014/main" id="{4CCF845C-768B-42E4-B457-73E321A826B2}"/>
              </a:ext>
            </a:extLst>
          </p:cNvPr>
          <p:cNvSpPr>
            <a:spLocks xmlns:a="http://schemas.openxmlformats.org/drawingml/2006/main" noGrp="1"/>
          </p:cNvSpPr>
          <p:nvPr/>
        </p:nvSpPr>
        <p:spPr>
          <a:xfrm xmlns:a="http://schemas.openxmlformats.org/drawingml/2006/main">
            <a:off x="6096000" y="3886200"/>
            <a:ext cx="4552950" cy="0"/>
          </a:xfrm>
          <a:prstGeom xmlns:a="http://schemas.openxmlformats.org/drawingml/2006/main" prst="line">
            <a:avLst/>
          </a:prstGeom>
          <a:noFill xmlns:a="http://schemas.openxmlformats.org/drawingml/2006/main"/>
          <a:ln xmlns:a="http://schemas.openxmlformats.org/drawingml/2006/main" w="23813">
            <a:solidFill>
              <a:srgbClr val="F26B38">
                <a:alpha val="4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14" name="Straight Connector 13">
            <a:extLst xmlns:a="http://schemas.openxmlformats.org/drawingml/2006/main">
              <a:ext uri="{FF2B5EF4-FFF2-40B4-BE49-F238E27FC236}">
                <a16:creationId xmlns:a16="http://schemas.microsoft.com/office/drawing/2014/main" id="{1A84AAB3-DC11-4473-B4B7-BB6DB42B9E2A}"/>
              </a:ext>
            </a:extLst>
          </p:cNvPr>
          <p:cNvSpPr>
            <a:spLocks xmlns:a="http://schemas.openxmlformats.org/drawingml/2006/main" noGrp="1"/>
          </p:cNvSpPr>
          <p:nvPr/>
        </p:nvSpPr>
        <p:spPr>
          <a:xfrm xmlns:a="http://schemas.openxmlformats.org/drawingml/2006/main">
            <a:off x="10648950" y="3886200"/>
            <a:ext cx="0" cy="562126"/>
          </a:xfrm>
          <a:prstGeom xmlns:a="http://schemas.openxmlformats.org/drawingml/2006/main" prst="line">
            <a:avLst/>
          </a:prstGeom>
          <a:noFill xmlns:a="http://schemas.openxmlformats.org/drawingml/2006/main"/>
          <a:ln xmlns:a="http://schemas.openxmlformats.org/drawingml/2006/main" w="23813">
            <a:solidFill>
              <a:srgbClr val="F26B38">
                <a:alpha val="4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16" name="Straight Connector 15">
            <a:extLst xmlns:a="http://schemas.openxmlformats.org/drawingml/2006/main">
              <a:ext uri="{FF2B5EF4-FFF2-40B4-BE49-F238E27FC236}">
                <a16:creationId xmlns:a16="http://schemas.microsoft.com/office/drawing/2014/main" id="{09CD9544-2A25-4D32-BB50-10977B315F9E}"/>
              </a:ext>
            </a:extLst>
          </p:cNvPr>
          <p:cNvSpPr>
            <a:spLocks xmlns:a="http://schemas.openxmlformats.org/drawingml/2006/main" noGrp="1"/>
          </p:cNvSpPr>
          <p:nvPr/>
        </p:nvSpPr>
        <p:spPr>
          <a:xfrm xmlns:a="http://schemas.openxmlformats.org/drawingml/2006/main">
            <a:off x="8267700" y="3848092"/>
            <a:ext cx="0" cy="1371600"/>
          </a:xfrm>
          <a:prstGeom xmlns:a="http://schemas.openxmlformats.org/drawingml/2006/main" prst="line">
            <a:avLst/>
          </a:prstGeom>
          <a:noFill xmlns:a="http://schemas.openxmlformats.org/drawingml/2006/main"/>
          <a:ln xmlns:a="http://schemas.openxmlformats.org/drawingml/2006/main" w="23813">
            <a:solidFill>
              <a:srgbClr val="62D6A7">
                <a:alpha val="4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17" name="Straight Connector 16">
            <a:extLst xmlns:a="http://schemas.openxmlformats.org/drawingml/2006/main">
              <a:ext uri="{FF2B5EF4-FFF2-40B4-BE49-F238E27FC236}">
                <a16:creationId xmlns:a16="http://schemas.microsoft.com/office/drawing/2014/main" id="{B66E02DB-C4B1-43AC-963D-78D9AFE10473}"/>
              </a:ext>
            </a:extLst>
          </p:cNvPr>
          <p:cNvSpPr>
            <a:spLocks xmlns:a="http://schemas.openxmlformats.org/drawingml/2006/main" noGrp="1"/>
          </p:cNvSpPr>
          <p:nvPr/>
        </p:nvSpPr>
        <p:spPr>
          <a:xfrm xmlns:a="http://schemas.openxmlformats.org/drawingml/2006/main">
            <a:off x="3941549" y="3886200"/>
            <a:ext cx="1257300" cy="0"/>
          </a:xfrm>
          <a:prstGeom xmlns:a="http://schemas.openxmlformats.org/drawingml/2006/main" prst="line">
            <a:avLst/>
          </a:prstGeom>
          <a:noFill xmlns:a="http://schemas.openxmlformats.org/drawingml/2006/main"/>
          <a:ln xmlns:a="http://schemas.openxmlformats.org/drawingml/2006/main" w="23813">
            <a:solidFill>
              <a:srgbClr val="62D6A7">
                <a:alpha val="4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20" name="Straight Connector 19">
            <a:extLst xmlns:a="http://schemas.openxmlformats.org/drawingml/2006/main">
              <a:ext uri="{FF2B5EF4-FFF2-40B4-BE49-F238E27FC236}">
                <a16:creationId xmlns:a16="http://schemas.microsoft.com/office/drawing/2014/main" id="{43CBFDDA-433E-4FDD-A1C6-C27C96D2D5C5}"/>
              </a:ext>
            </a:extLst>
          </p:cNvPr>
          <p:cNvSpPr>
            <a:spLocks xmlns:a="http://schemas.openxmlformats.org/drawingml/2006/main" noGrp="1"/>
          </p:cNvSpPr>
          <p:nvPr/>
        </p:nvSpPr>
        <p:spPr>
          <a:xfrm xmlns:a="http://schemas.openxmlformats.org/drawingml/2006/main">
            <a:off x="1579349" y="3886200"/>
            <a:ext cx="0" cy="509095"/>
          </a:xfrm>
          <a:prstGeom xmlns:a="http://schemas.openxmlformats.org/drawingml/2006/main" prst="line">
            <a:avLst/>
          </a:prstGeom>
          <a:noFill xmlns:a="http://schemas.openxmlformats.org/drawingml/2006/main"/>
          <a:ln xmlns:a="http://schemas.openxmlformats.org/drawingml/2006/main" w="23813">
            <a:solidFill>
              <a:srgbClr val="FF6262">
                <a:alpha val="4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23" name="Rectangle: Rounded Corners 22">
            <a:extLst xmlns:a="http://schemas.openxmlformats.org/drawingml/2006/main">
              <a:ext uri="{FF2B5EF4-FFF2-40B4-BE49-F238E27FC236}">
                <a16:creationId xmlns:a16="http://schemas.microsoft.com/office/drawing/2014/main" id="{1D87122B-6481-4A29-A5D8-6292F5B1DD94}"/>
              </a:ext>
            </a:extLst>
          </p:cNvPr>
          <p:cNvSpPr>
            <a:spLocks xmlns:a="http://schemas.openxmlformats.org/drawingml/2006/main" noGrp="1"/>
          </p:cNvSpPr>
          <p:nvPr/>
        </p:nvSpPr>
        <p:spPr>
          <a:xfrm xmlns:a="http://schemas.openxmlformats.org/drawingml/2006/main">
            <a:off x="741149" y="2266950"/>
            <a:ext cx="1638300" cy="360609"/>
          </a:xfrm>
          <a:prstGeom xmlns:a="http://schemas.openxmlformats.org/drawingml/2006/main" prst="roundRect">
            <a:avLst>
              <a:gd name="adj" fmla="val 23529"/>
            </a:avLst>
          </a:prstGeom>
          <a:solidFill xmlns:a="http://schemas.openxmlformats.org/drawingml/2006/main">
            <a:srgbClr val="11171C"/>
          </a:solidFill>
          <a:ln xmlns:a="http://schemas.openxmlformats.org/drawingml/2006/main" w="14288">
            <a:solidFill>
              <a:srgbClr val="39D7FF"/>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125" b="1">
                <a:solidFill>
                  <a:srgbClr val="39D7FF"/>
                </a:solidFill>
                <a:latin typeface="DejaVu Sans Mono"/>
                <a:ea typeface="DejaVu Sans Mono"/>
                <a:cs typeface="DejaVu Sans Mono"/>
              </a:defRPr>
            </a:pPr>
            <a:r>
              <a:rPr sz="1125" b="1">
                <a:solidFill>
                  <a:srgbClr val="39D7FF"/>
                </a:solidFill>
                <a:latin typeface="DejaVu Sans Mono"/>
                <a:ea typeface="DejaVu Sans Mono"/>
                <a:cs typeface="DejaVu Sans Mono"/>
              </a:rPr>
              <a:t>EVIDENCE</a:t>
            </a:r>
          </a:p>
        </p:txBody>
      </p:sp>
      <p:sp>
        <p:nvSpPr>
          <p:cNvPr id="26" name="Rectangle: Rounded Corners 25">
            <a:extLst xmlns:a="http://schemas.openxmlformats.org/drawingml/2006/main">
              <a:ext uri="{FF2B5EF4-FFF2-40B4-BE49-F238E27FC236}">
                <a16:creationId xmlns:a16="http://schemas.microsoft.com/office/drawing/2014/main" id="{9EB7F3F8-6816-49E0-9E73-3EF528F40744}"/>
              </a:ext>
            </a:extLst>
          </p:cNvPr>
          <p:cNvSpPr>
            <a:spLocks xmlns:a="http://schemas.openxmlformats.org/drawingml/2006/main" noGrp="1"/>
          </p:cNvSpPr>
          <p:nvPr/>
        </p:nvSpPr>
        <p:spPr>
          <a:xfrm xmlns:a="http://schemas.openxmlformats.org/drawingml/2006/main">
            <a:off x="9601200" y="2400300"/>
            <a:ext cx="1638300" cy="360609"/>
          </a:xfrm>
          <a:prstGeom xmlns:a="http://schemas.openxmlformats.org/drawingml/2006/main" prst="roundRect">
            <a:avLst>
              <a:gd name="adj" fmla="val 23529"/>
            </a:avLst>
          </a:prstGeom>
          <a:solidFill xmlns:a="http://schemas.openxmlformats.org/drawingml/2006/main">
            <a:srgbClr val="11171C"/>
          </a:solidFill>
          <a:ln xmlns:a="http://schemas.openxmlformats.org/drawingml/2006/main" w="14288">
            <a:solidFill>
              <a:srgbClr val="F26B38"/>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125" b="1">
                <a:solidFill>
                  <a:srgbClr val="F26B38"/>
                </a:solidFill>
                <a:latin typeface="DejaVu Sans Mono"/>
                <a:ea typeface="DejaVu Sans Mono"/>
                <a:cs typeface="DejaVu Sans Mono"/>
              </a:defRPr>
            </a:pPr>
            <a:r>
              <a:rPr sz="1125" b="1">
                <a:solidFill>
                  <a:srgbClr val="F26B38"/>
                </a:solidFill>
                <a:latin typeface="DejaVu Sans Mono"/>
                <a:ea typeface="DejaVu Sans Mono"/>
                <a:cs typeface="DejaVu Sans Mono"/>
              </a:rPr>
              <a:t>REQUIREMENTS</a:t>
            </a:r>
          </a:p>
        </p:txBody>
      </p:sp>
      <p:sp>
        <p:nvSpPr>
          <p:cNvPr id="27" name="Rectangle: Rounded Corners 26">
            <a:extLst xmlns:a="http://schemas.openxmlformats.org/drawingml/2006/main">
              <a:ext uri="{FF2B5EF4-FFF2-40B4-BE49-F238E27FC236}">
                <a16:creationId xmlns:a16="http://schemas.microsoft.com/office/drawing/2014/main" id="{A7E712CD-40D2-4D8D-9812-1967E5631992}"/>
              </a:ext>
            </a:extLst>
          </p:cNvPr>
          <p:cNvSpPr>
            <a:spLocks xmlns:a="http://schemas.openxmlformats.org/drawingml/2006/main" noGrp="1"/>
          </p:cNvSpPr>
          <p:nvPr/>
        </p:nvSpPr>
        <p:spPr>
          <a:xfrm xmlns:a="http://schemas.openxmlformats.org/drawingml/2006/main">
            <a:off x="9829800" y="4572000"/>
            <a:ext cx="1638300" cy="360609"/>
          </a:xfrm>
          <a:prstGeom xmlns:a="http://schemas.openxmlformats.org/drawingml/2006/main" prst="roundRect">
            <a:avLst>
              <a:gd name="adj" fmla="val 23529"/>
            </a:avLst>
          </a:prstGeom>
          <a:solidFill xmlns:a="http://schemas.openxmlformats.org/drawingml/2006/main">
            <a:srgbClr val="11171C"/>
          </a:solidFill>
          <a:ln xmlns:a="http://schemas.openxmlformats.org/drawingml/2006/main" w="14288">
            <a:solidFill>
              <a:srgbClr val="F26B38"/>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125" b="1">
                <a:solidFill>
                  <a:srgbClr val="F26B38"/>
                </a:solidFill>
                <a:latin typeface="DejaVu Sans Mono"/>
                <a:ea typeface="DejaVu Sans Mono"/>
                <a:cs typeface="DejaVu Sans Mono"/>
              </a:defRPr>
            </a:pPr>
            <a:r>
              <a:rPr sz="1125" b="1">
                <a:solidFill>
                  <a:srgbClr val="F26B38"/>
                </a:solidFill>
                <a:latin typeface="DejaVu Sans Mono"/>
                <a:ea typeface="DejaVu Sans Mono"/>
                <a:cs typeface="DejaVu Sans Mono"/>
              </a:rPr>
              <a:t>DECISIONS</a:t>
            </a:r>
          </a:p>
        </p:txBody>
      </p:sp>
      <p:sp>
        <p:nvSpPr>
          <p:cNvPr id="30" name="Rectangle: Rounded Corners 29">
            <a:extLst xmlns:a="http://schemas.openxmlformats.org/drawingml/2006/main">
              <a:ext uri="{FF2B5EF4-FFF2-40B4-BE49-F238E27FC236}">
                <a16:creationId xmlns:a16="http://schemas.microsoft.com/office/drawing/2014/main" id="{3169011F-5788-42CF-AD41-CD879A5FC73C}"/>
              </a:ext>
            </a:extLst>
          </p:cNvPr>
          <p:cNvSpPr>
            <a:spLocks xmlns:a="http://schemas.openxmlformats.org/drawingml/2006/main" noGrp="1"/>
          </p:cNvSpPr>
          <p:nvPr/>
        </p:nvSpPr>
        <p:spPr>
          <a:xfrm xmlns:a="http://schemas.openxmlformats.org/drawingml/2006/main">
            <a:off x="760199" y="4476750"/>
            <a:ext cx="1638300" cy="360609"/>
          </a:xfrm>
          <a:prstGeom xmlns:a="http://schemas.openxmlformats.org/drawingml/2006/main" prst="roundRect">
            <a:avLst>
              <a:gd name="adj" fmla="val 23529"/>
            </a:avLst>
          </a:prstGeom>
          <a:solidFill xmlns:a="http://schemas.openxmlformats.org/drawingml/2006/main">
            <a:srgbClr val="11171C"/>
          </a:solidFill>
          <a:ln xmlns:a="http://schemas.openxmlformats.org/drawingml/2006/main" w="14288">
            <a:solidFill>
              <a:srgbClr val="FF6262"/>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125" b="1">
                <a:solidFill>
                  <a:srgbClr val="FF6262"/>
                </a:solidFill>
                <a:latin typeface="DejaVu Sans Mono"/>
                <a:ea typeface="DejaVu Sans Mono"/>
                <a:cs typeface="DejaVu Sans Mono"/>
              </a:defRPr>
            </a:pPr>
            <a:r>
              <a:rPr sz="1125" b="1">
                <a:solidFill>
                  <a:srgbClr val="FF6262"/>
                </a:solidFill>
                <a:latin typeface="DejaVu Sans Mono"/>
                <a:ea typeface="DejaVu Sans Mono"/>
                <a:cs typeface="DejaVu Sans Mono"/>
              </a:rPr>
              <a:t>RISKS</a:t>
            </a:r>
          </a:p>
        </p:txBody>
      </p:sp>
      <p:sp>
        <p:nvSpPr>
          <p:cNvPr id="31" name="Rectangle: Rounded Corners 30">
            <a:extLst xmlns:a="http://schemas.openxmlformats.org/drawingml/2006/main">
              <a:ext uri="{FF2B5EF4-FFF2-40B4-BE49-F238E27FC236}">
                <a16:creationId xmlns:a16="http://schemas.microsoft.com/office/drawing/2014/main" id="{F06B0B4B-2665-4C02-BFD4-608FA3F64D28}"/>
              </a:ext>
            </a:extLst>
          </p:cNvPr>
          <p:cNvSpPr>
            <a:spLocks xmlns:a="http://schemas.openxmlformats.org/drawingml/2006/main" noGrp="1"/>
          </p:cNvSpPr>
          <p:nvPr/>
        </p:nvSpPr>
        <p:spPr>
          <a:xfrm xmlns:a="http://schemas.openxmlformats.org/drawingml/2006/main">
            <a:off x="3048000" y="5924550"/>
            <a:ext cx="6096000" cy="400050"/>
          </a:xfrm>
          <a:prstGeom xmlns:a="http://schemas.openxmlformats.org/drawingml/2006/main" prst="roundRect">
            <a:avLst>
              <a:gd name="adj" fmla="val 23810"/>
            </a:avLst>
          </a:prstGeom>
          <a:solidFill xmlns:a="http://schemas.openxmlformats.org/drawingml/2006/main">
            <a:srgbClr val="0F1519"/>
          </a:solidFill>
          <a:ln xmlns:a="http://schemas.openxmlformats.org/drawingml/2006/main" w="9525">
            <a:solidFill>
              <a:srgbClr val="35414B"/>
            </a:solidFill>
            <a:prstDash val="solid"/>
          </a:ln>
        </p:spPr>
        <p:txBody>
          <a:bodyPr xmlns:a="http://schemas.openxmlformats.org/drawingml/2006/main"/>
          <a:lstStyle xmlns:a="http://schemas.openxmlformats.org/drawingml/2006/main"/>
          <a:p xmlns:a="http://schemas.openxmlformats.org/drawingml/2006/main">
            <a:endParaRPr/>
          </a:p>
        </p:txBody>
      </p:sp>
      <p:sp>
        <p:nvSpPr>
          <p:cNvPr id="32" name="Rectangle 31">
            <a:extLst xmlns:a="http://schemas.openxmlformats.org/drawingml/2006/main">
              <a:ext uri="{FF2B5EF4-FFF2-40B4-BE49-F238E27FC236}">
                <a16:creationId xmlns:a16="http://schemas.microsoft.com/office/drawing/2014/main" id="{BCB8D3C6-E0D0-4C9F-A1A2-73A25FED0FE2}"/>
              </a:ext>
            </a:extLst>
          </p:cNvPr>
          <p:cNvSpPr>
            <a:spLocks xmlns:a="http://schemas.openxmlformats.org/drawingml/2006/main" noGrp="1"/>
          </p:cNvSpPr>
          <p:nvPr/>
        </p:nvSpPr>
        <p:spPr>
          <a:xfrm xmlns:a="http://schemas.openxmlformats.org/drawingml/2006/main">
            <a:off x="3238500" y="6038850"/>
            <a:ext cx="571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1050" b="1">
                <a:solidFill>
                  <a:srgbClr val="8D99A3"/>
                </a:solidFill>
                <a:latin typeface="DejaVu Sans Mono"/>
                <a:ea typeface="DejaVu Sans Mono"/>
                <a:cs typeface="DejaVu Sans Mono"/>
              </a:defRPr>
            </a:pPr>
            <a:r>
              <a:rPr sz="1050" b="1">
                <a:solidFill>
                  <a:srgbClr val="8D99A3"/>
                </a:solidFill>
                <a:latin typeface="DejaVu Sans Mono"/>
                <a:ea typeface="DejaVu Sans Mono"/>
                <a:cs typeface="DejaVu Sans Mono"/>
              </a:rPr>
              <a:t>PEOPLE  •  MODELS  •  SOLVERS  •</a:t>
            </a:r>
            <a:r>
              <a:rPr sz="1050" b="1">
                <a:solidFill>
                  <a:srgbClr val="8D99A3"/>
                </a:solidFill>
                <a:latin typeface="DejaVu Sans Mono"/>
                <a:ea typeface="DejaVu Sans Mono"/>
                <a:cs typeface="DejaVu Sans Mono"/>
              </a:rPr>
              <a:t>   SIMILATION </a:t>
            </a:r>
            <a:r>
              <a:rPr sz="1050" b="1">
                <a:solidFill>
                  <a:srgbClr val="8D99A3"/>
                </a:solidFill>
                <a:latin typeface="DejaVu Sans Mono"/>
                <a:ea typeface="DejaVu Sans Mono"/>
                <a:cs typeface="DejaVu Sans Mono"/>
              </a:rPr>
              <a:t>•</a:t>
            </a:r>
            <a:r>
              <a:rPr sz="1050" b="1">
                <a:solidFill>
                  <a:srgbClr val="8D99A3"/>
                </a:solidFill>
                <a:latin typeface="DejaVu Sans Mono"/>
                <a:ea typeface="DejaVu Sans Mono"/>
                <a:cs typeface="DejaVu Sans Mono"/>
              </a:rPr>
              <a:t>  CAD/PLM  •  LABS</a:t>
            </a:r>
          </a:p>
        </p:txBody>
      </p:sp>
      <p:sp>
        <p:nvSpPr>
          <p:cNvPr id="33" name="Rectangle 32">
            <a:extLst xmlns:a="http://schemas.openxmlformats.org/drawingml/2006/main">
              <a:ext uri="{FF2B5EF4-FFF2-40B4-BE49-F238E27FC236}">
                <a16:creationId xmlns:a16="http://schemas.microsoft.com/office/drawing/2014/main" id="{2FE95939-9317-4C4E-8B08-DE8E71DF1297}"/>
              </a:ext>
            </a:extLst>
          </p:cNvPr>
          <p:cNvSpPr>
            <a:spLocks xmlns:a="http://schemas.openxmlformats.org/drawingml/2006/main" noGrp="1"/>
          </p:cNvSpPr>
          <p:nvPr/>
        </p:nvSpPr>
        <p:spPr>
          <a:xfrm xmlns:a="http://schemas.openxmlformats.org/drawingml/2006/main">
            <a:off x="0" y="6400800"/>
            <a:ext cx="12192000" cy="457200"/>
          </a:xfrm>
          <a:prstGeom xmlns:a="http://schemas.openxmlformats.org/drawingml/2006/main" prst="rect">
            <a:avLst/>
          </a:prstGeom>
          <a:solidFill xmlns:a="http://schemas.openxmlformats.org/drawingml/2006/main">
            <a:srgbClr val="07090C">
              <a:alpha val="76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4" name="Rectangle 33">
            <a:extLst xmlns:a="http://schemas.openxmlformats.org/drawingml/2006/main">
              <a:ext uri="{FF2B5EF4-FFF2-40B4-BE49-F238E27FC236}">
                <a16:creationId xmlns:a16="http://schemas.microsoft.com/office/drawing/2014/main" id="{DA8A7090-FAFD-45B4-8455-33746EAF32C2}"/>
              </a:ext>
            </a:extLst>
          </p:cNvPr>
          <p:cNvSpPr>
            <a:spLocks xmlns:a="http://schemas.openxmlformats.org/drawingml/2006/main" noGrp="1"/>
          </p:cNvSpPr>
          <p:nvPr/>
        </p:nvSpPr>
        <p:spPr>
          <a:xfrm xmlns:a="http://schemas.openxmlformats.org/drawingml/2006/main">
            <a:off x="609600" y="6553200"/>
            <a:ext cx="68580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MARS SOCIETY 2026  •  HARNESSED AGENTIC SCIENCE + ENGINEERING</a:t>
            </a:r>
          </a:p>
        </p:txBody>
      </p:sp>
      <p:sp>
        <p:nvSpPr>
          <p:cNvPr id="35" name="Rectangle 34">
            <a:extLst xmlns:a="http://schemas.openxmlformats.org/drawingml/2006/main">
              <a:ext uri="{FF2B5EF4-FFF2-40B4-BE49-F238E27FC236}">
                <a16:creationId xmlns:a16="http://schemas.microsoft.com/office/drawing/2014/main" id="{71A3C6C4-0130-46CF-B82B-195C618ED397}"/>
              </a:ext>
            </a:extLst>
          </p:cNvPr>
          <p:cNvSpPr>
            <a:spLocks xmlns:a="http://schemas.openxmlformats.org/drawingml/2006/main" noGrp="1"/>
          </p:cNvSpPr>
          <p:nvPr/>
        </p:nvSpPr>
        <p:spPr>
          <a:xfrm xmlns:a="http://schemas.openxmlformats.org/drawingml/2006/main">
            <a:off x="9525000" y="6553200"/>
            <a:ext cx="20574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BOB J MILLS     13</a:t>
            </a:r>
          </a:p>
        </p:txBody>
      </p:sp>
      <p:pic>
        <p:nvPicPr>
          <p:cNvPr id="63" name="Picture 39"/>
          <p:cNvPicPr>
            <a:picLocks xmlns:a="http://schemas.openxmlformats.org/drawingml/2006/main" noChangeAspect="1"/>
          </p:cNvPicPr>
          <p:nvPr/>
        </p:nvPicPr>
        <p:blipFill>
          <a:blip xmlns:r="http://schemas.openxmlformats.org/officeDocument/2006/relationships" xmlns:a="http://schemas.openxmlformats.org/drawingml/2006/main" r:embed="Ra0b13be9b439473d"/>
          <a:stretch xmlns:a="http://schemas.openxmlformats.org/drawingml/2006/main">
            <a:fillRect l="0" t="0" r="0" b="0"/>
          </a:stretch>
        </p:blipFill>
        <p:spPr>
          <a:xfrm xmlns:a="http://schemas.openxmlformats.org/drawingml/2006/main">
            <a:off x="3977842" y="1822005"/>
            <a:ext cx="4246733" cy="4054920"/>
          </a:xfrm>
          <a:prstGeom xmlns:a="http://schemas.openxmlformats.org/drawingml/2006/main" prst="rect">
            <a:avLst/>
          </a:prstGeom>
        </p:spPr>
      </p:pic>
      <p:sp>
        <p:nvSpPr>
          <p:cNvPr id="19" name="Straight Connector 18">
            <a:extLst xmlns:a="http://schemas.openxmlformats.org/drawingml/2006/main">
              <a:ext uri="{FF2B5EF4-FFF2-40B4-BE49-F238E27FC236}">
                <a16:creationId xmlns:a16="http://schemas.microsoft.com/office/drawing/2014/main" id="{03FC4B01-88D2-4716-A57B-4C47F3172BCA}"/>
              </a:ext>
            </a:extLst>
          </p:cNvPr>
          <p:cNvSpPr>
            <a:spLocks xmlns:a="http://schemas.openxmlformats.org/drawingml/2006/main" noGrp="1"/>
          </p:cNvSpPr>
          <p:nvPr/>
        </p:nvSpPr>
        <p:spPr>
          <a:xfrm xmlns:a="http://schemas.openxmlformats.org/drawingml/2006/main" flipV="1">
            <a:off x="1579349" y="3884057"/>
            <a:ext cx="2405323" cy="2143"/>
          </a:xfrm>
          <a:prstGeom xmlns:a="http://schemas.openxmlformats.org/drawingml/2006/main" prst="line">
            <a:avLst/>
          </a:prstGeom>
          <a:noFill xmlns:a="http://schemas.openxmlformats.org/drawingml/2006/main"/>
          <a:ln xmlns:a="http://schemas.openxmlformats.org/drawingml/2006/main" w="23813">
            <a:solidFill>
              <a:srgbClr val="FF6262">
                <a:alpha val="4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24" name="Rectangle: Rounded Corners 23">
            <a:extLst xmlns:a="http://schemas.openxmlformats.org/drawingml/2006/main">
              <a:ext uri="{FF2B5EF4-FFF2-40B4-BE49-F238E27FC236}">
                <a16:creationId xmlns:a16="http://schemas.microsoft.com/office/drawing/2014/main" id="{171A8197-B61A-4B70-9B51-3804F8E96077}"/>
              </a:ext>
            </a:extLst>
          </p:cNvPr>
          <p:cNvSpPr>
            <a:spLocks xmlns:a="http://schemas.openxmlformats.org/drawingml/2006/main" noGrp="1"/>
          </p:cNvSpPr>
          <p:nvPr/>
        </p:nvSpPr>
        <p:spPr>
          <a:xfrm xmlns:a="http://schemas.openxmlformats.org/drawingml/2006/main">
            <a:off x="3103349" y="1981200"/>
            <a:ext cx="1638300" cy="360609"/>
          </a:xfrm>
          <a:prstGeom xmlns:a="http://schemas.openxmlformats.org/drawingml/2006/main" prst="roundRect">
            <a:avLst>
              <a:gd name="adj" fmla="val 23529"/>
            </a:avLst>
          </a:prstGeom>
          <a:solidFill xmlns:a="http://schemas.openxmlformats.org/drawingml/2006/main">
            <a:srgbClr val="11171C"/>
          </a:solidFill>
          <a:ln xmlns:a="http://schemas.openxmlformats.org/drawingml/2006/main" w="14288">
            <a:solidFill>
              <a:srgbClr val="FFC857"/>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125" b="1">
                <a:solidFill>
                  <a:srgbClr val="FFC857"/>
                </a:solidFill>
                <a:latin typeface="DejaVu Sans Mono"/>
                <a:ea typeface="DejaVu Sans Mono"/>
                <a:cs typeface="DejaVu Sans Mono"/>
              </a:defRPr>
            </a:pPr>
            <a:r>
              <a:rPr sz="1125" b="1">
                <a:solidFill>
                  <a:srgbClr val="FFC857"/>
                </a:solidFill>
                <a:latin typeface="DejaVu Sans Mono"/>
                <a:ea typeface="DejaVu Sans Mono"/>
                <a:cs typeface="DejaVu Sans Mono"/>
              </a:rPr>
              <a:t>ASSUMPTIONS</a:t>
            </a:r>
          </a:p>
        </p:txBody>
      </p:sp>
      <p:sp>
        <p:nvSpPr>
          <p:cNvPr id="25" name="Rectangle: Rounded Corners 24">
            <a:extLst xmlns:a="http://schemas.openxmlformats.org/drawingml/2006/main">
              <a:ext uri="{FF2B5EF4-FFF2-40B4-BE49-F238E27FC236}">
                <a16:creationId xmlns:a16="http://schemas.microsoft.com/office/drawing/2014/main" id="{2121FDAE-B6D0-4849-BF58-96A68FDB686A}"/>
              </a:ext>
            </a:extLst>
          </p:cNvPr>
          <p:cNvSpPr>
            <a:spLocks xmlns:a="http://schemas.openxmlformats.org/drawingml/2006/main" noGrp="1"/>
          </p:cNvSpPr>
          <p:nvPr/>
        </p:nvSpPr>
        <p:spPr>
          <a:xfrm xmlns:a="http://schemas.openxmlformats.org/drawingml/2006/main">
            <a:off x="7448550" y="1981200"/>
            <a:ext cx="1638300" cy="360609"/>
          </a:xfrm>
          <a:prstGeom xmlns:a="http://schemas.openxmlformats.org/drawingml/2006/main" prst="roundRect">
            <a:avLst>
              <a:gd name="adj" fmla="val 23529"/>
            </a:avLst>
          </a:prstGeom>
          <a:solidFill xmlns:a="http://schemas.openxmlformats.org/drawingml/2006/main">
            <a:srgbClr val="11171C"/>
          </a:solidFill>
          <a:ln xmlns:a="http://schemas.openxmlformats.org/drawingml/2006/main" w="14288">
            <a:solidFill>
              <a:srgbClr val="39D7FF"/>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125" b="1">
                <a:solidFill>
                  <a:srgbClr val="39D7FF"/>
                </a:solidFill>
                <a:latin typeface="DejaVu Sans Mono"/>
                <a:ea typeface="DejaVu Sans Mono"/>
                <a:cs typeface="DejaVu Sans Mono"/>
              </a:defRPr>
            </a:pPr>
            <a:r>
              <a:rPr sz="1125" b="1">
                <a:solidFill>
                  <a:srgbClr val="39D7FF"/>
                </a:solidFill>
                <a:latin typeface="DejaVu Sans Mono"/>
                <a:ea typeface="DejaVu Sans Mono"/>
                <a:cs typeface="DejaVu Sans Mono"/>
              </a:rPr>
              <a:t>PARAMETERS</a:t>
            </a:r>
          </a:p>
        </p:txBody>
      </p:sp>
      <p:sp>
        <p:nvSpPr>
          <p:cNvPr id="28" name="Rectangle: Rounded Corners 27">
            <a:extLst xmlns:a="http://schemas.openxmlformats.org/drawingml/2006/main">
              <a:ext uri="{FF2B5EF4-FFF2-40B4-BE49-F238E27FC236}">
                <a16:creationId xmlns:a16="http://schemas.microsoft.com/office/drawing/2014/main" id="{ACD7B4CF-F974-40C4-A532-C228D93C6793}"/>
              </a:ext>
            </a:extLst>
          </p:cNvPr>
          <p:cNvSpPr>
            <a:spLocks xmlns:a="http://schemas.openxmlformats.org/drawingml/2006/main" noGrp="1"/>
          </p:cNvSpPr>
          <p:nvPr/>
        </p:nvSpPr>
        <p:spPr>
          <a:xfrm xmlns:a="http://schemas.openxmlformats.org/drawingml/2006/main">
            <a:off x="7581900" y="5219700"/>
            <a:ext cx="1638300" cy="360609"/>
          </a:xfrm>
          <a:prstGeom xmlns:a="http://schemas.openxmlformats.org/drawingml/2006/main" prst="roundRect">
            <a:avLst>
              <a:gd name="adj" fmla="val 23529"/>
            </a:avLst>
          </a:prstGeom>
          <a:solidFill xmlns:a="http://schemas.openxmlformats.org/drawingml/2006/main">
            <a:srgbClr val="11171C"/>
          </a:solidFill>
          <a:ln xmlns:a="http://schemas.openxmlformats.org/drawingml/2006/main" w="14288">
            <a:solidFill>
              <a:srgbClr val="62D6A7"/>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125" b="1">
                <a:solidFill>
                  <a:srgbClr val="62D6A7"/>
                </a:solidFill>
                <a:latin typeface="DejaVu Sans Mono"/>
                <a:ea typeface="DejaVu Sans Mono"/>
                <a:cs typeface="DejaVu Sans Mono"/>
              </a:defRPr>
            </a:pPr>
            <a:r>
              <a:rPr sz="1125" b="1">
                <a:solidFill>
                  <a:srgbClr val="62D6A7"/>
                </a:solidFill>
                <a:latin typeface="DejaVu Sans Mono"/>
                <a:ea typeface="DejaVu Sans Mono"/>
                <a:cs typeface="DejaVu Sans Mono"/>
              </a:rPr>
              <a:t>TESTS</a:t>
            </a:r>
          </a:p>
        </p:txBody>
      </p:sp>
      <p:sp>
        <p:nvSpPr>
          <p:cNvPr id="29" name="Rectangle: Rounded Corners 28">
            <a:extLst xmlns:a="http://schemas.openxmlformats.org/drawingml/2006/main">
              <a:ext uri="{FF2B5EF4-FFF2-40B4-BE49-F238E27FC236}">
                <a16:creationId xmlns:a16="http://schemas.microsoft.com/office/drawing/2014/main" id="{715102A7-2EBD-487E-B7BB-92527996656F}"/>
              </a:ext>
            </a:extLst>
          </p:cNvPr>
          <p:cNvSpPr>
            <a:spLocks xmlns:a="http://schemas.openxmlformats.org/drawingml/2006/main" noGrp="1"/>
          </p:cNvSpPr>
          <p:nvPr/>
        </p:nvSpPr>
        <p:spPr>
          <a:xfrm xmlns:a="http://schemas.openxmlformats.org/drawingml/2006/main">
            <a:off x="3122399" y="5219700"/>
            <a:ext cx="1638300" cy="360609"/>
          </a:xfrm>
          <a:prstGeom xmlns:a="http://schemas.openxmlformats.org/drawingml/2006/main" prst="roundRect">
            <a:avLst>
              <a:gd name="adj" fmla="val 23529"/>
            </a:avLst>
          </a:prstGeom>
          <a:solidFill xmlns:a="http://schemas.openxmlformats.org/drawingml/2006/main">
            <a:srgbClr val="11171C"/>
          </a:solidFill>
          <a:ln xmlns:a="http://schemas.openxmlformats.org/drawingml/2006/main" w="14288">
            <a:solidFill>
              <a:srgbClr val="62D6A7"/>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125" b="1">
                <a:solidFill>
                  <a:srgbClr val="62D6A7"/>
                </a:solidFill>
                <a:latin typeface="DejaVu Sans Mono"/>
                <a:ea typeface="DejaVu Sans Mono"/>
                <a:cs typeface="DejaVu Sans Mono"/>
              </a:defRPr>
            </a:pPr>
            <a:r>
              <a:rPr sz="1125" b="1">
                <a:solidFill>
                  <a:srgbClr val="62D6A7"/>
                </a:solidFill>
                <a:latin typeface="DejaVu Sans Mono"/>
                <a:ea typeface="DejaVu Sans Mono"/>
                <a:cs typeface="DejaVu Sans Mono"/>
              </a:rPr>
              <a:t>FIELD DATA</a:t>
            </a:r>
          </a:p>
        </p:txBody>
      </p:sp>
      <p:sp>
        <p:nvSpPr>
          <p:cNvPr id="8" name="Straight Connector 7">
            <a:extLst xmlns:a="http://schemas.openxmlformats.org/drawingml/2006/main">
              <a:ext uri="{FF2B5EF4-FFF2-40B4-BE49-F238E27FC236}">
                <a16:creationId xmlns:a16="http://schemas.microsoft.com/office/drawing/2014/main" id="{AA1694EF-DF83-4273-9489-238B5064D16C}"/>
              </a:ext>
            </a:extLst>
          </p:cNvPr>
          <p:cNvSpPr>
            <a:spLocks xmlns:a="http://schemas.openxmlformats.org/drawingml/2006/main" noGrp="1"/>
          </p:cNvSpPr>
          <p:nvPr/>
        </p:nvSpPr>
        <p:spPr>
          <a:xfrm xmlns:a="http://schemas.openxmlformats.org/drawingml/2006/main">
            <a:off x="3922498" y="2305049"/>
            <a:ext cx="19049" cy="1543043"/>
          </a:xfrm>
          <a:prstGeom xmlns:a="http://schemas.openxmlformats.org/drawingml/2006/main" prst="line">
            <a:avLst/>
          </a:prstGeom>
          <a:noFill xmlns:a="http://schemas.openxmlformats.org/drawingml/2006/main"/>
          <a:ln xmlns:a="http://schemas.openxmlformats.org/drawingml/2006/main" w="23813">
            <a:solidFill>
              <a:srgbClr val="FFC857">
                <a:alpha val="4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18" name="Straight Connector 17">
            <a:extLst xmlns:a="http://schemas.openxmlformats.org/drawingml/2006/main">
              <a:ext uri="{FF2B5EF4-FFF2-40B4-BE49-F238E27FC236}">
                <a16:creationId xmlns:a16="http://schemas.microsoft.com/office/drawing/2014/main" id="{10E439DA-EA2D-42B9-A756-298B6826C5DC}"/>
              </a:ext>
            </a:extLst>
          </p:cNvPr>
          <p:cNvSpPr>
            <a:spLocks xmlns:a="http://schemas.openxmlformats.org/drawingml/2006/main" noGrp="1"/>
          </p:cNvSpPr>
          <p:nvPr/>
        </p:nvSpPr>
        <p:spPr>
          <a:xfrm xmlns:a="http://schemas.openxmlformats.org/drawingml/2006/main" flipH="1">
            <a:off x="3941547" y="3886200"/>
            <a:ext cx="2" cy="1333492"/>
          </a:xfrm>
          <a:prstGeom xmlns:a="http://schemas.openxmlformats.org/drawingml/2006/main" prst="line">
            <a:avLst/>
          </a:prstGeom>
          <a:noFill xmlns:a="http://schemas.openxmlformats.org/drawingml/2006/main"/>
          <a:ln xmlns:a="http://schemas.openxmlformats.org/drawingml/2006/main" w="23813">
            <a:solidFill>
              <a:srgbClr val="62D6A7">
                <a:alpha val="4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22" name="Rectangle 21">
            <a:extLst xmlns:a="http://schemas.openxmlformats.org/drawingml/2006/main">
              <a:ext uri="{FF2B5EF4-FFF2-40B4-BE49-F238E27FC236}">
                <a16:creationId xmlns:a16="http://schemas.microsoft.com/office/drawing/2014/main" id="{02B5753F-AFD7-4D9D-8813-E3F09B0DA89C}"/>
              </a:ext>
            </a:extLst>
          </p:cNvPr>
          <p:cNvSpPr>
            <a:spLocks xmlns:a="http://schemas.openxmlformats.org/drawingml/2006/main" noGrp="1"/>
          </p:cNvSpPr>
          <p:nvPr/>
        </p:nvSpPr>
        <p:spPr>
          <a:xfrm xmlns:a="http://schemas.openxmlformats.org/drawingml/2006/main">
            <a:off x="5396435" y="3218094"/>
            <a:ext cx="1481771" cy="83659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0000"/>
              </a:lnSpc>
              <a:buNone/>
              <a:defRPr sz="2025" b="1">
                <a:solidFill>
                  <a:srgbClr val="F4F6F8"/>
                </a:solidFill>
                <a:latin typeface="DejaVu Sans"/>
                <a:ea typeface="DejaVu Sans"/>
                <a:cs typeface="DejaVu Sans"/>
              </a:defRPr>
            </a:pPr>
            <a:r>
              <a:rPr sz="1100" b="1">
                <a:solidFill>
                  <a:srgbClr val="F4F6F8"/>
                </a:solidFill>
                <a:latin typeface="DejaVu Sans"/>
                <a:ea typeface="DejaVu Sans"/>
                <a:cs typeface="DejaVu Sans"/>
              </a:rPr>
              <a:t>GOVERNED</a:t>
            </a:r>
          </a:p>
          <a:p xmlns:a="http://schemas.openxmlformats.org/drawingml/2006/main">
            <a:pPr algn="ctr">
              <a:lnSpc>
                <a:spcPct val="90000"/>
              </a:lnSpc>
              <a:buNone/>
              <a:defRPr sz="2025" b="1">
                <a:solidFill>
                  <a:srgbClr val="F4F6F8"/>
                </a:solidFill>
                <a:latin typeface="DejaVu Sans"/>
                <a:ea typeface="DejaVu Sans"/>
                <a:cs typeface="DejaVu Sans"/>
              </a:defRPr>
            </a:pPr>
            <a:r>
              <a:rPr sz="1100" b="1">
                <a:solidFill>
                  <a:srgbClr val="F4F6F8"/>
                </a:solidFill>
                <a:latin typeface="DejaVu Sans"/>
                <a:ea typeface="DejaVu Sans"/>
                <a:cs typeface="DejaVu Sans"/>
              </a:rPr>
              <a:t>MISSION GRAPH</a:t>
            </a:r>
            <a:endParaRPr sz="1100" b="1">
              <a:solidFill>
                <a:srgbClr val="F4F6F8"/>
              </a:solidFill>
              <a:latin typeface="DejaVu Sans"/>
              <a:ea typeface="DejaVu Sans"/>
              <a:cs typeface="DejaVu Sans"/>
            </a:endParaRPr>
          </a:p>
          <a:p xmlns:a="http://schemas.openxmlformats.org/drawingml/2006/main">
            <a:pPr algn="ctr">
              <a:lnSpc>
                <a:spcPct val="90000"/>
              </a:lnSpc>
              <a:buNone/>
              <a:defRPr sz="2025" b="1">
                <a:solidFill>
                  <a:srgbClr val="F4F6F8"/>
                </a:solidFill>
                <a:latin typeface="DejaVu Sans"/>
                <a:ea typeface="DejaVu Sans"/>
                <a:cs typeface="DejaVu Sans"/>
              </a:defRPr>
            </a:pPr>
            <a:r>
              <a:rPr sz="1100" b="1">
                <a:solidFill>
                  <a:srgbClr val="F4F6F8"/>
                </a:solidFill>
                <a:latin typeface="DejaVu Sans"/>
                <a:ea typeface="DejaVu Sans"/>
                <a:cs typeface="DejaVu Sans"/>
              </a:rPr>
              <a:t>WITH WIKI</a:t>
            </a:r>
            <a:br/>
            <a:r>
              <a:rPr sz="1100" b="1">
                <a:solidFill>
                  <a:srgbClr val="F4F6F8"/>
                </a:solidFill>
                <a:latin typeface="DejaVu Sans"/>
                <a:ea typeface="DejaVu Sans"/>
                <a:cs typeface="DejaVu Sans"/>
              </a:rPr>
              <a:t>LIKE MEMORY</a:t>
            </a:r>
            <a:endParaRPr sz="1100" b="1">
              <a:solidFill>
                <a:srgbClr val="F4F6F8"/>
              </a:solidFill>
              <a:latin typeface="DejaVu Sans"/>
              <a:ea typeface="DejaVu Sans"/>
              <a:cs typeface="DejaVu Sans"/>
            </a:endParaRPr>
          </a:p>
        </p:txBody>
      </p:sp>
    </p:spTree>
    <p:extLst>
      <p:ext uri="{BB962C8B-B14F-4D97-AF65-F5344CB8AC3E}">
        <p14:creationId xmlns:p14="http://schemas.microsoft.com/office/powerpoint/2010/main" val="1310571324"/>
      </p:ext>
    </p:extLst>
  </p:cSld>
</p:sld>
</file>

<file path=ppt/slides/slide14.xml><?xml version="1.0" encoding="utf-8"?>
<p:sld xmlns:p="http://schemas.openxmlformats.org/presentationml/2006/main">
  <p:cSld>
    <p:bg>
      <p:bgPr>
        <a:solidFill xmlns:a="http://schemas.openxmlformats.org/drawingml/2006/main">
          <a:srgbClr val="07090C"/>
        </a:solidFill>
      </p:bgPr>
    </p:bg>
    <p:spTree>
      <p:nvGrpSpPr>
        <p:cNvPr id="1" name=""/>
        <p:cNvGrpSpPr/>
        <p:nvPr/>
      </p:nvGrpSpPr>
      <p:grpSpPr>
        <a:xfrm xmlns:a="http://schemas.openxmlformats.org/drawingml/2006/main"/>
      </p:grpSpPr>
      <p:pic>
        <p:nvPicPr>
          <p:cNvPr id="24" name="Picture 20"/>
          <p:cNvPicPr>
            <a:picLocks xmlns:a="http://schemas.openxmlformats.org/drawingml/2006/main" noChangeAspect="1"/>
          </p:cNvPicPr>
          <p:nvPr/>
        </p:nvPicPr>
        <p:blipFill>
          <a:blip xmlns:r="http://schemas.openxmlformats.org/officeDocument/2006/relationships" xmlns:a="http://schemas.openxmlformats.org/drawingml/2006/main" r:embed="R2fbdfe0509ac4b89"/>
          <a:srcRect xmlns:a="http://schemas.openxmlformats.org/drawingml/2006/main" l="0" t="27" r="0" b="27"/>
          <a:stretch xmlns:a="http://schemas.openxmlformats.org/drawingml/2006/main">
            <a:fillRect l="0" t="0" r="0" b="0"/>
          </a:stretch>
        </p:blipFill>
        <p:spPr>
          <a:xfrm xmlns:a="http://schemas.openxmlformats.org/drawingml/2006/main">
            <a:off x="-14829" y="0"/>
            <a:ext cx="12192000" cy="6858000"/>
          </a:xfrm>
          <a:prstGeom xmlns:a="http://schemas.openxmlformats.org/drawingml/2006/main" prst="rect">
            <a:avLst/>
          </a:prstGeom>
        </p:spPr>
      </p:pic>
      <p:sp>
        <p:nvSpPr>
          <p:cNvPr id="3" name="Rectangle 2">
            <a:extLst xmlns:a="http://schemas.openxmlformats.org/drawingml/2006/main">
              <a:ext uri="{FF2B5EF4-FFF2-40B4-BE49-F238E27FC236}">
                <a16:creationId xmlns:a16="http://schemas.microsoft.com/office/drawing/2014/main" id="{DB239A76-79E7-40B0-B1AE-3F8A384C22BA}"/>
              </a:ext>
            </a:extLst>
          </p:cNvPr>
          <p:cNvSpPr>
            <a:spLocks xmlns:a="http://schemas.openxmlformats.org/drawingml/2006/main" noGrp="1"/>
          </p:cNvSpPr>
          <p:nvPr/>
        </p:nvSpPr>
        <p:spPr>
          <a:xfrm xmlns:a="http://schemas.openxmlformats.org/drawingml/2006/main">
            <a:off x="609600" y="3238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FF6B2C"/>
                </a:solidFill>
                <a:latin typeface="DejaVu Sans Mono"/>
                <a:ea typeface="DejaVu Sans Mono"/>
                <a:cs typeface="DejaVu Sans Mono"/>
              </a:defRPr>
            </a:pPr>
            <a:r>
              <a:rPr sz="900" b="1">
                <a:solidFill>
                  <a:srgbClr val="FF6B2C"/>
                </a:solidFill>
                <a:latin typeface="DejaVu Sans Mono"/>
                <a:ea typeface="DejaVu Sans Mono"/>
                <a:cs typeface="DejaVu Sans Mono"/>
              </a:rPr>
              <a:t>14  /  CASE STUDY — MISSION SCENARIO</a:t>
            </a:r>
          </a:p>
        </p:txBody>
      </p:sp>
      <p:sp>
        <p:nvSpPr>
          <p:cNvPr id="4" name="Rectangle 3">
            <a:extLst xmlns:a="http://schemas.openxmlformats.org/drawingml/2006/main">
              <a:ext uri="{FF2B5EF4-FFF2-40B4-BE49-F238E27FC236}">
                <a16:creationId xmlns:a16="http://schemas.microsoft.com/office/drawing/2014/main" id="{EBC17996-351F-475E-8229-B292319BAB21}"/>
              </a:ext>
            </a:extLst>
          </p:cNvPr>
          <p:cNvSpPr>
            <a:spLocks xmlns:a="http://schemas.openxmlformats.org/drawingml/2006/main" noGrp="1"/>
          </p:cNvSpPr>
          <p:nvPr/>
        </p:nvSpPr>
        <p:spPr>
          <a:xfrm xmlns:a="http://schemas.openxmlformats.org/drawingml/2006/main">
            <a:off x="609599" y="666749"/>
            <a:ext cx="10911841" cy="1781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4000"/>
              </a:lnSpc>
              <a:buNone/>
              <a:defRPr sz="2325" b="1">
                <a:solidFill>
                  <a:srgbClr val="F4F6F8"/>
                </a:solidFill>
                <a:latin typeface="DejaVu Sans"/>
                <a:ea typeface="DejaVu Sans"/>
                <a:cs typeface="DejaVu Sans"/>
              </a:defRPr>
            </a:pPr>
            <a:r>
              <a:rPr sz="2325" b="1">
                <a:solidFill>
                  <a:srgbClr val="F4F6F8"/>
                </a:solidFill>
                <a:latin typeface="DejaVu Sans"/>
                <a:ea typeface="DejaVu Sans"/>
                <a:cs typeface="DejaVu Sans"/>
              </a:rPr>
              <a:t>MOXIE proved the chemistry. This modeled scenario tests a settlement-scale oxygen mission.</a:t>
            </a:r>
            <a:endParaRPr sz="2325" b="1">
              <a:solidFill>
                <a:srgbClr val="F4F6F8"/>
              </a:solidFill>
              <a:latin typeface="DejaVu Sans"/>
              <a:ea typeface="DejaVu Sans"/>
              <a:cs typeface="DejaVu Sans"/>
            </a:endParaRPr>
          </a:p>
        </p:txBody>
      </p:sp>
      <p:sp>
        <p:nvSpPr>
          <p:cNvPr id="5" name="Rectangle: Rounded Corners 4">
            <a:extLst xmlns:a="http://schemas.openxmlformats.org/drawingml/2006/main">
              <a:ext uri="{FF2B5EF4-FFF2-40B4-BE49-F238E27FC236}">
                <a16:creationId xmlns:a16="http://schemas.microsoft.com/office/drawing/2014/main" id="{381DC0A9-7A2E-4F4C-A085-66F92DEC84A5}"/>
              </a:ext>
            </a:extLst>
          </p:cNvPr>
          <p:cNvSpPr>
            <a:spLocks xmlns:a="http://schemas.openxmlformats.org/drawingml/2006/main" noGrp="1"/>
          </p:cNvSpPr>
          <p:nvPr/>
        </p:nvSpPr>
        <p:spPr>
          <a:xfrm xmlns:a="http://schemas.openxmlformats.org/drawingml/2006/main">
            <a:off x="628650" y="2577315"/>
            <a:ext cx="2324100" cy="361950"/>
          </a:xfrm>
          <a:prstGeom xmlns:a="http://schemas.openxmlformats.org/drawingml/2006/main" prst="roundRect">
            <a:avLst>
              <a:gd name="adj" fmla="val 23684"/>
            </a:avLst>
          </a:prstGeom>
          <a:solidFill xmlns:a="http://schemas.openxmlformats.org/drawingml/2006/main">
            <a:srgbClr val="0E1915"/>
          </a:solidFill>
          <a:ln xmlns:a="http://schemas.openxmlformats.org/drawingml/2006/main" w="9525">
            <a:solidFill>
              <a:srgbClr val="62D6A7">
                <a:alpha val="55000"/>
              </a:srgbClr>
            </a:solidFill>
            <a:prstDash val="solid"/>
          </a:ln>
        </p:spPr>
        <p:txBody>
          <a:bodyPr xmlns:a="http://schemas.openxmlformats.org/drawingml/2006/main" wrap="square" lIns="47625" tIns="19050" rIns="47625" bIns="19050" anchor="ctr">
            <a:noAutofit/>
          </a:bodyPr>
          <a:lstStyle xmlns:a="http://schemas.openxmlformats.org/drawingml/2006/main"/>
          <a:p xmlns:a="http://schemas.openxmlformats.org/drawingml/2006/main">
            <a:pPr algn="ctr">
              <a:lnSpc>
                <a:spcPct val="95000"/>
              </a:lnSpc>
              <a:buNone/>
              <a:defRPr sz="975" b="1">
                <a:solidFill>
                  <a:srgbClr val="62D6A7"/>
                </a:solidFill>
                <a:latin typeface="DejaVu Sans Mono"/>
                <a:ea typeface="DejaVu Sans Mono"/>
                <a:cs typeface="DejaVu Sans Mono"/>
              </a:defRPr>
            </a:pPr>
            <a:r>
              <a:rPr sz="975" b="1">
                <a:solidFill>
                  <a:srgbClr val="62D6A7"/>
                </a:solidFill>
                <a:latin typeface="DejaVu Sans Mono"/>
                <a:ea typeface="DejaVu Sans Mono"/>
                <a:cs typeface="DejaVu Sans Mono"/>
              </a:rPr>
              <a:t>SCALED </a:t>
            </a:r>
            <a:r>
              <a:rPr sz="975" b="1">
                <a:solidFill>
                  <a:srgbClr val="62D6A7"/>
                </a:solidFill>
                <a:latin typeface="DejaVu Sans Mono"/>
                <a:ea typeface="DejaVu Sans Mono"/>
                <a:cs typeface="DejaVu Sans Mono"/>
              </a:rPr>
              <a:t>MOXIE</a:t>
            </a:r>
          </a:p>
        </p:txBody>
      </p:sp>
      <p:sp>
        <p:nvSpPr>
          <p:cNvPr id="7" name="Rectangle 6">
            <a:extLst xmlns:a="http://schemas.openxmlformats.org/drawingml/2006/main">
              <a:ext uri="{FF2B5EF4-FFF2-40B4-BE49-F238E27FC236}">
                <a16:creationId xmlns:a16="http://schemas.microsoft.com/office/drawing/2014/main" id="{A79D2DF0-5181-4EC0-8381-7693A8622F11}"/>
              </a:ext>
            </a:extLst>
          </p:cNvPr>
          <p:cNvSpPr>
            <a:spLocks xmlns:a="http://schemas.openxmlformats.org/drawingml/2006/main" noGrp="1"/>
          </p:cNvSpPr>
          <p:nvPr/>
        </p:nvSpPr>
        <p:spPr>
          <a:xfrm xmlns:a="http://schemas.openxmlformats.org/drawingml/2006/main">
            <a:off x="647700" y="3634590"/>
            <a:ext cx="1428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275" b="1">
                <a:solidFill>
                  <a:srgbClr val="F2F3F5"/>
                </a:solidFill>
                <a:latin typeface="DejaVu Sans"/>
                <a:ea typeface="DejaVu Sans"/>
                <a:cs typeface="DejaVu Sans"/>
              </a:defRPr>
            </a:pPr>
            <a:r>
              <a:rPr sz="1275" b="1">
                <a:solidFill>
                  <a:srgbClr val="F2F3F5"/>
                </a:solidFill>
                <a:latin typeface="DejaVu Sans"/>
                <a:ea typeface="DejaVu Sans"/>
                <a:cs typeface="DejaVu Sans"/>
              </a:rPr>
              <a:t>Modeled continuous power</a:t>
            </a:r>
            <a:endParaRPr sz="1200" b="1">
              <a:solidFill>
                <a:srgbClr val="D8DEE3"/>
              </a:solidFill>
              <a:latin typeface="DejaVu Sans"/>
              <a:ea typeface="DejaVu Sans"/>
              <a:cs typeface="DejaVu Sans"/>
            </a:endParaRPr>
          </a:p>
        </p:txBody>
      </p:sp>
      <p:sp>
        <p:nvSpPr>
          <p:cNvPr id="9" name="Rectangle 8">
            <a:extLst xmlns:a="http://schemas.openxmlformats.org/drawingml/2006/main">
              <a:ext uri="{FF2B5EF4-FFF2-40B4-BE49-F238E27FC236}">
                <a16:creationId xmlns:a16="http://schemas.microsoft.com/office/drawing/2014/main" id="{70C36A90-535F-4EED-B25A-2998B61B74B0}"/>
              </a:ext>
            </a:extLst>
          </p:cNvPr>
          <p:cNvSpPr>
            <a:spLocks xmlns:a="http://schemas.openxmlformats.org/drawingml/2006/main" noGrp="1"/>
          </p:cNvSpPr>
          <p:nvPr/>
        </p:nvSpPr>
        <p:spPr>
          <a:xfrm xmlns:a="http://schemas.openxmlformats.org/drawingml/2006/main">
            <a:off x="2209800" y="3634590"/>
            <a:ext cx="1619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275" b="1">
                <a:solidFill>
                  <a:srgbClr val="F2F3F5"/>
                </a:solidFill>
                <a:latin typeface="DejaVu Sans"/>
                <a:ea typeface="DejaVu Sans"/>
                <a:cs typeface="DejaVu Sans"/>
              </a:defRPr>
            </a:pPr>
            <a:r>
              <a:rPr sz="1275" b="1">
                <a:solidFill>
                  <a:srgbClr val="F2F3F5"/>
                </a:solidFill>
                <a:latin typeface="DejaVu Sans"/>
                <a:ea typeface="DejaVu Sans"/>
                <a:cs typeface="DejaVu Sans"/>
              </a:rPr>
              <a:t>Modeled O₂ over 730 days</a:t>
            </a:r>
            <a:endParaRPr sz="1200" b="1">
              <a:solidFill>
                <a:srgbClr val="D8DEE3"/>
              </a:solidFill>
              <a:latin typeface="DejaVu Sans"/>
              <a:ea typeface="DejaVu Sans"/>
              <a:cs typeface="DejaVu Sans"/>
            </a:endParaRPr>
          </a:p>
        </p:txBody>
      </p:sp>
      <p:sp>
        <p:nvSpPr>
          <p:cNvPr id="11" name="Rectangle 10">
            <a:extLst xmlns:a="http://schemas.openxmlformats.org/drawingml/2006/main">
              <a:ext uri="{FF2B5EF4-FFF2-40B4-BE49-F238E27FC236}">
                <a16:creationId xmlns:a16="http://schemas.microsoft.com/office/drawing/2014/main" id="{CA3D5761-1435-42BD-9D46-4329023AF3F9}"/>
              </a:ext>
            </a:extLst>
          </p:cNvPr>
          <p:cNvSpPr>
            <a:spLocks xmlns:a="http://schemas.openxmlformats.org/drawingml/2006/main" noGrp="1"/>
          </p:cNvSpPr>
          <p:nvPr/>
        </p:nvSpPr>
        <p:spPr>
          <a:xfrm xmlns:a="http://schemas.openxmlformats.org/drawingml/2006/main">
            <a:off x="3616305" y="3634590"/>
            <a:ext cx="1524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275" b="1">
                <a:solidFill>
                  <a:srgbClr val="F2F3F5"/>
                </a:solidFill>
                <a:latin typeface="DejaVu Sans"/>
                <a:ea typeface="DejaVu Sans"/>
                <a:cs typeface="DejaVu Sans"/>
              </a:defRPr>
            </a:pPr>
            <a:r>
              <a:rPr sz="1275" b="1">
                <a:solidFill>
                  <a:srgbClr val="F2F3F5"/>
                </a:solidFill>
                <a:latin typeface="DejaVu Sans"/>
                <a:ea typeface="DejaVu Sans"/>
                <a:cs typeface="DejaVu Sans"/>
              </a:rPr>
              <a:t>MOXIE demonstrated purity</a:t>
            </a:r>
          </a:p>
        </p:txBody>
      </p:sp>
      <p:sp>
        <p:nvSpPr>
          <p:cNvPr id="12" name="Rectangle 11">
            <a:extLst xmlns:a="http://schemas.openxmlformats.org/drawingml/2006/main">
              <a:ext uri="{FF2B5EF4-FFF2-40B4-BE49-F238E27FC236}">
                <a16:creationId xmlns:a16="http://schemas.microsoft.com/office/drawing/2014/main" id="{547FE329-7D79-419D-88EF-09D74DE9283B}"/>
              </a:ext>
            </a:extLst>
          </p:cNvPr>
          <p:cNvSpPr>
            <a:spLocks xmlns:a="http://schemas.openxmlformats.org/drawingml/2006/main" noGrp="1"/>
          </p:cNvSpPr>
          <p:nvPr/>
        </p:nvSpPr>
        <p:spPr>
          <a:xfrm xmlns:a="http://schemas.openxmlformats.org/drawingml/2006/main">
            <a:off x="685800" y="4322370"/>
            <a:ext cx="3048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275" b="1">
                <a:solidFill>
                  <a:srgbClr val="F2F3F5"/>
                </a:solidFill>
                <a:latin typeface="DejaVu Sans"/>
                <a:ea typeface="DejaVu Sans"/>
                <a:cs typeface="DejaVu Sans"/>
              </a:defRPr>
            </a:pPr>
            <a:r>
              <a:rPr sz="1275" b="1">
                <a:solidFill>
                  <a:srgbClr val="F2F3F5"/>
                </a:solidFill>
                <a:latin typeface="DejaVu Sans"/>
                <a:ea typeface="DejaVu Sans"/>
                <a:cs typeface="DejaVu Sans"/>
              </a:rPr>
              <a:t>Modeled O₂ allocation, tonnes</a:t>
            </a:r>
            <a:endParaRPr sz="1500" b="1">
              <a:solidFill>
                <a:srgbClr val="F4F6F8"/>
              </a:solidFill>
              <a:latin typeface="DejaVu Sans"/>
              <a:ea typeface="DejaVu Sans"/>
              <a:cs typeface="DejaVu Sans"/>
            </a:endParaRPr>
          </a:p>
        </p:txBody>
      </p:sp>
      <p:graphicFrame>
        <p:nvGraphicFramePr>
          <p:cNvPr id="32" name="Chart"/>
          <p:cNvGraphicFramePr/>
          <p:nvPr/>
        </p:nvGraphicFramePr>
        <p:xfrm>
          <a:off xmlns:a="http://schemas.openxmlformats.org/drawingml/2006/main" x="239618" y="4610100"/>
          <a:ext xmlns:a="http://schemas.openxmlformats.org/drawingml/2006/main" cx="4457700" cy="1790700"/>
        </p:xfrm>
        <a:graphic xmlns:a="http://schemas.openxmlformats.org/drawingml/2006/main">
          <a:graphicData uri="http://schemas.openxmlformats.org/drawingml/2006/chart">
            <c:chart xmlns:r="http://schemas.openxmlformats.org/officeDocument/2006/relationships" xmlns:c="http://schemas.openxmlformats.org/drawingml/2006/chart" r:id="R7687f4813db7496f"/>
          </a:graphicData>
        </a:graphic>
      </p:graphicFrame>
      <p:sp>
        <p:nvSpPr>
          <p:cNvPr id="16" name="Rectangle 15">
            <a:extLst xmlns:a="http://schemas.openxmlformats.org/drawingml/2006/main">
              <a:ext uri="{FF2B5EF4-FFF2-40B4-BE49-F238E27FC236}">
                <a16:creationId xmlns:a16="http://schemas.microsoft.com/office/drawing/2014/main" id="{3F35FE41-7D3F-4AF1-BBB2-09A0C91ABB44}"/>
              </a:ext>
            </a:extLst>
          </p:cNvPr>
          <p:cNvSpPr>
            <a:spLocks xmlns:a="http://schemas.openxmlformats.org/drawingml/2006/main" noGrp="1"/>
          </p:cNvSpPr>
          <p:nvPr/>
        </p:nvSpPr>
        <p:spPr>
          <a:xfrm xmlns:a="http://schemas.openxmlformats.org/drawingml/2006/main">
            <a:off x="0" y="6398330"/>
            <a:ext cx="12192000" cy="457200"/>
          </a:xfrm>
          <a:prstGeom xmlns:a="http://schemas.openxmlformats.org/drawingml/2006/main" prst="rect">
            <a:avLst/>
          </a:prstGeom>
          <a:solidFill xmlns:a="http://schemas.openxmlformats.org/drawingml/2006/main">
            <a:srgbClr val="07090C">
              <a:alpha val="76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7" name="Rectangle 16">
            <a:extLst xmlns:a="http://schemas.openxmlformats.org/drawingml/2006/main">
              <a:ext uri="{FF2B5EF4-FFF2-40B4-BE49-F238E27FC236}">
                <a16:creationId xmlns:a16="http://schemas.microsoft.com/office/drawing/2014/main" id="{39D80EAB-B03F-4DB8-AE00-CB98D110EA9B}"/>
              </a:ext>
            </a:extLst>
          </p:cNvPr>
          <p:cNvSpPr>
            <a:spLocks xmlns:a="http://schemas.openxmlformats.org/drawingml/2006/main" noGrp="1"/>
          </p:cNvSpPr>
          <p:nvPr/>
        </p:nvSpPr>
        <p:spPr>
          <a:xfrm xmlns:a="http://schemas.openxmlformats.org/drawingml/2006/main">
            <a:off x="609600" y="6553200"/>
            <a:ext cx="68580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MARS SOCIETY 2026  •  HARNESSED AGENTIC SCIENCE + ENGINEERING</a:t>
            </a:r>
          </a:p>
        </p:txBody>
      </p:sp>
      <p:sp>
        <p:nvSpPr>
          <p:cNvPr id="18" name="Rectangle 17">
            <a:extLst xmlns:a="http://schemas.openxmlformats.org/drawingml/2006/main">
              <a:ext uri="{FF2B5EF4-FFF2-40B4-BE49-F238E27FC236}">
                <a16:creationId xmlns:a16="http://schemas.microsoft.com/office/drawing/2014/main" id="{0A7E7258-DE9F-4970-8DD4-078C35A06C9F}"/>
              </a:ext>
            </a:extLst>
          </p:cNvPr>
          <p:cNvSpPr>
            <a:spLocks xmlns:a="http://schemas.openxmlformats.org/drawingml/2006/main" noGrp="1"/>
          </p:cNvSpPr>
          <p:nvPr/>
        </p:nvSpPr>
        <p:spPr>
          <a:xfrm xmlns:a="http://schemas.openxmlformats.org/drawingml/2006/main">
            <a:off x="9525000" y="6553200"/>
            <a:ext cx="20574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BOB J MILLS     14</a:t>
            </a:r>
          </a:p>
        </p:txBody>
      </p:sp>
      <p:sp>
        <p:nvSpPr>
          <p:cNvPr id="21" name="Rectangle 5">
            <a:extLst xmlns:a="http://schemas.openxmlformats.org/drawingml/2006/main">
              <a:ext uri="{FF2B5EF4-FFF2-40B4-BE49-F238E27FC236}">
                <a16:creationId xmlns:a16="http://schemas.microsoft.com/office/drawing/2014/main" id="{3FF98699-9CAE-4096-9F70-B81CFFB8510F}"/>
              </a:ext>
            </a:extLst>
          </p:cNvPr>
          <p:cNvSpPr>
            <a:spLocks xmlns:a="http://schemas.openxmlformats.org/drawingml/2006/main" noGrp="1"/>
          </p:cNvSpPr>
          <p:nvPr/>
        </p:nvSpPr>
        <p:spPr>
          <a:xfrm xmlns:a="http://schemas.openxmlformats.org/drawingml/2006/main">
            <a:off x="647700" y="3129725"/>
            <a:ext cx="15621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400" b="1">
                <a:solidFill>
                  <a:srgbClr val="55DDAA"/>
                </a:solidFill>
              </a:defRPr>
            </a:pPr>
            <a:r>
              <a:t>304 kWe*</a:t>
            </a:r>
          </a:p>
        </p:txBody>
      </p:sp>
      <p:sp>
        <p:nvSpPr>
          <p:cNvPr id="22" name="Rectangle 7">
            <a:extLst xmlns:a="http://schemas.openxmlformats.org/drawingml/2006/main">
              <a:ext uri="{FF2B5EF4-FFF2-40B4-BE49-F238E27FC236}">
                <a16:creationId xmlns:a16="http://schemas.microsoft.com/office/drawing/2014/main" id="{B446DFA4-897D-49FB-996C-A6672BFF3332}"/>
              </a:ext>
            </a:extLst>
          </p:cNvPr>
          <p:cNvSpPr>
            <a:spLocks xmlns:a="http://schemas.openxmlformats.org/drawingml/2006/main" noGrp="1"/>
          </p:cNvSpPr>
          <p:nvPr/>
        </p:nvSpPr>
        <p:spPr>
          <a:xfrm xmlns:a="http://schemas.openxmlformats.org/drawingml/2006/main">
            <a:off x="2209800" y="3129725"/>
            <a:ext cx="1619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400" b="1">
                <a:solidFill>
                  <a:srgbClr val="55DDAA"/>
                </a:solidFill>
              </a:defRPr>
            </a:pPr>
            <a:r>
              <a:t>592 t*</a:t>
            </a:r>
          </a:p>
        </p:txBody>
      </p:sp>
      <p:sp>
        <p:nvSpPr>
          <p:cNvPr id="23" name="Rectangle 9">
            <a:extLst xmlns:a="http://schemas.openxmlformats.org/drawingml/2006/main">
              <a:ext uri="{FF2B5EF4-FFF2-40B4-BE49-F238E27FC236}">
                <a16:creationId xmlns:a16="http://schemas.microsoft.com/office/drawing/2014/main" id="{FD7F6D11-A38D-4FC9-B4E1-2C4A8A948B16}"/>
              </a:ext>
            </a:extLst>
          </p:cNvPr>
          <p:cNvSpPr>
            <a:spLocks xmlns:a="http://schemas.openxmlformats.org/drawingml/2006/main" noGrp="1"/>
          </p:cNvSpPr>
          <p:nvPr/>
        </p:nvSpPr>
        <p:spPr>
          <a:xfrm xmlns:a="http://schemas.openxmlformats.org/drawingml/2006/main">
            <a:off x="3596545" y="3129725"/>
            <a:ext cx="1524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400" b="1">
                <a:solidFill>
                  <a:srgbClr val="55DDAA"/>
                </a:solidFill>
              </a:defRPr>
            </a:pPr>
            <a:r>
              <a:t>≥98%</a:t>
            </a:r>
          </a:p>
        </p:txBody>
      </p:sp>
    </p:spTree>
    <p:extLst>
      <p:ext uri="{BB962C8B-B14F-4D97-AF65-F5344CB8AC3E}">
        <p14:creationId xmlns:p14="http://schemas.microsoft.com/office/powerpoint/2010/main" val="1275247977"/>
      </p:ext>
    </p:extLst>
  </p:cSld>
</p:sld>
</file>

<file path=ppt/slides/slide15.xml><?xml version="1.0" encoding="utf-8"?>
<p:sld xmlns:p="http://schemas.openxmlformats.org/presentationml/2006/main">
  <p:cSld>
    <p:bg>
      <p:bgPr>
        <a:solidFill xmlns:a="http://schemas.openxmlformats.org/drawingml/2006/main">
          <a:srgbClr val="07090C"/>
        </a:solidFill>
      </p:bgPr>
    </p:bg>
    <p:spTree>
      <p:nvGrpSpPr>
        <p:cNvPr id="1" name=""/>
        <p:cNvGrpSpPr/>
        <p:nvPr/>
      </p:nvGrpSpPr>
      <p:grpSpPr>
        <a:xfrm xmlns:a="http://schemas.openxmlformats.org/drawingml/2006/main"/>
      </p:grpSpPr>
      <p:sp>
        <p:nvSpPr>
          <p:cNvPr id="41" name="Rectangle 40">
            <a:extLst xmlns:a="http://schemas.openxmlformats.org/drawingml/2006/main">
              <a:ext uri="{FF2B5EF4-FFF2-40B4-BE49-F238E27FC236}">
                <a16:creationId xmlns:a16="http://schemas.microsoft.com/office/drawing/2014/main" id="{4008DA45-56F2-452C-A1D6-88B135B41224}"/>
              </a:ext>
            </a:extLst>
          </p:cNvPr>
          <p:cNvSpPr>
            <a:spLocks xmlns:a="http://schemas.openxmlformats.org/drawingml/2006/main" noGrp="1"/>
          </p:cNvSpPr>
          <p:nvPr/>
        </p:nvSpPr>
        <p:spPr>
          <a:xfrm xmlns:a="http://schemas.openxmlformats.org/drawingml/2006/main">
            <a:off x="609600" y="3429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FF6B2C"/>
                </a:solidFill>
                <a:latin typeface="DejaVu Sans Mono"/>
                <a:ea typeface="DejaVu Sans Mono"/>
                <a:cs typeface="DejaVu Sans Mono"/>
              </a:defRPr>
            </a:pPr>
            <a:r>
              <a:rPr sz="900" b="1">
                <a:solidFill>
                  <a:srgbClr val="FF6B2C"/>
                </a:solidFill>
                <a:latin typeface="DejaVu Sans Mono"/>
                <a:ea typeface="DejaVu Sans Mono"/>
                <a:cs typeface="DejaVu Sans Mono"/>
              </a:rPr>
              <a:t>15  /  CASE STUDY — SCIENCE</a:t>
            </a:r>
            <a:endParaRPr sz="975" b="1">
              <a:solidFill>
                <a:srgbClr val="F26B38"/>
              </a:solidFill>
              <a:latin typeface="DejaVu Sans Mono"/>
              <a:ea typeface="DejaVu Sans Mono"/>
              <a:cs typeface="DejaVu Sans Mono"/>
            </a:endParaRPr>
          </a:p>
        </p:txBody>
      </p:sp>
      <p:sp>
        <p:nvSpPr>
          <p:cNvPr id="2" name="Rectangle 1">
            <a:extLst xmlns:a="http://schemas.openxmlformats.org/drawingml/2006/main">
              <a:ext uri="{FF2B5EF4-FFF2-40B4-BE49-F238E27FC236}">
                <a16:creationId xmlns:a16="http://schemas.microsoft.com/office/drawing/2014/main" id="{0D96C2B9-CF43-4D41-A56D-B86FBA404D9B}"/>
              </a:ext>
            </a:extLst>
          </p:cNvPr>
          <p:cNvSpPr>
            <a:spLocks xmlns:a="http://schemas.openxmlformats.org/drawingml/2006/main" noGrp="1"/>
          </p:cNvSpPr>
          <p:nvPr/>
        </p:nvSpPr>
        <p:spPr>
          <a:xfrm xmlns:a="http://schemas.openxmlformats.org/drawingml/2006/main">
            <a:off x="609600" y="704850"/>
            <a:ext cx="10972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0000"/>
              </a:lnSpc>
              <a:buNone/>
              <a:defRPr sz="2325" b="1">
                <a:solidFill>
                  <a:srgbClr val="F4F6F8"/>
                </a:solidFill>
                <a:latin typeface="DejaVu Sans"/>
                <a:ea typeface="DejaVu Sans"/>
                <a:cs typeface="DejaVu Sans"/>
              </a:defRPr>
            </a:pPr>
            <a:r>
              <a:rPr sz="2325" b="1">
                <a:solidFill>
                  <a:srgbClr val="F4F6F8"/>
                </a:solidFill>
                <a:latin typeface="DejaVu Sans"/>
                <a:ea typeface="DejaVu Sans"/>
                <a:cs typeface="DejaVu Sans"/>
              </a:rPr>
              <a:t>Science asks: Is settlement-scale MOXIE physically plausible?</a:t>
            </a:r>
            <a:endParaRPr sz="2325" b="1">
              <a:solidFill>
                <a:srgbClr val="F4F6F8"/>
              </a:solidFill>
              <a:latin typeface="DejaVu Sans"/>
              <a:ea typeface="DejaVu Sans"/>
              <a:cs typeface="DejaVu Sans"/>
            </a:endParaRPr>
          </a:p>
        </p:txBody>
      </p:sp>
      <p:sp>
        <p:nvSpPr>
          <p:cNvPr id="38" name="Rectangle 37">
            <a:extLst xmlns:a="http://schemas.openxmlformats.org/drawingml/2006/main">
              <a:ext uri="{FF2B5EF4-FFF2-40B4-BE49-F238E27FC236}">
                <a16:creationId xmlns:a16="http://schemas.microsoft.com/office/drawing/2014/main" id="{8BADB693-047E-4337-B47F-B5EBAB6D2890}"/>
              </a:ext>
            </a:extLst>
          </p:cNvPr>
          <p:cNvSpPr>
            <a:spLocks xmlns:a="http://schemas.openxmlformats.org/drawingml/2006/main" noGrp="1"/>
          </p:cNvSpPr>
          <p:nvPr/>
        </p:nvSpPr>
        <p:spPr>
          <a:xfrm xmlns:a="http://schemas.openxmlformats.org/drawingml/2006/main">
            <a:off x="0" y="6400800"/>
            <a:ext cx="12192000" cy="457200"/>
          </a:xfrm>
          <a:prstGeom xmlns:a="http://schemas.openxmlformats.org/drawingml/2006/main" prst="rect">
            <a:avLst/>
          </a:prstGeom>
          <a:solidFill xmlns:a="http://schemas.openxmlformats.org/drawingml/2006/main">
            <a:srgbClr val="07090C">
              <a:alpha val="76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9" name="Rectangle 38">
            <a:extLst xmlns:a="http://schemas.openxmlformats.org/drawingml/2006/main">
              <a:ext uri="{FF2B5EF4-FFF2-40B4-BE49-F238E27FC236}">
                <a16:creationId xmlns:a16="http://schemas.microsoft.com/office/drawing/2014/main" id="{CCD98413-8299-4858-8D8C-FA00A673FA55}"/>
              </a:ext>
            </a:extLst>
          </p:cNvPr>
          <p:cNvSpPr>
            <a:spLocks xmlns:a="http://schemas.openxmlformats.org/drawingml/2006/main" noGrp="1"/>
          </p:cNvSpPr>
          <p:nvPr/>
        </p:nvSpPr>
        <p:spPr>
          <a:xfrm xmlns:a="http://schemas.openxmlformats.org/drawingml/2006/main">
            <a:off x="609600" y="6553200"/>
            <a:ext cx="68580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MARS SOCIETY 2026  •  HARNESSED AGENTIC SCIENCE + ENGINEERING</a:t>
            </a:r>
          </a:p>
        </p:txBody>
      </p:sp>
      <p:sp>
        <p:nvSpPr>
          <p:cNvPr id="40" name="Rectangle 39">
            <a:extLst xmlns:a="http://schemas.openxmlformats.org/drawingml/2006/main">
              <a:ext uri="{FF2B5EF4-FFF2-40B4-BE49-F238E27FC236}">
                <a16:creationId xmlns:a16="http://schemas.microsoft.com/office/drawing/2014/main" id="{56BE9466-FAD4-45B5-A9ED-F7FB74360FF0}"/>
              </a:ext>
            </a:extLst>
          </p:cNvPr>
          <p:cNvSpPr>
            <a:spLocks xmlns:a="http://schemas.openxmlformats.org/drawingml/2006/main" noGrp="1"/>
          </p:cNvSpPr>
          <p:nvPr/>
        </p:nvSpPr>
        <p:spPr>
          <a:xfrm xmlns:a="http://schemas.openxmlformats.org/drawingml/2006/main">
            <a:off x="9525000" y="6553200"/>
            <a:ext cx="20574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BOB J MILLS     15</a:t>
            </a:r>
          </a:p>
        </p:txBody>
      </p:sp>
      <p:sp>
        <p:nvSpPr>
          <p:cNvPr id="48" name="Rectangle 47">
            <a:extLst xmlns:a="http://schemas.openxmlformats.org/drawingml/2006/main">
              <a:ext uri="{FF2B5EF4-FFF2-40B4-BE49-F238E27FC236}">
                <a16:creationId xmlns:a16="http://schemas.microsoft.com/office/drawing/2014/main" id="{2C0FC764-E103-F9D4-FE42-EF6EF8B7A4DD}"/>
              </a:ext>
            </a:extLst>
          </p:cNvPr>
          <p:cNvSpPr>
            <a:spLocks xmlns:a="http://schemas.openxmlformats.org/drawingml/2006/main" noGrp="1"/>
          </p:cNvSpPr>
          <p:nvPr/>
        </p:nvSpPr>
        <p:spPr>
          <a:xfrm xmlns:a="http://schemas.openxmlformats.org/drawingml/2006/main">
            <a:off x="592347" y="1341767"/>
            <a:ext cx="6809117" cy="1562460"/>
          </a:xfrm>
          <a:prstGeom xmlns:a="http://schemas.openxmlformats.org/drawingml/2006/main" prst="rect">
            <a:avLst/>
          </a:prstGeom>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pic>
        <p:nvPicPr>
          <p:cNvPr id="73" name="Picture 55"/>
          <p:cNvPicPr>
            <a:picLocks xmlns:a="http://schemas.openxmlformats.org/drawingml/2006/main" noChangeAspect="1"/>
          </p:cNvPicPr>
          <p:nvPr/>
        </p:nvPicPr>
        <p:blipFill>
          <a:blip xmlns:r="http://schemas.openxmlformats.org/officeDocument/2006/relationships" xmlns:a="http://schemas.openxmlformats.org/drawingml/2006/main" r:embed="Rc85a66de5e054bb6"/>
          <a:stretch xmlns:a="http://schemas.openxmlformats.org/drawingml/2006/main">
            <a:fillRect l="0" t="0" r="0" b="0"/>
          </a:stretch>
        </p:blipFill>
        <p:spPr>
          <a:xfrm xmlns:a="http://schemas.openxmlformats.org/drawingml/2006/main">
            <a:off x="7596996" y="1305341"/>
            <a:ext cx="4124404" cy="5069580"/>
          </a:xfrm>
          <a:prstGeom xmlns:a="http://schemas.openxmlformats.org/drawingml/2006/main" prst="rect">
            <a:avLst/>
          </a:prstGeom>
        </p:spPr>
      </p:pic>
      <p:pic>
        <p:nvPicPr>
          <p:cNvPr id="74" name="Picture 59"/>
          <p:cNvPicPr>
            <a:picLocks xmlns:a="http://schemas.openxmlformats.org/drawingml/2006/main" noChangeAspect="1"/>
          </p:cNvPicPr>
          <p:nvPr/>
        </p:nvPicPr>
        <p:blipFill>
          <a:blip xmlns:r="http://schemas.openxmlformats.org/officeDocument/2006/relationships" xmlns:a="http://schemas.openxmlformats.org/drawingml/2006/main" r:embed="Rfacc643207e34bf7"/>
          <a:stretch xmlns:a="http://schemas.openxmlformats.org/drawingml/2006/main">
            <a:fillRect l="0" t="0" r="0" b="0"/>
          </a:stretch>
        </p:blipFill>
        <p:spPr>
          <a:xfrm xmlns:a="http://schemas.openxmlformats.org/drawingml/2006/main">
            <a:off x="609601" y="3106665"/>
            <a:ext cx="5181600" cy="3251901"/>
          </a:xfrm>
          <a:prstGeom xmlns:a="http://schemas.openxmlformats.org/drawingml/2006/main" prst="rect">
            <a:avLst/>
          </a:prstGeom>
        </p:spPr>
      </p:pic>
      <p:sp>
        <p:nvSpPr>
          <p:cNvPr id="62" name="Rectangle 61">
            <a:extLst xmlns:a="http://schemas.openxmlformats.org/drawingml/2006/main">
              <a:ext uri="{FF2B5EF4-FFF2-40B4-BE49-F238E27FC236}">
                <a16:creationId xmlns:a16="http://schemas.microsoft.com/office/drawing/2014/main" id="{CABA008B-D1D9-4CCE-1967-5ECAC71CE6F1}"/>
              </a:ext>
            </a:extLst>
          </p:cNvPr>
          <p:cNvSpPr>
            <a:spLocks xmlns:a="http://schemas.openxmlformats.org/drawingml/2006/main" noGrp="1"/>
          </p:cNvSpPr>
          <p:nvPr/>
        </p:nvSpPr>
        <p:spPr>
          <a:xfrm xmlns:a="http://schemas.openxmlformats.org/drawingml/2006/main">
            <a:off x="6006860" y="1351486"/>
            <a:ext cx="1394604" cy="5016799"/>
          </a:xfrm>
          <a:prstGeom xmlns:a="http://schemas.openxmlformats.org/drawingml/2006/main" prst="rect">
            <a:avLst/>
          </a:prstGeom>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63" name="TextBox 62">
            <a:extLst xmlns:a="http://schemas.openxmlformats.org/drawingml/2006/main">
              <a:ext uri="{FF2B5EF4-FFF2-40B4-BE49-F238E27FC236}">
                <a16:creationId xmlns:a16="http://schemas.microsoft.com/office/drawing/2014/main" id="{B8317C0B-010F-9173-F750-7E1E49780FD5}"/>
              </a:ext>
            </a:extLst>
          </p:cNvPr>
          <p:cNvSpPr>
            <a:spLocks xmlns:a="http://schemas.openxmlformats.org/drawingml/2006/main" noGrp="1"/>
          </p:cNvSpPr>
          <p:nvPr/>
        </p:nvSpPr>
        <p:spPr>
          <a:xfrm xmlns:a="http://schemas.openxmlformats.org/drawingml/2006/main">
            <a:off x="721742" y="1459170"/>
            <a:ext cx="6550325" cy="1384995"/>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r>
              <a:rPr sz="1200"/>
              <a:t># Step 10: Publication Bundle - Project ARES-SOE</a:t>
            </a:r>
            <a:br/>
            <a:r>
              <a:rPr sz="1200"/>
              <a:t>**Title:** Industrial-Scale Solid Oxide $CO_2$ Electrolysis (SOXE) for Human Mars Missions: A 33.8 kg/hr Modular Architecture for Habitat Life Support and Starship Propellant Refueling</a:t>
            </a:r>
            <a:br/>
            <a:r>
              <a:rPr sz="1200"/>
              <a:t>**Author List:** Hypatia AI (Lead Systems Architect), Mars In</a:t>
            </a:r>
          </a:p>
          <a:p xmlns:a="http://schemas.openxmlformats.org/drawingml/2006/main">
            <a:r>
              <a:rPr sz="1200"/>
              <a:t>### 1. Abstract As human Mars exploration transitions from exploration to habitation, In-Situ Resource Utilization (ISRU) must scale by three orders of magnitude. This paper presents the design and validation framework for Project ARES-SOE (Advanced Regenerative Electrolysis System for Sustained</a:t>
            </a:r>
            <a:endParaRPr sz="1600"/>
          </a:p>
        </p:txBody>
      </p:sp>
      <p:sp>
        <p:nvSpPr>
          <p:cNvPr id="64" name="TextBox 63">
            <a:extLst xmlns:a="http://schemas.openxmlformats.org/drawingml/2006/main">
              <a:ext uri="{FF2B5EF4-FFF2-40B4-BE49-F238E27FC236}">
                <a16:creationId xmlns:a16="http://schemas.microsoft.com/office/drawing/2014/main" id="{2552F28B-C6D6-7588-33B4-4E08FD08425D}"/>
              </a:ext>
            </a:extLst>
          </p:cNvPr>
          <p:cNvSpPr>
            <a:spLocks xmlns:a="http://schemas.openxmlformats.org/drawingml/2006/main" noGrp="1"/>
          </p:cNvSpPr>
          <p:nvPr/>
        </p:nvSpPr>
        <p:spPr>
          <a:xfrm xmlns:a="http://schemas.openxmlformats.org/drawingml/2006/main">
            <a:off x="6062932" y="2728430"/>
            <a:ext cx="1338529" cy="3600986"/>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r>
              <a:rPr sz="1200"/>
              <a:t>Oxygen Production), a scaled-up solid-oxide $CO_2$ electrolysis system. Building on the heritage of the NASA MOXIE instrument, the system is designed to produce 592.4 t of $O_2$ over 2 Earth years (17,520 hours)—sufficient to sustain a 12-person habitat and provide 50% of the…</a:t>
            </a:r>
          </a:p>
        </p:txBody>
      </p:sp>
    </p:spTree>
    <p:extLst>
      <p:ext uri="{BB962C8B-B14F-4D97-AF65-F5344CB8AC3E}">
        <p14:creationId xmlns:p14="http://schemas.microsoft.com/office/powerpoint/2010/main" val="182375092"/>
      </p:ext>
    </p:extLst>
  </p:cSld>
</p:sld>
</file>

<file path=ppt/slides/slide16.xml><?xml version="1.0" encoding="utf-8"?>
<p:sld xmlns:p="http://schemas.openxmlformats.org/presentationml/2006/main">
  <p:cSld>
    <p:bg>
      <p:bgPr>
        <a:solidFill xmlns:a="http://schemas.openxmlformats.org/drawingml/2006/main">
          <a:srgbClr val="07090C"/>
        </a:solidFill>
      </p:bgPr>
    </p:bg>
    <p:spTree>
      <p:nvGrpSpPr>
        <p:cNvPr id="1" name=""/>
        <p:cNvGrpSpPr/>
        <p:nvPr/>
      </p:nvGrpSpPr>
      <p:grpSpPr>
        <a:xfrm xmlns:a="http://schemas.openxmlformats.org/drawingml/2006/main"/>
      </p:grpSpPr>
      <p:sp>
        <p:nvSpPr>
          <p:cNvPr id="41" name="Rectangle 40">
            <a:extLst xmlns:a="http://schemas.openxmlformats.org/drawingml/2006/main">
              <a:ext uri="{FF2B5EF4-FFF2-40B4-BE49-F238E27FC236}">
                <a16:creationId xmlns:a16="http://schemas.microsoft.com/office/drawing/2014/main" id="{8FDB4868-F4C3-994F-8BE8-1E17B467ABDE}"/>
              </a:ext>
            </a:extLst>
          </p:cNvPr>
          <p:cNvSpPr>
            <a:spLocks xmlns:a="http://schemas.openxmlformats.org/drawingml/2006/main" noGrp="1"/>
          </p:cNvSpPr>
          <p:nvPr/>
        </p:nvSpPr>
        <p:spPr>
          <a:xfrm xmlns:a="http://schemas.openxmlformats.org/drawingml/2006/main">
            <a:off x="609600" y="3429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FF6B2C"/>
                </a:solidFill>
                <a:latin typeface="DejaVu Sans Mono"/>
                <a:ea typeface="DejaVu Sans Mono"/>
                <a:cs typeface="DejaVu Sans Mono"/>
              </a:defRPr>
            </a:pPr>
            <a:r>
              <a:rPr sz="900" b="1">
                <a:solidFill>
                  <a:srgbClr val="FF6B2C"/>
                </a:solidFill>
                <a:latin typeface="DejaVu Sans Mono"/>
                <a:ea typeface="DejaVu Sans Mono"/>
                <a:cs typeface="DejaVu Sans Mono"/>
              </a:rPr>
              <a:t>16  /  CASE STUDY — ENGINEERING</a:t>
            </a:r>
            <a:endParaRPr sz="975" b="1">
              <a:solidFill>
                <a:srgbClr val="F26B38"/>
              </a:solidFill>
              <a:latin typeface="DejaVu Sans Mono"/>
              <a:ea typeface="DejaVu Sans Mono"/>
              <a:cs typeface="DejaVu Sans Mono"/>
            </a:endParaRPr>
          </a:p>
        </p:txBody>
      </p:sp>
      <p:sp>
        <p:nvSpPr>
          <p:cNvPr id="38" name="Rectangle 37">
            <a:extLst xmlns:a="http://schemas.openxmlformats.org/drawingml/2006/main">
              <a:ext uri="{FF2B5EF4-FFF2-40B4-BE49-F238E27FC236}">
                <a16:creationId xmlns:a16="http://schemas.microsoft.com/office/drawing/2014/main" id="{D99CA2B6-F7D1-F096-B580-0165578256D8}"/>
              </a:ext>
            </a:extLst>
          </p:cNvPr>
          <p:cNvSpPr>
            <a:spLocks xmlns:a="http://schemas.openxmlformats.org/drawingml/2006/main" noGrp="1"/>
          </p:cNvSpPr>
          <p:nvPr/>
        </p:nvSpPr>
        <p:spPr>
          <a:xfrm xmlns:a="http://schemas.openxmlformats.org/drawingml/2006/main">
            <a:off x="0" y="6400800"/>
            <a:ext cx="12192000" cy="457200"/>
          </a:xfrm>
          <a:prstGeom xmlns:a="http://schemas.openxmlformats.org/drawingml/2006/main" prst="rect">
            <a:avLst/>
          </a:prstGeom>
          <a:solidFill xmlns:a="http://schemas.openxmlformats.org/drawingml/2006/main">
            <a:srgbClr val="07090C">
              <a:alpha val="76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9" name="Rectangle 38">
            <a:extLst xmlns:a="http://schemas.openxmlformats.org/drawingml/2006/main">
              <a:ext uri="{FF2B5EF4-FFF2-40B4-BE49-F238E27FC236}">
                <a16:creationId xmlns:a16="http://schemas.microsoft.com/office/drawing/2014/main" id="{14866F0F-F4F8-F2CC-1F9A-E4F70F7B09DE}"/>
              </a:ext>
            </a:extLst>
          </p:cNvPr>
          <p:cNvSpPr>
            <a:spLocks xmlns:a="http://schemas.openxmlformats.org/drawingml/2006/main" noGrp="1"/>
          </p:cNvSpPr>
          <p:nvPr/>
        </p:nvSpPr>
        <p:spPr>
          <a:xfrm xmlns:a="http://schemas.openxmlformats.org/drawingml/2006/main">
            <a:off x="609600" y="6553200"/>
            <a:ext cx="68580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MARS SOCIETY 2026  •  HARNESSED AGENTIC SCIENCE + ENGINEERING</a:t>
            </a:r>
          </a:p>
        </p:txBody>
      </p:sp>
      <p:sp>
        <p:nvSpPr>
          <p:cNvPr id="40" name="Rectangle 39">
            <a:extLst xmlns:a="http://schemas.openxmlformats.org/drawingml/2006/main">
              <a:ext uri="{FF2B5EF4-FFF2-40B4-BE49-F238E27FC236}">
                <a16:creationId xmlns:a16="http://schemas.microsoft.com/office/drawing/2014/main" id="{250C26FE-34AF-EFB5-CDD0-05AB9D0B7FD1}"/>
              </a:ext>
            </a:extLst>
          </p:cNvPr>
          <p:cNvSpPr>
            <a:spLocks xmlns:a="http://schemas.openxmlformats.org/drawingml/2006/main" noGrp="1"/>
          </p:cNvSpPr>
          <p:nvPr/>
        </p:nvSpPr>
        <p:spPr>
          <a:xfrm xmlns:a="http://schemas.openxmlformats.org/drawingml/2006/main">
            <a:off x="9525000" y="6553200"/>
            <a:ext cx="20574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BOB J MILLS     16</a:t>
            </a:r>
          </a:p>
        </p:txBody>
      </p:sp>
      <p:sp>
        <p:nvSpPr>
          <p:cNvPr id="45" name="Rectangle 44">
            <a:extLst xmlns:a="http://schemas.openxmlformats.org/drawingml/2006/main">
              <a:ext uri="{FF2B5EF4-FFF2-40B4-BE49-F238E27FC236}">
                <a16:creationId xmlns:a16="http://schemas.microsoft.com/office/drawing/2014/main" id="{3845A86E-1070-D5A6-A4BE-BE0BF0C7A9A2}"/>
              </a:ext>
            </a:extLst>
          </p:cNvPr>
          <p:cNvSpPr>
            <a:spLocks xmlns:a="http://schemas.openxmlformats.org/drawingml/2006/main" noGrp="1"/>
          </p:cNvSpPr>
          <p:nvPr/>
        </p:nvSpPr>
        <p:spPr>
          <a:xfrm xmlns:a="http://schemas.openxmlformats.org/drawingml/2006/main">
            <a:off x="609600" y="745824"/>
            <a:ext cx="10972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0000"/>
              </a:lnSpc>
              <a:buNone/>
              <a:defRPr sz="2325" b="1">
                <a:solidFill>
                  <a:srgbClr val="F4F6F8"/>
                </a:solidFill>
                <a:latin typeface="DejaVu Sans"/>
                <a:ea typeface="DejaVu Sans"/>
                <a:cs typeface="DejaVu Sans"/>
              </a:defRPr>
            </a:pPr>
            <a:r>
              <a:rPr sz="2325" b="1">
                <a:solidFill>
                  <a:srgbClr val="F4F6F8"/>
                </a:solidFill>
                <a:latin typeface="DejaVu Sans"/>
                <a:ea typeface="DejaVu Sans"/>
                <a:cs typeface="DejaVu Sans"/>
              </a:rPr>
              <a:t>Then the engineering… What would this look like? </a:t>
            </a:r>
            <a:endParaRPr sz="2325" b="1">
              <a:solidFill>
                <a:srgbClr val="F4F6F8"/>
              </a:solidFill>
              <a:latin typeface="DejaVu Sans"/>
              <a:ea typeface="DejaVu Sans"/>
              <a:cs typeface="DejaVu Sans"/>
            </a:endParaRPr>
          </a:p>
        </p:txBody>
      </p:sp>
      <p:sp>
        <p:nvSpPr>
          <p:cNvPr id="4" name="Rectangle 3">
            <a:extLst xmlns:a="http://schemas.openxmlformats.org/drawingml/2006/main">
              <a:ext uri="{FF2B5EF4-FFF2-40B4-BE49-F238E27FC236}">
                <a16:creationId xmlns:a16="http://schemas.microsoft.com/office/drawing/2014/main" id="{393C2CD0-0930-AB1E-EE8B-7D1E1D33CC3E}"/>
              </a:ext>
            </a:extLst>
          </p:cNvPr>
          <p:cNvSpPr>
            <a:spLocks xmlns:a="http://schemas.openxmlformats.org/drawingml/2006/main" noGrp="1"/>
          </p:cNvSpPr>
          <p:nvPr/>
        </p:nvSpPr>
        <p:spPr>
          <a:xfrm xmlns:a="http://schemas.openxmlformats.org/drawingml/2006/main">
            <a:off x="480025" y="1184694"/>
            <a:ext cx="5667734" cy="2600863"/>
          </a:xfrm>
          <a:prstGeom xmlns:a="http://schemas.openxmlformats.org/drawingml/2006/main" prst="rect">
            <a:avLst/>
          </a:prstGeom>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pic>
        <p:nvPicPr>
          <p:cNvPr id="54" name="Picture 9"/>
          <p:cNvPicPr>
            <a:picLocks xmlns:a="http://schemas.openxmlformats.org/drawingml/2006/main" noChangeAspect="1"/>
          </p:cNvPicPr>
          <p:nvPr/>
        </p:nvPicPr>
        <p:blipFill>
          <a:blip xmlns:r="http://schemas.openxmlformats.org/officeDocument/2006/relationships" xmlns:a="http://schemas.openxmlformats.org/drawingml/2006/main" r:embed="R6691dd439de449b4"/>
          <a:stretch xmlns:a="http://schemas.openxmlformats.org/drawingml/2006/main">
            <a:fillRect l="0" t="0" r="0" b="0"/>
          </a:stretch>
        </p:blipFill>
        <p:spPr>
          <a:xfrm xmlns:a="http://schemas.openxmlformats.org/drawingml/2006/main">
            <a:off x="6436573" y="1184694"/>
            <a:ext cx="5387367" cy="5198493"/>
          </a:xfrm>
          <a:prstGeom xmlns:a="http://schemas.openxmlformats.org/drawingml/2006/main" prst="rect">
            <a:avLst/>
          </a:prstGeom>
        </p:spPr>
      </p:pic>
      <p:pic>
        <p:nvPicPr>
          <p:cNvPr id="55" name="Picture 11"/>
          <p:cNvPicPr>
            <a:picLocks xmlns:a="http://schemas.openxmlformats.org/drawingml/2006/main" noChangeAspect="1"/>
          </p:cNvPicPr>
          <p:nvPr/>
        </p:nvPicPr>
        <p:blipFill>
          <a:blip xmlns:r="http://schemas.openxmlformats.org/officeDocument/2006/relationships" xmlns:a="http://schemas.openxmlformats.org/drawingml/2006/main" r:embed="R30376b16062f435e"/>
          <a:stretch xmlns:a="http://schemas.openxmlformats.org/drawingml/2006/main">
            <a:fillRect l="0" t="0" r="0" b="0"/>
          </a:stretch>
        </p:blipFill>
        <p:spPr>
          <a:xfrm xmlns:a="http://schemas.openxmlformats.org/drawingml/2006/main">
            <a:off x="480025" y="3947531"/>
            <a:ext cx="5667734" cy="2435656"/>
          </a:xfrm>
          <a:prstGeom xmlns:a="http://schemas.openxmlformats.org/drawingml/2006/main" prst="rect">
            <a:avLst/>
          </a:prstGeom>
        </p:spPr>
      </p:pic>
      <p:sp>
        <p:nvSpPr>
          <p:cNvPr id="13" name="TextBox 12">
            <a:extLst xmlns:a="http://schemas.openxmlformats.org/drawingml/2006/main">
              <a:ext uri="{FF2B5EF4-FFF2-40B4-BE49-F238E27FC236}">
                <a16:creationId xmlns:a16="http://schemas.microsoft.com/office/drawing/2014/main" id="{8B38CD20-48D6-1A12-18E7-88E1C6773C9E}"/>
              </a:ext>
            </a:extLst>
          </p:cNvPr>
          <p:cNvSpPr>
            <a:spLocks xmlns:a="http://schemas.openxmlformats.org/drawingml/2006/main" noGrp="1"/>
          </p:cNvSpPr>
          <p:nvPr/>
        </p:nvSpPr>
        <p:spPr>
          <a:xfrm xmlns:a="http://schemas.openxmlformats.org/drawingml/2006/main">
            <a:off x="557843" y="1298274"/>
            <a:ext cx="5538158" cy="283464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r>
              <a:rPr sz="1200"/>
              <a:t>**DOCUMENT ID:** SOXE-VIB-CDR-004</a:t>
            </a:r>
            <a:br/>
            <a:r>
              <a:rPr sz="1200"/>
              <a:t>**PROJECT:** Mars SOXE (</a:t>
            </a:r>
            <a:r>
              <a:rPr sz="1200"/>
              <a:t>Solid-Oxide Carbon-Dioxide Electrolysis</a:t>
            </a:r>
            <a:r>
              <a:rPr sz="1200"/>
              <a:t>) Scale-Up Plant</a:t>
            </a:r>
            <a:br/>
            <a:r>
              <a:rPr sz="1200"/>
              <a:t>**PHASE:** Critical Design Review (CDR)</a:t>
            </a:r>
            <a:br/>
            <a:r>
              <a:rPr sz="1200"/>
              <a:t>**AUTHOR:** Hypatia | Senior Vibration Lead (</a:t>
            </a:r>
            <a:r>
              <a:rPr sz="1200"/>
              <a:t>VibraEngineer</a:t>
            </a:r>
            <a:r>
              <a:rPr sz="1200"/>
              <a:t>)</a:t>
            </a:r>
            <a:br/>
            <a:r>
              <a:rPr sz="1200"/>
              <a:t>**DATE:** 2024.05.22</a:t>
            </a:r>
            <a:br/>
            <a:r>
              <a:rPr sz="1200"/>
              <a:t>**SUBJECT:** Vibration Monitoring &amp; Structural Integrity Systems for </a:t>
            </a:r>
            <a:r>
              <a:rPr sz="1200"/>
              <a:t>modeled 33.8 kg/h O₂ generation</a:t>
            </a:r>
            <a:br/>
            <a:r>
              <a:rPr sz="1200"/>
              <a:t>### 1. EXECUTIVE OVERVIEW</a:t>
            </a:r>
            <a:br/>
            <a:r>
              <a:rPr sz="1200"/>
              <a:t>The SOXE plant represents an 11x scale-up of the IAC-2022 baseline, necessitating a shift from experimental monitoring to industrial-grade autonomous reliability. With CO2 feed compressors drawing the bulk of the </a:t>
            </a:r>
            <a:r>
              <a:rPr sz="1200"/>
              <a:t>modeled 304 kWe power budget</a:t>
            </a:r>
            <a:r>
              <a:rPr sz="1200"/>
              <a:t>, vibration is the primary failure mode for the 17,520-hour continuous campaign. This document outlines the final sensor selection, mounting strategies optimized for 0.38g, and the...</a:t>
            </a:r>
          </a:p>
        </p:txBody>
      </p:sp>
    </p:spTree>
    <p:extLst>
      <p:ext uri="{BB962C8B-B14F-4D97-AF65-F5344CB8AC3E}">
        <p14:creationId xmlns:p14="http://schemas.microsoft.com/office/powerpoint/2010/main" val="1142045230"/>
      </p:ext>
    </p:extLst>
  </p:cSld>
</p:sld>
</file>

<file path=ppt/slides/slide17.xml><?xml version="1.0" encoding="utf-8"?>
<p:sld xmlns:p="http://schemas.openxmlformats.org/presentationml/2006/main">
  <p:cSld>
    <p:bg>
      <p:bgPr>
        <a:solidFill xmlns:a="http://schemas.openxmlformats.org/drawingml/2006/main">
          <a:srgbClr val="07090C"/>
        </a:solidFill>
      </p:bgPr>
    </p:bg>
    <p:spTree>
      <p:nvGrpSpPr>
        <p:cNvPr id="1" name=""/>
        <p:cNvGrpSpPr/>
        <p:nvPr/>
      </p:nvGrpSpPr>
      <p:grpSpPr>
        <a:xfrm xmlns:a="http://schemas.openxmlformats.org/drawingml/2006/main"/>
      </p:grpSpPr>
      <p:sp>
        <p:nvSpPr>
          <p:cNvPr id="41" name="Rectangle 40">
            <a:extLst xmlns:a="http://schemas.openxmlformats.org/drawingml/2006/main">
              <a:ext uri="{FF2B5EF4-FFF2-40B4-BE49-F238E27FC236}">
                <a16:creationId xmlns:a16="http://schemas.microsoft.com/office/drawing/2014/main" id="{6BA4D78D-4355-26D0-89F1-614D63D410E9}"/>
              </a:ext>
            </a:extLst>
          </p:cNvPr>
          <p:cNvSpPr>
            <a:spLocks xmlns:a="http://schemas.openxmlformats.org/drawingml/2006/main" noGrp="1"/>
          </p:cNvSpPr>
          <p:nvPr/>
        </p:nvSpPr>
        <p:spPr>
          <a:xfrm xmlns:a="http://schemas.openxmlformats.org/drawingml/2006/main">
            <a:off x="609600" y="3429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FF6B2C"/>
                </a:solidFill>
                <a:latin typeface="DejaVu Sans Mono"/>
                <a:ea typeface="DejaVu Sans Mono"/>
                <a:cs typeface="DejaVu Sans Mono"/>
              </a:defRPr>
            </a:pPr>
            <a:r>
              <a:rPr sz="900" b="1">
                <a:solidFill>
                  <a:srgbClr val="FF6B2C"/>
                </a:solidFill>
                <a:latin typeface="DejaVu Sans Mono"/>
                <a:ea typeface="DejaVu Sans Mono"/>
                <a:cs typeface="DejaVu Sans Mono"/>
              </a:rPr>
              <a:t>17  /  CASE STUDY — PROJECT EXECUTION</a:t>
            </a:r>
            <a:endParaRPr sz="975" b="1">
              <a:solidFill>
                <a:srgbClr val="F26B38"/>
              </a:solidFill>
              <a:latin typeface="DejaVu Sans Mono"/>
              <a:ea typeface="DejaVu Sans Mono"/>
              <a:cs typeface="DejaVu Sans Mono"/>
            </a:endParaRPr>
          </a:p>
        </p:txBody>
      </p:sp>
      <p:sp>
        <p:nvSpPr>
          <p:cNvPr id="38" name="Rectangle 37">
            <a:extLst xmlns:a="http://schemas.openxmlformats.org/drawingml/2006/main">
              <a:ext uri="{FF2B5EF4-FFF2-40B4-BE49-F238E27FC236}">
                <a16:creationId xmlns:a16="http://schemas.microsoft.com/office/drawing/2014/main" id="{80860891-F4D5-6D72-FB9E-729D6731E706}"/>
              </a:ext>
            </a:extLst>
          </p:cNvPr>
          <p:cNvSpPr>
            <a:spLocks xmlns:a="http://schemas.openxmlformats.org/drawingml/2006/main" noGrp="1"/>
          </p:cNvSpPr>
          <p:nvPr/>
        </p:nvSpPr>
        <p:spPr>
          <a:xfrm xmlns:a="http://schemas.openxmlformats.org/drawingml/2006/main">
            <a:off x="0" y="6400800"/>
            <a:ext cx="12192000" cy="457200"/>
          </a:xfrm>
          <a:prstGeom xmlns:a="http://schemas.openxmlformats.org/drawingml/2006/main" prst="rect">
            <a:avLst/>
          </a:prstGeom>
          <a:solidFill xmlns:a="http://schemas.openxmlformats.org/drawingml/2006/main">
            <a:srgbClr val="07090C">
              <a:alpha val="76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9" name="Rectangle 38">
            <a:extLst xmlns:a="http://schemas.openxmlformats.org/drawingml/2006/main">
              <a:ext uri="{FF2B5EF4-FFF2-40B4-BE49-F238E27FC236}">
                <a16:creationId xmlns:a16="http://schemas.microsoft.com/office/drawing/2014/main" id="{3879AE62-7CD0-DA09-0A41-52B192868BAE}"/>
              </a:ext>
            </a:extLst>
          </p:cNvPr>
          <p:cNvSpPr>
            <a:spLocks xmlns:a="http://schemas.openxmlformats.org/drawingml/2006/main" noGrp="1"/>
          </p:cNvSpPr>
          <p:nvPr/>
        </p:nvSpPr>
        <p:spPr>
          <a:xfrm xmlns:a="http://schemas.openxmlformats.org/drawingml/2006/main">
            <a:off x="609600" y="6553200"/>
            <a:ext cx="68580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MARS SOCIETY 2026  •  HARNESSED AGENTIC SCIENCE + ENGINEERING</a:t>
            </a:r>
          </a:p>
        </p:txBody>
      </p:sp>
      <p:sp>
        <p:nvSpPr>
          <p:cNvPr id="40" name="Rectangle 39">
            <a:extLst xmlns:a="http://schemas.openxmlformats.org/drawingml/2006/main">
              <a:ext uri="{FF2B5EF4-FFF2-40B4-BE49-F238E27FC236}">
                <a16:creationId xmlns:a16="http://schemas.microsoft.com/office/drawing/2014/main" id="{7D080BBA-D75B-E53D-EFE6-62EBB124B3E8}"/>
              </a:ext>
            </a:extLst>
          </p:cNvPr>
          <p:cNvSpPr>
            <a:spLocks xmlns:a="http://schemas.openxmlformats.org/drawingml/2006/main" noGrp="1"/>
          </p:cNvSpPr>
          <p:nvPr/>
        </p:nvSpPr>
        <p:spPr>
          <a:xfrm xmlns:a="http://schemas.openxmlformats.org/drawingml/2006/main">
            <a:off x="9525000" y="6553200"/>
            <a:ext cx="20574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BOB J MILLS     17</a:t>
            </a:r>
          </a:p>
        </p:txBody>
      </p:sp>
      <p:sp>
        <p:nvSpPr>
          <p:cNvPr id="47" name="Rectangle 46">
            <a:extLst xmlns:a="http://schemas.openxmlformats.org/drawingml/2006/main">
              <a:ext uri="{FF2B5EF4-FFF2-40B4-BE49-F238E27FC236}">
                <a16:creationId xmlns:a16="http://schemas.microsoft.com/office/drawing/2014/main" id="{A4AC7C13-CECE-984E-3E23-EA583CC44F24}"/>
              </a:ext>
            </a:extLst>
          </p:cNvPr>
          <p:cNvSpPr>
            <a:spLocks xmlns:a="http://schemas.openxmlformats.org/drawingml/2006/main" noGrp="1"/>
          </p:cNvSpPr>
          <p:nvPr/>
        </p:nvSpPr>
        <p:spPr>
          <a:xfrm xmlns:a="http://schemas.openxmlformats.org/drawingml/2006/main">
            <a:off x="609600" y="745824"/>
            <a:ext cx="10972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0000"/>
              </a:lnSpc>
              <a:buNone/>
              <a:defRPr sz="2325" b="1">
                <a:solidFill>
                  <a:srgbClr val="F4F6F8"/>
                </a:solidFill>
                <a:latin typeface="DejaVu Sans"/>
                <a:ea typeface="DejaVu Sans"/>
                <a:cs typeface="DejaVu Sans"/>
              </a:defRPr>
            </a:pPr>
            <a:r>
              <a:rPr sz="2325" b="1">
                <a:solidFill>
                  <a:srgbClr val="F4F6F8"/>
                </a:solidFill>
                <a:latin typeface="DejaVu Sans"/>
                <a:ea typeface="DejaVu Sans"/>
                <a:cs typeface="DejaVu Sans"/>
              </a:rPr>
              <a:t>Then a project plan… Resources, Costs, Time, Tracking? </a:t>
            </a:r>
            <a:endParaRPr sz="2325" b="1">
              <a:solidFill>
                <a:srgbClr val="F4F6F8"/>
              </a:solidFill>
              <a:latin typeface="DejaVu Sans"/>
              <a:ea typeface="DejaVu Sans"/>
              <a:cs typeface="DejaVu Sans"/>
            </a:endParaRPr>
          </a:p>
        </p:txBody>
      </p:sp>
      <p:sp>
        <p:nvSpPr>
          <p:cNvPr id="4" name="Rectangle 3">
            <a:extLst xmlns:a="http://schemas.openxmlformats.org/drawingml/2006/main">
              <a:ext uri="{FF2B5EF4-FFF2-40B4-BE49-F238E27FC236}">
                <a16:creationId xmlns:a16="http://schemas.microsoft.com/office/drawing/2014/main" id="{90212F9E-E8C3-6B62-B065-524365C4C56D}"/>
              </a:ext>
            </a:extLst>
          </p:cNvPr>
          <p:cNvSpPr>
            <a:spLocks xmlns:a="http://schemas.openxmlformats.org/drawingml/2006/main" noGrp="1"/>
          </p:cNvSpPr>
          <p:nvPr/>
        </p:nvSpPr>
        <p:spPr>
          <a:xfrm xmlns:a="http://schemas.openxmlformats.org/drawingml/2006/main">
            <a:off x="691550" y="1397946"/>
            <a:ext cx="7169990" cy="1128551"/>
          </a:xfrm>
          <a:prstGeom xmlns:a="http://schemas.openxmlformats.org/drawingml/2006/main" prst="rect">
            <a:avLst/>
          </a:prstGeom>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pic>
        <p:nvPicPr>
          <p:cNvPr id="56" name="Picture 7"/>
          <p:cNvPicPr>
            <a:picLocks xmlns:a="http://schemas.openxmlformats.org/drawingml/2006/main" noChangeAspect="1"/>
          </p:cNvPicPr>
          <p:nvPr/>
        </p:nvPicPr>
        <p:blipFill>
          <a:blip xmlns:r="http://schemas.openxmlformats.org/officeDocument/2006/relationships" xmlns:a="http://schemas.openxmlformats.org/drawingml/2006/main" r:embed="Re1d70fa2dcd04551"/>
          <a:stretch xmlns:a="http://schemas.openxmlformats.org/drawingml/2006/main">
            <a:fillRect l="0" t="0" r="0" b="0"/>
          </a:stretch>
        </p:blipFill>
        <p:spPr>
          <a:xfrm xmlns:a="http://schemas.openxmlformats.org/drawingml/2006/main">
            <a:off x="8273780" y="1214047"/>
            <a:ext cx="3358941" cy="5160873"/>
          </a:xfrm>
          <a:prstGeom xmlns:a="http://schemas.openxmlformats.org/drawingml/2006/main" prst="rect">
            <a:avLst/>
          </a:prstGeom>
        </p:spPr>
      </p:pic>
      <p:pic>
        <p:nvPicPr>
          <p:cNvPr id="57" name="Picture 9"/>
          <p:cNvPicPr>
            <a:picLocks xmlns:a="http://schemas.openxmlformats.org/drawingml/2006/main" noChangeAspect="1"/>
          </p:cNvPicPr>
          <p:nvPr/>
        </p:nvPicPr>
        <p:blipFill>
          <a:blip xmlns:r="http://schemas.openxmlformats.org/officeDocument/2006/relationships" xmlns:a="http://schemas.openxmlformats.org/drawingml/2006/main" r:embed="R00143a6b46a14f53"/>
          <a:stretch xmlns:a="http://schemas.openxmlformats.org/drawingml/2006/main">
            <a:fillRect l="0" t="0" r="0" b="0"/>
          </a:stretch>
        </p:blipFill>
        <p:spPr>
          <a:xfrm xmlns:a="http://schemas.openxmlformats.org/drawingml/2006/main">
            <a:off x="691550" y="2664950"/>
            <a:ext cx="5065144" cy="3659650"/>
          </a:xfrm>
          <a:prstGeom xmlns:a="http://schemas.openxmlformats.org/drawingml/2006/main" prst="rect">
            <a:avLst/>
          </a:prstGeom>
        </p:spPr>
      </p:pic>
      <p:sp>
        <p:nvSpPr>
          <p:cNvPr id="12" name="Rectangle 11">
            <a:extLst xmlns:a="http://schemas.openxmlformats.org/drawingml/2006/main">
              <a:ext uri="{FF2B5EF4-FFF2-40B4-BE49-F238E27FC236}">
                <a16:creationId xmlns:a16="http://schemas.microsoft.com/office/drawing/2014/main" id="{FD766C3A-903D-5102-1CEF-733EF02F4738}"/>
              </a:ext>
            </a:extLst>
          </p:cNvPr>
          <p:cNvSpPr>
            <a:spLocks xmlns:a="http://schemas.openxmlformats.org/drawingml/2006/main" noGrp="1"/>
          </p:cNvSpPr>
          <p:nvPr/>
        </p:nvSpPr>
        <p:spPr>
          <a:xfrm xmlns:a="http://schemas.openxmlformats.org/drawingml/2006/main">
            <a:off x="5943600" y="1409448"/>
            <a:ext cx="1917940" cy="4926654"/>
          </a:xfrm>
          <a:prstGeom xmlns:a="http://schemas.openxmlformats.org/drawingml/2006/main" prst="rect">
            <a:avLst/>
          </a:prstGeom>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3" name="TextBox 12">
            <a:extLst xmlns:a="http://schemas.openxmlformats.org/drawingml/2006/main">
              <a:ext uri="{FF2B5EF4-FFF2-40B4-BE49-F238E27FC236}">
                <a16:creationId xmlns:a16="http://schemas.microsoft.com/office/drawing/2014/main" id="{88DA453A-5F8C-F7AF-4A0E-6375CA380955}"/>
              </a:ext>
            </a:extLst>
          </p:cNvPr>
          <p:cNvSpPr>
            <a:spLocks xmlns:a="http://schemas.openxmlformats.org/drawingml/2006/main" noGrp="1"/>
          </p:cNvSpPr>
          <p:nvPr/>
        </p:nvSpPr>
        <p:spPr>
          <a:xfrm xmlns:a="http://schemas.openxmlformats.org/drawingml/2006/main">
            <a:off x="874143" y="1351938"/>
            <a:ext cx="3686355" cy="1200329"/>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pPr>
            <a:r>
              <a:rPr sz="1200"/>
              <a:t>WBS</a:t>
            </a:r>
          </a:p>
          <a:p xmlns:a="http://schemas.openxmlformats.org/drawingml/2006/main">
            <a:pPr>
              <a:buNone/>
            </a:pPr>
            <a:r>
              <a:rPr sz="1200"/>
              <a:t>1.0 Atmospheric acquisition + dust rejection</a:t>
            </a:r>
          </a:p>
          <a:p xmlns:a="http://schemas.openxmlformats.org/drawingml/2006/main">
            <a:pPr>
              <a:buNone/>
            </a:pPr>
            <a:r>
              <a:rPr sz="1200"/>
              <a:t>2.0 Solid-oxide CO₂ electrolysis stacks</a:t>
            </a:r>
          </a:p>
        </p:txBody>
      </p:sp>
      <p:sp>
        <p:nvSpPr>
          <p:cNvPr id="14" name="TextBox 13">
            <a:extLst xmlns:a="http://schemas.openxmlformats.org/drawingml/2006/main">
              <a:ext uri="{FF2B5EF4-FFF2-40B4-BE49-F238E27FC236}">
                <a16:creationId xmlns:a16="http://schemas.microsoft.com/office/drawing/2014/main" id="{177D44BD-0E67-0CA7-2E5D-5652A38976ED}"/>
              </a:ext>
            </a:extLst>
          </p:cNvPr>
          <p:cNvSpPr>
            <a:spLocks xmlns:a="http://schemas.openxmlformats.org/drawingml/2006/main" noGrp="1"/>
          </p:cNvSpPr>
          <p:nvPr/>
        </p:nvSpPr>
        <p:spPr>
          <a:xfrm xmlns:a="http://schemas.openxmlformats.org/drawingml/2006/main">
            <a:off x="4464693" y="1436298"/>
            <a:ext cx="3513827" cy="1107996"/>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r>
              <a:rPr sz="1100"/>
              <a:t>3.0 Oxygen cleanup, liquefaction + storage</a:t>
            </a:r>
          </a:p>
          <a:p xmlns:a="http://schemas.openxmlformats.org/drawingml/2006/main">
            <a:r>
              <a:rPr sz="1100"/>
              <a:t>4.0 Modeled 304 kWe power infrastructure</a:t>
            </a:r>
          </a:p>
        </p:txBody>
      </p:sp>
      <p:sp>
        <p:nvSpPr>
          <p:cNvPr id="16" name="TextBox 15">
            <a:extLst xmlns:a="http://schemas.openxmlformats.org/drawingml/2006/main">
              <a:ext uri="{FF2B5EF4-FFF2-40B4-BE49-F238E27FC236}">
                <a16:creationId xmlns:a16="http://schemas.microsoft.com/office/drawing/2014/main" id="{25478CBA-B76A-C8AF-5136-1F6C43648BFA}"/>
              </a:ext>
            </a:extLst>
          </p:cNvPr>
          <p:cNvSpPr>
            <a:spLocks xmlns:a="http://schemas.openxmlformats.org/drawingml/2006/main" noGrp="1"/>
          </p:cNvSpPr>
          <p:nvPr/>
        </p:nvSpPr>
        <p:spPr>
          <a:xfrm xmlns:a="http://schemas.openxmlformats.org/drawingml/2006/main">
            <a:off x="5956149" y="2440722"/>
            <a:ext cx="1905391" cy="3816429"/>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r>
              <a:rPr sz="1100"/>
              <a:t>5.0 Integration + mission operations</a:t>
            </a:r>
          </a:p>
          <a:p xmlns:a="http://schemas.openxmlformats.org/drawingml/2006/main">
            <a:r>
              <a:rPr sz="1100"/>
              <a:t>6.0 Verification + qualification</a:t>
            </a:r>
          </a:p>
          <a:p xmlns:a="http://schemas.openxmlformats.org/drawingml/2006/main">
            <a:r>
              <a:rPr sz="1100"/>
              <a:t>7.0 Deployment, commissioning + tracking</a:t>
            </a:r>
          </a:p>
        </p:txBody>
      </p:sp>
    </p:spTree>
    <p:extLst>
      <p:ext uri="{BB962C8B-B14F-4D97-AF65-F5344CB8AC3E}">
        <p14:creationId xmlns:p14="http://schemas.microsoft.com/office/powerpoint/2010/main" val="1073550031"/>
      </p:ext>
    </p:extLst>
  </p:cSld>
</p:sld>
</file>

<file path=ppt/slides/slide18.xml><?xml version="1.0" encoding="utf-8"?>
<p:sld xmlns:p="http://schemas.openxmlformats.org/presentationml/2006/main">
  <p:cSld>
    <p:bg>
      <p:bgPr>
        <a:solidFill xmlns:a="http://schemas.openxmlformats.org/drawingml/2006/main">
          <a:srgbClr val="07090C"/>
        </a:solidFill>
      </p:bgPr>
    </p:bg>
    <p:spTree>
      <p:nvGrpSpPr>
        <p:cNvPr id="1" name=""/>
        <p:cNvGrpSpPr/>
        <p:nvPr/>
      </p:nvGrpSpPr>
      <p:grpSpPr>
        <a:xfrm xmlns:a="http://schemas.openxmlformats.org/drawingml/2006/main"/>
      </p:grpSpPr>
      <p:pic>
        <p:nvPicPr>
          <p:cNvPr id="92" name="Picture 39"/>
          <p:cNvPicPr>
            <a:picLocks xmlns:a="http://schemas.openxmlformats.org/drawingml/2006/main" noChangeAspect="1"/>
          </p:cNvPicPr>
          <p:nvPr/>
        </p:nvPicPr>
        <p:blipFill>
          <a:blip xmlns:r="http://schemas.openxmlformats.org/officeDocument/2006/relationships" xmlns:a="http://schemas.openxmlformats.org/drawingml/2006/main" r:embed="R680df9e086b84849"/>
          <a:srcRect xmlns:a="http://schemas.openxmlformats.org/drawingml/2006/main" l="0" t="30054" r="0" b="30054"/>
          <a:stretch xmlns:a="http://schemas.openxmlformats.org/drawingml/2006/main">
            <a:fillRect l="0" t="0" r="0" b="0"/>
          </a:stretch>
        </p:blipFill>
        <p:spPr>
          <a:xfrm xmlns:a="http://schemas.openxmlformats.org/drawingml/2006/main" rot="10800000">
            <a:off x="1994483" y="1324209"/>
            <a:ext cx="7530517" cy="759016"/>
          </a:xfrm>
          <a:prstGeom xmlns:a="http://schemas.openxmlformats.org/drawingml/2006/main" prst="rect">
            <a:avLst/>
          </a:prstGeom>
        </p:spPr>
      </p:pic>
      <p:sp>
        <p:nvSpPr>
          <p:cNvPr id="36" name="Rectangle 35">
            <a:extLst xmlns:a="http://schemas.openxmlformats.org/drawingml/2006/main">
              <a:ext uri="{FF2B5EF4-FFF2-40B4-BE49-F238E27FC236}">
                <a16:creationId xmlns:a16="http://schemas.microsoft.com/office/drawing/2014/main" id="{6134EC5D-AAF6-4CC9-AF7D-E2637F939BDF}"/>
              </a:ext>
            </a:extLst>
          </p:cNvPr>
          <p:cNvSpPr>
            <a:spLocks xmlns:a="http://schemas.openxmlformats.org/drawingml/2006/main" noGrp="1"/>
          </p:cNvSpPr>
          <p:nvPr/>
        </p:nvSpPr>
        <p:spPr>
          <a:xfrm xmlns:a="http://schemas.openxmlformats.org/drawingml/2006/main">
            <a:off x="609600" y="3429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FF6B2C"/>
                </a:solidFill>
                <a:latin typeface="DejaVu Sans Mono"/>
                <a:ea typeface="DejaVu Sans Mono"/>
                <a:cs typeface="DejaVu Sans Mono"/>
              </a:defRPr>
            </a:pPr>
            <a:r>
              <a:rPr sz="900" b="1">
                <a:solidFill>
                  <a:srgbClr val="FF6B2C"/>
                </a:solidFill>
                <a:latin typeface="DejaVu Sans Mono"/>
                <a:ea typeface="DejaVu Sans Mono"/>
                <a:cs typeface="DejaVu Sans Mono"/>
              </a:rPr>
              <a:t>18  /  CASE STUDY — INTEGRATED RESULT</a:t>
            </a:r>
            <a:endParaRPr sz="975" b="1">
              <a:solidFill>
                <a:srgbClr val="F26B38"/>
              </a:solidFill>
              <a:latin typeface="DejaVu Sans Mono"/>
              <a:ea typeface="DejaVu Sans Mono"/>
              <a:cs typeface="DejaVu Sans Mono"/>
            </a:endParaRPr>
          </a:p>
        </p:txBody>
      </p:sp>
      <p:sp>
        <p:nvSpPr>
          <p:cNvPr id="2" name="Rectangle 1">
            <a:extLst xmlns:a="http://schemas.openxmlformats.org/drawingml/2006/main">
              <a:ext uri="{FF2B5EF4-FFF2-40B4-BE49-F238E27FC236}">
                <a16:creationId xmlns:a16="http://schemas.microsoft.com/office/drawing/2014/main" id="{F634F788-4FF3-4C34-8511-E089A3462E3A}"/>
              </a:ext>
            </a:extLst>
          </p:cNvPr>
          <p:cNvSpPr>
            <a:spLocks xmlns:a="http://schemas.openxmlformats.org/drawingml/2006/main" noGrp="1"/>
          </p:cNvSpPr>
          <p:nvPr/>
        </p:nvSpPr>
        <p:spPr>
          <a:xfrm xmlns:a="http://schemas.openxmlformats.org/drawingml/2006/main">
            <a:off x="609600" y="647700"/>
            <a:ext cx="10972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0000"/>
              </a:lnSpc>
              <a:buNone/>
              <a:defRPr sz="2325" b="1">
                <a:solidFill>
                  <a:srgbClr val="F4F6F8"/>
                </a:solidFill>
                <a:latin typeface="DejaVu Sans"/>
                <a:ea typeface="DejaVu Sans"/>
                <a:cs typeface="DejaVu Sans"/>
              </a:defRPr>
            </a:pPr>
            <a:r>
              <a:rPr sz="2325" b="1">
                <a:solidFill>
                  <a:srgbClr val="F4F6F8"/>
                </a:solidFill>
                <a:latin typeface="DejaVu Sans"/>
                <a:ea typeface="DejaVu Sans"/>
                <a:cs typeface="DejaVu Sans"/>
              </a:rPr>
              <a:t>AI creates an integrated first-pass concept in hours—not a qualified system.</a:t>
            </a:r>
            <a:endParaRPr sz="2325" b="1">
              <a:solidFill>
                <a:srgbClr val="F4F6F8"/>
              </a:solidFill>
              <a:latin typeface="DejaVu Sans"/>
              <a:ea typeface="DejaVu Sans"/>
              <a:cs typeface="DejaVu Sans"/>
            </a:endParaRPr>
          </a:p>
        </p:txBody>
      </p:sp>
      <p:sp>
        <p:nvSpPr>
          <p:cNvPr id="3" name="Rectangle 2">
            <a:extLst xmlns:a="http://schemas.openxmlformats.org/drawingml/2006/main">
              <a:ext uri="{FF2B5EF4-FFF2-40B4-BE49-F238E27FC236}">
                <a16:creationId xmlns:a16="http://schemas.microsoft.com/office/drawing/2014/main" id="{B5023EB1-4567-45E7-84EB-6288419EEADC}"/>
              </a:ext>
            </a:extLst>
          </p:cNvPr>
          <p:cNvSpPr>
            <a:spLocks xmlns:a="http://schemas.openxmlformats.org/drawingml/2006/main" noGrp="1"/>
          </p:cNvSpPr>
          <p:nvPr/>
        </p:nvSpPr>
        <p:spPr>
          <a:xfrm xmlns:a="http://schemas.openxmlformats.org/drawingml/2006/main">
            <a:off x="641865" y="2762976"/>
            <a:ext cx="3101646" cy="14272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25" b="0">
                <a:solidFill>
                  <a:srgbClr val="8D99A3"/>
                </a:solidFill>
                <a:latin typeface="DejaVu Sans"/>
                <a:ea typeface="DejaVu Sans"/>
                <a:cs typeface="DejaVu Sans"/>
              </a:defRPr>
            </a:pPr>
            <a:r>
              <a:rPr sz="1425" b="0">
                <a:solidFill>
                  <a:srgbClr val="8D99A3"/>
                </a:solidFill>
                <a:latin typeface="DejaVu Sans"/>
                <a:ea typeface="DejaVu Sans"/>
                <a:cs typeface="DejaVu Sans"/>
              </a:rPr>
              <a:t>A design</a:t>
            </a:r>
            <a:r>
              <a:rPr sz="1425" b="0">
                <a:solidFill>
                  <a:srgbClr val="8D99A3"/>
                </a:solidFill>
                <a:latin typeface="DejaVu Sans"/>
                <a:ea typeface="DejaVu Sans"/>
                <a:cs typeface="DejaVu Sans"/>
              </a:rPr>
              <a:t> or plan</a:t>
            </a:r>
            <a:r>
              <a:rPr sz="1425" b="0">
                <a:solidFill>
                  <a:srgbClr val="8D99A3"/>
                </a:solidFill>
                <a:latin typeface="DejaVu Sans"/>
                <a:ea typeface="DejaVu Sans"/>
                <a:cs typeface="DejaVu Sans"/>
              </a:rPr>
              <a:t>-blocking uncertainty becomes an executable Research Request Package—not a vague demand for more study.</a:t>
            </a:r>
          </a:p>
        </p:txBody>
      </p:sp>
      <p:sp>
        <p:nvSpPr>
          <p:cNvPr id="8" name="Rectangle: Rounded Corners 7">
            <a:extLst xmlns:a="http://schemas.openxmlformats.org/drawingml/2006/main">
              <a:ext uri="{FF2B5EF4-FFF2-40B4-BE49-F238E27FC236}">
                <a16:creationId xmlns:a16="http://schemas.microsoft.com/office/drawing/2014/main" id="{D900194D-C722-4D74-96E5-F68575709884}"/>
              </a:ext>
            </a:extLst>
          </p:cNvPr>
          <p:cNvSpPr>
            <a:spLocks xmlns:a="http://schemas.openxmlformats.org/drawingml/2006/main" noGrp="1"/>
          </p:cNvSpPr>
          <p:nvPr/>
        </p:nvSpPr>
        <p:spPr>
          <a:xfrm xmlns:a="http://schemas.openxmlformats.org/drawingml/2006/main">
            <a:off x="6870390" y="3315974"/>
            <a:ext cx="4476750" cy="2764048"/>
          </a:xfrm>
          <a:prstGeom xmlns:a="http://schemas.openxmlformats.org/drawingml/2006/main" prst="roundRect">
            <a:avLst>
              <a:gd name="adj" fmla="val 6011"/>
            </a:avLst>
          </a:prstGeom>
          <a:gradFill xmlns:a="http://schemas.openxmlformats.org/drawingml/2006/main">
            <a:gsLst>
              <a:gs pos="0">
                <a:srgbClr val="1A2025"/>
              </a:gs>
              <a:gs pos="100000">
                <a:srgbClr val="0E1216"/>
              </a:gs>
            </a:gsLst>
            <a:lin ang="8100000"/>
          </a:gradFill>
          <a:ln xmlns:a="http://schemas.openxmlformats.org/drawingml/2006/main" w="14288">
            <a:solidFill>
              <a:srgbClr val="FFC857"/>
            </a:solidFill>
            <a:prstDash val="solid"/>
          </a:ln>
        </p:spPr>
        <p:txBody>
          <a:bodyPr xmlns:a="http://schemas.openxmlformats.org/drawingml/2006/main"/>
          <a:lstStyle xmlns:a="http://schemas.openxmlformats.org/drawingml/2006/main"/>
          <a:p xmlns:a="http://schemas.openxmlformats.org/drawingml/2006/main">
            <a:endParaRPr/>
          </a:p>
        </p:txBody>
      </p:sp>
      <p:sp>
        <p:nvSpPr>
          <p:cNvPr id="10" name="Rectangle 9">
            <a:extLst xmlns:a="http://schemas.openxmlformats.org/drawingml/2006/main">
              <a:ext uri="{FF2B5EF4-FFF2-40B4-BE49-F238E27FC236}">
                <a16:creationId xmlns:a16="http://schemas.microsoft.com/office/drawing/2014/main" id="{4D588287-ACD6-43D0-A8AA-F3CB9F3CB0A7}"/>
              </a:ext>
            </a:extLst>
          </p:cNvPr>
          <p:cNvSpPr>
            <a:spLocks xmlns:a="http://schemas.openxmlformats.org/drawingml/2006/main" noGrp="1"/>
          </p:cNvSpPr>
          <p:nvPr/>
        </p:nvSpPr>
        <p:spPr>
          <a:xfrm xmlns:a="http://schemas.openxmlformats.org/drawingml/2006/main">
            <a:off x="7165665" y="3526051"/>
            <a:ext cx="1104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39D7FF"/>
                </a:solidFill>
                <a:latin typeface="DejaVu Sans Mono"/>
                <a:ea typeface="DejaVu Sans Mono"/>
                <a:cs typeface="DejaVu Sans Mono"/>
              </a:defRPr>
            </a:pPr>
            <a:r>
              <a:rPr sz="900" b="1">
                <a:solidFill>
                  <a:srgbClr val="39D7FF"/>
                </a:solidFill>
                <a:latin typeface="DejaVu Sans Mono"/>
                <a:ea typeface="DejaVu Sans Mono"/>
                <a:cs typeface="DejaVu Sans Mono"/>
              </a:rPr>
              <a:t>HYPOTHESES</a:t>
            </a:r>
          </a:p>
        </p:txBody>
      </p:sp>
      <p:sp>
        <p:nvSpPr>
          <p:cNvPr id="12" name="Straight Connector 11">
            <a:extLst xmlns:a="http://schemas.openxmlformats.org/drawingml/2006/main">
              <a:ext uri="{FF2B5EF4-FFF2-40B4-BE49-F238E27FC236}">
                <a16:creationId xmlns:a16="http://schemas.microsoft.com/office/drawing/2014/main" id="{AD45CC1F-1AB6-48C5-9266-B82259A60F84}"/>
              </a:ext>
            </a:extLst>
          </p:cNvPr>
          <p:cNvSpPr>
            <a:spLocks xmlns:a="http://schemas.openxmlformats.org/drawingml/2006/main" noGrp="1"/>
          </p:cNvSpPr>
          <p:nvPr/>
        </p:nvSpPr>
        <p:spPr>
          <a:xfrm xmlns:a="http://schemas.openxmlformats.org/drawingml/2006/main">
            <a:off x="7165665" y="3964201"/>
            <a:ext cx="3886200" cy="0"/>
          </a:xfrm>
          <a:prstGeom xmlns:a="http://schemas.openxmlformats.org/drawingml/2006/main" prst="line">
            <a:avLst/>
          </a:prstGeom>
          <a:noFill xmlns:a="http://schemas.openxmlformats.org/drawingml/2006/main"/>
          <a:ln xmlns:a="http://schemas.openxmlformats.org/drawingml/2006/main" w="9525">
            <a:solidFill>
              <a:srgbClr val="35414B"/>
            </a:solidFill>
            <a:prstDash val="solid"/>
          </a:ln>
        </p:spPr>
        <p:txBody>
          <a:bodyPr xmlns:a="http://schemas.openxmlformats.org/drawingml/2006/main"/>
          <a:lstStyle xmlns:a="http://schemas.openxmlformats.org/drawingml/2006/main"/>
          <a:p xmlns:a="http://schemas.openxmlformats.org/drawingml/2006/main">
            <a:endParaRPr/>
          </a:p>
        </p:txBody>
      </p:sp>
      <p:sp>
        <p:nvSpPr>
          <p:cNvPr id="13" name="Rectangle 12">
            <a:extLst xmlns:a="http://schemas.openxmlformats.org/drawingml/2006/main">
              <a:ext uri="{FF2B5EF4-FFF2-40B4-BE49-F238E27FC236}">
                <a16:creationId xmlns:a16="http://schemas.microsoft.com/office/drawing/2014/main" id="{7494641D-67C0-4935-A248-FA6E2B490751}"/>
              </a:ext>
            </a:extLst>
          </p:cNvPr>
          <p:cNvSpPr>
            <a:spLocks xmlns:a="http://schemas.openxmlformats.org/drawingml/2006/main" noGrp="1"/>
          </p:cNvSpPr>
          <p:nvPr/>
        </p:nvSpPr>
        <p:spPr>
          <a:xfrm xmlns:a="http://schemas.openxmlformats.org/drawingml/2006/main">
            <a:off x="7165665" y="4040401"/>
            <a:ext cx="1104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39D7FF"/>
                </a:solidFill>
                <a:latin typeface="DejaVu Sans Mono"/>
                <a:ea typeface="DejaVu Sans Mono"/>
                <a:cs typeface="DejaVu Sans Mono"/>
              </a:defRPr>
            </a:pPr>
            <a:r>
              <a:rPr sz="900" b="1">
                <a:solidFill>
                  <a:srgbClr val="39D7FF"/>
                </a:solidFill>
                <a:latin typeface="DejaVu Sans Mono"/>
                <a:ea typeface="DejaVu Sans Mono"/>
                <a:cs typeface="DejaVu Sans Mono"/>
              </a:rPr>
              <a:t>RESEARCH</a:t>
            </a:r>
            <a:endParaRPr sz="900" b="1">
              <a:solidFill>
                <a:srgbClr val="39D7FF"/>
              </a:solidFill>
              <a:latin typeface="DejaVu Sans Mono"/>
              <a:ea typeface="DejaVu Sans Mono"/>
              <a:cs typeface="DejaVu Sans Mono"/>
            </a:endParaRPr>
          </a:p>
        </p:txBody>
      </p:sp>
      <p:sp>
        <p:nvSpPr>
          <p:cNvPr id="15" name="Straight Connector 14">
            <a:extLst xmlns:a="http://schemas.openxmlformats.org/drawingml/2006/main">
              <a:ext uri="{FF2B5EF4-FFF2-40B4-BE49-F238E27FC236}">
                <a16:creationId xmlns:a16="http://schemas.microsoft.com/office/drawing/2014/main" id="{C02ADC3C-6762-4B76-85C5-1563E0856D25}"/>
              </a:ext>
            </a:extLst>
          </p:cNvPr>
          <p:cNvSpPr>
            <a:spLocks xmlns:a="http://schemas.openxmlformats.org/drawingml/2006/main" noGrp="1"/>
          </p:cNvSpPr>
          <p:nvPr/>
        </p:nvSpPr>
        <p:spPr>
          <a:xfrm xmlns:a="http://schemas.openxmlformats.org/drawingml/2006/main">
            <a:off x="7165665" y="4478551"/>
            <a:ext cx="3886200" cy="0"/>
          </a:xfrm>
          <a:prstGeom xmlns:a="http://schemas.openxmlformats.org/drawingml/2006/main" prst="line">
            <a:avLst/>
          </a:prstGeom>
          <a:noFill xmlns:a="http://schemas.openxmlformats.org/drawingml/2006/main"/>
          <a:ln xmlns:a="http://schemas.openxmlformats.org/drawingml/2006/main" w="9525">
            <a:solidFill>
              <a:srgbClr val="35414B"/>
            </a:solidFill>
            <a:prstDash val="solid"/>
          </a:ln>
        </p:spPr>
        <p:txBody>
          <a:bodyPr xmlns:a="http://schemas.openxmlformats.org/drawingml/2006/main"/>
          <a:lstStyle xmlns:a="http://schemas.openxmlformats.org/drawingml/2006/main"/>
          <a:p xmlns:a="http://schemas.openxmlformats.org/drawingml/2006/main">
            <a:endParaRPr/>
          </a:p>
        </p:txBody>
      </p:sp>
      <p:sp>
        <p:nvSpPr>
          <p:cNvPr id="16" name="Rectangle 15">
            <a:extLst xmlns:a="http://schemas.openxmlformats.org/drawingml/2006/main">
              <a:ext uri="{FF2B5EF4-FFF2-40B4-BE49-F238E27FC236}">
                <a16:creationId xmlns:a16="http://schemas.microsoft.com/office/drawing/2014/main" id="{662CE51E-1D64-43C3-844E-0196D11CB06C}"/>
              </a:ext>
            </a:extLst>
          </p:cNvPr>
          <p:cNvSpPr>
            <a:spLocks xmlns:a="http://schemas.openxmlformats.org/drawingml/2006/main" noGrp="1"/>
          </p:cNvSpPr>
          <p:nvPr/>
        </p:nvSpPr>
        <p:spPr>
          <a:xfrm xmlns:a="http://schemas.openxmlformats.org/drawingml/2006/main">
            <a:off x="7165665" y="4554751"/>
            <a:ext cx="1104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39D7FF"/>
                </a:solidFill>
                <a:latin typeface="DejaVu Sans Mono"/>
                <a:ea typeface="DejaVu Sans Mono"/>
                <a:cs typeface="DejaVu Sans Mono"/>
              </a:defRPr>
            </a:pPr>
            <a:r>
              <a:rPr sz="900" b="1">
                <a:solidFill>
                  <a:srgbClr val="39D7FF"/>
                </a:solidFill>
                <a:latin typeface="DejaVu Sans Mono"/>
                <a:ea typeface="DejaVu Sans Mono"/>
                <a:cs typeface="DejaVu Sans Mono"/>
              </a:rPr>
              <a:t>EXPERIMENT</a:t>
            </a:r>
            <a:endParaRPr sz="900" b="1">
              <a:solidFill>
                <a:srgbClr val="39D7FF"/>
              </a:solidFill>
              <a:latin typeface="DejaVu Sans Mono"/>
              <a:ea typeface="DejaVu Sans Mono"/>
              <a:cs typeface="DejaVu Sans Mono"/>
            </a:endParaRPr>
          </a:p>
        </p:txBody>
      </p:sp>
      <p:sp>
        <p:nvSpPr>
          <p:cNvPr id="18" name="Straight Connector 17">
            <a:extLst xmlns:a="http://schemas.openxmlformats.org/drawingml/2006/main">
              <a:ext uri="{FF2B5EF4-FFF2-40B4-BE49-F238E27FC236}">
                <a16:creationId xmlns:a16="http://schemas.microsoft.com/office/drawing/2014/main" id="{1A531600-7E86-4FC7-993F-D6C6E75A6843}"/>
              </a:ext>
            </a:extLst>
          </p:cNvPr>
          <p:cNvSpPr>
            <a:spLocks xmlns:a="http://schemas.openxmlformats.org/drawingml/2006/main" noGrp="1"/>
          </p:cNvSpPr>
          <p:nvPr/>
        </p:nvSpPr>
        <p:spPr>
          <a:xfrm xmlns:a="http://schemas.openxmlformats.org/drawingml/2006/main">
            <a:off x="7165665" y="4992901"/>
            <a:ext cx="3886200" cy="0"/>
          </a:xfrm>
          <a:prstGeom xmlns:a="http://schemas.openxmlformats.org/drawingml/2006/main" prst="line">
            <a:avLst/>
          </a:prstGeom>
          <a:noFill xmlns:a="http://schemas.openxmlformats.org/drawingml/2006/main"/>
          <a:ln xmlns:a="http://schemas.openxmlformats.org/drawingml/2006/main" w="9525">
            <a:solidFill>
              <a:srgbClr val="35414B"/>
            </a:solidFill>
            <a:prstDash val="solid"/>
          </a:ln>
        </p:spPr>
        <p:txBody>
          <a:bodyPr xmlns:a="http://schemas.openxmlformats.org/drawingml/2006/main"/>
          <a:lstStyle xmlns:a="http://schemas.openxmlformats.org/drawingml/2006/main"/>
          <a:p xmlns:a="http://schemas.openxmlformats.org/drawingml/2006/main">
            <a:endParaRPr/>
          </a:p>
        </p:txBody>
      </p:sp>
      <p:sp>
        <p:nvSpPr>
          <p:cNvPr id="19" name="Rectangle 18">
            <a:extLst xmlns:a="http://schemas.openxmlformats.org/drawingml/2006/main">
              <a:ext uri="{FF2B5EF4-FFF2-40B4-BE49-F238E27FC236}">
                <a16:creationId xmlns:a16="http://schemas.microsoft.com/office/drawing/2014/main" id="{B32DD6FA-5C5F-4E7C-BD99-49E4A57786F8}"/>
              </a:ext>
            </a:extLst>
          </p:cNvPr>
          <p:cNvSpPr>
            <a:spLocks xmlns:a="http://schemas.openxmlformats.org/drawingml/2006/main" noGrp="1"/>
          </p:cNvSpPr>
          <p:nvPr/>
        </p:nvSpPr>
        <p:spPr>
          <a:xfrm xmlns:a="http://schemas.openxmlformats.org/drawingml/2006/main">
            <a:off x="7165665" y="5069101"/>
            <a:ext cx="1104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39D7FF"/>
                </a:solidFill>
                <a:latin typeface="DejaVu Sans Mono"/>
                <a:ea typeface="DejaVu Sans Mono"/>
                <a:cs typeface="DejaVu Sans Mono"/>
              </a:defRPr>
            </a:pPr>
            <a:r>
              <a:rPr sz="900" b="1">
                <a:solidFill>
                  <a:srgbClr val="39D7FF"/>
                </a:solidFill>
                <a:latin typeface="DejaVu Sans Mono"/>
                <a:ea typeface="DejaVu Sans Mono"/>
                <a:cs typeface="DejaVu Sans Mono"/>
              </a:rPr>
              <a:t>ANALYSIS </a:t>
            </a:r>
            <a:endParaRPr sz="900" b="1">
              <a:solidFill>
                <a:srgbClr val="39D7FF"/>
              </a:solidFill>
              <a:latin typeface="DejaVu Sans Mono"/>
              <a:ea typeface="DejaVu Sans Mono"/>
              <a:cs typeface="DejaVu Sans Mono"/>
            </a:endParaRPr>
          </a:p>
        </p:txBody>
      </p:sp>
      <p:sp>
        <p:nvSpPr>
          <p:cNvPr id="21" name="Straight Connector 20">
            <a:extLst xmlns:a="http://schemas.openxmlformats.org/drawingml/2006/main">
              <a:ext uri="{FF2B5EF4-FFF2-40B4-BE49-F238E27FC236}">
                <a16:creationId xmlns:a16="http://schemas.microsoft.com/office/drawing/2014/main" id="{B3E5C8AB-B38B-4B9C-AE7E-CF54B535F72E}"/>
              </a:ext>
            </a:extLst>
          </p:cNvPr>
          <p:cNvSpPr>
            <a:spLocks xmlns:a="http://schemas.openxmlformats.org/drawingml/2006/main" noGrp="1"/>
          </p:cNvSpPr>
          <p:nvPr/>
        </p:nvSpPr>
        <p:spPr>
          <a:xfrm xmlns:a="http://schemas.openxmlformats.org/drawingml/2006/main">
            <a:off x="7165665" y="5507251"/>
            <a:ext cx="3886200" cy="0"/>
          </a:xfrm>
          <a:prstGeom xmlns:a="http://schemas.openxmlformats.org/drawingml/2006/main" prst="line">
            <a:avLst/>
          </a:prstGeom>
          <a:noFill xmlns:a="http://schemas.openxmlformats.org/drawingml/2006/main"/>
          <a:ln xmlns:a="http://schemas.openxmlformats.org/drawingml/2006/main" w="9525">
            <a:solidFill>
              <a:srgbClr val="35414B"/>
            </a:solidFill>
            <a:prstDash val="solid"/>
          </a:ln>
        </p:spPr>
        <p:txBody>
          <a:bodyPr xmlns:a="http://schemas.openxmlformats.org/drawingml/2006/main"/>
          <a:lstStyle xmlns:a="http://schemas.openxmlformats.org/drawingml/2006/main"/>
          <a:p xmlns:a="http://schemas.openxmlformats.org/drawingml/2006/main">
            <a:endParaRPr/>
          </a:p>
        </p:txBody>
      </p:sp>
      <p:sp>
        <p:nvSpPr>
          <p:cNvPr id="22" name="Rectangle 21">
            <a:extLst xmlns:a="http://schemas.openxmlformats.org/drawingml/2006/main">
              <a:ext uri="{FF2B5EF4-FFF2-40B4-BE49-F238E27FC236}">
                <a16:creationId xmlns:a16="http://schemas.microsoft.com/office/drawing/2014/main" id="{A5A8A0B7-7290-4A22-A9F8-80A6225E2371}"/>
              </a:ext>
            </a:extLst>
          </p:cNvPr>
          <p:cNvSpPr>
            <a:spLocks xmlns:a="http://schemas.openxmlformats.org/drawingml/2006/main" noGrp="1"/>
          </p:cNvSpPr>
          <p:nvPr/>
        </p:nvSpPr>
        <p:spPr>
          <a:xfrm xmlns:a="http://schemas.openxmlformats.org/drawingml/2006/main">
            <a:off x="7165665" y="5583451"/>
            <a:ext cx="1104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39D7FF"/>
                </a:solidFill>
                <a:latin typeface="DejaVu Sans Mono"/>
                <a:ea typeface="DejaVu Sans Mono"/>
                <a:cs typeface="DejaVu Sans Mono"/>
              </a:defRPr>
            </a:pPr>
            <a:r>
              <a:rPr sz="900" b="1">
                <a:solidFill>
                  <a:srgbClr val="39D7FF"/>
                </a:solidFill>
                <a:latin typeface="DejaVu Sans Mono"/>
                <a:ea typeface="DejaVu Sans Mono"/>
                <a:cs typeface="DejaVu Sans Mono"/>
              </a:rPr>
              <a:t>VALIDATION</a:t>
            </a:r>
            <a:endParaRPr sz="900" b="1">
              <a:solidFill>
                <a:srgbClr val="39D7FF"/>
              </a:solidFill>
              <a:latin typeface="DejaVu Sans Mono"/>
              <a:ea typeface="DejaVu Sans Mono"/>
              <a:cs typeface="DejaVu Sans Mono"/>
            </a:endParaRPr>
          </a:p>
        </p:txBody>
      </p:sp>
      <p:sp>
        <p:nvSpPr>
          <p:cNvPr id="25" name="Rectangle: Rounded Corners 24">
            <a:extLst xmlns:a="http://schemas.openxmlformats.org/drawingml/2006/main">
              <a:ext uri="{FF2B5EF4-FFF2-40B4-BE49-F238E27FC236}">
                <a16:creationId xmlns:a16="http://schemas.microsoft.com/office/drawing/2014/main" id="{CD0FB828-8760-43C3-8358-A9E4E8A01935}"/>
              </a:ext>
            </a:extLst>
          </p:cNvPr>
          <p:cNvSpPr>
            <a:spLocks xmlns:a="http://schemas.openxmlformats.org/drawingml/2006/main" noGrp="1"/>
          </p:cNvSpPr>
          <p:nvPr/>
        </p:nvSpPr>
        <p:spPr>
          <a:xfrm xmlns:a="http://schemas.openxmlformats.org/drawingml/2006/main">
            <a:off x="8210550" y="1232699"/>
            <a:ext cx="2095500" cy="990600"/>
          </a:xfrm>
          <a:prstGeom xmlns:a="http://schemas.openxmlformats.org/drawingml/2006/main" prst="roundRect">
            <a:avLst>
              <a:gd name="adj" fmla="val 15385"/>
            </a:avLst>
          </a:prstGeom>
          <a:solidFill xmlns:a="http://schemas.openxmlformats.org/drawingml/2006/main">
            <a:srgbClr val="101A17"/>
          </a:solidFill>
          <a:ln xmlns:a="http://schemas.openxmlformats.org/drawingml/2006/main" w="14288">
            <a:solidFill>
              <a:schemeClr val="accent5">
                <a:lumMod val="60000"/>
                <a:lumOff val="40000"/>
              </a:schemeClr>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350" b="1">
                <a:solidFill>
                  <a:srgbClr val="62D6A7"/>
                </a:solidFill>
                <a:latin typeface="DejaVu Sans"/>
                <a:ea typeface="DejaVu Sans"/>
                <a:cs typeface="DejaVu Sans"/>
              </a:defRPr>
            </a:pPr>
            <a:r>
              <a:rPr sz="1350" b="1">
                <a:solidFill>
                  <a:schemeClr val="accent5">
                    <a:lumMod val="60000"/>
                    <a:lumOff val="40000"/>
                  </a:schemeClr>
                </a:solidFill>
                <a:latin typeface="DejaVu Sans"/>
                <a:ea typeface="DejaVu Sans"/>
                <a:cs typeface="DejaVu Sans"/>
              </a:rPr>
              <a:t>PLAN &amp; EXECUTE</a:t>
            </a:r>
            <a:endParaRPr sz="1350" b="1">
              <a:solidFill>
                <a:schemeClr val="accent5">
                  <a:lumMod val="60000"/>
                  <a:lumOff val="40000"/>
                </a:schemeClr>
              </a:solidFill>
              <a:latin typeface="DejaVu Sans"/>
              <a:ea typeface="DejaVu Sans"/>
              <a:cs typeface="DejaVu Sans"/>
            </a:endParaRPr>
          </a:p>
        </p:txBody>
      </p:sp>
      <p:sp>
        <p:nvSpPr>
          <p:cNvPr id="28" name="Rectangle: Rounded Corners 27">
            <a:extLst xmlns:a="http://schemas.openxmlformats.org/drawingml/2006/main">
              <a:ext uri="{FF2B5EF4-FFF2-40B4-BE49-F238E27FC236}">
                <a16:creationId xmlns:a16="http://schemas.microsoft.com/office/drawing/2014/main" id="{CF5BACD7-839D-4443-9403-8DFABDA5F4CA}"/>
              </a:ext>
            </a:extLst>
          </p:cNvPr>
          <p:cNvSpPr>
            <a:spLocks xmlns:a="http://schemas.openxmlformats.org/drawingml/2006/main" noGrp="1"/>
          </p:cNvSpPr>
          <p:nvPr/>
        </p:nvSpPr>
        <p:spPr>
          <a:xfrm xmlns:a="http://schemas.openxmlformats.org/drawingml/2006/main">
            <a:off x="1174271" y="1287672"/>
            <a:ext cx="2247900" cy="876300"/>
          </a:xfrm>
          <a:prstGeom xmlns:a="http://schemas.openxmlformats.org/drawingml/2006/main" prst="roundRect">
            <a:avLst>
              <a:gd name="adj" fmla="val 17391"/>
            </a:avLst>
          </a:prstGeom>
          <a:solidFill xmlns:a="http://schemas.openxmlformats.org/drawingml/2006/main">
            <a:srgbClr val="10161B"/>
          </a:solidFill>
          <a:ln xmlns:a="http://schemas.openxmlformats.org/drawingml/2006/main" w="14288">
            <a:solidFill>
              <a:srgbClr val="39D7FF"/>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200" b="1">
                <a:solidFill>
                  <a:srgbClr val="39D7FF"/>
                </a:solidFill>
                <a:latin typeface="DejaVu Sans Mono"/>
                <a:ea typeface="DejaVu Sans Mono"/>
                <a:cs typeface="DejaVu Sans Mono"/>
              </a:defRPr>
            </a:pPr>
            <a:r>
              <a:rPr sz="1200" b="1">
                <a:solidFill>
                  <a:srgbClr val="39D7FF"/>
                </a:solidFill>
                <a:latin typeface="DejaVu Sans Mono"/>
                <a:ea typeface="DejaVu Sans Mono"/>
                <a:cs typeface="DejaVu Sans Mono"/>
              </a:rPr>
              <a:t>SCIENCE &amp; RESEARCH</a:t>
            </a:r>
            <a:endParaRPr sz="1200" b="1">
              <a:solidFill>
                <a:srgbClr val="39D7FF"/>
              </a:solidFill>
              <a:latin typeface="DejaVu Sans Mono"/>
              <a:ea typeface="DejaVu Sans Mono"/>
              <a:cs typeface="DejaVu Sans Mono"/>
            </a:endParaRPr>
          </a:p>
        </p:txBody>
      </p:sp>
      <p:sp>
        <p:nvSpPr>
          <p:cNvPr id="31" name="Rectangle: Rounded Corners 30">
            <a:extLst xmlns:a="http://schemas.openxmlformats.org/drawingml/2006/main">
              <a:ext uri="{FF2B5EF4-FFF2-40B4-BE49-F238E27FC236}">
                <a16:creationId xmlns:a16="http://schemas.microsoft.com/office/drawing/2014/main" id="{468F5472-99BA-440D-8A43-5687A592944F}"/>
              </a:ext>
            </a:extLst>
          </p:cNvPr>
          <p:cNvSpPr>
            <a:spLocks xmlns:a="http://schemas.openxmlformats.org/drawingml/2006/main" noGrp="1"/>
          </p:cNvSpPr>
          <p:nvPr/>
        </p:nvSpPr>
        <p:spPr>
          <a:xfrm xmlns:a="http://schemas.openxmlformats.org/drawingml/2006/main">
            <a:off x="4581525" y="1280832"/>
            <a:ext cx="2381250" cy="876300"/>
          </a:xfrm>
          <a:prstGeom xmlns:a="http://schemas.openxmlformats.org/drawingml/2006/main" prst="roundRect">
            <a:avLst>
              <a:gd name="adj" fmla="val 17391"/>
            </a:avLst>
          </a:prstGeom>
          <a:solidFill xmlns:a="http://schemas.openxmlformats.org/drawingml/2006/main">
            <a:srgbClr val="18120F"/>
          </a:solidFill>
          <a:ln xmlns:a="http://schemas.openxmlformats.org/drawingml/2006/main" w="14288">
            <a:solidFill>
              <a:srgbClr val="F26B38"/>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425" b="1">
                <a:solidFill>
                  <a:srgbClr val="F26B38"/>
                </a:solidFill>
                <a:latin typeface="DejaVu Sans"/>
                <a:ea typeface="DejaVu Sans"/>
                <a:cs typeface="DejaVu Sans"/>
              </a:defRPr>
            </a:pPr>
            <a:r>
              <a:rPr sz="1425" b="1">
                <a:solidFill>
                  <a:srgbClr val="F26B38"/>
                </a:solidFill>
                <a:latin typeface="DejaVu Sans"/>
                <a:ea typeface="DejaVu Sans"/>
                <a:cs typeface="DejaVu Sans"/>
              </a:rPr>
              <a:t>ENGINEERING</a:t>
            </a:r>
          </a:p>
          <a:p xmlns:a="http://schemas.openxmlformats.org/drawingml/2006/main">
            <a:pPr algn="ctr">
              <a:lnSpc>
                <a:spcPct val="90000"/>
              </a:lnSpc>
              <a:buNone/>
              <a:defRPr sz="1425" b="1">
                <a:solidFill>
                  <a:srgbClr val="F26B38"/>
                </a:solidFill>
                <a:latin typeface="DejaVu Sans"/>
                <a:ea typeface="DejaVu Sans"/>
                <a:cs typeface="DejaVu Sans"/>
              </a:defRPr>
            </a:pPr>
            <a:r>
              <a:rPr sz="1425" b="1">
                <a:solidFill>
                  <a:srgbClr val="F26B38"/>
                </a:solidFill>
                <a:latin typeface="DejaVu Sans"/>
                <a:ea typeface="DejaVu Sans"/>
                <a:cs typeface="DejaVu Sans"/>
              </a:rPr>
              <a:t>DESIGN</a:t>
            </a:r>
            <a:endParaRPr sz="1425" b="1">
              <a:solidFill>
                <a:srgbClr val="F26B38"/>
              </a:solidFill>
              <a:latin typeface="DejaVu Sans"/>
              <a:ea typeface="DejaVu Sans"/>
              <a:cs typeface="DejaVu Sans"/>
            </a:endParaRPr>
          </a:p>
        </p:txBody>
      </p:sp>
      <p:sp>
        <p:nvSpPr>
          <p:cNvPr id="33" name="Rectangle 32">
            <a:extLst xmlns:a="http://schemas.openxmlformats.org/drawingml/2006/main">
              <a:ext uri="{FF2B5EF4-FFF2-40B4-BE49-F238E27FC236}">
                <a16:creationId xmlns:a16="http://schemas.microsoft.com/office/drawing/2014/main" id="{F40CEC8E-C199-4837-B64F-64F19C332542}"/>
              </a:ext>
            </a:extLst>
          </p:cNvPr>
          <p:cNvSpPr>
            <a:spLocks xmlns:a="http://schemas.openxmlformats.org/drawingml/2006/main" noGrp="1"/>
          </p:cNvSpPr>
          <p:nvPr/>
        </p:nvSpPr>
        <p:spPr>
          <a:xfrm xmlns:a="http://schemas.openxmlformats.org/drawingml/2006/main">
            <a:off x="0" y="6400800"/>
            <a:ext cx="12192000" cy="457200"/>
          </a:xfrm>
          <a:prstGeom xmlns:a="http://schemas.openxmlformats.org/drawingml/2006/main" prst="rect">
            <a:avLst/>
          </a:prstGeom>
          <a:solidFill xmlns:a="http://schemas.openxmlformats.org/drawingml/2006/main">
            <a:srgbClr val="07090C">
              <a:alpha val="76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4" name="Rectangle 33">
            <a:extLst xmlns:a="http://schemas.openxmlformats.org/drawingml/2006/main">
              <a:ext uri="{FF2B5EF4-FFF2-40B4-BE49-F238E27FC236}">
                <a16:creationId xmlns:a16="http://schemas.microsoft.com/office/drawing/2014/main" id="{3086001B-C194-4B60-A7C2-3298BBD6636A}"/>
              </a:ext>
            </a:extLst>
          </p:cNvPr>
          <p:cNvSpPr>
            <a:spLocks xmlns:a="http://schemas.openxmlformats.org/drawingml/2006/main" noGrp="1"/>
          </p:cNvSpPr>
          <p:nvPr/>
        </p:nvSpPr>
        <p:spPr>
          <a:xfrm xmlns:a="http://schemas.openxmlformats.org/drawingml/2006/main">
            <a:off x="609600" y="6553200"/>
            <a:ext cx="68580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MARS SOCIETY 2026  •  HARNESSED AGENTIC SCIENCE + ENGINEERING</a:t>
            </a:r>
          </a:p>
        </p:txBody>
      </p:sp>
      <p:sp>
        <p:nvSpPr>
          <p:cNvPr id="35" name="Rectangle 34">
            <a:extLst xmlns:a="http://schemas.openxmlformats.org/drawingml/2006/main">
              <a:ext uri="{FF2B5EF4-FFF2-40B4-BE49-F238E27FC236}">
                <a16:creationId xmlns:a16="http://schemas.microsoft.com/office/drawing/2014/main" id="{9A6D34F0-9937-48C5-A511-A60C027AD983}"/>
              </a:ext>
            </a:extLst>
          </p:cNvPr>
          <p:cNvSpPr>
            <a:spLocks xmlns:a="http://schemas.openxmlformats.org/drawingml/2006/main" noGrp="1"/>
          </p:cNvSpPr>
          <p:nvPr/>
        </p:nvSpPr>
        <p:spPr>
          <a:xfrm xmlns:a="http://schemas.openxmlformats.org/drawingml/2006/main">
            <a:off x="9525000" y="6553200"/>
            <a:ext cx="20574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BOB J MILLS     18</a:t>
            </a:r>
          </a:p>
        </p:txBody>
      </p:sp>
      <p:sp>
        <p:nvSpPr>
          <p:cNvPr id="42" name="Rectangle: Rounded Corners 41">
            <a:extLst xmlns:a="http://schemas.openxmlformats.org/drawingml/2006/main">
              <a:ext uri="{FF2B5EF4-FFF2-40B4-BE49-F238E27FC236}">
                <a16:creationId xmlns:a16="http://schemas.microsoft.com/office/drawing/2014/main" id="{182D7673-DAD9-26B8-9FA8-461FA13BFA82}"/>
              </a:ext>
            </a:extLst>
          </p:cNvPr>
          <p:cNvSpPr>
            <a:spLocks xmlns:a="http://schemas.openxmlformats.org/drawingml/2006/main" noGrp="1"/>
          </p:cNvSpPr>
          <p:nvPr/>
        </p:nvSpPr>
        <p:spPr>
          <a:xfrm xmlns:a="http://schemas.openxmlformats.org/drawingml/2006/main">
            <a:off x="1088904" y="4135651"/>
            <a:ext cx="5045691" cy="1912883"/>
          </a:xfrm>
          <a:prstGeom xmlns:a="http://schemas.openxmlformats.org/drawingml/2006/main" prst="roundRect">
            <a:avLst>
              <a:gd name="adj" fmla="val 8669"/>
            </a:avLst>
          </a:prstGeom>
          <a:solidFill xmlns:a="http://schemas.openxmlformats.org/drawingml/2006/main">
            <a:srgbClr val="101A17"/>
          </a:solidFill>
          <a:ln xmlns:a="http://schemas.openxmlformats.org/drawingml/2006/main" w="14288">
            <a:solidFill>
              <a:srgbClr val="62D6A7"/>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marL="285750" indent="-285750">
              <a:lnSpc>
                <a:spcPct val="90000"/>
              </a:lnSpc>
              <a:buFont typeface="Arial"/>
              <a:buChar char="•"/>
              <a:defRPr sz="1275" b="1">
                <a:solidFill>
                  <a:srgbClr val="62D6A7"/>
                </a:solidFill>
                <a:latin typeface="DejaVu Sans Mono"/>
                <a:ea typeface="DejaVu Sans Mono"/>
                <a:cs typeface="DejaVu Sans Mono"/>
              </a:defRPr>
            </a:pPr>
            <a:endParaRPr sz="1275" b="1">
              <a:solidFill>
                <a:srgbClr val="62D6A7"/>
              </a:solidFill>
              <a:latin typeface="DejaVu Sans Mono"/>
              <a:ea typeface="DejaVu Sans Mono"/>
              <a:cs typeface="DejaVu Sans Mono"/>
            </a:endParaRPr>
          </a:p>
          <a:p xmlns:a="http://schemas.openxmlformats.org/drawingml/2006/main">
            <a:pPr marL="285750" indent="-285750">
              <a:lnSpc>
                <a:spcPct val="90000"/>
              </a:lnSpc>
              <a:buFont typeface="Arial"/>
              <a:buChar char="•"/>
              <a:defRPr sz="1275" b="1">
                <a:solidFill>
                  <a:srgbClr val="62D6A7"/>
                </a:solidFill>
                <a:latin typeface="DejaVu Sans Mono"/>
                <a:ea typeface="DejaVu Sans Mono"/>
                <a:cs typeface="DejaVu Sans Mono"/>
              </a:defRPr>
            </a:pPr>
            <a:endParaRPr sz="1275" b="1">
              <a:solidFill>
                <a:srgbClr val="62D6A7"/>
              </a:solidFill>
              <a:latin typeface="DejaVu Sans Mono"/>
              <a:ea typeface="DejaVu Sans Mono"/>
              <a:cs typeface="DejaVu Sans Mono"/>
            </a:endParaRPr>
          </a:p>
          <a:p xmlns:a="http://schemas.openxmlformats.org/drawingml/2006/main">
            <a:pPr marL="285750" indent="-285750">
              <a:lnSpc>
                <a:spcPct val="90000"/>
              </a:lnSpc>
              <a:buFont typeface="Arial"/>
              <a:buChar char="•"/>
              <a:defRPr sz="1275" b="1">
                <a:solidFill>
                  <a:srgbClr val="62D6A7"/>
                </a:solidFill>
                <a:latin typeface="DejaVu Sans Mono"/>
                <a:ea typeface="DejaVu Sans Mono"/>
                <a:cs typeface="DejaVu Sans Mono"/>
              </a:defRPr>
            </a:pPr>
            <a:r>
              <a:rPr sz="1275" b="1">
                <a:solidFill>
                  <a:srgbClr val="62D6A7"/>
                </a:solidFill>
                <a:latin typeface="DejaVu Sans Mono"/>
                <a:ea typeface="DejaVu Sans Mono"/>
                <a:cs typeface="DejaVu Sans Mono"/>
              </a:rPr>
              <a:t>AI interacts between all steps feeding each step context to the next</a:t>
            </a:r>
          </a:p>
          <a:p xmlns:a="http://schemas.openxmlformats.org/drawingml/2006/main">
            <a:pPr marL="285750" indent="-285750">
              <a:lnSpc>
                <a:spcPct val="90000"/>
              </a:lnSpc>
              <a:buFont typeface="Arial"/>
              <a:buChar char="•"/>
              <a:defRPr sz="1275" b="1">
                <a:solidFill>
                  <a:srgbClr val="62D6A7"/>
                </a:solidFill>
                <a:latin typeface="DejaVu Sans Mono"/>
                <a:ea typeface="DejaVu Sans Mono"/>
                <a:cs typeface="DejaVu Sans Mono"/>
              </a:defRPr>
            </a:pPr>
            <a:r>
              <a:rPr sz="1275" b="1">
                <a:solidFill>
                  <a:srgbClr val="62D6A7"/>
                </a:solidFill>
                <a:latin typeface="DejaVu Sans Mono"/>
                <a:ea typeface="DejaVu Sans Mono"/>
                <a:cs typeface="DejaVu Sans Mono"/>
              </a:rPr>
              <a:t>AI-driven</a:t>
            </a:r>
            <a:r>
              <a:rPr sz="1275" b="1">
                <a:solidFill>
                  <a:srgbClr val="62D6A7"/>
                </a:solidFill>
                <a:latin typeface="DejaVu Sans Mono"/>
                <a:ea typeface="DejaVu Sans Mono"/>
                <a:cs typeface="DejaVu Sans Mono"/>
              </a:rPr>
              <a:t> change management feeds back and re-executes previous steps upgrading documentation</a:t>
            </a:r>
          </a:p>
          <a:p xmlns:a="http://schemas.openxmlformats.org/drawingml/2006/main">
            <a:pPr marL="285750" indent="-285750">
              <a:lnSpc>
                <a:spcPct val="90000"/>
              </a:lnSpc>
              <a:buFont typeface="Arial"/>
              <a:buChar char="•"/>
              <a:defRPr sz="1275" b="1">
                <a:solidFill>
                  <a:srgbClr val="62D6A7"/>
                </a:solidFill>
                <a:latin typeface="DejaVu Sans Mono"/>
                <a:ea typeface="DejaVu Sans Mono"/>
                <a:cs typeface="DejaVu Sans Mono"/>
              </a:defRPr>
            </a:pPr>
            <a:r>
              <a:rPr sz="1275" b="1">
                <a:solidFill>
                  <a:srgbClr val="62D6A7"/>
                </a:solidFill>
                <a:latin typeface="DejaVu Sans Mono"/>
                <a:ea typeface="DejaVu Sans Mono"/>
                <a:cs typeface="DejaVu Sans Mono"/>
              </a:rPr>
              <a:t>Every step has its own agentic harness designed to deliver </a:t>
            </a:r>
            <a:r>
              <a:rPr sz="1275" b="1">
                <a:solidFill>
                  <a:srgbClr val="62D6A7"/>
                </a:solidFill>
                <a:latin typeface="DejaVu Sans Mono"/>
                <a:ea typeface="DejaVu Sans Mono"/>
                <a:cs typeface="DejaVu Sans Mono"/>
              </a:rPr>
              <a:t>intermediate</a:t>
            </a:r>
            <a:r>
              <a:rPr sz="1275" b="1">
                <a:solidFill>
                  <a:srgbClr val="62D6A7"/>
                </a:solidFill>
                <a:latin typeface="DejaVu Sans Mono"/>
                <a:ea typeface="DejaVu Sans Mono"/>
                <a:cs typeface="DejaVu Sans Mono"/>
              </a:rPr>
              <a:t> documents and provide the downstream steps with input</a:t>
            </a:r>
          </a:p>
          <a:p xmlns:a="http://schemas.openxmlformats.org/drawingml/2006/main">
            <a:pPr marL="285750" indent="-285750">
              <a:lnSpc>
                <a:spcPct val="90000"/>
              </a:lnSpc>
              <a:buFont typeface="Arial"/>
              <a:buChar char="•"/>
              <a:defRPr sz="1275" b="1">
                <a:solidFill>
                  <a:srgbClr val="62D6A7"/>
                </a:solidFill>
                <a:latin typeface="DejaVu Sans Mono"/>
                <a:ea typeface="DejaVu Sans Mono"/>
                <a:cs typeface="DejaVu Sans Mono"/>
              </a:defRPr>
            </a:pPr>
            <a:r>
              <a:rPr sz="1275" b="1">
                <a:solidFill>
                  <a:srgbClr val="62D6A7"/>
                </a:solidFill>
                <a:latin typeface="DejaVu Sans Mono"/>
                <a:ea typeface="DejaVu Sans Mono"/>
                <a:cs typeface="DejaVu Sans Mono"/>
              </a:rPr>
              <a:t>Every step can run </a:t>
            </a:r>
            <a:r>
              <a:rPr sz="1275" b="1">
                <a:solidFill>
                  <a:srgbClr val="62D6A7"/>
                </a:solidFill>
                <a:latin typeface="DejaVu Sans Mono"/>
                <a:ea typeface="DejaVu Sans Mono"/>
                <a:cs typeface="DejaVu Sans Mono"/>
              </a:rPr>
              <a:t>autonomously</a:t>
            </a:r>
            <a:r>
              <a:rPr sz="1275" b="1">
                <a:solidFill>
                  <a:srgbClr val="62D6A7"/>
                </a:solidFill>
                <a:latin typeface="DejaVu Sans Mono"/>
                <a:ea typeface="DejaVu Sans Mono"/>
                <a:cs typeface="DejaVu Sans Mono"/>
              </a:rPr>
              <a:t> or can be manually reviewed and edited step by step</a:t>
            </a:r>
          </a:p>
          <a:p xmlns:a="http://schemas.openxmlformats.org/drawingml/2006/main">
            <a:pPr marL="285750" indent="-285750">
              <a:lnSpc>
                <a:spcPct val="90000"/>
              </a:lnSpc>
              <a:buFont typeface="Arial"/>
              <a:buChar char="•"/>
              <a:defRPr sz="1275" b="1">
                <a:solidFill>
                  <a:srgbClr val="62D6A7"/>
                </a:solidFill>
                <a:latin typeface="DejaVu Sans Mono"/>
                <a:ea typeface="DejaVu Sans Mono"/>
                <a:cs typeface="DejaVu Sans Mono"/>
              </a:defRPr>
            </a:pPr>
            <a:endParaRPr sz="1275" b="1">
              <a:solidFill>
                <a:srgbClr val="62D6A7"/>
              </a:solidFill>
              <a:latin typeface="DejaVu Sans Mono"/>
              <a:ea typeface="DejaVu Sans Mono"/>
              <a:cs typeface="DejaVu Sans Mono"/>
            </a:endParaRPr>
          </a:p>
          <a:p xmlns:a="http://schemas.openxmlformats.org/drawingml/2006/main">
            <a:pPr marL="285750" indent="-285750">
              <a:lnSpc>
                <a:spcPct val="90000"/>
              </a:lnSpc>
              <a:buFont typeface="Arial"/>
              <a:buChar char="•"/>
              <a:defRPr sz="1275" b="1">
                <a:solidFill>
                  <a:srgbClr val="62D6A7"/>
                </a:solidFill>
                <a:latin typeface="DejaVu Sans Mono"/>
                <a:ea typeface="DejaVu Sans Mono"/>
                <a:cs typeface="DejaVu Sans Mono"/>
              </a:defRPr>
            </a:pPr>
            <a:endParaRPr sz="1275" b="1">
              <a:solidFill>
                <a:srgbClr val="62D6A7"/>
              </a:solidFill>
              <a:latin typeface="DejaVu Sans Mono"/>
              <a:ea typeface="DejaVu Sans Mono"/>
              <a:cs typeface="DejaVu Sans Mono"/>
            </a:endParaRPr>
          </a:p>
        </p:txBody>
      </p:sp>
      <p:sp>
        <p:nvSpPr>
          <p:cNvPr id="51" name="Arc 50">
            <a:extLst xmlns:a="http://schemas.openxmlformats.org/drawingml/2006/main">
              <a:ext uri="{FF2B5EF4-FFF2-40B4-BE49-F238E27FC236}">
                <a16:creationId xmlns:a16="http://schemas.microsoft.com/office/drawing/2014/main" id="{390A6B96-DCAB-DF3F-4B7F-16BA96C30664}"/>
              </a:ext>
            </a:extLst>
          </p:cNvPr>
          <p:cNvSpPr>
            <a:spLocks xmlns:a="http://schemas.openxmlformats.org/drawingml/2006/main" noGrp="1"/>
          </p:cNvSpPr>
          <p:nvPr/>
        </p:nvSpPr>
        <p:spPr>
          <a:xfrm xmlns:a="http://schemas.openxmlformats.org/drawingml/2006/main" rot="5400000">
            <a:off x="3279911" y="741103"/>
            <a:ext cx="1366165" cy="2905129"/>
          </a:xfrm>
          <a:prstGeom xmlns:a="http://schemas.openxmlformats.org/drawingml/2006/main" prst="arc">
            <a:avLst>
              <a:gd name="adj1" fmla="val 16200000"/>
              <a:gd name="adj2" fmla="val 5278536"/>
            </a:avLst>
          </a:prstGeom>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txBody>
          <a:bodyPr xmlns:a="http://schemas.openxmlformats.org/drawingml/2006/main" anchor="ctr"/>
          <a:lstStyle xmlns:a="http://schemas.openxmlformats.org/drawingml/2006/main"/>
          <a:p xmlns:a="http://schemas.openxmlformats.org/drawingml/2006/main">
            <a:pPr algn="ctr">
              <a:buNone/>
            </a:pPr>
            <a:endParaRPr>
              <a:ln w="76200">
                <a:solidFill>
                  <a:schemeClr val="tx1"/>
                </a:solidFill>
              </a:ln>
            </a:endParaRPr>
          </a:p>
        </p:txBody>
      </p:sp>
      <p:sp>
        <p:nvSpPr>
          <p:cNvPr id="53" name="Arc 52">
            <a:extLst xmlns:a="http://schemas.openxmlformats.org/drawingml/2006/main">
              <a:ext uri="{FF2B5EF4-FFF2-40B4-BE49-F238E27FC236}">
                <a16:creationId xmlns:a16="http://schemas.microsoft.com/office/drawing/2014/main" id="{F8801CDE-7086-503E-00B5-622B5A877C39}"/>
              </a:ext>
            </a:extLst>
          </p:cNvPr>
          <p:cNvSpPr>
            <a:spLocks xmlns:a="http://schemas.openxmlformats.org/drawingml/2006/main" noGrp="1"/>
          </p:cNvSpPr>
          <p:nvPr/>
        </p:nvSpPr>
        <p:spPr>
          <a:xfrm xmlns:a="http://schemas.openxmlformats.org/drawingml/2006/main" rot="5400000">
            <a:off x="4809575" y="-1244910"/>
            <a:ext cx="2045451" cy="6749917"/>
          </a:xfrm>
          <a:prstGeom xmlns:a="http://schemas.openxmlformats.org/drawingml/2006/main" prst="arc">
            <a:avLst>
              <a:gd name="adj1" fmla="val 16342710"/>
              <a:gd name="adj2" fmla="val 5278536"/>
            </a:avLst>
          </a:prstGeom>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txBody>
          <a:bodyPr xmlns:a="http://schemas.openxmlformats.org/drawingml/2006/main" anchor="ctr"/>
          <a:lstStyle xmlns:a="http://schemas.openxmlformats.org/drawingml/2006/main"/>
          <a:p xmlns:a="http://schemas.openxmlformats.org/drawingml/2006/main">
            <a:pPr algn="ctr">
              <a:buNone/>
            </a:pPr>
            <a:endParaRPr>
              <a:ln w="76200">
                <a:solidFill>
                  <a:schemeClr val="tx1"/>
                </a:solidFill>
              </a:ln>
            </a:endParaRPr>
          </a:p>
        </p:txBody>
      </p:sp>
      <p:sp>
        <p:nvSpPr>
          <p:cNvPr id="55" name="Arc 54">
            <a:extLst xmlns:a="http://schemas.openxmlformats.org/drawingml/2006/main">
              <a:ext uri="{FF2B5EF4-FFF2-40B4-BE49-F238E27FC236}">
                <a16:creationId xmlns:a16="http://schemas.microsoft.com/office/drawing/2014/main" id="{A3000D29-16C5-5AB8-367A-E3B3A1A6B518}"/>
              </a:ext>
            </a:extLst>
          </p:cNvPr>
          <p:cNvSpPr>
            <a:spLocks xmlns:a="http://schemas.openxmlformats.org/drawingml/2006/main" noGrp="1"/>
          </p:cNvSpPr>
          <p:nvPr/>
        </p:nvSpPr>
        <p:spPr>
          <a:xfrm xmlns:a="http://schemas.openxmlformats.org/drawingml/2006/main" rot="5400000">
            <a:off x="7081494" y="741331"/>
            <a:ext cx="1282640" cy="2905129"/>
          </a:xfrm>
          <a:prstGeom xmlns:a="http://schemas.openxmlformats.org/drawingml/2006/main" prst="arc">
            <a:avLst>
              <a:gd name="adj1" fmla="val 16200000"/>
              <a:gd name="adj2" fmla="val 5278536"/>
            </a:avLst>
          </a:prstGeom>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txBody>
          <a:bodyPr xmlns:a="http://schemas.openxmlformats.org/drawingml/2006/main" anchor="ctr"/>
          <a:lstStyle xmlns:a="http://schemas.openxmlformats.org/drawingml/2006/main"/>
          <a:p xmlns:a="http://schemas.openxmlformats.org/drawingml/2006/main">
            <a:pPr algn="ctr">
              <a:buNone/>
            </a:pPr>
            <a:endParaRPr>
              <a:ln w="76200">
                <a:solidFill>
                  <a:schemeClr val="tx1"/>
                </a:solidFill>
              </a:ln>
            </a:endParaRPr>
          </a:p>
        </p:txBody>
      </p:sp>
      <p:sp>
        <p:nvSpPr>
          <p:cNvPr id="56" name="Isosceles Triangle 55">
            <a:extLst xmlns:a="http://schemas.openxmlformats.org/drawingml/2006/main">
              <a:ext uri="{FF2B5EF4-FFF2-40B4-BE49-F238E27FC236}">
                <a16:creationId xmlns:a16="http://schemas.microsoft.com/office/drawing/2014/main" id="{2445AF85-ACFF-27FA-80D6-E5A14D31FDD2}"/>
              </a:ext>
            </a:extLst>
          </p:cNvPr>
          <p:cNvSpPr>
            <a:spLocks xmlns:a="http://schemas.openxmlformats.org/drawingml/2006/main" noGrp="1"/>
          </p:cNvSpPr>
          <p:nvPr/>
        </p:nvSpPr>
        <p:spPr>
          <a:xfrm xmlns:a="http://schemas.openxmlformats.org/drawingml/2006/main">
            <a:off x="6159260" y="2168634"/>
            <a:ext cx="230038" cy="152400"/>
          </a:xfrm>
          <a:prstGeom xmlns:a="http://schemas.openxmlformats.org/drawingml/2006/main" prst="triangle">
            <a:avLst/>
          </a:prstGeom>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60" name="Isosceles Triangle 59">
            <a:extLst xmlns:a="http://schemas.openxmlformats.org/drawingml/2006/main">
              <a:ext uri="{FF2B5EF4-FFF2-40B4-BE49-F238E27FC236}">
                <a16:creationId xmlns:a16="http://schemas.microsoft.com/office/drawing/2014/main" id="{EB2C758D-2B95-A116-C6EE-68EF0C0AA358}"/>
              </a:ext>
            </a:extLst>
          </p:cNvPr>
          <p:cNvSpPr>
            <a:spLocks xmlns:a="http://schemas.openxmlformats.org/drawingml/2006/main" noGrp="1"/>
          </p:cNvSpPr>
          <p:nvPr/>
        </p:nvSpPr>
        <p:spPr>
          <a:xfrm xmlns:a="http://schemas.openxmlformats.org/drawingml/2006/main">
            <a:off x="2398163" y="2214639"/>
            <a:ext cx="230038" cy="152400"/>
          </a:xfrm>
          <a:prstGeom xmlns:a="http://schemas.openxmlformats.org/drawingml/2006/main" prst="triangle">
            <a:avLst/>
          </a:prstGeom>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62" name="Rectangle 61">
            <a:extLst xmlns:a="http://schemas.openxmlformats.org/drawingml/2006/main">
              <a:ext uri="{FF2B5EF4-FFF2-40B4-BE49-F238E27FC236}">
                <a16:creationId xmlns:a16="http://schemas.microsoft.com/office/drawing/2014/main" id="{A6A529EB-DF5E-43C0-5BFF-B5EF28D141E8}"/>
              </a:ext>
            </a:extLst>
          </p:cNvPr>
          <p:cNvSpPr>
            <a:spLocks xmlns:a="http://schemas.openxmlformats.org/drawingml/2006/main" noGrp="1"/>
          </p:cNvSpPr>
          <p:nvPr/>
        </p:nvSpPr>
        <p:spPr>
          <a:xfrm xmlns:a="http://schemas.openxmlformats.org/drawingml/2006/main">
            <a:off x="8502762" y="3517423"/>
            <a:ext cx="1104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39D7FF"/>
                </a:solidFill>
                <a:latin typeface="DejaVu Sans Mono"/>
                <a:ea typeface="DejaVu Sans Mono"/>
                <a:cs typeface="DejaVu Sans Mono"/>
              </a:defRPr>
            </a:pPr>
            <a:r>
              <a:rPr sz="900" b="1">
                <a:solidFill>
                  <a:schemeClr val="accent2"/>
                </a:solidFill>
                <a:latin typeface="DejaVu Sans Mono"/>
                <a:ea typeface="DejaVu Sans Mono"/>
                <a:cs typeface="DejaVu Sans Mono"/>
              </a:rPr>
              <a:t>REQUIREMENTS</a:t>
            </a:r>
            <a:endParaRPr sz="900" b="1">
              <a:solidFill>
                <a:schemeClr val="accent2"/>
              </a:solidFill>
              <a:latin typeface="DejaVu Sans Mono"/>
              <a:ea typeface="DejaVu Sans Mono"/>
              <a:cs typeface="DejaVu Sans Mono"/>
            </a:endParaRPr>
          </a:p>
        </p:txBody>
      </p:sp>
      <p:sp>
        <p:nvSpPr>
          <p:cNvPr id="64" name="Rectangle 63">
            <a:extLst xmlns:a="http://schemas.openxmlformats.org/drawingml/2006/main">
              <a:ext uri="{FF2B5EF4-FFF2-40B4-BE49-F238E27FC236}">
                <a16:creationId xmlns:a16="http://schemas.microsoft.com/office/drawing/2014/main" id="{FA217B3C-2607-6A60-300D-9AEAB83040DF}"/>
              </a:ext>
            </a:extLst>
          </p:cNvPr>
          <p:cNvSpPr>
            <a:spLocks xmlns:a="http://schemas.openxmlformats.org/drawingml/2006/main" noGrp="1"/>
          </p:cNvSpPr>
          <p:nvPr/>
        </p:nvSpPr>
        <p:spPr>
          <a:xfrm xmlns:a="http://schemas.openxmlformats.org/drawingml/2006/main">
            <a:off x="8502762" y="4031773"/>
            <a:ext cx="1104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39D7FF"/>
                </a:solidFill>
                <a:latin typeface="DejaVu Sans Mono"/>
                <a:ea typeface="DejaVu Sans Mono"/>
                <a:cs typeface="DejaVu Sans Mono"/>
              </a:defRPr>
            </a:pPr>
            <a:r>
              <a:rPr sz="900" b="1">
                <a:solidFill>
                  <a:schemeClr val="accent2"/>
                </a:solidFill>
                <a:latin typeface="DejaVu Sans Mono"/>
                <a:ea typeface="DejaVu Sans Mono"/>
                <a:cs typeface="DejaVu Sans Mono"/>
              </a:rPr>
              <a:t>PRELIM DESIGN</a:t>
            </a:r>
            <a:endParaRPr sz="900" b="1">
              <a:solidFill>
                <a:schemeClr val="accent2"/>
              </a:solidFill>
              <a:latin typeface="DejaVu Sans Mono"/>
              <a:ea typeface="DejaVu Sans Mono"/>
              <a:cs typeface="DejaVu Sans Mono"/>
            </a:endParaRPr>
          </a:p>
        </p:txBody>
      </p:sp>
      <p:sp>
        <p:nvSpPr>
          <p:cNvPr id="66" name="Rectangle 65">
            <a:extLst xmlns:a="http://schemas.openxmlformats.org/drawingml/2006/main">
              <a:ext uri="{FF2B5EF4-FFF2-40B4-BE49-F238E27FC236}">
                <a16:creationId xmlns:a16="http://schemas.microsoft.com/office/drawing/2014/main" id="{5BEEE8B2-C44E-575D-1771-B0E4CC3C0337}"/>
              </a:ext>
            </a:extLst>
          </p:cNvPr>
          <p:cNvSpPr>
            <a:spLocks xmlns:a="http://schemas.openxmlformats.org/drawingml/2006/main" noGrp="1"/>
          </p:cNvSpPr>
          <p:nvPr/>
        </p:nvSpPr>
        <p:spPr>
          <a:xfrm xmlns:a="http://schemas.openxmlformats.org/drawingml/2006/main">
            <a:off x="8502762" y="4546123"/>
            <a:ext cx="1104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39D7FF"/>
                </a:solidFill>
                <a:latin typeface="DejaVu Sans Mono"/>
                <a:ea typeface="DejaVu Sans Mono"/>
                <a:cs typeface="DejaVu Sans Mono"/>
              </a:defRPr>
            </a:pPr>
            <a:r>
              <a:rPr sz="900" b="1">
                <a:solidFill>
                  <a:schemeClr val="accent2"/>
                </a:solidFill>
                <a:latin typeface="DejaVu Sans Mono"/>
                <a:ea typeface="DejaVu Sans Mono"/>
                <a:cs typeface="DejaVu Sans Mono"/>
              </a:rPr>
              <a:t>DESIGN SPRINTS</a:t>
            </a:r>
            <a:endParaRPr sz="900" b="1">
              <a:solidFill>
                <a:schemeClr val="accent2"/>
              </a:solidFill>
              <a:latin typeface="DejaVu Sans Mono"/>
              <a:ea typeface="DejaVu Sans Mono"/>
              <a:cs typeface="DejaVu Sans Mono"/>
            </a:endParaRPr>
          </a:p>
        </p:txBody>
      </p:sp>
      <p:sp>
        <p:nvSpPr>
          <p:cNvPr id="68" name="Rectangle 67">
            <a:extLst xmlns:a="http://schemas.openxmlformats.org/drawingml/2006/main">
              <a:ext uri="{FF2B5EF4-FFF2-40B4-BE49-F238E27FC236}">
                <a16:creationId xmlns:a16="http://schemas.microsoft.com/office/drawing/2014/main" id="{6C7B4939-E002-A477-C654-92A875E022C5}"/>
              </a:ext>
            </a:extLst>
          </p:cNvPr>
          <p:cNvSpPr>
            <a:spLocks xmlns:a="http://schemas.openxmlformats.org/drawingml/2006/main" noGrp="1"/>
          </p:cNvSpPr>
          <p:nvPr/>
        </p:nvSpPr>
        <p:spPr>
          <a:xfrm xmlns:a="http://schemas.openxmlformats.org/drawingml/2006/main">
            <a:off x="8502762" y="5060473"/>
            <a:ext cx="1104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39D7FF"/>
                </a:solidFill>
                <a:latin typeface="DejaVu Sans Mono"/>
                <a:ea typeface="DejaVu Sans Mono"/>
                <a:cs typeface="DejaVu Sans Mono"/>
              </a:defRPr>
            </a:pPr>
            <a:r>
              <a:rPr sz="900" b="1">
                <a:solidFill>
                  <a:schemeClr val="accent2"/>
                </a:solidFill>
                <a:latin typeface="DejaVu Sans Mono"/>
                <a:ea typeface="DejaVu Sans Mono"/>
                <a:cs typeface="DejaVu Sans Mono"/>
              </a:rPr>
              <a:t>FINAL DESIGN </a:t>
            </a:r>
            <a:endParaRPr sz="900" b="1">
              <a:solidFill>
                <a:schemeClr val="accent2"/>
              </a:solidFill>
              <a:latin typeface="DejaVu Sans Mono"/>
              <a:ea typeface="DejaVu Sans Mono"/>
              <a:cs typeface="DejaVu Sans Mono"/>
            </a:endParaRPr>
          </a:p>
        </p:txBody>
      </p:sp>
      <p:sp>
        <p:nvSpPr>
          <p:cNvPr id="70" name="Rectangle 69">
            <a:extLst xmlns:a="http://schemas.openxmlformats.org/drawingml/2006/main">
              <a:ext uri="{FF2B5EF4-FFF2-40B4-BE49-F238E27FC236}">
                <a16:creationId xmlns:a16="http://schemas.microsoft.com/office/drawing/2014/main" id="{54B9CB19-1E1F-83E4-B976-F67A5B79E375}"/>
              </a:ext>
            </a:extLst>
          </p:cNvPr>
          <p:cNvSpPr>
            <a:spLocks xmlns:a="http://schemas.openxmlformats.org/drawingml/2006/main" noGrp="1"/>
          </p:cNvSpPr>
          <p:nvPr/>
        </p:nvSpPr>
        <p:spPr>
          <a:xfrm xmlns:a="http://schemas.openxmlformats.org/drawingml/2006/main">
            <a:off x="8502762" y="5574823"/>
            <a:ext cx="1104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39D7FF"/>
                </a:solidFill>
                <a:latin typeface="DejaVu Sans Mono"/>
                <a:ea typeface="DejaVu Sans Mono"/>
                <a:cs typeface="DejaVu Sans Mono"/>
              </a:defRPr>
            </a:pPr>
            <a:r>
              <a:rPr sz="900" b="1">
                <a:solidFill>
                  <a:schemeClr val="accent2"/>
                </a:solidFill>
                <a:latin typeface="DejaVu Sans Mono"/>
                <a:ea typeface="DejaVu Sans Mono"/>
                <a:cs typeface="DejaVu Sans Mono"/>
              </a:rPr>
              <a:t>VALIDATION</a:t>
            </a:r>
            <a:endParaRPr sz="900" b="1">
              <a:solidFill>
                <a:schemeClr val="accent2"/>
              </a:solidFill>
              <a:latin typeface="DejaVu Sans Mono"/>
              <a:ea typeface="DejaVu Sans Mono"/>
              <a:cs typeface="DejaVu Sans Mono"/>
            </a:endParaRPr>
          </a:p>
        </p:txBody>
      </p:sp>
      <p:sp>
        <p:nvSpPr>
          <p:cNvPr id="82" name="Rectangle 81">
            <a:extLst xmlns:a="http://schemas.openxmlformats.org/drawingml/2006/main">
              <a:ext uri="{FF2B5EF4-FFF2-40B4-BE49-F238E27FC236}">
                <a16:creationId xmlns:a16="http://schemas.microsoft.com/office/drawing/2014/main" id="{681D1E0B-407F-5D90-1B73-AEABE09318FF}"/>
              </a:ext>
            </a:extLst>
          </p:cNvPr>
          <p:cNvSpPr>
            <a:spLocks xmlns:a="http://schemas.openxmlformats.org/drawingml/2006/main" noGrp="1"/>
          </p:cNvSpPr>
          <p:nvPr/>
        </p:nvSpPr>
        <p:spPr>
          <a:xfrm xmlns:a="http://schemas.openxmlformats.org/drawingml/2006/main">
            <a:off x="10009511" y="3523171"/>
            <a:ext cx="1104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39D7FF"/>
                </a:solidFill>
                <a:latin typeface="DejaVu Sans Mono"/>
                <a:ea typeface="DejaVu Sans Mono"/>
                <a:cs typeface="DejaVu Sans Mono"/>
              </a:defRPr>
            </a:pPr>
            <a:r>
              <a:rPr sz="900" b="1">
                <a:solidFill>
                  <a:schemeClr val="accent5">
                    <a:lumMod val="60000"/>
                    <a:lumOff val="40000"/>
                  </a:schemeClr>
                </a:solidFill>
                <a:latin typeface="DejaVu Sans Mono"/>
                <a:ea typeface="DejaVu Sans Mono"/>
                <a:cs typeface="DejaVu Sans Mono"/>
              </a:rPr>
              <a:t>PLAN STEPS</a:t>
            </a:r>
            <a:endParaRPr sz="900" b="1">
              <a:solidFill>
                <a:schemeClr val="accent5">
                  <a:lumMod val="60000"/>
                  <a:lumOff val="40000"/>
                </a:schemeClr>
              </a:solidFill>
              <a:latin typeface="DejaVu Sans Mono"/>
              <a:ea typeface="DejaVu Sans Mono"/>
              <a:cs typeface="DejaVu Sans Mono"/>
            </a:endParaRPr>
          </a:p>
        </p:txBody>
      </p:sp>
      <p:sp>
        <p:nvSpPr>
          <p:cNvPr id="84" name="Rectangle 83">
            <a:extLst xmlns:a="http://schemas.openxmlformats.org/drawingml/2006/main">
              <a:ext uri="{FF2B5EF4-FFF2-40B4-BE49-F238E27FC236}">
                <a16:creationId xmlns:a16="http://schemas.microsoft.com/office/drawing/2014/main" id="{5AEAEC57-011B-0F9D-BFDF-ED6516C10648}"/>
              </a:ext>
            </a:extLst>
          </p:cNvPr>
          <p:cNvSpPr>
            <a:spLocks xmlns:a="http://schemas.openxmlformats.org/drawingml/2006/main" noGrp="1"/>
          </p:cNvSpPr>
          <p:nvPr/>
        </p:nvSpPr>
        <p:spPr>
          <a:xfrm xmlns:a="http://schemas.openxmlformats.org/drawingml/2006/main">
            <a:off x="10009511" y="4037521"/>
            <a:ext cx="1104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39D7FF"/>
                </a:solidFill>
                <a:latin typeface="DejaVu Sans Mono"/>
                <a:ea typeface="DejaVu Sans Mono"/>
                <a:cs typeface="DejaVu Sans Mono"/>
              </a:defRPr>
            </a:pPr>
            <a:r>
              <a:rPr sz="900" b="1">
                <a:solidFill>
                  <a:schemeClr val="accent5">
                    <a:lumMod val="60000"/>
                    <a:lumOff val="40000"/>
                  </a:schemeClr>
                </a:solidFill>
                <a:latin typeface="DejaVu Sans Mono"/>
                <a:ea typeface="DejaVu Sans Mono"/>
                <a:cs typeface="DejaVu Sans Mono"/>
              </a:rPr>
              <a:t>RESOURCES</a:t>
            </a:r>
            <a:endParaRPr sz="900" b="1">
              <a:solidFill>
                <a:schemeClr val="accent5">
                  <a:lumMod val="60000"/>
                  <a:lumOff val="40000"/>
                </a:schemeClr>
              </a:solidFill>
              <a:latin typeface="DejaVu Sans Mono"/>
              <a:ea typeface="DejaVu Sans Mono"/>
              <a:cs typeface="DejaVu Sans Mono"/>
            </a:endParaRPr>
          </a:p>
        </p:txBody>
      </p:sp>
      <p:sp>
        <p:nvSpPr>
          <p:cNvPr id="86" name="Rectangle 85">
            <a:extLst xmlns:a="http://schemas.openxmlformats.org/drawingml/2006/main">
              <a:ext uri="{FF2B5EF4-FFF2-40B4-BE49-F238E27FC236}">
                <a16:creationId xmlns:a16="http://schemas.microsoft.com/office/drawing/2014/main" id="{0ABB25E8-1D9B-D525-4C1D-03807843FE96}"/>
              </a:ext>
            </a:extLst>
          </p:cNvPr>
          <p:cNvSpPr>
            <a:spLocks xmlns:a="http://schemas.openxmlformats.org/drawingml/2006/main" noGrp="1"/>
          </p:cNvSpPr>
          <p:nvPr/>
        </p:nvSpPr>
        <p:spPr>
          <a:xfrm xmlns:a="http://schemas.openxmlformats.org/drawingml/2006/main">
            <a:off x="10009511" y="4551871"/>
            <a:ext cx="1104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39D7FF"/>
                </a:solidFill>
                <a:latin typeface="DejaVu Sans Mono"/>
                <a:ea typeface="DejaVu Sans Mono"/>
                <a:cs typeface="DejaVu Sans Mono"/>
              </a:defRPr>
            </a:pPr>
            <a:r>
              <a:rPr sz="900" b="1">
                <a:solidFill>
                  <a:schemeClr val="accent5">
                    <a:lumMod val="60000"/>
                    <a:lumOff val="40000"/>
                  </a:schemeClr>
                </a:solidFill>
                <a:latin typeface="DejaVu Sans Mono"/>
                <a:ea typeface="DejaVu Sans Mono"/>
                <a:cs typeface="DejaVu Sans Mono"/>
              </a:rPr>
              <a:t>TIMELINES</a:t>
            </a:r>
            <a:endParaRPr sz="900" b="1">
              <a:solidFill>
                <a:schemeClr val="accent5">
                  <a:lumMod val="60000"/>
                  <a:lumOff val="40000"/>
                </a:schemeClr>
              </a:solidFill>
              <a:latin typeface="DejaVu Sans Mono"/>
              <a:ea typeface="DejaVu Sans Mono"/>
              <a:cs typeface="DejaVu Sans Mono"/>
            </a:endParaRPr>
          </a:p>
        </p:txBody>
      </p:sp>
      <p:sp>
        <p:nvSpPr>
          <p:cNvPr id="88" name="Rectangle 87">
            <a:extLst xmlns:a="http://schemas.openxmlformats.org/drawingml/2006/main">
              <a:ext uri="{FF2B5EF4-FFF2-40B4-BE49-F238E27FC236}">
                <a16:creationId xmlns:a16="http://schemas.microsoft.com/office/drawing/2014/main" id="{77BDFD03-3E99-7CF2-C4D3-0A3E856720DB}"/>
              </a:ext>
            </a:extLst>
          </p:cNvPr>
          <p:cNvSpPr>
            <a:spLocks xmlns:a="http://schemas.openxmlformats.org/drawingml/2006/main" noGrp="1"/>
          </p:cNvSpPr>
          <p:nvPr/>
        </p:nvSpPr>
        <p:spPr>
          <a:xfrm xmlns:a="http://schemas.openxmlformats.org/drawingml/2006/main">
            <a:off x="10009511" y="5066221"/>
            <a:ext cx="1104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39D7FF"/>
                </a:solidFill>
                <a:latin typeface="DejaVu Sans Mono"/>
                <a:ea typeface="DejaVu Sans Mono"/>
                <a:cs typeface="DejaVu Sans Mono"/>
              </a:defRPr>
            </a:pPr>
            <a:r>
              <a:rPr sz="900" b="1">
                <a:solidFill>
                  <a:schemeClr val="accent5">
                    <a:lumMod val="60000"/>
                    <a:lumOff val="40000"/>
                  </a:schemeClr>
                </a:solidFill>
                <a:latin typeface="DejaVu Sans Mono"/>
                <a:ea typeface="DejaVu Sans Mono"/>
                <a:cs typeface="DejaVu Sans Mono"/>
              </a:rPr>
              <a:t>PROJECT PLAN</a:t>
            </a:r>
            <a:endParaRPr sz="900" b="1">
              <a:solidFill>
                <a:schemeClr val="accent5">
                  <a:lumMod val="60000"/>
                  <a:lumOff val="40000"/>
                </a:schemeClr>
              </a:solidFill>
              <a:latin typeface="DejaVu Sans Mono"/>
              <a:ea typeface="DejaVu Sans Mono"/>
              <a:cs typeface="DejaVu Sans Mono"/>
            </a:endParaRPr>
          </a:p>
        </p:txBody>
      </p:sp>
      <p:sp>
        <p:nvSpPr>
          <p:cNvPr id="90" name="Rectangle 89">
            <a:extLst xmlns:a="http://schemas.openxmlformats.org/drawingml/2006/main">
              <a:ext uri="{FF2B5EF4-FFF2-40B4-BE49-F238E27FC236}">
                <a16:creationId xmlns:a16="http://schemas.microsoft.com/office/drawing/2014/main" id="{848C6E66-C81D-3F89-6F3F-CBE0CA0F5C7A}"/>
              </a:ext>
            </a:extLst>
          </p:cNvPr>
          <p:cNvSpPr>
            <a:spLocks xmlns:a="http://schemas.openxmlformats.org/drawingml/2006/main" noGrp="1"/>
          </p:cNvSpPr>
          <p:nvPr/>
        </p:nvSpPr>
        <p:spPr>
          <a:xfrm xmlns:a="http://schemas.openxmlformats.org/drawingml/2006/main">
            <a:off x="10009511" y="5580571"/>
            <a:ext cx="1104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39D7FF"/>
                </a:solidFill>
                <a:latin typeface="DejaVu Sans Mono"/>
                <a:ea typeface="DejaVu Sans Mono"/>
                <a:cs typeface="DejaVu Sans Mono"/>
              </a:defRPr>
            </a:pPr>
            <a:r>
              <a:rPr sz="900" b="1">
                <a:solidFill>
                  <a:schemeClr val="accent5">
                    <a:lumMod val="60000"/>
                    <a:lumOff val="40000"/>
                  </a:schemeClr>
                </a:solidFill>
                <a:latin typeface="DejaVu Sans Mono"/>
                <a:ea typeface="DejaVu Sans Mono"/>
                <a:cs typeface="DejaVu Sans Mono"/>
              </a:rPr>
              <a:t>TRACK PROGRESS</a:t>
            </a:r>
            <a:endParaRPr sz="900" b="1">
              <a:solidFill>
                <a:schemeClr val="accent5">
                  <a:lumMod val="60000"/>
                  <a:lumOff val="40000"/>
                </a:schemeClr>
              </a:solidFill>
              <a:latin typeface="DejaVu Sans Mono"/>
              <a:ea typeface="DejaVu Sans Mono"/>
              <a:cs typeface="DejaVu Sans Mono"/>
            </a:endParaRPr>
          </a:p>
        </p:txBody>
      </p:sp>
    </p:spTree>
    <p:extLst>
      <p:ext uri="{BB962C8B-B14F-4D97-AF65-F5344CB8AC3E}">
        <p14:creationId xmlns:p14="http://schemas.microsoft.com/office/powerpoint/2010/main" val="1727205963"/>
      </p:ext>
    </p:extLst>
  </p:cSld>
</p:sld>
</file>

<file path=ppt/slides/slide19.xml><?xml version="1.0" encoding="utf-8"?>
<p:sld xmlns:p="http://schemas.openxmlformats.org/presentationml/2006/main">
  <p:cSld>
    <p:bg>
      <p:bgPr>
        <a:solidFill xmlns:a="http://schemas.openxmlformats.org/drawingml/2006/main">
          <a:srgbClr val="07090C"/>
        </a:solidFill>
      </p:bgPr>
    </p:bg>
    <p:spTree>
      <p:nvGrpSpPr>
        <p:cNvPr id="1" name=""/>
        <p:cNvGrpSpPr/>
        <p:nvPr/>
      </p:nvGrpSpPr>
      <p:grpSpPr>
        <a:xfrm xmlns:a="http://schemas.openxmlformats.org/drawingml/2006/main"/>
      </p:grpSpPr>
      <p:pic>
        <p:nvPicPr>
          <p:cNvPr id="92" name="Picture 39"/>
          <p:cNvPicPr>
            <a:picLocks xmlns:a="http://schemas.openxmlformats.org/drawingml/2006/main" noChangeAspect="1"/>
          </p:cNvPicPr>
          <p:nvPr/>
        </p:nvPicPr>
        <p:blipFill>
          <a:blip xmlns:r="http://schemas.openxmlformats.org/officeDocument/2006/relationships" xmlns:a="http://schemas.openxmlformats.org/drawingml/2006/main" r:embed="R882be5c03f1447e3"/>
          <a:srcRect xmlns:a="http://schemas.openxmlformats.org/drawingml/2006/main" l="0" t="30054" r="0" b="30054"/>
          <a:stretch xmlns:a="http://schemas.openxmlformats.org/drawingml/2006/main">
            <a:fillRect l="0" t="0" r="0" b="0"/>
          </a:stretch>
        </p:blipFill>
        <p:spPr>
          <a:xfrm xmlns:a="http://schemas.openxmlformats.org/drawingml/2006/main" rot="10800000">
            <a:off x="1994483" y="1324209"/>
            <a:ext cx="7530517" cy="759016"/>
          </a:xfrm>
          <a:prstGeom xmlns:a="http://schemas.openxmlformats.org/drawingml/2006/main" prst="rect">
            <a:avLst/>
          </a:prstGeom>
        </p:spPr>
      </p:pic>
      <p:sp>
        <p:nvSpPr>
          <p:cNvPr id="36" name="Rectangle 35">
            <a:extLst xmlns:a="http://schemas.openxmlformats.org/drawingml/2006/main">
              <a:ext uri="{FF2B5EF4-FFF2-40B4-BE49-F238E27FC236}">
                <a16:creationId xmlns:a16="http://schemas.microsoft.com/office/drawing/2014/main" id="{6134EC5D-AAF6-4CC9-AF7D-E2637F939BDF}"/>
              </a:ext>
            </a:extLst>
          </p:cNvPr>
          <p:cNvSpPr>
            <a:spLocks xmlns:a="http://schemas.openxmlformats.org/drawingml/2006/main" noGrp="1"/>
          </p:cNvSpPr>
          <p:nvPr/>
        </p:nvSpPr>
        <p:spPr>
          <a:xfrm xmlns:a="http://schemas.openxmlformats.org/drawingml/2006/main">
            <a:off x="609600" y="3429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FF6B2C"/>
                </a:solidFill>
                <a:latin typeface="DejaVu Sans Mono"/>
                <a:ea typeface="DejaVu Sans Mono"/>
                <a:cs typeface="DejaVu Sans Mono"/>
              </a:defRPr>
            </a:pPr>
            <a:r>
              <a:rPr sz="900" b="1">
                <a:solidFill>
                  <a:srgbClr val="FF6B2C"/>
                </a:solidFill>
                <a:latin typeface="DejaVu Sans Mono"/>
                <a:ea typeface="DejaVu Sans Mono"/>
                <a:cs typeface="DejaVu Sans Mono"/>
              </a:rPr>
              <a:t>19  /  CASE STUDY — CONCLUSIONS</a:t>
            </a:r>
            <a:endParaRPr sz="975" b="1">
              <a:solidFill>
                <a:srgbClr val="F26B38"/>
              </a:solidFill>
              <a:latin typeface="DejaVu Sans Mono"/>
              <a:ea typeface="DejaVu Sans Mono"/>
              <a:cs typeface="DejaVu Sans Mono"/>
            </a:endParaRPr>
          </a:p>
        </p:txBody>
      </p:sp>
      <p:sp>
        <p:nvSpPr>
          <p:cNvPr id="2" name="Rectangle 1">
            <a:extLst xmlns:a="http://schemas.openxmlformats.org/drawingml/2006/main">
              <a:ext uri="{FF2B5EF4-FFF2-40B4-BE49-F238E27FC236}">
                <a16:creationId xmlns:a16="http://schemas.microsoft.com/office/drawing/2014/main" id="{F634F788-4FF3-4C34-8511-E089A3462E3A}"/>
              </a:ext>
            </a:extLst>
          </p:cNvPr>
          <p:cNvSpPr>
            <a:spLocks xmlns:a="http://schemas.openxmlformats.org/drawingml/2006/main" noGrp="1"/>
          </p:cNvSpPr>
          <p:nvPr/>
        </p:nvSpPr>
        <p:spPr>
          <a:xfrm xmlns:a="http://schemas.openxmlformats.org/drawingml/2006/main">
            <a:off x="609600" y="647700"/>
            <a:ext cx="10972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0000"/>
              </a:lnSpc>
              <a:buNone/>
              <a:defRPr sz="2325" b="1">
                <a:solidFill>
                  <a:srgbClr val="F4F6F8"/>
                </a:solidFill>
                <a:latin typeface="DejaVu Sans"/>
                <a:ea typeface="DejaVu Sans"/>
                <a:cs typeface="DejaVu Sans"/>
              </a:defRPr>
            </a:pPr>
            <a:r>
              <a:rPr sz="2325" b="1">
                <a:solidFill>
                  <a:srgbClr val="F4F6F8"/>
                </a:solidFill>
                <a:latin typeface="DejaVu Sans"/>
                <a:ea typeface="DejaVu Sans"/>
                <a:cs typeface="DejaVu Sans"/>
              </a:rPr>
              <a:t>Five conclusions from science, engineering and project execution</a:t>
            </a:r>
            <a:endParaRPr sz="2325" b="1">
              <a:solidFill>
                <a:srgbClr val="F4F6F8"/>
              </a:solidFill>
              <a:latin typeface="DejaVu Sans"/>
              <a:ea typeface="DejaVu Sans"/>
              <a:cs typeface="DejaVu Sans"/>
            </a:endParaRPr>
          </a:p>
        </p:txBody>
      </p:sp>
      <p:sp>
        <p:nvSpPr>
          <p:cNvPr id="3" name="Rectangle 2">
            <a:extLst xmlns:a="http://schemas.openxmlformats.org/drawingml/2006/main">
              <a:ext uri="{FF2B5EF4-FFF2-40B4-BE49-F238E27FC236}">
                <a16:creationId xmlns:a16="http://schemas.microsoft.com/office/drawing/2014/main" id="{B5023EB1-4567-45E7-84EB-6288419EEADC}"/>
              </a:ext>
            </a:extLst>
          </p:cNvPr>
          <p:cNvSpPr>
            <a:spLocks xmlns:a="http://schemas.openxmlformats.org/drawingml/2006/main" noGrp="1"/>
          </p:cNvSpPr>
          <p:nvPr/>
        </p:nvSpPr>
        <p:spPr>
          <a:xfrm xmlns:a="http://schemas.openxmlformats.org/drawingml/2006/main">
            <a:off x="641865" y="2762976"/>
            <a:ext cx="3101646" cy="14272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25" b="0">
                <a:solidFill>
                  <a:srgbClr val="8D99A3"/>
                </a:solidFill>
                <a:latin typeface="DejaVu Sans"/>
                <a:ea typeface="DejaVu Sans"/>
                <a:cs typeface="DejaVu Sans"/>
              </a:defRPr>
            </a:pPr>
            <a:r>
              <a:rPr sz="1425" b="0">
                <a:solidFill>
                  <a:srgbClr val="8D99A3"/>
                </a:solidFill>
                <a:latin typeface="DejaVu Sans"/>
                <a:ea typeface="DejaVu Sans"/>
                <a:cs typeface="DejaVu Sans"/>
              </a:rPr>
              <a:t>The harnesses compress disciplined concept development. Evidence and authority still determine readiness.</a:t>
            </a:r>
          </a:p>
        </p:txBody>
      </p:sp>
      <p:sp>
        <p:nvSpPr>
          <p:cNvPr id="8" name="Rectangle: Rounded Corners 7">
            <a:extLst xmlns:a="http://schemas.openxmlformats.org/drawingml/2006/main">
              <a:ext uri="{FF2B5EF4-FFF2-40B4-BE49-F238E27FC236}">
                <a16:creationId xmlns:a16="http://schemas.microsoft.com/office/drawing/2014/main" id="{D900194D-C722-4D74-96E5-F68575709884}"/>
              </a:ext>
            </a:extLst>
          </p:cNvPr>
          <p:cNvSpPr>
            <a:spLocks xmlns:a="http://schemas.openxmlformats.org/drawingml/2006/main" noGrp="1"/>
          </p:cNvSpPr>
          <p:nvPr/>
        </p:nvSpPr>
        <p:spPr>
          <a:xfrm xmlns:a="http://schemas.openxmlformats.org/drawingml/2006/main">
            <a:off x="6870390" y="3315974"/>
            <a:ext cx="4476750" cy="2764048"/>
          </a:xfrm>
          <a:prstGeom xmlns:a="http://schemas.openxmlformats.org/drawingml/2006/main" prst="roundRect">
            <a:avLst>
              <a:gd name="adj" fmla="val 6011"/>
            </a:avLst>
          </a:prstGeom>
          <a:gradFill xmlns:a="http://schemas.openxmlformats.org/drawingml/2006/main">
            <a:gsLst>
              <a:gs pos="0">
                <a:srgbClr val="1A2025"/>
              </a:gs>
              <a:gs pos="100000">
                <a:srgbClr val="0E1216"/>
              </a:gs>
            </a:gsLst>
            <a:lin ang="8100000"/>
          </a:gradFill>
          <a:ln xmlns:a="http://schemas.openxmlformats.org/drawingml/2006/main" w="14288">
            <a:solidFill>
              <a:srgbClr val="FFC857"/>
            </a:solidFill>
            <a:prstDash val="solid"/>
          </a:ln>
        </p:spPr>
        <p:txBody>
          <a:bodyPr xmlns:a="http://schemas.openxmlformats.org/drawingml/2006/main"/>
          <a:lstStyle xmlns:a="http://schemas.openxmlformats.org/drawingml/2006/main"/>
          <a:p xmlns:a="http://schemas.openxmlformats.org/drawingml/2006/main">
            <a:endParaRPr/>
          </a:p>
        </p:txBody>
      </p:sp>
      <p:sp>
        <p:nvSpPr>
          <p:cNvPr id="10" name="Rectangle 9">
            <a:extLst xmlns:a="http://schemas.openxmlformats.org/drawingml/2006/main">
              <a:ext uri="{FF2B5EF4-FFF2-40B4-BE49-F238E27FC236}">
                <a16:creationId xmlns:a16="http://schemas.microsoft.com/office/drawing/2014/main" id="{4D588287-ACD6-43D0-A8AA-F3CB9F3CB0A7}"/>
              </a:ext>
            </a:extLst>
          </p:cNvPr>
          <p:cNvSpPr>
            <a:spLocks xmlns:a="http://schemas.openxmlformats.org/drawingml/2006/main" noGrp="1"/>
          </p:cNvSpPr>
          <p:nvPr/>
        </p:nvSpPr>
        <p:spPr>
          <a:xfrm xmlns:a="http://schemas.openxmlformats.org/drawingml/2006/main">
            <a:off x="7165665" y="3526051"/>
            <a:ext cx="1104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39D7FF"/>
                </a:solidFill>
                <a:latin typeface="DejaVu Sans Mono"/>
                <a:ea typeface="DejaVu Sans Mono"/>
                <a:cs typeface="DejaVu Sans Mono"/>
              </a:defRPr>
            </a:pPr>
            <a:r>
              <a:rPr sz="900" b="1">
                <a:solidFill>
                  <a:srgbClr val="39D7FF"/>
                </a:solidFill>
                <a:latin typeface="DejaVu Sans Mono"/>
                <a:ea typeface="DejaVu Sans Mono"/>
                <a:cs typeface="DejaVu Sans Mono"/>
              </a:rPr>
              <a:t>Scale-up is plausible</a:t>
            </a:r>
          </a:p>
        </p:txBody>
      </p:sp>
      <p:sp>
        <p:nvSpPr>
          <p:cNvPr id="12" name="Straight Connector 11">
            <a:extLst xmlns:a="http://schemas.openxmlformats.org/drawingml/2006/main">
              <a:ext uri="{FF2B5EF4-FFF2-40B4-BE49-F238E27FC236}">
                <a16:creationId xmlns:a16="http://schemas.microsoft.com/office/drawing/2014/main" id="{AD45CC1F-1AB6-48C5-9266-B82259A60F84}"/>
              </a:ext>
            </a:extLst>
          </p:cNvPr>
          <p:cNvSpPr>
            <a:spLocks xmlns:a="http://schemas.openxmlformats.org/drawingml/2006/main" noGrp="1"/>
          </p:cNvSpPr>
          <p:nvPr/>
        </p:nvSpPr>
        <p:spPr>
          <a:xfrm xmlns:a="http://schemas.openxmlformats.org/drawingml/2006/main">
            <a:off x="7165665" y="3964201"/>
            <a:ext cx="3886200" cy="0"/>
          </a:xfrm>
          <a:prstGeom xmlns:a="http://schemas.openxmlformats.org/drawingml/2006/main" prst="line">
            <a:avLst/>
          </a:prstGeom>
          <a:noFill xmlns:a="http://schemas.openxmlformats.org/drawingml/2006/main"/>
          <a:ln xmlns:a="http://schemas.openxmlformats.org/drawingml/2006/main" w="9525">
            <a:solidFill>
              <a:srgbClr val="35414B"/>
            </a:solidFill>
            <a:prstDash val="solid"/>
          </a:ln>
        </p:spPr>
        <p:txBody>
          <a:bodyPr xmlns:a="http://schemas.openxmlformats.org/drawingml/2006/main"/>
          <a:lstStyle xmlns:a="http://schemas.openxmlformats.org/drawingml/2006/main"/>
          <a:p xmlns:a="http://schemas.openxmlformats.org/drawingml/2006/main">
            <a:endParaRPr/>
          </a:p>
        </p:txBody>
      </p:sp>
      <p:sp>
        <p:nvSpPr>
          <p:cNvPr id="13" name="Rectangle 12">
            <a:extLst xmlns:a="http://schemas.openxmlformats.org/drawingml/2006/main">
              <a:ext uri="{FF2B5EF4-FFF2-40B4-BE49-F238E27FC236}">
                <a16:creationId xmlns:a16="http://schemas.microsoft.com/office/drawing/2014/main" id="{7494641D-67C0-4935-A248-FA6E2B490751}"/>
              </a:ext>
            </a:extLst>
          </p:cNvPr>
          <p:cNvSpPr>
            <a:spLocks xmlns:a="http://schemas.openxmlformats.org/drawingml/2006/main" noGrp="1"/>
          </p:cNvSpPr>
          <p:nvPr/>
        </p:nvSpPr>
        <p:spPr>
          <a:xfrm xmlns:a="http://schemas.openxmlformats.org/drawingml/2006/main">
            <a:off x="7165665" y="4040401"/>
            <a:ext cx="1104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39D7FF"/>
                </a:solidFill>
                <a:latin typeface="DejaVu Sans Mono"/>
                <a:ea typeface="DejaVu Sans Mono"/>
                <a:cs typeface="DejaVu Sans Mono"/>
              </a:defRPr>
            </a:pPr>
            <a:r>
              <a:rPr sz="900" b="1">
                <a:solidFill>
                  <a:srgbClr val="39D7FF"/>
                </a:solidFill>
                <a:latin typeface="DejaVu Sans Mono"/>
                <a:ea typeface="DejaVu Sans Mono"/>
                <a:cs typeface="DejaVu Sans Mono"/>
              </a:rPr>
              <a:t>Evidence classes must stay explicit</a:t>
            </a:r>
            <a:endParaRPr sz="900" b="1">
              <a:solidFill>
                <a:srgbClr val="39D7FF"/>
              </a:solidFill>
              <a:latin typeface="DejaVu Sans Mono"/>
              <a:ea typeface="DejaVu Sans Mono"/>
              <a:cs typeface="DejaVu Sans Mono"/>
            </a:endParaRPr>
          </a:p>
        </p:txBody>
      </p:sp>
      <p:sp>
        <p:nvSpPr>
          <p:cNvPr id="15" name="Straight Connector 14">
            <a:extLst xmlns:a="http://schemas.openxmlformats.org/drawingml/2006/main">
              <a:ext uri="{FF2B5EF4-FFF2-40B4-BE49-F238E27FC236}">
                <a16:creationId xmlns:a16="http://schemas.microsoft.com/office/drawing/2014/main" id="{C02ADC3C-6762-4B76-85C5-1563E0856D25}"/>
              </a:ext>
            </a:extLst>
          </p:cNvPr>
          <p:cNvSpPr>
            <a:spLocks xmlns:a="http://schemas.openxmlformats.org/drawingml/2006/main" noGrp="1"/>
          </p:cNvSpPr>
          <p:nvPr/>
        </p:nvSpPr>
        <p:spPr>
          <a:xfrm xmlns:a="http://schemas.openxmlformats.org/drawingml/2006/main">
            <a:off x="7165665" y="4478551"/>
            <a:ext cx="3886200" cy="0"/>
          </a:xfrm>
          <a:prstGeom xmlns:a="http://schemas.openxmlformats.org/drawingml/2006/main" prst="line">
            <a:avLst/>
          </a:prstGeom>
          <a:noFill xmlns:a="http://schemas.openxmlformats.org/drawingml/2006/main"/>
          <a:ln xmlns:a="http://schemas.openxmlformats.org/drawingml/2006/main" w="9525">
            <a:solidFill>
              <a:srgbClr val="35414B"/>
            </a:solidFill>
            <a:prstDash val="solid"/>
          </a:ln>
        </p:spPr>
        <p:txBody>
          <a:bodyPr xmlns:a="http://schemas.openxmlformats.org/drawingml/2006/main"/>
          <a:lstStyle xmlns:a="http://schemas.openxmlformats.org/drawingml/2006/main"/>
          <a:p xmlns:a="http://schemas.openxmlformats.org/drawingml/2006/main">
            <a:endParaRPr/>
          </a:p>
        </p:txBody>
      </p:sp>
      <p:sp>
        <p:nvSpPr>
          <p:cNvPr id="16" name="Rectangle 15">
            <a:extLst xmlns:a="http://schemas.openxmlformats.org/drawingml/2006/main">
              <a:ext uri="{FF2B5EF4-FFF2-40B4-BE49-F238E27FC236}">
                <a16:creationId xmlns:a16="http://schemas.microsoft.com/office/drawing/2014/main" id="{662CE51E-1D64-43C3-844E-0196D11CB06C}"/>
              </a:ext>
            </a:extLst>
          </p:cNvPr>
          <p:cNvSpPr>
            <a:spLocks xmlns:a="http://schemas.openxmlformats.org/drawingml/2006/main" noGrp="1"/>
          </p:cNvSpPr>
          <p:nvPr/>
        </p:nvSpPr>
        <p:spPr>
          <a:xfrm xmlns:a="http://schemas.openxmlformats.org/drawingml/2006/main">
            <a:off x="7165665" y="4554751"/>
            <a:ext cx="1104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39D7FF"/>
                </a:solidFill>
                <a:latin typeface="DejaVu Sans Mono"/>
                <a:ea typeface="DejaVu Sans Mono"/>
                <a:cs typeface="DejaVu Sans Mono"/>
              </a:defRPr>
            </a:pPr>
            <a:r>
              <a:rPr sz="900" b="1">
                <a:solidFill>
                  <a:srgbClr val="39D7FF"/>
                </a:solidFill>
                <a:latin typeface="DejaVu Sans Mono"/>
                <a:ea typeface="DejaVu Sans Mono"/>
                <a:cs typeface="DejaVu Sans Mono"/>
              </a:rPr>
              <a:t>33.8 kg/h remains modeled</a:t>
            </a:r>
            <a:endParaRPr sz="900" b="1">
              <a:solidFill>
                <a:srgbClr val="39D7FF"/>
              </a:solidFill>
              <a:latin typeface="DejaVu Sans Mono"/>
              <a:ea typeface="DejaVu Sans Mono"/>
              <a:cs typeface="DejaVu Sans Mono"/>
            </a:endParaRPr>
          </a:p>
        </p:txBody>
      </p:sp>
      <p:sp>
        <p:nvSpPr>
          <p:cNvPr id="18" name="Straight Connector 17">
            <a:extLst xmlns:a="http://schemas.openxmlformats.org/drawingml/2006/main">
              <a:ext uri="{FF2B5EF4-FFF2-40B4-BE49-F238E27FC236}">
                <a16:creationId xmlns:a16="http://schemas.microsoft.com/office/drawing/2014/main" id="{1A531600-7E86-4FC7-993F-D6C6E75A6843}"/>
              </a:ext>
            </a:extLst>
          </p:cNvPr>
          <p:cNvSpPr>
            <a:spLocks xmlns:a="http://schemas.openxmlformats.org/drawingml/2006/main" noGrp="1"/>
          </p:cNvSpPr>
          <p:nvPr/>
        </p:nvSpPr>
        <p:spPr>
          <a:xfrm xmlns:a="http://schemas.openxmlformats.org/drawingml/2006/main">
            <a:off x="7165665" y="4992901"/>
            <a:ext cx="3886200" cy="0"/>
          </a:xfrm>
          <a:prstGeom xmlns:a="http://schemas.openxmlformats.org/drawingml/2006/main" prst="line">
            <a:avLst/>
          </a:prstGeom>
          <a:noFill xmlns:a="http://schemas.openxmlformats.org/drawingml/2006/main"/>
          <a:ln xmlns:a="http://schemas.openxmlformats.org/drawingml/2006/main" w="9525">
            <a:solidFill>
              <a:srgbClr val="35414B"/>
            </a:solidFill>
            <a:prstDash val="solid"/>
          </a:ln>
        </p:spPr>
        <p:txBody>
          <a:bodyPr xmlns:a="http://schemas.openxmlformats.org/drawingml/2006/main"/>
          <a:lstStyle xmlns:a="http://schemas.openxmlformats.org/drawingml/2006/main"/>
          <a:p xmlns:a="http://schemas.openxmlformats.org/drawingml/2006/main">
            <a:endParaRPr/>
          </a:p>
        </p:txBody>
      </p:sp>
      <p:sp>
        <p:nvSpPr>
          <p:cNvPr id="19" name="Rectangle 18">
            <a:extLst xmlns:a="http://schemas.openxmlformats.org/drawingml/2006/main">
              <a:ext uri="{FF2B5EF4-FFF2-40B4-BE49-F238E27FC236}">
                <a16:creationId xmlns:a16="http://schemas.microsoft.com/office/drawing/2014/main" id="{B32DD6FA-5C5F-4E7C-BD99-49E4A57786F8}"/>
              </a:ext>
            </a:extLst>
          </p:cNvPr>
          <p:cNvSpPr>
            <a:spLocks xmlns:a="http://schemas.openxmlformats.org/drawingml/2006/main" noGrp="1"/>
          </p:cNvSpPr>
          <p:nvPr/>
        </p:nvSpPr>
        <p:spPr>
          <a:xfrm xmlns:a="http://schemas.openxmlformats.org/drawingml/2006/main">
            <a:off x="7165665" y="5069101"/>
            <a:ext cx="1104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39D7FF"/>
                </a:solidFill>
                <a:latin typeface="DejaVu Sans Mono"/>
                <a:ea typeface="DejaVu Sans Mono"/>
                <a:cs typeface="DejaVu Sans Mono"/>
              </a:defRPr>
            </a:pPr>
            <a:r>
              <a:rPr sz="900" b="1">
                <a:solidFill>
                  <a:srgbClr val="39D7FF"/>
                </a:solidFill>
                <a:latin typeface="DejaVu Sans Mono"/>
                <a:ea typeface="DejaVu Sans Mono"/>
                <a:cs typeface="DejaVu Sans Mono"/>
              </a:rPr>
              <a:t>Degradation needs experiments</a:t>
            </a:r>
            <a:endParaRPr sz="900" b="1">
              <a:solidFill>
                <a:srgbClr val="39D7FF"/>
              </a:solidFill>
              <a:latin typeface="DejaVu Sans Mono"/>
              <a:ea typeface="DejaVu Sans Mono"/>
              <a:cs typeface="DejaVu Sans Mono"/>
            </a:endParaRPr>
          </a:p>
        </p:txBody>
      </p:sp>
      <p:sp>
        <p:nvSpPr>
          <p:cNvPr id="21" name="Straight Connector 20">
            <a:extLst xmlns:a="http://schemas.openxmlformats.org/drawingml/2006/main">
              <a:ext uri="{FF2B5EF4-FFF2-40B4-BE49-F238E27FC236}">
                <a16:creationId xmlns:a16="http://schemas.microsoft.com/office/drawing/2014/main" id="{B3E5C8AB-B38B-4B9C-AE7E-CF54B535F72E}"/>
              </a:ext>
            </a:extLst>
          </p:cNvPr>
          <p:cNvSpPr>
            <a:spLocks xmlns:a="http://schemas.openxmlformats.org/drawingml/2006/main" noGrp="1"/>
          </p:cNvSpPr>
          <p:nvPr/>
        </p:nvSpPr>
        <p:spPr>
          <a:xfrm xmlns:a="http://schemas.openxmlformats.org/drawingml/2006/main">
            <a:off x="7165665" y="5507251"/>
            <a:ext cx="3886200" cy="0"/>
          </a:xfrm>
          <a:prstGeom xmlns:a="http://schemas.openxmlformats.org/drawingml/2006/main" prst="line">
            <a:avLst/>
          </a:prstGeom>
          <a:noFill xmlns:a="http://schemas.openxmlformats.org/drawingml/2006/main"/>
          <a:ln xmlns:a="http://schemas.openxmlformats.org/drawingml/2006/main" w="9525">
            <a:solidFill>
              <a:srgbClr val="35414B"/>
            </a:solidFill>
            <a:prstDash val="solid"/>
          </a:ln>
        </p:spPr>
        <p:txBody>
          <a:bodyPr xmlns:a="http://schemas.openxmlformats.org/drawingml/2006/main"/>
          <a:lstStyle xmlns:a="http://schemas.openxmlformats.org/drawingml/2006/main"/>
          <a:p xmlns:a="http://schemas.openxmlformats.org/drawingml/2006/main">
            <a:endParaRPr/>
          </a:p>
        </p:txBody>
      </p:sp>
      <p:sp>
        <p:nvSpPr>
          <p:cNvPr id="22" name="Rectangle 21">
            <a:extLst xmlns:a="http://schemas.openxmlformats.org/drawingml/2006/main">
              <a:ext uri="{FF2B5EF4-FFF2-40B4-BE49-F238E27FC236}">
                <a16:creationId xmlns:a16="http://schemas.microsoft.com/office/drawing/2014/main" id="{A5A8A0B7-7290-4A22-A9F8-80A6225E2371}"/>
              </a:ext>
            </a:extLst>
          </p:cNvPr>
          <p:cNvSpPr>
            <a:spLocks xmlns:a="http://schemas.openxmlformats.org/drawingml/2006/main" noGrp="1"/>
          </p:cNvSpPr>
          <p:nvPr/>
        </p:nvSpPr>
        <p:spPr>
          <a:xfrm xmlns:a="http://schemas.openxmlformats.org/drawingml/2006/main">
            <a:off x="7165665" y="5583451"/>
            <a:ext cx="1104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39D7FF"/>
                </a:solidFill>
                <a:latin typeface="DejaVu Sans Mono"/>
                <a:ea typeface="DejaVu Sans Mono"/>
                <a:cs typeface="DejaVu Sans Mono"/>
              </a:defRPr>
            </a:pPr>
            <a:r>
              <a:rPr sz="900" b="1">
                <a:solidFill>
                  <a:srgbClr val="39D7FF"/>
                </a:solidFill>
                <a:latin typeface="DejaVu Sans Mono"/>
                <a:ea typeface="DejaVu Sans Mono"/>
                <a:cs typeface="DejaVu Sans Mono"/>
              </a:rPr>
              <a:t>Open questions drive research</a:t>
            </a:r>
            <a:endParaRPr sz="900" b="1">
              <a:solidFill>
                <a:srgbClr val="39D7FF"/>
              </a:solidFill>
              <a:latin typeface="DejaVu Sans Mono"/>
              <a:ea typeface="DejaVu Sans Mono"/>
              <a:cs typeface="DejaVu Sans Mono"/>
            </a:endParaRPr>
          </a:p>
        </p:txBody>
      </p:sp>
      <p:sp>
        <p:nvSpPr>
          <p:cNvPr id="25" name="Rectangle: Rounded Corners 24">
            <a:extLst xmlns:a="http://schemas.openxmlformats.org/drawingml/2006/main">
              <a:ext uri="{FF2B5EF4-FFF2-40B4-BE49-F238E27FC236}">
                <a16:creationId xmlns:a16="http://schemas.microsoft.com/office/drawing/2014/main" id="{CD0FB828-8760-43C3-8358-A9E4E8A01935}"/>
              </a:ext>
            </a:extLst>
          </p:cNvPr>
          <p:cNvSpPr>
            <a:spLocks xmlns:a="http://schemas.openxmlformats.org/drawingml/2006/main" noGrp="1"/>
          </p:cNvSpPr>
          <p:nvPr/>
        </p:nvSpPr>
        <p:spPr>
          <a:xfrm xmlns:a="http://schemas.openxmlformats.org/drawingml/2006/main">
            <a:off x="8210550" y="1232699"/>
            <a:ext cx="2095500" cy="990600"/>
          </a:xfrm>
          <a:prstGeom xmlns:a="http://schemas.openxmlformats.org/drawingml/2006/main" prst="roundRect">
            <a:avLst>
              <a:gd name="adj" fmla="val 15385"/>
            </a:avLst>
          </a:prstGeom>
          <a:solidFill xmlns:a="http://schemas.openxmlformats.org/drawingml/2006/main">
            <a:srgbClr val="101A17"/>
          </a:solidFill>
          <a:ln xmlns:a="http://schemas.openxmlformats.org/drawingml/2006/main" w="14288">
            <a:solidFill>
              <a:schemeClr val="accent5">
                <a:lumMod val="60000"/>
                <a:lumOff val="40000"/>
              </a:schemeClr>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350" b="1">
                <a:solidFill>
                  <a:srgbClr val="62D6A7"/>
                </a:solidFill>
                <a:latin typeface="DejaVu Sans"/>
                <a:ea typeface="DejaVu Sans"/>
                <a:cs typeface="DejaVu Sans"/>
              </a:defRPr>
            </a:pPr>
            <a:r>
              <a:rPr sz="1350" b="1">
                <a:solidFill>
                  <a:schemeClr val="accent5">
                    <a:lumMod val="60000"/>
                    <a:lumOff val="40000"/>
                  </a:schemeClr>
                </a:solidFill>
                <a:latin typeface="DejaVu Sans"/>
                <a:ea typeface="DejaVu Sans"/>
                <a:cs typeface="DejaVu Sans"/>
              </a:rPr>
              <a:t>PROJECT EXECUTION</a:t>
            </a:r>
            <a:endParaRPr sz="1350" b="1">
              <a:solidFill>
                <a:schemeClr val="accent5">
                  <a:lumMod val="60000"/>
                  <a:lumOff val="40000"/>
                </a:schemeClr>
              </a:solidFill>
              <a:latin typeface="DejaVu Sans"/>
              <a:ea typeface="DejaVu Sans"/>
              <a:cs typeface="DejaVu Sans"/>
            </a:endParaRPr>
          </a:p>
        </p:txBody>
      </p:sp>
      <p:sp>
        <p:nvSpPr>
          <p:cNvPr id="28" name="Rectangle: Rounded Corners 27">
            <a:extLst xmlns:a="http://schemas.openxmlformats.org/drawingml/2006/main">
              <a:ext uri="{FF2B5EF4-FFF2-40B4-BE49-F238E27FC236}">
                <a16:creationId xmlns:a16="http://schemas.microsoft.com/office/drawing/2014/main" id="{CF5BACD7-839D-4443-9403-8DFABDA5F4CA}"/>
              </a:ext>
            </a:extLst>
          </p:cNvPr>
          <p:cNvSpPr>
            <a:spLocks xmlns:a="http://schemas.openxmlformats.org/drawingml/2006/main" noGrp="1"/>
          </p:cNvSpPr>
          <p:nvPr/>
        </p:nvSpPr>
        <p:spPr>
          <a:xfrm xmlns:a="http://schemas.openxmlformats.org/drawingml/2006/main">
            <a:off x="1174271" y="1287672"/>
            <a:ext cx="2247900" cy="876300"/>
          </a:xfrm>
          <a:prstGeom xmlns:a="http://schemas.openxmlformats.org/drawingml/2006/main" prst="roundRect">
            <a:avLst>
              <a:gd name="adj" fmla="val 17391"/>
            </a:avLst>
          </a:prstGeom>
          <a:solidFill xmlns:a="http://schemas.openxmlformats.org/drawingml/2006/main">
            <a:srgbClr val="10161B"/>
          </a:solidFill>
          <a:ln xmlns:a="http://schemas.openxmlformats.org/drawingml/2006/main" w="14288">
            <a:solidFill>
              <a:srgbClr val="39D7FF"/>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200" b="1">
                <a:solidFill>
                  <a:srgbClr val="39D7FF"/>
                </a:solidFill>
                <a:latin typeface="DejaVu Sans Mono"/>
                <a:ea typeface="DejaVu Sans Mono"/>
                <a:cs typeface="DejaVu Sans Mono"/>
              </a:defRPr>
            </a:pPr>
            <a:r>
              <a:rPr sz="1200" b="1">
                <a:solidFill>
                  <a:srgbClr val="39D7FF"/>
                </a:solidFill>
                <a:latin typeface="DejaVu Sans Mono"/>
                <a:ea typeface="DejaVu Sans Mono"/>
                <a:cs typeface="DejaVu Sans Mono"/>
              </a:rPr>
              <a:t>SCIENCE</a:t>
            </a:r>
            <a:endParaRPr sz="1200" b="1">
              <a:solidFill>
                <a:srgbClr val="39D7FF"/>
              </a:solidFill>
              <a:latin typeface="DejaVu Sans Mono"/>
              <a:ea typeface="DejaVu Sans Mono"/>
              <a:cs typeface="DejaVu Sans Mono"/>
            </a:endParaRPr>
          </a:p>
        </p:txBody>
      </p:sp>
      <p:sp>
        <p:nvSpPr>
          <p:cNvPr id="31" name="Rectangle: Rounded Corners 30">
            <a:extLst xmlns:a="http://schemas.openxmlformats.org/drawingml/2006/main">
              <a:ext uri="{FF2B5EF4-FFF2-40B4-BE49-F238E27FC236}">
                <a16:creationId xmlns:a16="http://schemas.microsoft.com/office/drawing/2014/main" id="{468F5472-99BA-440D-8A43-5687A592944F}"/>
              </a:ext>
            </a:extLst>
          </p:cNvPr>
          <p:cNvSpPr>
            <a:spLocks xmlns:a="http://schemas.openxmlformats.org/drawingml/2006/main" noGrp="1"/>
          </p:cNvSpPr>
          <p:nvPr/>
        </p:nvSpPr>
        <p:spPr>
          <a:xfrm xmlns:a="http://schemas.openxmlformats.org/drawingml/2006/main">
            <a:off x="4581525" y="1280832"/>
            <a:ext cx="2381250" cy="876300"/>
          </a:xfrm>
          <a:prstGeom xmlns:a="http://schemas.openxmlformats.org/drawingml/2006/main" prst="roundRect">
            <a:avLst>
              <a:gd name="adj" fmla="val 17391"/>
            </a:avLst>
          </a:prstGeom>
          <a:solidFill xmlns:a="http://schemas.openxmlformats.org/drawingml/2006/main">
            <a:srgbClr val="18120F"/>
          </a:solidFill>
          <a:ln xmlns:a="http://schemas.openxmlformats.org/drawingml/2006/main" w="14288">
            <a:solidFill>
              <a:srgbClr val="F26B38"/>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425" b="1">
                <a:solidFill>
                  <a:srgbClr val="F26B38"/>
                </a:solidFill>
                <a:latin typeface="DejaVu Sans"/>
                <a:ea typeface="DejaVu Sans"/>
                <a:cs typeface="DejaVu Sans"/>
              </a:defRPr>
            </a:pPr>
            <a:r>
              <a:rPr sz="1425" b="1">
                <a:solidFill>
                  <a:srgbClr val="F26B38"/>
                </a:solidFill>
                <a:latin typeface="DejaVu Sans"/>
                <a:ea typeface="DejaVu Sans"/>
                <a:cs typeface="DejaVu Sans"/>
              </a:rPr>
              <a:t>ENGINEERING</a:t>
            </a:r>
          </a:p>
        </p:txBody>
      </p:sp>
      <p:sp>
        <p:nvSpPr>
          <p:cNvPr id="33" name="Rectangle 32">
            <a:extLst xmlns:a="http://schemas.openxmlformats.org/drawingml/2006/main">
              <a:ext uri="{FF2B5EF4-FFF2-40B4-BE49-F238E27FC236}">
                <a16:creationId xmlns:a16="http://schemas.microsoft.com/office/drawing/2014/main" id="{F40CEC8E-C199-4837-B64F-64F19C332542}"/>
              </a:ext>
            </a:extLst>
          </p:cNvPr>
          <p:cNvSpPr>
            <a:spLocks xmlns:a="http://schemas.openxmlformats.org/drawingml/2006/main" noGrp="1"/>
          </p:cNvSpPr>
          <p:nvPr/>
        </p:nvSpPr>
        <p:spPr>
          <a:xfrm xmlns:a="http://schemas.openxmlformats.org/drawingml/2006/main">
            <a:off x="0" y="6400800"/>
            <a:ext cx="12192000" cy="457200"/>
          </a:xfrm>
          <a:prstGeom xmlns:a="http://schemas.openxmlformats.org/drawingml/2006/main" prst="rect">
            <a:avLst/>
          </a:prstGeom>
          <a:solidFill xmlns:a="http://schemas.openxmlformats.org/drawingml/2006/main">
            <a:srgbClr val="07090C">
              <a:alpha val="76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4" name="Rectangle 33">
            <a:extLst xmlns:a="http://schemas.openxmlformats.org/drawingml/2006/main">
              <a:ext uri="{FF2B5EF4-FFF2-40B4-BE49-F238E27FC236}">
                <a16:creationId xmlns:a16="http://schemas.microsoft.com/office/drawing/2014/main" id="{3086001B-C194-4B60-A7C2-3298BBD6636A}"/>
              </a:ext>
            </a:extLst>
          </p:cNvPr>
          <p:cNvSpPr>
            <a:spLocks xmlns:a="http://schemas.openxmlformats.org/drawingml/2006/main" noGrp="1"/>
          </p:cNvSpPr>
          <p:nvPr/>
        </p:nvSpPr>
        <p:spPr>
          <a:xfrm xmlns:a="http://schemas.openxmlformats.org/drawingml/2006/main">
            <a:off x="609600" y="6553200"/>
            <a:ext cx="68580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MARS SOCIETY 2026  •  HARNESSED AGENTIC SCIENCE + ENGINEERING</a:t>
            </a:r>
          </a:p>
        </p:txBody>
      </p:sp>
      <p:sp>
        <p:nvSpPr>
          <p:cNvPr id="35" name="Rectangle 34">
            <a:extLst xmlns:a="http://schemas.openxmlformats.org/drawingml/2006/main">
              <a:ext uri="{FF2B5EF4-FFF2-40B4-BE49-F238E27FC236}">
                <a16:creationId xmlns:a16="http://schemas.microsoft.com/office/drawing/2014/main" id="{9A6D34F0-9937-48C5-A511-A60C027AD983}"/>
              </a:ext>
            </a:extLst>
          </p:cNvPr>
          <p:cNvSpPr>
            <a:spLocks xmlns:a="http://schemas.openxmlformats.org/drawingml/2006/main" noGrp="1"/>
          </p:cNvSpPr>
          <p:nvPr/>
        </p:nvSpPr>
        <p:spPr>
          <a:xfrm xmlns:a="http://schemas.openxmlformats.org/drawingml/2006/main">
            <a:off x="9525000" y="6553200"/>
            <a:ext cx="20574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BOB J MILLS     19</a:t>
            </a:r>
          </a:p>
        </p:txBody>
      </p:sp>
      <p:sp>
        <p:nvSpPr>
          <p:cNvPr id="62" name="Rectangle 61">
            <a:extLst xmlns:a="http://schemas.openxmlformats.org/drawingml/2006/main">
              <a:ext uri="{FF2B5EF4-FFF2-40B4-BE49-F238E27FC236}">
                <a16:creationId xmlns:a16="http://schemas.microsoft.com/office/drawing/2014/main" id="{A6A529EB-DF5E-43C0-5BFF-B5EF28D141E8}"/>
              </a:ext>
            </a:extLst>
          </p:cNvPr>
          <p:cNvSpPr>
            <a:spLocks xmlns:a="http://schemas.openxmlformats.org/drawingml/2006/main" noGrp="1"/>
          </p:cNvSpPr>
          <p:nvPr/>
        </p:nvSpPr>
        <p:spPr>
          <a:xfrm xmlns:a="http://schemas.openxmlformats.org/drawingml/2006/main">
            <a:off x="8502762" y="3517423"/>
            <a:ext cx="1104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39D7FF"/>
                </a:solidFill>
                <a:latin typeface="DejaVu Sans Mono"/>
                <a:ea typeface="DejaVu Sans Mono"/>
                <a:cs typeface="DejaVu Sans Mono"/>
              </a:defRPr>
            </a:pPr>
            <a:r>
              <a:rPr sz="900" b="1">
                <a:solidFill>
                  <a:schemeClr val="accent2"/>
                </a:solidFill>
                <a:latin typeface="DejaVu Sans Mono"/>
                <a:ea typeface="DejaVu Sans Mono"/>
                <a:cs typeface="DejaVu Sans Mono"/>
              </a:rPr>
              <a:t>System integration dominates</a:t>
            </a:r>
            <a:endParaRPr sz="900" b="1">
              <a:solidFill>
                <a:schemeClr val="accent2"/>
              </a:solidFill>
              <a:latin typeface="DejaVu Sans Mono"/>
              <a:ea typeface="DejaVu Sans Mono"/>
              <a:cs typeface="DejaVu Sans Mono"/>
            </a:endParaRPr>
          </a:p>
        </p:txBody>
      </p:sp>
      <p:sp>
        <p:nvSpPr>
          <p:cNvPr id="64" name="Rectangle 63">
            <a:extLst xmlns:a="http://schemas.openxmlformats.org/drawingml/2006/main">
              <a:ext uri="{FF2B5EF4-FFF2-40B4-BE49-F238E27FC236}">
                <a16:creationId xmlns:a16="http://schemas.microsoft.com/office/drawing/2014/main" id="{FA217B3C-2607-6A60-300D-9AEAB83040DF}"/>
              </a:ext>
            </a:extLst>
          </p:cNvPr>
          <p:cNvSpPr>
            <a:spLocks xmlns:a="http://schemas.openxmlformats.org/drawingml/2006/main" noGrp="1"/>
          </p:cNvSpPr>
          <p:nvPr/>
        </p:nvSpPr>
        <p:spPr>
          <a:xfrm xmlns:a="http://schemas.openxmlformats.org/drawingml/2006/main">
            <a:off x="8502762" y="4031773"/>
            <a:ext cx="1104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39D7FF"/>
                </a:solidFill>
                <a:latin typeface="DejaVu Sans Mono"/>
                <a:ea typeface="DejaVu Sans Mono"/>
                <a:cs typeface="DejaVu Sans Mono"/>
              </a:defRPr>
            </a:pPr>
            <a:r>
              <a:rPr sz="900" b="1">
                <a:solidFill>
                  <a:schemeClr val="accent2"/>
                </a:solidFill>
                <a:latin typeface="DejaVu Sans Mono"/>
                <a:ea typeface="DejaVu Sans Mono"/>
                <a:cs typeface="DejaVu Sans Mono"/>
              </a:rPr>
              <a:t>304 kWe remains modeled</a:t>
            </a:r>
            <a:endParaRPr sz="900" b="1">
              <a:solidFill>
                <a:schemeClr val="accent2"/>
              </a:solidFill>
              <a:latin typeface="DejaVu Sans Mono"/>
              <a:ea typeface="DejaVu Sans Mono"/>
              <a:cs typeface="DejaVu Sans Mono"/>
            </a:endParaRPr>
          </a:p>
        </p:txBody>
      </p:sp>
      <p:sp>
        <p:nvSpPr>
          <p:cNvPr id="66" name="Rectangle 65">
            <a:extLst xmlns:a="http://schemas.openxmlformats.org/drawingml/2006/main">
              <a:ext uri="{FF2B5EF4-FFF2-40B4-BE49-F238E27FC236}">
                <a16:creationId xmlns:a16="http://schemas.microsoft.com/office/drawing/2014/main" id="{5BEEE8B2-C44E-575D-1771-B0E4CC3C0337}"/>
              </a:ext>
            </a:extLst>
          </p:cNvPr>
          <p:cNvSpPr>
            <a:spLocks xmlns:a="http://schemas.openxmlformats.org/drawingml/2006/main" noGrp="1"/>
          </p:cNvSpPr>
          <p:nvPr/>
        </p:nvSpPr>
        <p:spPr>
          <a:xfrm xmlns:a="http://schemas.openxmlformats.org/drawingml/2006/main">
            <a:off x="8502762" y="4546123"/>
            <a:ext cx="1104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39D7FF"/>
                </a:solidFill>
                <a:latin typeface="DejaVu Sans Mono"/>
                <a:ea typeface="DejaVu Sans Mono"/>
                <a:cs typeface="DejaVu Sans Mono"/>
              </a:defRPr>
            </a:pPr>
            <a:r>
              <a:rPr sz="900" b="1">
                <a:solidFill>
                  <a:schemeClr val="accent2"/>
                </a:solidFill>
                <a:latin typeface="DejaVu Sans Mono"/>
                <a:ea typeface="DejaVu Sans Mono"/>
                <a:cs typeface="DejaVu Sans Mono"/>
              </a:rPr>
              <a:t>Requirements need traceability</a:t>
            </a:r>
            <a:endParaRPr sz="900" b="1">
              <a:solidFill>
                <a:schemeClr val="accent2"/>
              </a:solidFill>
              <a:latin typeface="DejaVu Sans Mono"/>
              <a:ea typeface="DejaVu Sans Mono"/>
              <a:cs typeface="DejaVu Sans Mono"/>
            </a:endParaRPr>
          </a:p>
        </p:txBody>
      </p:sp>
      <p:sp>
        <p:nvSpPr>
          <p:cNvPr id="68" name="Rectangle 67">
            <a:extLst xmlns:a="http://schemas.openxmlformats.org/drawingml/2006/main">
              <a:ext uri="{FF2B5EF4-FFF2-40B4-BE49-F238E27FC236}">
                <a16:creationId xmlns:a16="http://schemas.microsoft.com/office/drawing/2014/main" id="{6C7B4939-E002-A477-C654-92A875E022C5}"/>
              </a:ext>
            </a:extLst>
          </p:cNvPr>
          <p:cNvSpPr>
            <a:spLocks xmlns:a="http://schemas.openxmlformats.org/drawingml/2006/main" noGrp="1"/>
          </p:cNvSpPr>
          <p:nvPr/>
        </p:nvSpPr>
        <p:spPr>
          <a:xfrm xmlns:a="http://schemas.openxmlformats.org/drawingml/2006/main">
            <a:off x="8502762" y="5060473"/>
            <a:ext cx="1104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39D7FF"/>
                </a:solidFill>
                <a:latin typeface="DejaVu Sans Mono"/>
                <a:ea typeface="DejaVu Sans Mono"/>
                <a:cs typeface="DejaVu Sans Mono"/>
              </a:defRPr>
            </a:pPr>
            <a:r>
              <a:rPr sz="900" b="1">
                <a:solidFill>
                  <a:schemeClr val="accent2"/>
                </a:solidFill>
                <a:latin typeface="DejaVu Sans Mono"/>
                <a:ea typeface="DejaVu Sans Mono"/>
                <a:cs typeface="DejaVu Sans Mono"/>
              </a:rPr>
              <a:t>Reliability needs qualification</a:t>
            </a:r>
            <a:endParaRPr sz="900" b="1">
              <a:solidFill>
                <a:schemeClr val="accent2"/>
              </a:solidFill>
              <a:latin typeface="DejaVu Sans Mono"/>
              <a:ea typeface="DejaVu Sans Mono"/>
              <a:cs typeface="DejaVu Sans Mono"/>
            </a:endParaRPr>
          </a:p>
        </p:txBody>
      </p:sp>
      <p:sp>
        <p:nvSpPr>
          <p:cNvPr id="70" name="Rectangle 69">
            <a:extLst xmlns:a="http://schemas.openxmlformats.org/drawingml/2006/main">
              <a:ext uri="{FF2B5EF4-FFF2-40B4-BE49-F238E27FC236}">
                <a16:creationId xmlns:a16="http://schemas.microsoft.com/office/drawing/2014/main" id="{54B9CB19-1E1F-83E4-B976-F67A5B79E375}"/>
              </a:ext>
            </a:extLst>
          </p:cNvPr>
          <p:cNvSpPr>
            <a:spLocks xmlns:a="http://schemas.openxmlformats.org/drawingml/2006/main" noGrp="1"/>
          </p:cNvSpPr>
          <p:nvPr/>
        </p:nvSpPr>
        <p:spPr>
          <a:xfrm xmlns:a="http://schemas.openxmlformats.org/drawingml/2006/main">
            <a:off x="8502762" y="5574823"/>
            <a:ext cx="1104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39D7FF"/>
                </a:solidFill>
                <a:latin typeface="DejaVu Sans Mono"/>
                <a:ea typeface="DejaVu Sans Mono"/>
                <a:cs typeface="DejaVu Sans Mono"/>
              </a:defRPr>
            </a:pPr>
            <a:r>
              <a:rPr sz="900" b="1">
                <a:solidFill>
                  <a:schemeClr val="accent2"/>
                </a:solidFill>
                <a:latin typeface="DejaVu Sans Mono"/>
                <a:ea typeface="DejaVu Sans Mono"/>
                <a:cs typeface="DejaVu Sans Mono"/>
              </a:rPr>
              <a:t>Design must return blockers</a:t>
            </a:r>
            <a:endParaRPr sz="900" b="1">
              <a:solidFill>
                <a:schemeClr val="accent2"/>
              </a:solidFill>
              <a:latin typeface="DejaVu Sans Mono"/>
              <a:ea typeface="DejaVu Sans Mono"/>
              <a:cs typeface="DejaVu Sans Mono"/>
            </a:endParaRPr>
          </a:p>
        </p:txBody>
      </p:sp>
      <p:sp>
        <p:nvSpPr>
          <p:cNvPr id="82" name="Rectangle 81">
            <a:extLst xmlns:a="http://schemas.openxmlformats.org/drawingml/2006/main">
              <a:ext uri="{FF2B5EF4-FFF2-40B4-BE49-F238E27FC236}">
                <a16:creationId xmlns:a16="http://schemas.microsoft.com/office/drawing/2014/main" id="{681D1E0B-407F-5D90-1B73-AEABE09318FF}"/>
              </a:ext>
            </a:extLst>
          </p:cNvPr>
          <p:cNvSpPr>
            <a:spLocks xmlns:a="http://schemas.openxmlformats.org/drawingml/2006/main" noGrp="1"/>
          </p:cNvSpPr>
          <p:nvPr/>
        </p:nvSpPr>
        <p:spPr>
          <a:xfrm xmlns:a="http://schemas.openxmlformats.org/drawingml/2006/main">
            <a:off x="10009511" y="3523171"/>
            <a:ext cx="1104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39D7FF"/>
                </a:solidFill>
                <a:latin typeface="DejaVu Sans Mono"/>
                <a:ea typeface="DejaVu Sans Mono"/>
                <a:cs typeface="DejaVu Sans Mono"/>
              </a:defRPr>
            </a:pPr>
            <a:r>
              <a:rPr sz="900" b="1">
                <a:solidFill>
                  <a:schemeClr val="accent5">
                    <a:lumMod val="60000"/>
                    <a:lumOff val="40000"/>
                  </a:schemeClr>
                </a:solidFill>
                <a:latin typeface="DejaVu Sans Mono"/>
                <a:ea typeface="DejaVu Sans Mono"/>
                <a:cs typeface="DejaVu Sans Mono"/>
              </a:rPr>
              <a:t>WBS connects all systems</a:t>
            </a:r>
            <a:endParaRPr sz="900" b="1">
              <a:solidFill>
                <a:schemeClr val="accent5">
                  <a:lumMod val="60000"/>
                  <a:lumOff val="40000"/>
                </a:schemeClr>
              </a:solidFill>
              <a:latin typeface="DejaVu Sans Mono"/>
              <a:ea typeface="DejaVu Sans Mono"/>
              <a:cs typeface="DejaVu Sans Mono"/>
            </a:endParaRPr>
          </a:p>
        </p:txBody>
      </p:sp>
      <p:sp>
        <p:nvSpPr>
          <p:cNvPr id="84" name="Rectangle 83">
            <a:extLst xmlns:a="http://schemas.openxmlformats.org/drawingml/2006/main">
              <a:ext uri="{FF2B5EF4-FFF2-40B4-BE49-F238E27FC236}">
                <a16:creationId xmlns:a16="http://schemas.microsoft.com/office/drawing/2014/main" id="{5AEAEC57-011B-0F9D-BFDF-ED6516C10648}"/>
              </a:ext>
            </a:extLst>
          </p:cNvPr>
          <p:cNvSpPr>
            <a:spLocks xmlns:a="http://schemas.openxmlformats.org/drawingml/2006/main" noGrp="1"/>
          </p:cNvSpPr>
          <p:nvPr/>
        </p:nvSpPr>
        <p:spPr>
          <a:xfrm xmlns:a="http://schemas.openxmlformats.org/drawingml/2006/main">
            <a:off x="10009511" y="4037521"/>
            <a:ext cx="1104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39D7FF"/>
                </a:solidFill>
                <a:latin typeface="DejaVu Sans Mono"/>
                <a:ea typeface="DejaVu Sans Mono"/>
                <a:cs typeface="DejaVu Sans Mono"/>
              </a:defRPr>
            </a:pPr>
            <a:r>
              <a:rPr sz="900" b="1">
                <a:solidFill>
                  <a:schemeClr val="accent5">
                    <a:lumMod val="60000"/>
                    <a:lumOff val="40000"/>
                  </a:schemeClr>
                </a:solidFill>
                <a:latin typeface="DejaVu Sans Mono"/>
                <a:ea typeface="DejaVu Sans Mono"/>
                <a:cs typeface="DejaVu Sans Mono"/>
              </a:rPr>
              <a:t>Cost + schedule need basis</a:t>
            </a:r>
            <a:endParaRPr sz="900" b="1">
              <a:solidFill>
                <a:schemeClr val="accent5">
                  <a:lumMod val="60000"/>
                  <a:lumOff val="40000"/>
                </a:schemeClr>
              </a:solidFill>
              <a:latin typeface="DejaVu Sans Mono"/>
              <a:ea typeface="DejaVu Sans Mono"/>
              <a:cs typeface="DejaVu Sans Mono"/>
            </a:endParaRPr>
          </a:p>
        </p:txBody>
      </p:sp>
      <p:sp>
        <p:nvSpPr>
          <p:cNvPr id="86" name="Rectangle 85">
            <a:extLst xmlns:a="http://schemas.openxmlformats.org/drawingml/2006/main">
              <a:ext uri="{FF2B5EF4-FFF2-40B4-BE49-F238E27FC236}">
                <a16:creationId xmlns:a16="http://schemas.microsoft.com/office/drawing/2014/main" id="{0ABB25E8-1D9B-D525-4C1D-03807843FE96}"/>
              </a:ext>
            </a:extLst>
          </p:cNvPr>
          <p:cNvSpPr>
            <a:spLocks xmlns:a="http://schemas.openxmlformats.org/drawingml/2006/main" noGrp="1"/>
          </p:cNvSpPr>
          <p:nvPr/>
        </p:nvSpPr>
        <p:spPr>
          <a:xfrm xmlns:a="http://schemas.openxmlformats.org/drawingml/2006/main">
            <a:off x="10009511" y="4551871"/>
            <a:ext cx="1104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39D7FF"/>
                </a:solidFill>
                <a:latin typeface="DejaVu Sans Mono"/>
                <a:ea typeface="DejaVu Sans Mono"/>
                <a:cs typeface="DejaVu Sans Mono"/>
              </a:defRPr>
            </a:pPr>
            <a:r>
              <a:rPr sz="900" b="1">
                <a:solidFill>
                  <a:schemeClr val="accent5">
                    <a:lumMod val="60000"/>
                    <a:lumOff val="40000"/>
                  </a:schemeClr>
                </a:solidFill>
                <a:latin typeface="DejaVu Sans Mono"/>
                <a:ea typeface="DejaVu Sans Mono"/>
                <a:cs typeface="DejaVu Sans Mono"/>
              </a:rPr>
              <a:t>Risks remain visible</a:t>
            </a:r>
            <a:endParaRPr sz="900" b="1">
              <a:solidFill>
                <a:schemeClr val="accent5">
                  <a:lumMod val="60000"/>
                  <a:lumOff val="40000"/>
                </a:schemeClr>
              </a:solidFill>
              <a:latin typeface="DejaVu Sans Mono"/>
              <a:ea typeface="DejaVu Sans Mono"/>
              <a:cs typeface="DejaVu Sans Mono"/>
            </a:endParaRPr>
          </a:p>
        </p:txBody>
      </p:sp>
      <p:sp>
        <p:nvSpPr>
          <p:cNvPr id="88" name="Rectangle 87">
            <a:extLst xmlns:a="http://schemas.openxmlformats.org/drawingml/2006/main">
              <a:ext uri="{FF2B5EF4-FFF2-40B4-BE49-F238E27FC236}">
                <a16:creationId xmlns:a16="http://schemas.microsoft.com/office/drawing/2014/main" id="{77BDFD03-3E99-7CF2-C4D3-0A3E856720DB}"/>
              </a:ext>
            </a:extLst>
          </p:cNvPr>
          <p:cNvSpPr>
            <a:spLocks xmlns:a="http://schemas.openxmlformats.org/drawingml/2006/main" noGrp="1"/>
          </p:cNvSpPr>
          <p:nvPr/>
        </p:nvSpPr>
        <p:spPr>
          <a:xfrm xmlns:a="http://schemas.openxmlformats.org/drawingml/2006/main">
            <a:off x="10009511" y="5066221"/>
            <a:ext cx="1104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39D7FF"/>
                </a:solidFill>
                <a:latin typeface="DejaVu Sans Mono"/>
                <a:ea typeface="DejaVu Sans Mono"/>
                <a:cs typeface="DejaVu Sans Mono"/>
              </a:defRPr>
            </a:pPr>
            <a:r>
              <a:rPr sz="900" b="1">
                <a:solidFill>
                  <a:schemeClr val="accent5">
                    <a:lumMod val="60000"/>
                    <a:lumOff val="40000"/>
                  </a:schemeClr>
                </a:solidFill>
                <a:latin typeface="DejaVu Sans Mono"/>
                <a:ea typeface="DejaVu Sans Mono"/>
                <a:cs typeface="DejaVu Sans Mono"/>
              </a:rPr>
              <a:t>Changes propagate through state</a:t>
            </a:r>
            <a:endParaRPr sz="900" b="1">
              <a:solidFill>
                <a:schemeClr val="accent5">
                  <a:lumMod val="60000"/>
                  <a:lumOff val="40000"/>
                </a:schemeClr>
              </a:solidFill>
              <a:latin typeface="DejaVu Sans Mono"/>
              <a:ea typeface="DejaVu Sans Mono"/>
              <a:cs typeface="DejaVu Sans Mono"/>
            </a:endParaRPr>
          </a:p>
        </p:txBody>
      </p:sp>
      <p:sp>
        <p:nvSpPr>
          <p:cNvPr id="90" name="Rectangle 89">
            <a:extLst xmlns:a="http://schemas.openxmlformats.org/drawingml/2006/main">
              <a:ext uri="{FF2B5EF4-FFF2-40B4-BE49-F238E27FC236}">
                <a16:creationId xmlns:a16="http://schemas.microsoft.com/office/drawing/2014/main" id="{848C6E66-C81D-3F89-6F3F-CBE0CA0F5C7A}"/>
              </a:ext>
            </a:extLst>
          </p:cNvPr>
          <p:cNvSpPr>
            <a:spLocks xmlns:a="http://schemas.openxmlformats.org/drawingml/2006/main" noGrp="1"/>
          </p:cNvSpPr>
          <p:nvPr/>
        </p:nvSpPr>
        <p:spPr>
          <a:xfrm xmlns:a="http://schemas.openxmlformats.org/drawingml/2006/main">
            <a:off x="10009511" y="5580571"/>
            <a:ext cx="1104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39D7FF"/>
                </a:solidFill>
                <a:latin typeface="DejaVu Sans Mono"/>
                <a:ea typeface="DejaVu Sans Mono"/>
                <a:cs typeface="DejaVu Sans Mono"/>
              </a:defRPr>
            </a:pPr>
            <a:r>
              <a:rPr sz="900" b="1">
                <a:solidFill>
                  <a:schemeClr val="accent5">
                    <a:lumMod val="60000"/>
                    <a:lumOff val="40000"/>
                  </a:schemeClr>
                </a:solidFill>
                <a:latin typeface="DejaVu Sans Mono"/>
                <a:ea typeface="DejaVu Sans Mono"/>
                <a:cs typeface="DejaVu Sans Mono"/>
              </a:rPr>
              <a:t>Approval gates control release</a:t>
            </a:r>
            <a:endParaRPr sz="900" b="1">
              <a:solidFill>
                <a:schemeClr val="accent5">
                  <a:lumMod val="60000"/>
                  <a:lumOff val="40000"/>
                </a:schemeClr>
              </a:solidFill>
              <a:latin typeface="DejaVu Sans Mono"/>
              <a:ea typeface="DejaVu Sans Mono"/>
              <a:cs typeface="DejaVu Sans Mono"/>
            </a:endParaRPr>
          </a:p>
        </p:txBody>
      </p:sp>
    </p:spTree>
    <p:extLst>
      <p:ext uri="{BB962C8B-B14F-4D97-AF65-F5344CB8AC3E}">
        <p14:creationId xmlns:p14="http://schemas.microsoft.com/office/powerpoint/2010/main" val="1727205963"/>
      </p:ext>
    </p:extLst>
  </p:cSld>
</p:sld>
</file>

<file path=ppt/slides/slide20.xml><?xml version="1.0" encoding="utf-8"?>
<p:sld xmlns:p="http://schemas.openxmlformats.org/presentationml/2006/main">
  <p:cSld>
    <p:bg>
      <p:bgPr>
        <a:solidFill xmlns:a="http://schemas.openxmlformats.org/drawingml/2006/main">
          <a:srgbClr val="07090C"/>
        </a:solidFill>
      </p:bgPr>
    </p:bg>
    <p:spTree>
      <p:nvGrpSpPr>
        <p:cNvPr id="1" name=""/>
        <p:cNvGrpSpPr/>
        <p:nvPr/>
      </p:nvGrpSpPr>
      <p:grpSpPr>
        <a:xfrm xmlns:a="http://schemas.openxmlformats.org/drawingml/2006/main"/>
      </p:grpSpPr>
      <p:pic>
        <p:nvPicPr>
          <p:cNvPr id="47" name="Picture 39"/>
          <p:cNvPicPr>
            <a:picLocks xmlns:a="http://schemas.openxmlformats.org/drawingml/2006/main" noChangeAspect="1"/>
          </p:cNvPicPr>
          <p:nvPr/>
        </p:nvPicPr>
        <p:blipFill>
          <a:blip xmlns:r="http://schemas.openxmlformats.org/officeDocument/2006/relationships" xmlns:a="http://schemas.openxmlformats.org/drawingml/2006/main" r:embed="Ra9b6d063664348a4"/>
          <a:srcRect xmlns:a="http://schemas.openxmlformats.org/drawingml/2006/main" l="0" t="27" r="0" b="27"/>
          <a:stretch xmlns:a="http://schemas.openxmlformats.org/drawingml/2006/main">
            <a:fillRect l="0" t="0" r="0" b="0"/>
          </a:stretch>
        </p:blipFill>
        <p:spPr>
          <a:xfrm xmlns:a="http://schemas.openxmlformats.org/drawingml/2006/main">
            <a:off x="0" y="14468"/>
            <a:ext cx="12192000" cy="6858000"/>
          </a:xfrm>
          <a:prstGeom xmlns:a="http://schemas.openxmlformats.org/drawingml/2006/main" prst="rect">
            <a:avLst/>
          </a:prstGeom>
        </p:spPr>
      </p:pic>
      <p:sp>
        <p:nvSpPr>
          <p:cNvPr id="2" name="Rectangle 1">
            <a:extLst xmlns:a="http://schemas.openxmlformats.org/drawingml/2006/main">
              <a:ext uri="{FF2B5EF4-FFF2-40B4-BE49-F238E27FC236}">
                <a16:creationId xmlns:a16="http://schemas.microsoft.com/office/drawing/2014/main" id="{4600E5C2-5EA5-43EB-9231-CFF15DA0E17A}"/>
              </a:ext>
            </a:extLst>
          </p:cNvPr>
          <p:cNvSpPr>
            <a:spLocks xmlns:a="http://schemas.openxmlformats.org/drawingml/2006/main" noGrp="1"/>
          </p:cNvSpPr>
          <p:nvPr/>
        </p:nvSpPr>
        <p:spPr>
          <a:xfrm xmlns:a="http://schemas.openxmlformats.org/drawingml/2006/main">
            <a:off x="0" y="0"/>
            <a:ext cx="12192000" cy="1752600"/>
          </a:xfrm>
          <a:prstGeom xmlns:a="http://schemas.openxmlformats.org/drawingml/2006/main" prst="rect">
            <a:avLst/>
          </a:prstGeom>
          <a:gradFill xmlns:a="http://schemas.openxmlformats.org/drawingml/2006/main">
            <a:gsLst>
              <a:gs pos="0">
                <a:srgbClr val="07090C">
                  <a:alpha val="98000"/>
                </a:srgbClr>
              </a:gs>
              <a:gs pos="68000">
                <a:srgbClr val="07090C">
                  <a:alpha val="88000"/>
                </a:srgbClr>
              </a:gs>
              <a:gs pos="100000">
                <a:srgbClr val="07090C">
                  <a:alpha val="0"/>
                </a:srgbClr>
              </a:gs>
            </a:gsLst>
            <a:lin ang="5400000"/>
          </a:gra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 name="Rectangle 2">
            <a:extLst xmlns:a="http://schemas.openxmlformats.org/drawingml/2006/main">
              <a:ext uri="{FF2B5EF4-FFF2-40B4-BE49-F238E27FC236}">
                <a16:creationId xmlns:a16="http://schemas.microsoft.com/office/drawing/2014/main" id="{FB32CA4D-DF69-42E9-A96D-FAA2E10AAF4D}"/>
              </a:ext>
            </a:extLst>
          </p:cNvPr>
          <p:cNvSpPr>
            <a:spLocks xmlns:a="http://schemas.openxmlformats.org/drawingml/2006/main" noGrp="1"/>
          </p:cNvSpPr>
          <p:nvPr/>
        </p:nvSpPr>
        <p:spPr>
          <a:xfrm xmlns:a="http://schemas.openxmlformats.org/drawingml/2006/main">
            <a:off x="39542" y="5134335"/>
            <a:ext cx="12192000" cy="1733550"/>
          </a:xfrm>
          <a:prstGeom xmlns:a="http://schemas.openxmlformats.org/drawingml/2006/main" prst="rect">
            <a:avLst/>
          </a:prstGeom>
          <a:gradFill xmlns:a="http://schemas.openxmlformats.org/drawingml/2006/main">
            <a:gsLst>
              <a:gs pos="0">
                <a:srgbClr val="07090C">
                  <a:alpha val="98000"/>
                </a:srgbClr>
              </a:gs>
              <a:gs pos="68000">
                <a:srgbClr val="07090C">
                  <a:alpha val="90000"/>
                </a:srgbClr>
              </a:gs>
              <a:gs pos="100000">
                <a:srgbClr val="07090C">
                  <a:alpha val="0"/>
                </a:srgbClr>
              </a:gs>
            </a:gsLst>
            <a:lin ang="16200000"/>
          </a:gra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782AB61F-58B9-4B14-A6B7-85A867C41EA0}"/>
              </a:ext>
            </a:extLst>
          </p:cNvPr>
          <p:cNvSpPr>
            <a:spLocks xmlns:a="http://schemas.openxmlformats.org/drawingml/2006/main" noGrp="1"/>
          </p:cNvSpPr>
          <p:nvPr/>
        </p:nvSpPr>
        <p:spPr>
          <a:xfrm xmlns:a="http://schemas.openxmlformats.org/drawingml/2006/main">
            <a:off x="609600" y="323850"/>
            <a:ext cx="419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75" b="1">
                <a:solidFill>
                  <a:srgbClr val="F26B38"/>
                </a:solidFill>
                <a:latin typeface="DejaVu Sans Mono"/>
                <a:ea typeface="DejaVu Sans Mono"/>
                <a:cs typeface="DejaVu Sans Mono"/>
              </a:defRPr>
            </a:pPr>
            <a:r>
              <a:rPr sz="975" b="1">
                <a:solidFill>
                  <a:srgbClr val="F26B38"/>
                </a:solidFill>
                <a:latin typeface="DejaVu Sans Mono"/>
                <a:ea typeface="DejaVu Sans Mono"/>
                <a:cs typeface="DejaVu Sans Mono"/>
              </a:rPr>
              <a:t>20  /  HARNESS ECOSYSTEM</a:t>
            </a:r>
          </a:p>
        </p:txBody>
      </p:sp>
      <p:sp>
        <p:nvSpPr>
          <p:cNvPr id="5" name="Rectangle 4">
            <a:extLst xmlns:a="http://schemas.openxmlformats.org/drawingml/2006/main">
              <a:ext uri="{FF2B5EF4-FFF2-40B4-BE49-F238E27FC236}">
                <a16:creationId xmlns:a16="http://schemas.microsoft.com/office/drawing/2014/main" id="{096893A8-FD34-4632-8E64-C1884CAAD374}"/>
              </a:ext>
            </a:extLst>
          </p:cNvPr>
          <p:cNvSpPr>
            <a:spLocks xmlns:a="http://schemas.openxmlformats.org/drawingml/2006/main" noGrp="1"/>
          </p:cNvSpPr>
          <p:nvPr/>
        </p:nvSpPr>
        <p:spPr>
          <a:xfrm xmlns:a="http://schemas.openxmlformats.org/drawingml/2006/main">
            <a:off x="609600" y="685800"/>
            <a:ext cx="8572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2400" b="1">
                <a:solidFill>
                  <a:srgbClr val="F4F6F8"/>
                </a:solidFill>
                <a:latin typeface="DejaVu Sans"/>
                <a:ea typeface="DejaVu Sans"/>
                <a:cs typeface="DejaVu Sans"/>
              </a:defRPr>
            </a:pPr>
            <a:r>
              <a:rPr sz="2400" b="1">
                <a:solidFill>
                  <a:srgbClr val="F4F6F8"/>
                </a:solidFill>
                <a:latin typeface="DejaVu Sans"/>
                <a:ea typeface="DejaVu Sans"/>
                <a:cs typeface="DejaVu Sans"/>
              </a:rPr>
              <a:t>W</a:t>
            </a:r>
            <a:r>
              <a:rPr sz="2400" b="1">
                <a:solidFill>
                  <a:srgbClr val="F4F6F8"/>
                </a:solidFill>
                <a:latin typeface="DejaVu Sans"/>
                <a:ea typeface="DejaVu Sans"/>
                <a:cs typeface="DejaVu Sans"/>
              </a:rPr>
              <a:t>orkflows become portable mission skills</a:t>
            </a:r>
          </a:p>
        </p:txBody>
      </p:sp>
      <p:sp>
        <p:nvSpPr>
          <p:cNvPr id="6" name="Rectangle 5">
            <a:extLst xmlns:a="http://schemas.openxmlformats.org/drawingml/2006/main">
              <a:ext uri="{FF2B5EF4-FFF2-40B4-BE49-F238E27FC236}">
                <a16:creationId xmlns:a16="http://schemas.microsoft.com/office/drawing/2014/main" id="{85CA95F3-9BEF-4ADB-AC92-7C24D324DB91}"/>
              </a:ext>
            </a:extLst>
          </p:cNvPr>
          <p:cNvSpPr>
            <a:spLocks xmlns:a="http://schemas.openxmlformats.org/drawingml/2006/main" noGrp="1"/>
          </p:cNvSpPr>
          <p:nvPr/>
        </p:nvSpPr>
        <p:spPr>
          <a:xfrm xmlns:a="http://schemas.openxmlformats.org/drawingml/2006/main">
            <a:off x="628650" y="1295400"/>
            <a:ext cx="8763000" cy="66639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425" b="0">
                <a:solidFill>
                  <a:srgbClr val="D8DEE3"/>
                </a:solidFill>
                <a:latin typeface="DejaVu Sans"/>
                <a:ea typeface="DejaVu Sans"/>
                <a:cs typeface="DejaVu Sans"/>
              </a:defRPr>
            </a:pPr>
            <a:r>
              <a:rPr sz="1425" b="1">
                <a:solidFill>
                  <a:srgbClr val="D8DEE3"/>
                </a:solidFill>
                <a:latin typeface="DejaVu Sans"/>
                <a:ea typeface="DejaVu Sans"/>
                <a:cs typeface="DejaVu Sans"/>
              </a:rPr>
              <a:t>Codex, Claude </a:t>
            </a:r>
            <a:r>
              <a:rPr sz="1425" b="1">
                <a:solidFill>
                  <a:srgbClr val="D8DEE3"/>
                </a:solidFill>
                <a:latin typeface="DejaVu Sans"/>
                <a:ea typeface="DejaVu Sans"/>
                <a:cs typeface="DejaVu Sans"/>
              </a:rPr>
              <a:t>Cowork</a:t>
            </a:r>
            <a:r>
              <a:rPr sz="1425" b="1">
                <a:solidFill>
                  <a:srgbClr val="D8DEE3"/>
                </a:solidFill>
                <a:latin typeface="DejaVu Sans"/>
                <a:ea typeface="DejaVu Sans"/>
                <a:cs typeface="DejaVu Sans"/>
              </a:rPr>
              <a:t>, Hermes and Grok </a:t>
            </a:r>
            <a:r>
              <a:rPr sz="1425" b="1">
                <a:solidFill>
                  <a:srgbClr val="D8DEE3"/>
                </a:solidFill>
                <a:latin typeface="DejaVu Sans"/>
                <a:ea typeface="DejaVu Sans"/>
                <a:cs typeface="DejaVu Sans"/>
              </a:rPr>
              <a:t>and their future versions </a:t>
            </a:r>
            <a:r>
              <a:rPr sz="1425" b="1">
                <a:solidFill>
                  <a:srgbClr val="D8DEE3"/>
                </a:solidFill>
                <a:latin typeface="DejaVu Sans"/>
                <a:ea typeface="DejaVu Sans"/>
                <a:cs typeface="DejaVu Sans"/>
              </a:rPr>
              <a:t>can</a:t>
            </a:r>
            <a:r>
              <a:rPr sz="1425" b="1">
                <a:solidFill>
                  <a:srgbClr val="D8DEE3"/>
                </a:solidFill>
                <a:latin typeface="DejaVu Sans"/>
                <a:ea typeface="DejaVu Sans"/>
                <a:cs typeface="DejaVu Sans"/>
              </a:rPr>
              <a:t> provide the agentic workflows needed captured as Skills and Agent </a:t>
            </a:r>
            <a:r>
              <a:rPr sz="1425" b="1">
                <a:solidFill>
                  <a:srgbClr val="D8DEE3"/>
                </a:solidFill>
                <a:latin typeface="DejaVu Sans"/>
                <a:ea typeface="DejaVu Sans"/>
                <a:cs typeface="DejaVu Sans"/>
              </a:rPr>
              <a:t>Idenities</a:t>
            </a:r>
            <a:r>
              <a:rPr sz="1425" b="1">
                <a:solidFill>
                  <a:srgbClr val="D8DEE3"/>
                </a:solidFill>
                <a:latin typeface="DejaVu Sans"/>
                <a:ea typeface="DejaVu Sans"/>
                <a:cs typeface="DejaVu Sans"/>
              </a:rPr>
              <a:t>.  Below is a small sample of where this could be beneficial.</a:t>
            </a:r>
            <a:endParaRPr sz="1425" b="1">
              <a:solidFill>
                <a:srgbClr val="D8DEE3"/>
              </a:solidFill>
              <a:latin typeface="DejaVu Sans"/>
              <a:ea typeface="DejaVu Sans"/>
              <a:cs typeface="DejaVu Sans"/>
            </a:endParaRPr>
          </a:p>
        </p:txBody>
      </p:sp>
      <p:sp>
        <p:nvSpPr>
          <p:cNvPr id="7" name="Rectangle: Rounded Corners 6">
            <a:extLst xmlns:a="http://schemas.openxmlformats.org/drawingml/2006/main">
              <a:ext uri="{FF2B5EF4-FFF2-40B4-BE49-F238E27FC236}">
                <a16:creationId xmlns:a16="http://schemas.microsoft.com/office/drawing/2014/main" id="{818B21D6-EBD2-49FF-B42C-A5CF6D2A32F3}"/>
              </a:ext>
            </a:extLst>
          </p:cNvPr>
          <p:cNvSpPr>
            <a:spLocks xmlns:a="http://schemas.openxmlformats.org/drawingml/2006/main" noGrp="1"/>
          </p:cNvSpPr>
          <p:nvPr/>
        </p:nvSpPr>
        <p:spPr>
          <a:xfrm xmlns:a="http://schemas.openxmlformats.org/drawingml/2006/main">
            <a:off x="857250" y="2876550"/>
            <a:ext cx="1504950" cy="323850"/>
          </a:xfrm>
          <a:prstGeom xmlns:a="http://schemas.openxmlformats.org/drawingml/2006/main" prst="roundRect">
            <a:avLst>
              <a:gd name="adj" fmla="val 26471"/>
            </a:avLst>
          </a:prstGeom>
          <a:solidFill xmlns:a="http://schemas.openxmlformats.org/drawingml/2006/main">
            <a:srgbClr val="090D10">
              <a:alpha val="88000"/>
            </a:srgbClr>
          </a:solidFill>
          <a:ln xmlns:a="http://schemas.openxmlformats.org/drawingml/2006/main" w="9525">
            <a:solidFill>
              <a:srgbClr val="39D7FF">
                <a:alpha val="55000"/>
              </a:srgbClr>
            </a:solidFill>
            <a:prstDash val="solid"/>
          </a:ln>
        </p:spPr>
        <p:txBody>
          <a:bodyPr xmlns:a="http://schemas.openxmlformats.org/drawingml/2006/main" wrap="square" lIns="47625" tIns="19050" rIns="47625" bIns="19050" anchor="ctr">
            <a:noAutofit/>
          </a:bodyPr>
          <a:lstStyle xmlns:a="http://schemas.openxmlformats.org/drawingml/2006/main"/>
          <a:p xmlns:a="http://schemas.openxmlformats.org/drawingml/2006/main">
            <a:pPr algn="ctr">
              <a:lnSpc>
                <a:spcPct val="95000"/>
              </a:lnSpc>
              <a:buNone/>
              <a:defRPr sz="975" b="1">
                <a:solidFill>
                  <a:srgbClr val="39D7FF"/>
                </a:solidFill>
                <a:latin typeface="DejaVu Sans Mono"/>
                <a:ea typeface="DejaVu Sans Mono"/>
                <a:cs typeface="DejaVu Sans Mono"/>
              </a:defRPr>
            </a:pPr>
            <a:r>
              <a:rPr sz="975" b="1">
                <a:solidFill>
                  <a:srgbClr val="39D7FF"/>
                </a:solidFill>
                <a:latin typeface="DejaVu Sans Mono"/>
                <a:ea typeface="DejaVu Sans Mono"/>
                <a:cs typeface="DejaVu Sans Mono"/>
              </a:rPr>
              <a:t>FIELD SCIENCE</a:t>
            </a:r>
          </a:p>
        </p:txBody>
      </p:sp>
      <p:sp>
        <p:nvSpPr>
          <p:cNvPr id="8" name="Straight Connector 7">
            <a:extLst xmlns:a="http://schemas.openxmlformats.org/drawingml/2006/main">
              <a:ext uri="{FF2B5EF4-FFF2-40B4-BE49-F238E27FC236}">
                <a16:creationId xmlns:a16="http://schemas.microsoft.com/office/drawing/2014/main" id="{D340F3CE-0673-4640-94B3-7C940539D0B3}"/>
              </a:ext>
            </a:extLst>
          </p:cNvPr>
          <p:cNvSpPr>
            <a:spLocks xmlns:a="http://schemas.openxmlformats.org/drawingml/2006/main" noGrp="1"/>
          </p:cNvSpPr>
          <p:nvPr/>
        </p:nvSpPr>
        <p:spPr>
          <a:xfrm xmlns:a="http://schemas.openxmlformats.org/drawingml/2006/main">
            <a:off x="1609725" y="3200400"/>
            <a:ext cx="0" cy="400050"/>
          </a:xfrm>
          <a:prstGeom xmlns:a="http://schemas.openxmlformats.org/drawingml/2006/main" prst="line">
            <a:avLst/>
          </a:prstGeom>
          <a:noFill xmlns:a="http://schemas.openxmlformats.org/drawingml/2006/main"/>
          <a:ln xmlns:a="http://schemas.openxmlformats.org/drawingml/2006/main" w="19050">
            <a:solidFill>
              <a:srgbClr val="39D7FF">
                <a:alpha val="6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9" name="Oval 8">
            <a:extLst xmlns:a="http://schemas.openxmlformats.org/drawingml/2006/main">
              <a:ext uri="{FF2B5EF4-FFF2-40B4-BE49-F238E27FC236}">
                <a16:creationId xmlns:a16="http://schemas.microsoft.com/office/drawing/2014/main" id="{C534D9D4-C4CC-42CA-A8C9-80BEC21068F3}"/>
              </a:ext>
            </a:extLst>
          </p:cNvPr>
          <p:cNvSpPr>
            <a:spLocks xmlns:a="http://schemas.openxmlformats.org/drawingml/2006/main" noGrp="1"/>
          </p:cNvSpPr>
          <p:nvPr/>
        </p:nvSpPr>
        <p:spPr>
          <a:xfrm xmlns:a="http://schemas.openxmlformats.org/drawingml/2006/main">
            <a:off x="1562100" y="3571875"/>
            <a:ext cx="95250" cy="95250"/>
          </a:xfrm>
          <a:prstGeom xmlns:a="http://schemas.openxmlformats.org/drawingml/2006/main" prst="ellipse">
            <a:avLst/>
          </a:prstGeom>
          <a:solidFill xmlns:a="http://schemas.openxmlformats.org/drawingml/2006/main">
            <a:srgbClr val="39D7FF"/>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0" name="Rectangle: Rounded Corners 9">
            <a:extLst xmlns:a="http://schemas.openxmlformats.org/drawingml/2006/main">
              <a:ext uri="{FF2B5EF4-FFF2-40B4-BE49-F238E27FC236}">
                <a16:creationId xmlns:a16="http://schemas.microsoft.com/office/drawing/2014/main" id="{76CEAE1A-B21D-47EF-9AD3-F88B196F3A9D}"/>
              </a:ext>
            </a:extLst>
          </p:cNvPr>
          <p:cNvSpPr>
            <a:spLocks xmlns:a="http://schemas.openxmlformats.org/drawingml/2006/main" noGrp="1"/>
          </p:cNvSpPr>
          <p:nvPr/>
        </p:nvSpPr>
        <p:spPr>
          <a:xfrm xmlns:a="http://schemas.openxmlformats.org/drawingml/2006/main">
            <a:off x="3981450" y="2495550"/>
            <a:ext cx="1504950" cy="323850"/>
          </a:xfrm>
          <a:prstGeom xmlns:a="http://schemas.openxmlformats.org/drawingml/2006/main" prst="roundRect">
            <a:avLst>
              <a:gd name="adj" fmla="val 26471"/>
            </a:avLst>
          </a:prstGeom>
          <a:solidFill xmlns:a="http://schemas.openxmlformats.org/drawingml/2006/main">
            <a:srgbClr val="090D10">
              <a:alpha val="88000"/>
            </a:srgbClr>
          </a:solidFill>
          <a:ln xmlns:a="http://schemas.openxmlformats.org/drawingml/2006/main" w="9525">
            <a:solidFill>
              <a:srgbClr val="39D7FF">
                <a:alpha val="55000"/>
              </a:srgbClr>
            </a:solidFill>
            <a:prstDash val="solid"/>
          </a:ln>
        </p:spPr>
        <p:txBody>
          <a:bodyPr xmlns:a="http://schemas.openxmlformats.org/drawingml/2006/main" wrap="square" lIns="47625" tIns="19050" rIns="47625" bIns="19050" anchor="ctr">
            <a:noAutofit/>
          </a:bodyPr>
          <a:lstStyle xmlns:a="http://schemas.openxmlformats.org/drawingml/2006/main"/>
          <a:p xmlns:a="http://schemas.openxmlformats.org/drawingml/2006/main">
            <a:pPr algn="ctr">
              <a:lnSpc>
                <a:spcPct val="95000"/>
              </a:lnSpc>
              <a:buNone/>
              <a:defRPr sz="975" b="1">
                <a:solidFill>
                  <a:srgbClr val="39D7FF"/>
                </a:solidFill>
                <a:latin typeface="DejaVu Sans Mono"/>
                <a:ea typeface="DejaVu Sans Mono"/>
                <a:cs typeface="DejaVu Sans Mono"/>
              </a:defRPr>
            </a:pPr>
            <a:r>
              <a:rPr sz="975" b="1">
                <a:solidFill>
                  <a:srgbClr val="39D7FF"/>
                </a:solidFill>
                <a:latin typeface="DejaVu Sans Mono"/>
                <a:ea typeface="DejaVu Sans Mono"/>
                <a:cs typeface="DejaVu Sans Mono"/>
              </a:rPr>
              <a:t>HABITAT</a:t>
            </a:r>
          </a:p>
        </p:txBody>
      </p:sp>
      <p:sp>
        <p:nvSpPr>
          <p:cNvPr id="11" name="Straight Connector 10">
            <a:extLst xmlns:a="http://schemas.openxmlformats.org/drawingml/2006/main">
              <a:ext uri="{FF2B5EF4-FFF2-40B4-BE49-F238E27FC236}">
                <a16:creationId xmlns:a16="http://schemas.microsoft.com/office/drawing/2014/main" id="{B7E90BC6-AE20-49AF-90D6-943FDA008921}"/>
              </a:ext>
            </a:extLst>
          </p:cNvPr>
          <p:cNvSpPr>
            <a:spLocks xmlns:a="http://schemas.openxmlformats.org/drawingml/2006/main" noGrp="1"/>
          </p:cNvSpPr>
          <p:nvPr/>
        </p:nvSpPr>
        <p:spPr>
          <a:xfrm xmlns:a="http://schemas.openxmlformats.org/drawingml/2006/main">
            <a:off x="4733925" y="2819400"/>
            <a:ext cx="0" cy="400050"/>
          </a:xfrm>
          <a:prstGeom xmlns:a="http://schemas.openxmlformats.org/drawingml/2006/main" prst="line">
            <a:avLst/>
          </a:prstGeom>
          <a:noFill xmlns:a="http://schemas.openxmlformats.org/drawingml/2006/main"/>
          <a:ln xmlns:a="http://schemas.openxmlformats.org/drawingml/2006/main" w="19050">
            <a:solidFill>
              <a:srgbClr val="39D7FF">
                <a:alpha val="6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12" name="Oval 11">
            <a:extLst xmlns:a="http://schemas.openxmlformats.org/drawingml/2006/main">
              <a:ext uri="{FF2B5EF4-FFF2-40B4-BE49-F238E27FC236}">
                <a16:creationId xmlns:a16="http://schemas.microsoft.com/office/drawing/2014/main" id="{39A39DF1-346E-4F15-9E44-C6459A957292}"/>
              </a:ext>
            </a:extLst>
          </p:cNvPr>
          <p:cNvSpPr>
            <a:spLocks xmlns:a="http://schemas.openxmlformats.org/drawingml/2006/main" noGrp="1"/>
          </p:cNvSpPr>
          <p:nvPr/>
        </p:nvSpPr>
        <p:spPr>
          <a:xfrm xmlns:a="http://schemas.openxmlformats.org/drawingml/2006/main">
            <a:off x="4686300" y="3190875"/>
            <a:ext cx="95250" cy="95250"/>
          </a:xfrm>
          <a:prstGeom xmlns:a="http://schemas.openxmlformats.org/drawingml/2006/main" prst="ellipse">
            <a:avLst/>
          </a:prstGeom>
          <a:solidFill xmlns:a="http://schemas.openxmlformats.org/drawingml/2006/main">
            <a:srgbClr val="39D7FF"/>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3" name="Rectangle: Rounded Corners 12">
            <a:extLst xmlns:a="http://schemas.openxmlformats.org/drawingml/2006/main">
              <a:ext uri="{FF2B5EF4-FFF2-40B4-BE49-F238E27FC236}">
                <a16:creationId xmlns:a16="http://schemas.microsoft.com/office/drawing/2014/main" id="{F4D8B1B4-48D4-4FE2-B94B-064EA2F5B89C}"/>
              </a:ext>
            </a:extLst>
          </p:cNvPr>
          <p:cNvSpPr>
            <a:spLocks xmlns:a="http://schemas.openxmlformats.org/drawingml/2006/main" noGrp="1"/>
          </p:cNvSpPr>
          <p:nvPr/>
        </p:nvSpPr>
        <p:spPr>
          <a:xfrm xmlns:a="http://schemas.openxmlformats.org/drawingml/2006/main">
            <a:off x="7410450" y="2324100"/>
            <a:ext cx="1504950" cy="323850"/>
          </a:xfrm>
          <a:prstGeom xmlns:a="http://schemas.openxmlformats.org/drawingml/2006/main" prst="roundRect">
            <a:avLst>
              <a:gd name="adj" fmla="val 26471"/>
            </a:avLst>
          </a:prstGeom>
          <a:solidFill xmlns:a="http://schemas.openxmlformats.org/drawingml/2006/main">
            <a:srgbClr val="090D10">
              <a:alpha val="88000"/>
            </a:srgbClr>
          </a:solidFill>
          <a:ln xmlns:a="http://schemas.openxmlformats.org/drawingml/2006/main" w="9525">
            <a:solidFill>
              <a:srgbClr val="F26B38">
                <a:alpha val="55000"/>
              </a:srgbClr>
            </a:solidFill>
            <a:prstDash val="solid"/>
          </a:ln>
        </p:spPr>
        <p:txBody>
          <a:bodyPr xmlns:a="http://schemas.openxmlformats.org/drawingml/2006/main" wrap="square" lIns="47625" tIns="19050" rIns="47625" bIns="19050" anchor="ctr">
            <a:noAutofit/>
          </a:bodyPr>
          <a:lstStyle xmlns:a="http://schemas.openxmlformats.org/drawingml/2006/main"/>
          <a:p xmlns:a="http://schemas.openxmlformats.org/drawingml/2006/main">
            <a:pPr algn="ctr">
              <a:lnSpc>
                <a:spcPct val="95000"/>
              </a:lnSpc>
              <a:buNone/>
              <a:defRPr sz="975" b="1">
                <a:solidFill>
                  <a:srgbClr val="F26B38"/>
                </a:solidFill>
                <a:latin typeface="DejaVu Sans Mono"/>
                <a:ea typeface="DejaVu Sans Mono"/>
                <a:cs typeface="DejaVu Sans Mono"/>
              </a:defRPr>
            </a:pPr>
            <a:r>
              <a:rPr sz="975" b="1">
                <a:solidFill>
                  <a:srgbClr val="F26B38"/>
                </a:solidFill>
                <a:latin typeface="DejaVu Sans Mono"/>
                <a:ea typeface="DejaVu Sans Mono"/>
                <a:cs typeface="DejaVu Sans Mono"/>
              </a:rPr>
              <a:t>ISRU + POWER</a:t>
            </a:r>
          </a:p>
        </p:txBody>
      </p:sp>
      <p:sp>
        <p:nvSpPr>
          <p:cNvPr id="14" name="Straight Connector 13">
            <a:extLst xmlns:a="http://schemas.openxmlformats.org/drawingml/2006/main">
              <a:ext uri="{FF2B5EF4-FFF2-40B4-BE49-F238E27FC236}">
                <a16:creationId xmlns:a16="http://schemas.microsoft.com/office/drawing/2014/main" id="{A24D60B0-41F5-4A31-87A0-95F12DCA7466}"/>
              </a:ext>
            </a:extLst>
          </p:cNvPr>
          <p:cNvSpPr>
            <a:spLocks xmlns:a="http://schemas.openxmlformats.org/drawingml/2006/main" noGrp="1"/>
          </p:cNvSpPr>
          <p:nvPr/>
        </p:nvSpPr>
        <p:spPr>
          <a:xfrm xmlns:a="http://schemas.openxmlformats.org/drawingml/2006/main">
            <a:off x="8162925" y="2647950"/>
            <a:ext cx="0" cy="400050"/>
          </a:xfrm>
          <a:prstGeom xmlns:a="http://schemas.openxmlformats.org/drawingml/2006/main" prst="line">
            <a:avLst/>
          </a:prstGeom>
          <a:noFill xmlns:a="http://schemas.openxmlformats.org/drawingml/2006/main"/>
          <a:ln xmlns:a="http://schemas.openxmlformats.org/drawingml/2006/main" w="19050">
            <a:solidFill>
              <a:srgbClr val="F26B38">
                <a:alpha val="6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15" name="Oval 14">
            <a:extLst xmlns:a="http://schemas.openxmlformats.org/drawingml/2006/main">
              <a:ext uri="{FF2B5EF4-FFF2-40B4-BE49-F238E27FC236}">
                <a16:creationId xmlns:a16="http://schemas.microsoft.com/office/drawing/2014/main" id="{97B91832-696B-44E0-BBF6-26B51217ED03}"/>
              </a:ext>
            </a:extLst>
          </p:cNvPr>
          <p:cNvSpPr>
            <a:spLocks xmlns:a="http://schemas.openxmlformats.org/drawingml/2006/main" noGrp="1"/>
          </p:cNvSpPr>
          <p:nvPr/>
        </p:nvSpPr>
        <p:spPr>
          <a:xfrm xmlns:a="http://schemas.openxmlformats.org/drawingml/2006/main">
            <a:off x="8115300" y="3019425"/>
            <a:ext cx="95250" cy="95250"/>
          </a:xfrm>
          <a:prstGeom xmlns:a="http://schemas.openxmlformats.org/drawingml/2006/main" prst="ellipse">
            <a:avLst/>
          </a:prstGeom>
          <a:solidFill xmlns:a="http://schemas.openxmlformats.org/drawingml/2006/main">
            <a:srgbClr val="F26B38"/>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6" name="Rectangle: Rounded Corners 15">
            <a:extLst xmlns:a="http://schemas.openxmlformats.org/drawingml/2006/main">
              <a:ext uri="{FF2B5EF4-FFF2-40B4-BE49-F238E27FC236}">
                <a16:creationId xmlns:a16="http://schemas.microsoft.com/office/drawing/2014/main" id="{0EFACAE9-E6B3-4999-9DB0-D139EEAFE99C}"/>
              </a:ext>
            </a:extLst>
          </p:cNvPr>
          <p:cNvSpPr>
            <a:spLocks xmlns:a="http://schemas.openxmlformats.org/drawingml/2006/main" noGrp="1"/>
          </p:cNvSpPr>
          <p:nvPr/>
        </p:nvSpPr>
        <p:spPr>
          <a:xfrm xmlns:a="http://schemas.openxmlformats.org/drawingml/2006/main">
            <a:off x="9601200" y="2971800"/>
            <a:ext cx="1504950" cy="323850"/>
          </a:xfrm>
          <a:prstGeom xmlns:a="http://schemas.openxmlformats.org/drawingml/2006/main" prst="roundRect">
            <a:avLst>
              <a:gd name="adj" fmla="val 26471"/>
            </a:avLst>
          </a:prstGeom>
          <a:solidFill xmlns:a="http://schemas.openxmlformats.org/drawingml/2006/main">
            <a:srgbClr val="090D10">
              <a:alpha val="88000"/>
            </a:srgbClr>
          </a:solidFill>
          <a:ln xmlns:a="http://schemas.openxmlformats.org/drawingml/2006/main" w="9525">
            <a:solidFill>
              <a:srgbClr val="62D6A7">
                <a:alpha val="55000"/>
              </a:srgbClr>
            </a:solidFill>
            <a:prstDash val="solid"/>
          </a:ln>
        </p:spPr>
        <p:txBody>
          <a:bodyPr xmlns:a="http://schemas.openxmlformats.org/drawingml/2006/main" wrap="square" lIns="47625" tIns="19050" rIns="47625" bIns="19050" anchor="ctr">
            <a:noAutofit/>
          </a:bodyPr>
          <a:lstStyle xmlns:a="http://schemas.openxmlformats.org/drawingml/2006/main"/>
          <a:p xmlns:a="http://schemas.openxmlformats.org/drawingml/2006/main">
            <a:pPr algn="ctr">
              <a:lnSpc>
                <a:spcPct val="95000"/>
              </a:lnSpc>
              <a:buNone/>
              <a:defRPr sz="975" b="1">
                <a:solidFill>
                  <a:srgbClr val="62D6A7"/>
                </a:solidFill>
                <a:latin typeface="DejaVu Sans Mono"/>
                <a:ea typeface="DejaVu Sans Mono"/>
                <a:cs typeface="DejaVu Sans Mono"/>
              </a:defRPr>
            </a:pPr>
            <a:r>
              <a:rPr sz="975" b="1">
                <a:solidFill>
                  <a:srgbClr val="62D6A7"/>
                </a:solidFill>
                <a:latin typeface="DejaVu Sans Mono"/>
                <a:ea typeface="DejaVu Sans Mono"/>
                <a:cs typeface="DejaVu Sans Mono"/>
              </a:rPr>
              <a:t>FOOD</a:t>
            </a:r>
          </a:p>
        </p:txBody>
      </p:sp>
      <p:sp>
        <p:nvSpPr>
          <p:cNvPr id="17" name="Straight Connector 16">
            <a:extLst xmlns:a="http://schemas.openxmlformats.org/drawingml/2006/main">
              <a:ext uri="{FF2B5EF4-FFF2-40B4-BE49-F238E27FC236}">
                <a16:creationId xmlns:a16="http://schemas.microsoft.com/office/drawing/2014/main" id="{0115E8DC-F7C3-453E-B7D5-605F0AA8AAC0}"/>
              </a:ext>
            </a:extLst>
          </p:cNvPr>
          <p:cNvSpPr>
            <a:spLocks xmlns:a="http://schemas.openxmlformats.org/drawingml/2006/main" noGrp="1"/>
          </p:cNvSpPr>
          <p:nvPr/>
        </p:nvSpPr>
        <p:spPr>
          <a:xfrm xmlns:a="http://schemas.openxmlformats.org/drawingml/2006/main">
            <a:off x="10353675" y="3295650"/>
            <a:ext cx="0" cy="400050"/>
          </a:xfrm>
          <a:prstGeom xmlns:a="http://schemas.openxmlformats.org/drawingml/2006/main" prst="line">
            <a:avLst/>
          </a:prstGeom>
          <a:noFill xmlns:a="http://schemas.openxmlformats.org/drawingml/2006/main"/>
          <a:ln xmlns:a="http://schemas.openxmlformats.org/drawingml/2006/main" w="19050">
            <a:solidFill>
              <a:srgbClr val="62D6A7">
                <a:alpha val="6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18" name="Oval 17">
            <a:extLst xmlns:a="http://schemas.openxmlformats.org/drawingml/2006/main">
              <a:ext uri="{FF2B5EF4-FFF2-40B4-BE49-F238E27FC236}">
                <a16:creationId xmlns:a16="http://schemas.microsoft.com/office/drawing/2014/main" id="{BA6E044A-237F-4FEF-8CDE-1A641A5B3667}"/>
              </a:ext>
            </a:extLst>
          </p:cNvPr>
          <p:cNvSpPr>
            <a:spLocks xmlns:a="http://schemas.openxmlformats.org/drawingml/2006/main" noGrp="1"/>
          </p:cNvSpPr>
          <p:nvPr/>
        </p:nvSpPr>
        <p:spPr>
          <a:xfrm xmlns:a="http://schemas.openxmlformats.org/drawingml/2006/main">
            <a:off x="10306050" y="3667125"/>
            <a:ext cx="95250" cy="95250"/>
          </a:xfrm>
          <a:prstGeom xmlns:a="http://schemas.openxmlformats.org/drawingml/2006/main" prst="ellipse">
            <a:avLst/>
          </a:prstGeom>
          <a:solidFill xmlns:a="http://schemas.openxmlformats.org/drawingml/2006/main">
            <a:srgbClr val="62D6A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9" name="Rectangle: Rounded Corners 18">
            <a:extLst xmlns:a="http://schemas.openxmlformats.org/drawingml/2006/main">
              <a:ext uri="{FF2B5EF4-FFF2-40B4-BE49-F238E27FC236}">
                <a16:creationId xmlns:a16="http://schemas.microsoft.com/office/drawing/2014/main" id="{048B74FA-2F6A-470A-BE2E-55BF96EFD274}"/>
              </a:ext>
            </a:extLst>
          </p:cNvPr>
          <p:cNvSpPr>
            <a:spLocks xmlns:a="http://schemas.openxmlformats.org/drawingml/2006/main" noGrp="1"/>
          </p:cNvSpPr>
          <p:nvPr/>
        </p:nvSpPr>
        <p:spPr>
          <a:xfrm xmlns:a="http://schemas.openxmlformats.org/drawingml/2006/main">
            <a:off x="8667750" y="4171950"/>
            <a:ext cx="1504950" cy="323850"/>
          </a:xfrm>
          <a:prstGeom xmlns:a="http://schemas.openxmlformats.org/drawingml/2006/main" prst="roundRect">
            <a:avLst>
              <a:gd name="adj" fmla="val 26471"/>
            </a:avLst>
          </a:prstGeom>
          <a:solidFill xmlns:a="http://schemas.openxmlformats.org/drawingml/2006/main">
            <a:srgbClr val="090D10">
              <a:alpha val="88000"/>
            </a:srgbClr>
          </a:solidFill>
          <a:ln xmlns:a="http://schemas.openxmlformats.org/drawingml/2006/main" w="9525">
            <a:solidFill>
              <a:srgbClr val="FFC857">
                <a:alpha val="55000"/>
              </a:srgbClr>
            </a:solidFill>
            <a:prstDash val="solid"/>
          </a:ln>
        </p:spPr>
        <p:txBody>
          <a:bodyPr xmlns:a="http://schemas.openxmlformats.org/drawingml/2006/main" wrap="square" lIns="47625" tIns="19050" rIns="47625" bIns="19050" anchor="ctr">
            <a:noAutofit/>
          </a:bodyPr>
          <a:lstStyle xmlns:a="http://schemas.openxmlformats.org/drawingml/2006/main"/>
          <a:p xmlns:a="http://schemas.openxmlformats.org/drawingml/2006/main">
            <a:pPr algn="ctr">
              <a:lnSpc>
                <a:spcPct val="95000"/>
              </a:lnSpc>
              <a:buNone/>
              <a:defRPr sz="975" b="1">
                <a:solidFill>
                  <a:srgbClr val="FFC857"/>
                </a:solidFill>
                <a:latin typeface="DejaVu Sans Mono"/>
                <a:ea typeface="DejaVu Sans Mono"/>
                <a:cs typeface="DejaVu Sans Mono"/>
              </a:defRPr>
            </a:pPr>
            <a:r>
              <a:rPr sz="975" b="1">
                <a:solidFill>
                  <a:srgbClr val="FFC857"/>
                </a:solidFill>
                <a:latin typeface="DejaVu Sans Mono"/>
                <a:ea typeface="DejaVu Sans Mono"/>
                <a:cs typeface="DejaVu Sans Mono"/>
              </a:rPr>
              <a:t>CONSTRUCTION</a:t>
            </a:r>
          </a:p>
        </p:txBody>
      </p:sp>
      <p:sp>
        <p:nvSpPr>
          <p:cNvPr id="20" name="Straight Connector 19">
            <a:extLst xmlns:a="http://schemas.openxmlformats.org/drawingml/2006/main">
              <a:ext uri="{FF2B5EF4-FFF2-40B4-BE49-F238E27FC236}">
                <a16:creationId xmlns:a16="http://schemas.microsoft.com/office/drawing/2014/main" id="{4B6C0DE7-729A-49CF-B1B8-155A70BD5D75}"/>
              </a:ext>
            </a:extLst>
          </p:cNvPr>
          <p:cNvSpPr>
            <a:spLocks xmlns:a="http://schemas.openxmlformats.org/drawingml/2006/main" noGrp="1"/>
          </p:cNvSpPr>
          <p:nvPr/>
        </p:nvSpPr>
        <p:spPr>
          <a:xfrm xmlns:a="http://schemas.openxmlformats.org/drawingml/2006/main">
            <a:off x="9420225" y="4495800"/>
            <a:ext cx="0" cy="400050"/>
          </a:xfrm>
          <a:prstGeom xmlns:a="http://schemas.openxmlformats.org/drawingml/2006/main" prst="line">
            <a:avLst/>
          </a:prstGeom>
          <a:noFill xmlns:a="http://schemas.openxmlformats.org/drawingml/2006/main"/>
          <a:ln xmlns:a="http://schemas.openxmlformats.org/drawingml/2006/main" w="19050">
            <a:solidFill>
              <a:srgbClr val="FFC857">
                <a:alpha val="6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21" name="Oval 20">
            <a:extLst xmlns:a="http://schemas.openxmlformats.org/drawingml/2006/main">
              <a:ext uri="{FF2B5EF4-FFF2-40B4-BE49-F238E27FC236}">
                <a16:creationId xmlns:a16="http://schemas.microsoft.com/office/drawing/2014/main" id="{D1E7CC96-9496-42D1-884D-DB571E959C34}"/>
              </a:ext>
            </a:extLst>
          </p:cNvPr>
          <p:cNvSpPr>
            <a:spLocks xmlns:a="http://schemas.openxmlformats.org/drawingml/2006/main" noGrp="1"/>
          </p:cNvSpPr>
          <p:nvPr/>
        </p:nvSpPr>
        <p:spPr>
          <a:xfrm xmlns:a="http://schemas.openxmlformats.org/drawingml/2006/main">
            <a:off x="9372600" y="4867275"/>
            <a:ext cx="95250" cy="95250"/>
          </a:xfrm>
          <a:prstGeom xmlns:a="http://schemas.openxmlformats.org/drawingml/2006/main" prst="ellipse">
            <a:avLst/>
          </a:prstGeom>
          <a:solidFill xmlns:a="http://schemas.openxmlformats.org/drawingml/2006/main">
            <a:srgbClr val="FFC85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2" name="Rectangle: Rounded Corners 21">
            <a:extLst xmlns:a="http://schemas.openxmlformats.org/drawingml/2006/main">
              <a:ext uri="{FF2B5EF4-FFF2-40B4-BE49-F238E27FC236}">
                <a16:creationId xmlns:a16="http://schemas.microsoft.com/office/drawing/2014/main" id="{A58D8013-026B-4182-B493-B2E0B0250812}"/>
              </a:ext>
            </a:extLst>
          </p:cNvPr>
          <p:cNvSpPr>
            <a:spLocks xmlns:a="http://schemas.openxmlformats.org/drawingml/2006/main" noGrp="1"/>
          </p:cNvSpPr>
          <p:nvPr/>
        </p:nvSpPr>
        <p:spPr>
          <a:xfrm xmlns:a="http://schemas.openxmlformats.org/drawingml/2006/main">
            <a:off x="2324100" y="4400550"/>
            <a:ext cx="1504950" cy="323850"/>
          </a:xfrm>
          <a:prstGeom xmlns:a="http://schemas.openxmlformats.org/drawingml/2006/main" prst="roundRect">
            <a:avLst>
              <a:gd name="adj" fmla="val 26471"/>
            </a:avLst>
          </a:prstGeom>
          <a:solidFill xmlns:a="http://schemas.openxmlformats.org/drawingml/2006/main">
            <a:srgbClr val="090D10">
              <a:alpha val="88000"/>
            </a:srgbClr>
          </a:solidFill>
          <a:ln xmlns:a="http://schemas.openxmlformats.org/drawingml/2006/main" w="9525">
            <a:solidFill>
              <a:srgbClr val="FF6262">
                <a:alpha val="55000"/>
              </a:srgbClr>
            </a:solidFill>
            <a:prstDash val="solid"/>
          </a:ln>
        </p:spPr>
        <p:txBody>
          <a:bodyPr xmlns:a="http://schemas.openxmlformats.org/drawingml/2006/main" wrap="square" lIns="47625" tIns="19050" rIns="47625" bIns="19050" anchor="ctr">
            <a:noAutofit/>
          </a:bodyPr>
          <a:lstStyle xmlns:a="http://schemas.openxmlformats.org/drawingml/2006/main"/>
          <a:p xmlns:a="http://schemas.openxmlformats.org/drawingml/2006/main">
            <a:pPr algn="ctr">
              <a:lnSpc>
                <a:spcPct val="95000"/>
              </a:lnSpc>
              <a:buNone/>
              <a:defRPr sz="975" b="1">
                <a:solidFill>
                  <a:srgbClr val="FF6262"/>
                </a:solidFill>
                <a:latin typeface="DejaVu Sans Mono"/>
                <a:ea typeface="DejaVu Sans Mono"/>
                <a:cs typeface="DejaVu Sans Mono"/>
              </a:defRPr>
            </a:pPr>
            <a:r>
              <a:rPr sz="975" b="1">
                <a:solidFill>
                  <a:srgbClr val="FF6262"/>
                </a:solidFill>
                <a:latin typeface="DejaVu Sans Mono"/>
                <a:ea typeface="DejaVu Sans Mono"/>
                <a:cs typeface="DejaVu Sans Mono"/>
              </a:rPr>
              <a:t>MAINTENANCE</a:t>
            </a:r>
          </a:p>
        </p:txBody>
      </p:sp>
      <p:sp>
        <p:nvSpPr>
          <p:cNvPr id="23" name="Straight Connector 22">
            <a:extLst xmlns:a="http://schemas.openxmlformats.org/drawingml/2006/main">
              <a:ext uri="{FF2B5EF4-FFF2-40B4-BE49-F238E27FC236}">
                <a16:creationId xmlns:a16="http://schemas.microsoft.com/office/drawing/2014/main" id="{6C8E2D45-AFAF-435A-A7CF-1A08105F1B52}"/>
              </a:ext>
            </a:extLst>
          </p:cNvPr>
          <p:cNvSpPr>
            <a:spLocks xmlns:a="http://schemas.openxmlformats.org/drawingml/2006/main" noGrp="1"/>
          </p:cNvSpPr>
          <p:nvPr/>
        </p:nvSpPr>
        <p:spPr>
          <a:xfrm xmlns:a="http://schemas.openxmlformats.org/drawingml/2006/main">
            <a:off x="3076575" y="4724400"/>
            <a:ext cx="0" cy="400050"/>
          </a:xfrm>
          <a:prstGeom xmlns:a="http://schemas.openxmlformats.org/drawingml/2006/main" prst="line">
            <a:avLst/>
          </a:prstGeom>
          <a:noFill xmlns:a="http://schemas.openxmlformats.org/drawingml/2006/main"/>
          <a:ln xmlns:a="http://schemas.openxmlformats.org/drawingml/2006/main" w="19050">
            <a:solidFill>
              <a:srgbClr val="FF6262">
                <a:alpha val="6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24" name="Oval 23">
            <a:extLst xmlns:a="http://schemas.openxmlformats.org/drawingml/2006/main">
              <a:ext uri="{FF2B5EF4-FFF2-40B4-BE49-F238E27FC236}">
                <a16:creationId xmlns:a16="http://schemas.microsoft.com/office/drawing/2014/main" id="{53851A76-EC4E-43D3-8C1A-858AD5FD2531}"/>
              </a:ext>
            </a:extLst>
          </p:cNvPr>
          <p:cNvSpPr>
            <a:spLocks xmlns:a="http://schemas.openxmlformats.org/drawingml/2006/main" noGrp="1"/>
          </p:cNvSpPr>
          <p:nvPr/>
        </p:nvSpPr>
        <p:spPr>
          <a:xfrm xmlns:a="http://schemas.openxmlformats.org/drawingml/2006/main">
            <a:off x="3028950" y="5095875"/>
            <a:ext cx="95250" cy="95250"/>
          </a:xfrm>
          <a:prstGeom xmlns:a="http://schemas.openxmlformats.org/drawingml/2006/main" prst="ellipse">
            <a:avLst/>
          </a:prstGeom>
          <a:solidFill xmlns:a="http://schemas.openxmlformats.org/drawingml/2006/main">
            <a:srgbClr val="FF6262"/>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5" name="Rectangle: Rounded Corners 24">
            <a:extLst xmlns:a="http://schemas.openxmlformats.org/drawingml/2006/main">
              <a:ext uri="{FF2B5EF4-FFF2-40B4-BE49-F238E27FC236}">
                <a16:creationId xmlns:a16="http://schemas.microsoft.com/office/drawing/2014/main" id="{2FAE3D24-FCC7-40F8-9A62-BA681C299A54}"/>
              </a:ext>
            </a:extLst>
          </p:cNvPr>
          <p:cNvSpPr>
            <a:spLocks xmlns:a="http://schemas.openxmlformats.org/drawingml/2006/main" noGrp="1"/>
          </p:cNvSpPr>
          <p:nvPr/>
        </p:nvSpPr>
        <p:spPr>
          <a:xfrm xmlns:a="http://schemas.openxmlformats.org/drawingml/2006/main">
            <a:off x="2277454" y="5391150"/>
            <a:ext cx="2076450" cy="438150"/>
          </a:xfrm>
          <a:prstGeom xmlns:a="http://schemas.openxmlformats.org/drawingml/2006/main" prst="roundRect">
            <a:avLst>
              <a:gd name="adj" fmla="val 34783"/>
            </a:avLst>
          </a:prstGeom>
          <a:solidFill xmlns:a="http://schemas.openxmlformats.org/drawingml/2006/main">
            <a:srgbClr val="0E1317">
              <a:alpha val="96000"/>
            </a:srgbClr>
          </a:solidFill>
          <a:ln xmlns:a="http://schemas.openxmlformats.org/drawingml/2006/main" w="14288">
            <a:solidFill>
              <a:srgbClr val="39D7FF"/>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975" b="1">
                <a:solidFill>
                  <a:srgbClr val="39D7FF"/>
                </a:solidFill>
                <a:latin typeface="DejaVu Sans Mono"/>
                <a:ea typeface="DejaVu Sans Mono"/>
                <a:cs typeface="DejaVu Sans Mono"/>
              </a:defRPr>
            </a:pPr>
            <a:r>
              <a:rPr sz="975" b="1">
                <a:solidFill>
                  <a:srgbClr val="39D7FF"/>
                </a:solidFill>
                <a:latin typeface="DejaVu Sans Mono"/>
                <a:ea typeface="DejaVu Sans Mono"/>
                <a:cs typeface="DejaVu Sans Mono"/>
              </a:rPr>
              <a:t>Ex.</a:t>
            </a:r>
            <a:r>
              <a:rPr sz="975" b="1">
                <a:solidFill>
                  <a:srgbClr val="39D7FF"/>
                </a:solidFill>
                <a:latin typeface="DejaVu Sans Mono"/>
                <a:ea typeface="DejaVu Sans Mono"/>
                <a:cs typeface="DejaVu Sans Mono"/>
              </a:rPr>
              <a:t>HYPATIA</a:t>
            </a:r>
            <a:endParaRPr sz="975" b="1">
              <a:solidFill>
                <a:srgbClr val="39D7FF"/>
              </a:solidFill>
              <a:latin typeface="DejaVu Sans Mono"/>
              <a:ea typeface="DejaVu Sans Mono"/>
              <a:cs typeface="DejaVu Sans Mono"/>
            </a:endParaRPr>
          </a:p>
        </p:txBody>
      </p:sp>
      <p:sp>
        <p:nvSpPr>
          <p:cNvPr id="26" name="Rectangle 25">
            <a:extLst xmlns:a="http://schemas.openxmlformats.org/drawingml/2006/main">
              <a:ext uri="{FF2B5EF4-FFF2-40B4-BE49-F238E27FC236}">
                <a16:creationId xmlns:a16="http://schemas.microsoft.com/office/drawing/2014/main" id="{94753279-EE66-4233-8461-4F54D85BEF0C}"/>
              </a:ext>
            </a:extLst>
          </p:cNvPr>
          <p:cNvSpPr>
            <a:spLocks xmlns:a="http://schemas.openxmlformats.org/drawingml/2006/main" noGrp="1"/>
          </p:cNvSpPr>
          <p:nvPr/>
        </p:nvSpPr>
        <p:spPr>
          <a:xfrm xmlns:a="http://schemas.openxmlformats.org/drawingml/2006/main">
            <a:off x="2277454" y="5905500"/>
            <a:ext cx="20764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975" b="0">
                <a:solidFill>
                  <a:srgbClr val="8D99A3"/>
                </a:solidFill>
                <a:latin typeface="DejaVu Sans"/>
                <a:ea typeface="DejaVu Sans"/>
                <a:cs typeface="DejaVu Sans"/>
              </a:defRPr>
            </a:pPr>
            <a:r>
              <a:rPr sz="975" b="0">
                <a:solidFill>
                  <a:srgbClr val="8D99A3"/>
                </a:solidFill>
                <a:latin typeface="DejaVu Sans"/>
                <a:ea typeface="DejaVu Sans"/>
                <a:cs typeface="DejaVu Sans"/>
              </a:rPr>
              <a:t>science</a:t>
            </a:r>
          </a:p>
        </p:txBody>
      </p:sp>
      <p:sp>
        <p:nvSpPr>
          <p:cNvPr id="27" name="Rectangle: Rounded Corners 26">
            <a:extLst xmlns:a="http://schemas.openxmlformats.org/drawingml/2006/main">
              <a:ext uri="{FF2B5EF4-FFF2-40B4-BE49-F238E27FC236}">
                <a16:creationId xmlns:a16="http://schemas.microsoft.com/office/drawing/2014/main" id="{B5F8AAF3-2E1B-48BE-ABDD-7AE360B7962A}"/>
              </a:ext>
            </a:extLst>
          </p:cNvPr>
          <p:cNvSpPr>
            <a:spLocks xmlns:a="http://schemas.openxmlformats.org/drawingml/2006/main" noGrp="1"/>
          </p:cNvSpPr>
          <p:nvPr/>
        </p:nvSpPr>
        <p:spPr>
          <a:xfrm xmlns:a="http://schemas.openxmlformats.org/drawingml/2006/main">
            <a:off x="4601554" y="5391150"/>
            <a:ext cx="2076450" cy="438150"/>
          </a:xfrm>
          <a:prstGeom xmlns:a="http://schemas.openxmlformats.org/drawingml/2006/main" prst="roundRect">
            <a:avLst>
              <a:gd name="adj" fmla="val 34783"/>
            </a:avLst>
          </a:prstGeom>
          <a:solidFill xmlns:a="http://schemas.openxmlformats.org/drawingml/2006/main">
            <a:srgbClr val="0E1317">
              <a:alpha val="96000"/>
            </a:srgbClr>
          </a:solidFill>
          <a:ln xmlns:a="http://schemas.openxmlformats.org/drawingml/2006/main" w="14288">
            <a:solidFill>
              <a:srgbClr val="F26B38"/>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975" b="1">
                <a:solidFill>
                  <a:srgbClr val="F26B38"/>
                </a:solidFill>
                <a:latin typeface="DejaVu Sans Mono"/>
                <a:ea typeface="DejaVu Sans Mono"/>
                <a:cs typeface="DejaVu Sans Mono"/>
              </a:defRPr>
            </a:pPr>
            <a:r>
              <a:rPr sz="975" b="1">
                <a:solidFill>
                  <a:schemeClr val="accent2">
                    <a:lumMod val="60000"/>
                    <a:lumOff val="40000"/>
                  </a:schemeClr>
                </a:solidFill>
                <a:latin typeface="DejaVu Sans Mono"/>
                <a:ea typeface="DejaVu Sans Mono"/>
                <a:cs typeface="DejaVu Sans Mono"/>
              </a:rPr>
              <a:t>Ex. </a:t>
            </a:r>
            <a:r>
              <a:rPr sz="975" b="1">
                <a:solidFill>
                  <a:srgbClr val="F26B38"/>
                </a:solidFill>
                <a:latin typeface="DejaVu Sans Mono"/>
                <a:ea typeface="DejaVu Sans Mono"/>
                <a:cs typeface="DejaVu Sans Mono"/>
              </a:rPr>
              <a:t>INTELLIGENT ENGINEER</a:t>
            </a:r>
          </a:p>
        </p:txBody>
      </p:sp>
      <p:sp>
        <p:nvSpPr>
          <p:cNvPr id="28" name="Rectangle 27">
            <a:extLst xmlns:a="http://schemas.openxmlformats.org/drawingml/2006/main">
              <a:ext uri="{FF2B5EF4-FFF2-40B4-BE49-F238E27FC236}">
                <a16:creationId xmlns:a16="http://schemas.microsoft.com/office/drawing/2014/main" id="{560A6EF5-2911-4C6A-9921-678B6DDA301C}"/>
              </a:ext>
            </a:extLst>
          </p:cNvPr>
          <p:cNvSpPr>
            <a:spLocks xmlns:a="http://schemas.openxmlformats.org/drawingml/2006/main" noGrp="1"/>
          </p:cNvSpPr>
          <p:nvPr/>
        </p:nvSpPr>
        <p:spPr>
          <a:xfrm xmlns:a="http://schemas.openxmlformats.org/drawingml/2006/main">
            <a:off x="4601554" y="5905500"/>
            <a:ext cx="20764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975" b="0">
                <a:solidFill>
                  <a:srgbClr val="8D99A3"/>
                </a:solidFill>
                <a:latin typeface="DejaVu Sans"/>
                <a:ea typeface="DejaVu Sans"/>
                <a:cs typeface="DejaVu Sans"/>
              </a:defRPr>
            </a:pPr>
            <a:r>
              <a:rPr sz="975" b="0">
                <a:solidFill>
                  <a:srgbClr val="8D99A3"/>
                </a:solidFill>
                <a:latin typeface="DejaVu Sans"/>
                <a:ea typeface="DejaVu Sans"/>
                <a:cs typeface="DejaVu Sans"/>
              </a:rPr>
              <a:t>physical system</a:t>
            </a:r>
            <a:r>
              <a:rPr sz="975" b="0">
                <a:solidFill>
                  <a:srgbClr val="8D99A3"/>
                </a:solidFill>
                <a:latin typeface="DejaVu Sans"/>
                <a:ea typeface="DejaVu Sans"/>
                <a:cs typeface="DejaVu Sans"/>
              </a:rPr>
              <a:t> and process design</a:t>
            </a:r>
            <a:endParaRPr sz="975" b="0">
              <a:solidFill>
                <a:srgbClr val="8D99A3"/>
              </a:solidFill>
              <a:latin typeface="DejaVu Sans"/>
              <a:ea typeface="DejaVu Sans"/>
              <a:cs typeface="DejaVu Sans"/>
            </a:endParaRPr>
          </a:p>
        </p:txBody>
      </p:sp>
      <p:sp>
        <p:nvSpPr>
          <p:cNvPr id="30" name="Rectangle 29">
            <a:extLst xmlns:a="http://schemas.openxmlformats.org/drawingml/2006/main">
              <a:ext uri="{FF2B5EF4-FFF2-40B4-BE49-F238E27FC236}">
                <a16:creationId xmlns:a16="http://schemas.microsoft.com/office/drawing/2014/main" id="{D825DF30-2C5F-4379-863A-8F19118D395E}"/>
              </a:ext>
            </a:extLst>
          </p:cNvPr>
          <p:cNvSpPr>
            <a:spLocks xmlns:a="http://schemas.openxmlformats.org/drawingml/2006/main" noGrp="1"/>
          </p:cNvSpPr>
          <p:nvPr/>
        </p:nvSpPr>
        <p:spPr>
          <a:xfrm xmlns:a="http://schemas.openxmlformats.org/drawingml/2006/main">
            <a:off x="2237917" y="6048375"/>
            <a:ext cx="20764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975" b="0">
                <a:solidFill>
                  <a:srgbClr val="8D99A3"/>
                </a:solidFill>
                <a:latin typeface="DejaVu Sans"/>
                <a:ea typeface="DejaVu Sans"/>
                <a:cs typeface="DejaVu Sans"/>
              </a:defRPr>
            </a:pPr>
            <a:r>
              <a:rPr sz="975" b="0">
                <a:solidFill>
                  <a:srgbClr val="8D99A3"/>
                </a:solidFill>
                <a:latin typeface="DejaVu Sans"/>
                <a:ea typeface="DejaVu Sans"/>
                <a:cs typeface="DejaVu Sans"/>
              </a:rPr>
              <a:t>research + synthesis</a:t>
            </a:r>
          </a:p>
        </p:txBody>
      </p:sp>
      <p:sp>
        <p:nvSpPr>
          <p:cNvPr id="33" name="Rectangle: Rounded Corners 32">
            <a:extLst xmlns:a="http://schemas.openxmlformats.org/drawingml/2006/main">
              <a:ext uri="{FF2B5EF4-FFF2-40B4-BE49-F238E27FC236}">
                <a16:creationId xmlns:a16="http://schemas.microsoft.com/office/drawing/2014/main" id="{72018BA6-2954-4B25-9F73-24D8F3EF4A44}"/>
              </a:ext>
            </a:extLst>
          </p:cNvPr>
          <p:cNvSpPr>
            <a:spLocks xmlns:a="http://schemas.openxmlformats.org/drawingml/2006/main" noGrp="1"/>
          </p:cNvSpPr>
          <p:nvPr/>
        </p:nvSpPr>
        <p:spPr>
          <a:xfrm xmlns:a="http://schemas.openxmlformats.org/drawingml/2006/main">
            <a:off x="6932657" y="5391150"/>
            <a:ext cx="2076450" cy="438150"/>
          </a:xfrm>
          <a:prstGeom xmlns:a="http://schemas.openxmlformats.org/drawingml/2006/main" prst="roundRect">
            <a:avLst>
              <a:gd name="adj" fmla="val 34783"/>
            </a:avLst>
          </a:prstGeom>
          <a:solidFill xmlns:a="http://schemas.openxmlformats.org/drawingml/2006/main">
            <a:srgbClr val="0E1317">
              <a:alpha val="96000"/>
            </a:srgbClr>
          </a:solidFill>
          <a:ln xmlns:a="http://schemas.openxmlformats.org/drawingml/2006/main" w="14288">
            <a:solidFill>
              <a:srgbClr val="62D6A7"/>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975" b="1">
                <a:solidFill>
                  <a:srgbClr val="62D6A7"/>
                </a:solidFill>
                <a:latin typeface="DejaVu Sans Mono"/>
                <a:ea typeface="DejaVu Sans Mono"/>
                <a:cs typeface="DejaVu Sans Mono"/>
              </a:defRPr>
            </a:pPr>
            <a:r>
              <a:rPr sz="975" b="1">
                <a:solidFill>
                  <a:srgbClr val="62D6A7"/>
                </a:solidFill>
                <a:latin typeface="DejaVu Sans Mono"/>
                <a:ea typeface="DejaVu Sans Mono"/>
                <a:cs typeface="DejaVu Sans Mono"/>
              </a:rPr>
              <a:t>Ex. </a:t>
            </a:r>
            <a:r>
              <a:rPr sz="975" b="1">
                <a:solidFill>
                  <a:srgbClr val="62D6A7"/>
                </a:solidFill>
                <a:latin typeface="DejaVu Sans Mono"/>
                <a:ea typeface="DejaVu Sans Mono"/>
                <a:cs typeface="DejaVu Sans Mono"/>
              </a:rPr>
              <a:t>PM ACCELERATOR</a:t>
            </a:r>
          </a:p>
        </p:txBody>
      </p:sp>
      <p:sp>
        <p:nvSpPr>
          <p:cNvPr id="34" name="Rectangle 33">
            <a:extLst xmlns:a="http://schemas.openxmlformats.org/drawingml/2006/main">
              <a:ext uri="{FF2B5EF4-FFF2-40B4-BE49-F238E27FC236}">
                <a16:creationId xmlns:a16="http://schemas.microsoft.com/office/drawing/2014/main" id="{CAA77ADB-F950-4D1C-8C51-E89E6C90EF38}"/>
              </a:ext>
            </a:extLst>
          </p:cNvPr>
          <p:cNvSpPr>
            <a:spLocks xmlns:a="http://schemas.openxmlformats.org/drawingml/2006/main" noGrp="1"/>
          </p:cNvSpPr>
          <p:nvPr/>
        </p:nvSpPr>
        <p:spPr>
          <a:xfrm xmlns:a="http://schemas.openxmlformats.org/drawingml/2006/main">
            <a:off x="6932657" y="5905500"/>
            <a:ext cx="20764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975" b="0">
                <a:solidFill>
                  <a:srgbClr val="8D99A3"/>
                </a:solidFill>
                <a:latin typeface="DejaVu Sans"/>
                <a:ea typeface="DejaVu Sans"/>
                <a:cs typeface="DejaVu Sans"/>
              </a:defRPr>
            </a:pPr>
            <a:r>
              <a:rPr sz="975" b="0">
                <a:solidFill>
                  <a:srgbClr val="8D99A3"/>
                </a:solidFill>
                <a:latin typeface="DejaVu Sans"/>
                <a:ea typeface="DejaVu Sans"/>
                <a:cs typeface="DejaVu Sans"/>
              </a:rPr>
              <a:t>E</a:t>
            </a:r>
            <a:r>
              <a:rPr sz="975" b="0">
                <a:solidFill>
                  <a:srgbClr val="8D99A3"/>
                </a:solidFill>
                <a:latin typeface="DejaVu Sans"/>
                <a:ea typeface="DejaVu Sans"/>
                <a:cs typeface="DejaVu Sans"/>
              </a:rPr>
              <a:t>xecution</a:t>
            </a:r>
            <a:r>
              <a:rPr sz="975" b="0">
                <a:solidFill>
                  <a:srgbClr val="8D99A3"/>
                </a:solidFill>
                <a:latin typeface="DejaVu Sans"/>
                <a:ea typeface="DejaVu Sans"/>
                <a:cs typeface="DejaVu Sans"/>
              </a:rPr>
              <a:t> deployment management</a:t>
            </a:r>
            <a:r>
              <a:rPr sz="975" b="0">
                <a:solidFill>
                  <a:srgbClr val="8D99A3"/>
                </a:solidFill>
                <a:latin typeface="DejaVu Sans"/>
                <a:ea typeface="DejaVu Sans"/>
                <a:cs typeface="DejaVu Sans"/>
              </a:rPr>
              <a:t> + controls</a:t>
            </a:r>
          </a:p>
        </p:txBody>
      </p:sp>
      <p:sp>
        <p:nvSpPr>
          <p:cNvPr id="35" name="Rectangle 34">
            <a:extLst xmlns:a="http://schemas.openxmlformats.org/drawingml/2006/main">
              <a:ext uri="{FF2B5EF4-FFF2-40B4-BE49-F238E27FC236}">
                <a16:creationId xmlns:a16="http://schemas.microsoft.com/office/drawing/2014/main" id="{0F6FB275-E0C8-4B47-9EB1-3DC6A53C5055}"/>
              </a:ext>
            </a:extLst>
          </p:cNvPr>
          <p:cNvSpPr>
            <a:spLocks xmlns:a="http://schemas.openxmlformats.org/drawingml/2006/main" noGrp="1"/>
          </p:cNvSpPr>
          <p:nvPr/>
        </p:nvSpPr>
        <p:spPr>
          <a:xfrm xmlns:a="http://schemas.openxmlformats.org/drawingml/2006/main">
            <a:off x="7886700" y="6286500"/>
            <a:ext cx="3695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95000"/>
              </a:lnSpc>
              <a:buNone/>
              <a:defRPr sz="900" b="1">
                <a:solidFill>
                  <a:srgbClr val="8D99A3"/>
                </a:solidFill>
                <a:latin typeface="DejaVu Sans Mono"/>
                <a:ea typeface="DejaVu Sans Mono"/>
                <a:cs typeface="DejaVu Sans Mono"/>
              </a:defRPr>
            </a:pPr>
            <a:r>
              <a:rPr sz="900" b="1">
                <a:solidFill>
                  <a:srgbClr val="8D99A3"/>
                </a:solidFill>
                <a:latin typeface="DejaVu Sans Mono"/>
                <a:ea typeface="DejaVu Sans Mono"/>
                <a:cs typeface="DejaVu Sans Mono"/>
              </a:rPr>
              <a:t>RUNTIMES: CODEX • CLAUDE COWORK • HERMES • GROK</a:t>
            </a:r>
          </a:p>
        </p:txBody>
      </p:sp>
      <p:sp>
        <p:nvSpPr>
          <p:cNvPr id="36" name="Rectangle 35">
            <a:extLst xmlns:a="http://schemas.openxmlformats.org/drawingml/2006/main">
              <a:ext uri="{FF2B5EF4-FFF2-40B4-BE49-F238E27FC236}">
                <a16:creationId xmlns:a16="http://schemas.microsoft.com/office/drawing/2014/main" id="{ABDF7C81-D1A6-4055-A794-2BB59F3C4B29}"/>
              </a:ext>
            </a:extLst>
          </p:cNvPr>
          <p:cNvSpPr>
            <a:spLocks xmlns:a="http://schemas.openxmlformats.org/drawingml/2006/main" noGrp="1"/>
          </p:cNvSpPr>
          <p:nvPr/>
        </p:nvSpPr>
        <p:spPr>
          <a:xfrm xmlns:a="http://schemas.openxmlformats.org/drawingml/2006/main">
            <a:off x="0" y="6400800"/>
            <a:ext cx="12192000" cy="457200"/>
          </a:xfrm>
          <a:prstGeom xmlns:a="http://schemas.openxmlformats.org/drawingml/2006/main" prst="rect">
            <a:avLst/>
          </a:prstGeom>
          <a:solidFill xmlns:a="http://schemas.openxmlformats.org/drawingml/2006/main">
            <a:srgbClr val="07090C">
              <a:alpha val="76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7" name="Rectangle 36">
            <a:extLst xmlns:a="http://schemas.openxmlformats.org/drawingml/2006/main">
              <a:ext uri="{FF2B5EF4-FFF2-40B4-BE49-F238E27FC236}">
                <a16:creationId xmlns:a16="http://schemas.microsoft.com/office/drawing/2014/main" id="{8A14B749-DEE0-4D5B-8E86-6ECB030994BF}"/>
              </a:ext>
            </a:extLst>
          </p:cNvPr>
          <p:cNvSpPr>
            <a:spLocks xmlns:a="http://schemas.openxmlformats.org/drawingml/2006/main" noGrp="1"/>
          </p:cNvSpPr>
          <p:nvPr/>
        </p:nvSpPr>
        <p:spPr>
          <a:xfrm xmlns:a="http://schemas.openxmlformats.org/drawingml/2006/main">
            <a:off x="609600" y="6553200"/>
            <a:ext cx="68580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MARS SOCIETY 2026  •  HARNESSED AGENTIC SCIENCE + ENGINEERING</a:t>
            </a:r>
          </a:p>
        </p:txBody>
      </p:sp>
      <p:sp>
        <p:nvSpPr>
          <p:cNvPr id="38" name="Rectangle 37">
            <a:extLst xmlns:a="http://schemas.openxmlformats.org/drawingml/2006/main">
              <a:ext uri="{FF2B5EF4-FFF2-40B4-BE49-F238E27FC236}">
                <a16:creationId xmlns:a16="http://schemas.microsoft.com/office/drawing/2014/main" id="{105B29AE-1C1B-44FC-8A34-AF134DAE2D6D}"/>
              </a:ext>
            </a:extLst>
          </p:cNvPr>
          <p:cNvSpPr>
            <a:spLocks xmlns:a="http://schemas.openxmlformats.org/drawingml/2006/main" noGrp="1"/>
          </p:cNvSpPr>
          <p:nvPr/>
        </p:nvSpPr>
        <p:spPr>
          <a:xfrm xmlns:a="http://schemas.openxmlformats.org/drawingml/2006/main">
            <a:off x="9525000" y="6553200"/>
            <a:ext cx="20574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BOB J MILLS     20</a:t>
            </a:r>
          </a:p>
        </p:txBody>
      </p:sp>
      <p:sp>
        <p:nvSpPr>
          <p:cNvPr id="41" name="Rectangle 40">
            <a:extLst xmlns:a="http://schemas.openxmlformats.org/drawingml/2006/main">
              <a:ext uri="{FF2B5EF4-FFF2-40B4-BE49-F238E27FC236}">
                <a16:creationId xmlns:a16="http://schemas.microsoft.com/office/drawing/2014/main" id="{996A0AF3-D74D-4189-41D0-6DC0A88EC67A}"/>
              </a:ext>
            </a:extLst>
          </p:cNvPr>
          <p:cNvSpPr>
            <a:spLocks xmlns:a="http://schemas.openxmlformats.org/drawingml/2006/main" noGrp="1"/>
          </p:cNvSpPr>
          <p:nvPr/>
        </p:nvSpPr>
        <p:spPr>
          <a:xfrm xmlns:a="http://schemas.openxmlformats.org/drawingml/2006/main">
            <a:off x="250125" y="5543912"/>
            <a:ext cx="20764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975" b="0">
                <a:solidFill>
                  <a:srgbClr val="8D99A3"/>
                </a:solidFill>
                <a:latin typeface="DejaVu Sans"/>
                <a:ea typeface="DejaVu Sans"/>
                <a:cs typeface="DejaVu Sans"/>
              </a:defRPr>
            </a:pPr>
            <a:r>
              <a:rPr sz="975">
                <a:solidFill>
                  <a:srgbClr val="8D99A3"/>
                </a:solidFill>
                <a:latin typeface="DejaVu Sans"/>
                <a:ea typeface="DejaVu Sans"/>
                <a:cs typeface="DejaVu Sans"/>
              </a:rPr>
              <a:t>Example Ai Harness Skills &gt;</a:t>
            </a:r>
            <a:endParaRPr sz="975" b="0">
              <a:solidFill>
                <a:srgbClr val="8D99A3"/>
              </a:solidFill>
              <a:latin typeface="DejaVu Sans"/>
              <a:ea typeface="DejaVu Sans"/>
              <a:cs typeface="DejaVu Sans"/>
            </a:endParaRPr>
          </a:p>
        </p:txBody>
      </p:sp>
      <p:sp>
        <p:nvSpPr>
          <p:cNvPr id="45" name="Rectangle 44">
            <a:extLst xmlns:a="http://schemas.openxmlformats.org/drawingml/2006/main">
              <a:ext uri="{FF2B5EF4-FFF2-40B4-BE49-F238E27FC236}">
                <a16:creationId xmlns:a16="http://schemas.microsoft.com/office/drawing/2014/main" id="{E13CF6DC-6E09-8844-C8F5-2815A30E0FB7}"/>
              </a:ext>
            </a:extLst>
          </p:cNvPr>
          <p:cNvSpPr>
            <a:spLocks xmlns:a="http://schemas.openxmlformats.org/drawingml/2006/main" noGrp="1"/>
          </p:cNvSpPr>
          <p:nvPr/>
        </p:nvSpPr>
        <p:spPr>
          <a:xfrm xmlns:a="http://schemas.openxmlformats.org/drawingml/2006/main">
            <a:off x="4572000" y="4067175"/>
            <a:ext cx="20764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975" b="0">
                <a:solidFill>
                  <a:srgbClr val="8D99A3"/>
                </a:solidFill>
                <a:latin typeface="DejaVu Sans"/>
                <a:ea typeface="DejaVu Sans"/>
                <a:cs typeface="DejaVu Sans"/>
              </a:defRPr>
            </a:pPr>
            <a:r>
              <a:rPr sz="975">
                <a:solidFill>
                  <a:srgbClr val="8D99A3"/>
                </a:solidFill>
                <a:latin typeface="DejaVu Sans"/>
                <a:ea typeface="DejaVu Sans"/>
                <a:cs typeface="DejaVu Sans"/>
              </a:rPr>
              <a:t>A few Example Ai Harness Applications</a:t>
            </a:r>
            <a:endParaRPr sz="975" b="0">
              <a:solidFill>
                <a:srgbClr val="8D99A3"/>
              </a:solidFill>
              <a:latin typeface="DejaVu Sans"/>
              <a:ea typeface="DejaVu Sans"/>
              <a:cs typeface="DejaVu Sans"/>
            </a:endParaRPr>
          </a:p>
        </p:txBody>
      </p:sp>
    </p:spTree>
    <p:extLst>
      <p:ext uri="{BB962C8B-B14F-4D97-AF65-F5344CB8AC3E}">
        <p14:creationId xmlns:p14="http://schemas.microsoft.com/office/powerpoint/2010/main" val="2105499681"/>
      </p:ext>
    </p:extLst>
  </p:cSld>
</p:sld>
</file>

<file path=ppt/slides/slide21.xml><?xml version="1.0" encoding="utf-8"?>
<p:sld xmlns:p="http://schemas.openxmlformats.org/presentationml/2006/main">
  <p:cSld>
    <p:bg>
      <p:bgPr>
        <a:solidFill xmlns:a="http://schemas.openxmlformats.org/drawingml/2006/main">
          <a:srgbClr val="07090C"/>
        </a:solidFill>
      </p:bgPr>
    </p:bg>
    <p:spTree>
      <p:nvGrpSpPr>
        <p:cNvPr id="1" name=""/>
        <p:cNvGrpSpPr/>
        <p:nvPr/>
      </p:nvGrpSpPr>
      <p:grpSpPr>
        <a:xfrm xmlns:a="http://schemas.openxmlformats.org/drawingml/2006/main"/>
      </p:grpSpPr>
      <p:sp>
        <p:nvSpPr>
          <p:cNvPr id="41" name="Rectangle 40">
            <a:extLst xmlns:a="http://schemas.openxmlformats.org/drawingml/2006/main">
              <a:ext uri="{FF2B5EF4-FFF2-40B4-BE49-F238E27FC236}">
                <a16:creationId xmlns:a16="http://schemas.microsoft.com/office/drawing/2014/main" id="{D41A3FF4-D244-4B39-B941-DFFB16069FF1}"/>
              </a:ext>
            </a:extLst>
          </p:cNvPr>
          <p:cNvSpPr>
            <a:spLocks xmlns:a="http://schemas.openxmlformats.org/drawingml/2006/main" noGrp="1"/>
          </p:cNvSpPr>
          <p:nvPr/>
        </p:nvSpPr>
        <p:spPr>
          <a:xfrm xmlns:a="http://schemas.openxmlformats.org/drawingml/2006/main">
            <a:off x="609600" y="3429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75" b="1">
                <a:solidFill>
                  <a:srgbClr val="F26B38"/>
                </a:solidFill>
                <a:latin typeface="DejaVu Sans Mono"/>
                <a:ea typeface="DejaVu Sans Mono"/>
                <a:cs typeface="DejaVu Sans Mono"/>
              </a:defRPr>
            </a:pPr>
            <a:r>
              <a:rPr sz="975" b="1">
                <a:solidFill>
                  <a:srgbClr val="F26B38"/>
                </a:solidFill>
                <a:latin typeface="DejaVu Sans Mono"/>
                <a:ea typeface="DejaVu Sans Mono"/>
                <a:cs typeface="DejaVu Sans Mono"/>
              </a:rPr>
              <a:t>21  /  ADOPTION</a:t>
            </a:r>
          </a:p>
        </p:txBody>
      </p:sp>
      <p:sp>
        <p:nvSpPr>
          <p:cNvPr id="2" name="Rectangle 1">
            <a:extLst xmlns:a="http://schemas.openxmlformats.org/drawingml/2006/main">
              <a:ext uri="{FF2B5EF4-FFF2-40B4-BE49-F238E27FC236}">
                <a16:creationId xmlns:a16="http://schemas.microsoft.com/office/drawing/2014/main" id="{E2544598-C43A-4C28-8DA7-0C334C855240}"/>
              </a:ext>
            </a:extLst>
          </p:cNvPr>
          <p:cNvSpPr>
            <a:spLocks xmlns:a="http://schemas.openxmlformats.org/drawingml/2006/main" noGrp="1"/>
          </p:cNvSpPr>
          <p:nvPr/>
        </p:nvSpPr>
        <p:spPr>
          <a:xfrm xmlns:a="http://schemas.openxmlformats.org/drawingml/2006/main">
            <a:off x="609600" y="647700"/>
            <a:ext cx="10972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0000"/>
              </a:lnSpc>
              <a:buNone/>
              <a:defRPr sz="3000" b="1">
                <a:solidFill>
                  <a:srgbClr val="F4F6F8"/>
                </a:solidFill>
                <a:latin typeface="DejaVu Sans"/>
                <a:ea typeface="DejaVu Sans"/>
                <a:cs typeface="DejaVu Sans"/>
              </a:defRPr>
            </a:pPr>
            <a:r>
              <a:rPr sz="3000" b="1">
                <a:solidFill>
                  <a:srgbClr val="F4F6F8"/>
                </a:solidFill>
                <a:latin typeface="DejaVu Sans"/>
                <a:ea typeface="DejaVu Sans"/>
                <a:cs typeface="DejaVu Sans"/>
              </a:rPr>
              <a:t>Start with one consequential loop</a:t>
            </a:r>
          </a:p>
        </p:txBody>
      </p:sp>
      <p:sp>
        <p:nvSpPr>
          <p:cNvPr id="3" name="Rectangle 2">
            <a:extLst xmlns:a="http://schemas.openxmlformats.org/drawingml/2006/main">
              <a:ext uri="{FF2B5EF4-FFF2-40B4-BE49-F238E27FC236}">
                <a16:creationId xmlns:a16="http://schemas.microsoft.com/office/drawing/2014/main" id="{4554ACCD-0DC7-44FD-9DCA-2A788E73F8A3}"/>
              </a:ext>
            </a:extLst>
          </p:cNvPr>
          <p:cNvSpPr>
            <a:spLocks xmlns:a="http://schemas.openxmlformats.org/drawingml/2006/main" noGrp="1"/>
          </p:cNvSpPr>
          <p:nvPr/>
        </p:nvSpPr>
        <p:spPr>
          <a:xfrm xmlns:a="http://schemas.openxmlformats.org/drawingml/2006/main">
            <a:off x="628650" y="1238250"/>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25" b="0">
                <a:solidFill>
                  <a:srgbClr val="8D99A3"/>
                </a:solidFill>
                <a:latin typeface="DejaVu Sans"/>
                <a:ea typeface="DejaVu Sans"/>
                <a:cs typeface="DejaVu Sans"/>
              </a:defRPr>
            </a:pPr>
            <a:r>
              <a:rPr sz="1425" b="0">
                <a:solidFill>
                  <a:srgbClr val="8D99A3"/>
                </a:solidFill>
                <a:latin typeface="DejaVu Sans"/>
                <a:ea typeface="DejaVu Sans"/>
                <a:cs typeface="DejaVu Sans"/>
              </a:rPr>
              <a:t>Prove traceability and expert equivalence on a recurring decision before attempting an enterprise-wide ecosystem.</a:t>
            </a:r>
          </a:p>
        </p:txBody>
      </p:sp>
      <p:sp>
        <p:nvSpPr>
          <p:cNvPr id="4" name="Straight Connector 3">
            <a:extLst xmlns:a="http://schemas.openxmlformats.org/drawingml/2006/main">
              <a:ext uri="{FF2B5EF4-FFF2-40B4-BE49-F238E27FC236}">
                <a16:creationId xmlns:a16="http://schemas.microsoft.com/office/drawing/2014/main" id="{67AE4749-EBBB-4C66-8FB4-5DA7A5E6B909}"/>
              </a:ext>
            </a:extLst>
          </p:cNvPr>
          <p:cNvSpPr>
            <a:spLocks xmlns:a="http://schemas.openxmlformats.org/drawingml/2006/main" noGrp="1"/>
          </p:cNvSpPr>
          <p:nvPr/>
        </p:nvSpPr>
        <p:spPr>
          <a:xfrm xmlns:a="http://schemas.openxmlformats.org/drawingml/2006/main">
            <a:off x="609600" y="1676400"/>
            <a:ext cx="10972800" cy="0"/>
          </a:xfrm>
          <a:prstGeom xmlns:a="http://schemas.openxmlformats.org/drawingml/2006/main" prst="line">
            <a:avLst/>
          </a:prstGeom>
          <a:noFill xmlns:a="http://schemas.openxmlformats.org/drawingml/2006/main"/>
          <a:ln xmlns:a="http://schemas.openxmlformats.org/drawingml/2006/main" w="9525">
            <a:solidFill>
              <a:srgbClr val="35414B"/>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Straight Connector 4">
            <a:extLst xmlns:a="http://schemas.openxmlformats.org/drawingml/2006/main">
              <a:ext uri="{FF2B5EF4-FFF2-40B4-BE49-F238E27FC236}">
                <a16:creationId xmlns:a16="http://schemas.microsoft.com/office/drawing/2014/main" id="{7EF30DA2-D7E0-464E-AA97-58F4B6A0AB69}"/>
              </a:ext>
            </a:extLst>
          </p:cNvPr>
          <p:cNvSpPr>
            <a:spLocks xmlns:a="http://schemas.openxmlformats.org/drawingml/2006/main" noGrp="1"/>
          </p:cNvSpPr>
          <p:nvPr/>
        </p:nvSpPr>
        <p:spPr>
          <a:xfrm xmlns:a="http://schemas.openxmlformats.org/drawingml/2006/main">
            <a:off x="1485900" y="5276850"/>
            <a:ext cx="1790700" cy="0"/>
          </a:xfrm>
          <a:prstGeom xmlns:a="http://schemas.openxmlformats.org/drawingml/2006/main" prst="line">
            <a:avLst/>
          </a:prstGeom>
          <a:noFill xmlns:a="http://schemas.openxmlformats.org/drawingml/2006/main"/>
          <a:ln xmlns:a="http://schemas.openxmlformats.org/drawingml/2006/main" w="66675">
            <a:solidFill>
              <a:srgbClr val="F26B38">
                <a:alpha val="70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6" name="Straight Connector 5">
            <a:extLst xmlns:a="http://schemas.openxmlformats.org/drawingml/2006/main">
              <a:ext uri="{FF2B5EF4-FFF2-40B4-BE49-F238E27FC236}">
                <a16:creationId xmlns:a16="http://schemas.microsoft.com/office/drawing/2014/main" id="{A92CE9FA-AAE5-4E69-BF69-82A8DDE2A99A}"/>
              </a:ext>
            </a:extLst>
          </p:cNvPr>
          <p:cNvSpPr>
            <a:spLocks xmlns:a="http://schemas.openxmlformats.org/drawingml/2006/main" noGrp="1"/>
          </p:cNvSpPr>
          <p:nvPr/>
        </p:nvSpPr>
        <p:spPr>
          <a:xfrm xmlns:a="http://schemas.openxmlformats.org/drawingml/2006/main">
            <a:off x="3276600" y="4400550"/>
            <a:ext cx="0" cy="876300"/>
          </a:xfrm>
          <a:prstGeom xmlns:a="http://schemas.openxmlformats.org/drawingml/2006/main" prst="line">
            <a:avLst/>
          </a:prstGeom>
          <a:noFill xmlns:a="http://schemas.openxmlformats.org/drawingml/2006/main"/>
          <a:ln xmlns:a="http://schemas.openxmlformats.org/drawingml/2006/main" w="66675">
            <a:solidFill>
              <a:srgbClr val="F26B38">
                <a:alpha val="70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7" name="Straight Connector 6">
            <a:extLst xmlns:a="http://schemas.openxmlformats.org/drawingml/2006/main">
              <a:ext uri="{FF2B5EF4-FFF2-40B4-BE49-F238E27FC236}">
                <a16:creationId xmlns:a16="http://schemas.microsoft.com/office/drawing/2014/main" id="{48ACD86F-BF55-4D58-B815-D5B0000DFCDC}"/>
              </a:ext>
            </a:extLst>
          </p:cNvPr>
          <p:cNvSpPr>
            <a:spLocks xmlns:a="http://schemas.openxmlformats.org/drawingml/2006/main" noGrp="1"/>
          </p:cNvSpPr>
          <p:nvPr/>
        </p:nvSpPr>
        <p:spPr>
          <a:xfrm xmlns:a="http://schemas.openxmlformats.org/drawingml/2006/main">
            <a:off x="3429000" y="4400550"/>
            <a:ext cx="1866900" cy="0"/>
          </a:xfrm>
          <a:prstGeom xmlns:a="http://schemas.openxmlformats.org/drawingml/2006/main" prst="line">
            <a:avLst/>
          </a:prstGeom>
          <a:noFill xmlns:a="http://schemas.openxmlformats.org/drawingml/2006/main"/>
          <a:ln xmlns:a="http://schemas.openxmlformats.org/drawingml/2006/main" w="66675">
            <a:solidFill>
              <a:srgbClr val="39D7FF">
                <a:alpha val="70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8" name="Straight Connector 7">
            <a:extLst xmlns:a="http://schemas.openxmlformats.org/drawingml/2006/main">
              <a:ext uri="{FF2B5EF4-FFF2-40B4-BE49-F238E27FC236}">
                <a16:creationId xmlns:a16="http://schemas.microsoft.com/office/drawing/2014/main" id="{4C986191-9985-4086-A46A-495B41B0CF68}"/>
              </a:ext>
            </a:extLst>
          </p:cNvPr>
          <p:cNvSpPr>
            <a:spLocks xmlns:a="http://schemas.openxmlformats.org/drawingml/2006/main" noGrp="1"/>
          </p:cNvSpPr>
          <p:nvPr/>
        </p:nvSpPr>
        <p:spPr>
          <a:xfrm xmlns:a="http://schemas.openxmlformats.org/drawingml/2006/main">
            <a:off x="5295900" y="4400550"/>
            <a:ext cx="0" cy="552450"/>
          </a:xfrm>
          <a:prstGeom xmlns:a="http://schemas.openxmlformats.org/drawingml/2006/main" prst="line">
            <a:avLst/>
          </a:prstGeom>
          <a:noFill xmlns:a="http://schemas.openxmlformats.org/drawingml/2006/main"/>
          <a:ln xmlns:a="http://schemas.openxmlformats.org/drawingml/2006/main" w="66675">
            <a:solidFill>
              <a:srgbClr val="39D7FF">
                <a:alpha val="70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9" name="Straight Connector 8">
            <a:extLst xmlns:a="http://schemas.openxmlformats.org/drawingml/2006/main">
              <a:ext uri="{FF2B5EF4-FFF2-40B4-BE49-F238E27FC236}">
                <a16:creationId xmlns:a16="http://schemas.microsoft.com/office/drawing/2014/main" id="{6D1FC98C-09D2-4577-BCFA-48763993B81C}"/>
              </a:ext>
            </a:extLst>
          </p:cNvPr>
          <p:cNvSpPr>
            <a:spLocks xmlns:a="http://schemas.openxmlformats.org/drawingml/2006/main" noGrp="1"/>
          </p:cNvSpPr>
          <p:nvPr/>
        </p:nvSpPr>
        <p:spPr>
          <a:xfrm xmlns:a="http://schemas.openxmlformats.org/drawingml/2006/main">
            <a:off x="5448300" y="4953000"/>
            <a:ext cx="2057400" cy="0"/>
          </a:xfrm>
          <a:prstGeom xmlns:a="http://schemas.openxmlformats.org/drawingml/2006/main" prst="line">
            <a:avLst/>
          </a:prstGeom>
          <a:noFill xmlns:a="http://schemas.openxmlformats.org/drawingml/2006/main"/>
          <a:ln xmlns:a="http://schemas.openxmlformats.org/drawingml/2006/main" w="66675">
            <a:solidFill>
              <a:srgbClr val="39D7FF">
                <a:alpha val="70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10" name="Straight Connector 9">
            <a:extLst xmlns:a="http://schemas.openxmlformats.org/drawingml/2006/main">
              <a:ext uri="{FF2B5EF4-FFF2-40B4-BE49-F238E27FC236}">
                <a16:creationId xmlns:a16="http://schemas.microsoft.com/office/drawing/2014/main" id="{C71520B6-A441-4370-B98B-ADFDC16C879C}"/>
              </a:ext>
            </a:extLst>
          </p:cNvPr>
          <p:cNvSpPr>
            <a:spLocks xmlns:a="http://schemas.openxmlformats.org/drawingml/2006/main" noGrp="1"/>
          </p:cNvSpPr>
          <p:nvPr/>
        </p:nvSpPr>
        <p:spPr>
          <a:xfrm xmlns:a="http://schemas.openxmlformats.org/drawingml/2006/main">
            <a:off x="7505700" y="3638550"/>
            <a:ext cx="0" cy="1314450"/>
          </a:xfrm>
          <a:prstGeom xmlns:a="http://schemas.openxmlformats.org/drawingml/2006/main" prst="line">
            <a:avLst/>
          </a:prstGeom>
          <a:noFill xmlns:a="http://schemas.openxmlformats.org/drawingml/2006/main"/>
          <a:ln xmlns:a="http://schemas.openxmlformats.org/drawingml/2006/main" w="66675">
            <a:solidFill>
              <a:srgbClr val="39D7FF">
                <a:alpha val="70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11" name="Straight Connector 10">
            <a:extLst xmlns:a="http://schemas.openxmlformats.org/drawingml/2006/main">
              <a:ext uri="{FF2B5EF4-FFF2-40B4-BE49-F238E27FC236}">
                <a16:creationId xmlns:a16="http://schemas.microsoft.com/office/drawing/2014/main" id="{97D5770D-9940-41C3-8745-ADBCD6651E59}"/>
              </a:ext>
            </a:extLst>
          </p:cNvPr>
          <p:cNvSpPr>
            <a:spLocks xmlns:a="http://schemas.openxmlformats.org/drawingml/2006/main" noGrp="1"/>
          </p:cNvSpPr>
          <p:nvPr/>
        </p:nvSpPr>
        <p:spPr>
          <a:xfrm xmlns:a="http://schemas.openxmlformats.org/drawingml/2006/main">
            <a:off x="7658100" y="3638550"/>
            <a:ext cx="2343150" cy="0"/>
          </a:xfrm>
          <a:prstGeom xmlns:a="http://schemas.openxmlformats.org/drawingml/2006/main" prst="line">
            <a:avLst/>
          </a:prstGeom>
          <a:noFill xmlns:a="http://schemas.openxmlformats.org/drawingml/2006/main"/>
          <a:ln xmlns:a="http://schemas.openxmlformats.org/drawingml/2006/main" w="66675">
            <a:solidFill>
              <a:srgbClr val="62D6A7">
                <a:alpha val="70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12" name="Straight Connector 11">
            <a:extLst xmlns:a="http://schemas.openxmlformats.org/drawingml/2006/main">
              <a:ext uri="{FF2B5EF4-FFF2-40B4-BE49-F238E27FC236}">
                <a16:creationId xmlns:a16="http://schemas.microsoft.com/office/drawing/2014/main" id="{EB548160-42D5-4C06-B3CE-076B378725F7}"/>
              </a:ext>
            </a:extLst>
          </p:cNvPr>
          <p:cNvSpPr>
            <a:spLocks xmlns:a="http://schemas.openxmlformats.org/drawingml/2006/main" noGrp="1"/>
          </p:cNvSpPr>
          <p:nvPr/>
        </p:nvSpPr>
        <p:spPr>
          <a:xfrm xmlns:a="http://schemas.openxmlformats.org/drawingml/2006/main">
            <a:off x="10001250" y="2705100"/>
            <a:ext cx="0" cy="933450"/>
          </a:xfrm>
          <a:prstGeom xmlns:a="http://schemas.openxmlformats.org/drawingml/2006/main" prst="line">
            <a:avLst/>
          </a:prstGeom>
          <a:noFill xmlns:a="http://schemas.openxmlformats.org/drawingml/2006/main"/>
          <a:ln xmlns:a="http://schemas.openxmlformats.org/drawingml/2006/main" w="66675">
            <a:solidFill>
              <a:srgbClr val="62D6A7">
                <a:alpha val="70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13" name="Oval 12">
            <a:extLst xmlns:a="http://schemas.openxmlformats.org/drawingml/2006/main">
              <a:ext uri="{FF2B5EF4-FFF2-40B4-BE49-F238E27FC236}">
                <a16:creationId xmlns:a16="http://schemas.microsoft.com/office/drawing/2014/main" id="{4F4A3F96-D21E-4650-A0BF-450521B1FFA9}"/>
              </a:ext>
            </a:extLst>
          </p:cNvPr>
          <p:cNvSpPr>
            <a:spLocks xmlns:a="http://schemas.openxmlformats.org/drawingml/2006/main" noGrp="1"/>
          </p:cNvSpPr>
          <p:nvPr/>
        </p:nvSpPr>
        <p:spPr>
          <a:xfrm xmlns:a="http://schemas.openxmlformats.org/drawingml/2006/main">
            <a:off x="914400" y="4972050"/>
            <a:ext cx="533400" cy="533400"/>
          </a:xfrm>
          <a:prstGeom xmlns:a="http://schemas.openxmlformats.org/drawingml/2006/main" prst="ellipse">
            <a:avLst/>
          </a:prstGeom>
          <a:solidFill xmlns:a="http://schemas.openxmlformats.org/drawingml/2006/main">
            <a:srgbClr val="F26B38"/>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4" name="Rectangle 13">
            <a:extLst xmlns:a="http://schemas.openxmlformats.org/drawingml/2006/main">
              <a:ext uri="{FF2B5EF4-FFF2-40B4-BE49-F238E27FC236}">
                <a16:creationId xmlns:a16="http://schemas.microsoft.com/office/drawing/2014/main" id="{0AAA67CB-4EE8-497E-8C1B-2561D8799A98}"/>
              </a:ext>
            </a:extLst>
          </p:cNvPr>
          <p:cNvSpPr>
            <a:spLocks xmlns:a="http://schemas.openxmlformats.org/drawingml/2006/main" noGrp="1"/>
          </p:cNvSpPr>
          <p:nvPr/>
        </p:nvSpPr>
        <p:spPr>
          <a:xfrm xmlns:a="http://schemas.openxmlformats.org/drawingml/2006/main">
            <a:off x="1019175" y="5076825"/>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5000"/>
              </a:lnSpc>
              <a:buNone/>
              <a:defRPr sz="1350" b="1">
                <a:solidFill>
                  <a:srgbClr val="07090C"/>
                </a:solidFill>
                <a:latin typeface="DejaVu Sans Mono"/>
                <a:ea typeface="DejaVu Sans Mono"/>
                <a:cs typeface="DejaVu Sans Mono"/>
              </a:defRPr>
            </a:pPr>
            <a:r>
              <a:rPr sz="1350" b="1">
                <a:solidFill>
                  <a:srgbClr val="07090C"/>
                </a:solidFill>
                <a:latin typeface="DejaVu Sans Mono"/>
                <a:ea typeface="DejaVu Sans Mono"/>
                <a:cs typeface="DejaVu Sans Mono"/>
              </a:rPr>
              <a:t>1</a:t>
            </a:r>
          </a:p>
        </p:txBody>
      </p:sp>
      <p:sp>
        <p:nvSpPr>
          <p:cNvPr id="15" name="Rectangle 14">
            <a:extLst xmlns:a="http://schemas.openxmlformats.org/drawingml/2006/main">
              <a:ext uri="{FF2B5EF4-FFF2-40B4-BE49-F238E27FC236}">
                <a16:creationId xmlns:a16="http://schemas.microsoft.com/office/drawing/2014/main" id="{97257C66-725A-4F56-8F1A-9BD65D896319}"/>
              </a:ext>
            </a:extLst>
          </p:cNvPr>
          <p:cNvSpPr>
            <a:spLocks xmlns:a="http://schemas.openxmlformats.org/drawingml/2006/main" noGrp="1"/>
          </p:cNvSpPr>
          <p:nvPr/>
        </p:nvSpPr>
        <p:spPr>
          <a:xfrm xmlns:a="http://schemas.openxmlformats.org/drawingml/2006/main">
            <a:off x="1562100" y="495300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200" b="1">
                <a:solidFill>
                  <a:srgbClr val="F26B38"/>
                </a:solidFill>
                <a:latin typeface="DejaVu Sans Mono"/>
                <a:ea typeface="DejaVu Sans Mono"/>
                <a:cs typeface="DejaVu Sans Mono"/>
              </a:defRPr>
            </a:pPr>
            <a:r>
              <a:rPr sz="1200" b="1">
                <a:solidFill>
                  <a:srgbClr val="F26B38"/>
                </a:solidFill>
                <a:latin typeface="DejaVu Sans Mono"/>
                <a:ea typeface="DejaVu Sans Mono"/>
                <a:cs typeface="DejaVu Sans Mono"/>
              </a:rPr>
              <a:t>SELECT</a:t>
            </a:r>
          </a:p>
        </p:txBody>
      </p:sp>
      <p:sp>
        <p:nvSpPr>
          <p:cNvPr id="16" name="Rectangle 15">
            <a:extLst xmlns:a="http://schemas.openxmlformats.org/drawingml/2006/main">
              <a:ext uri="{FF2B5EF4-FFF2-40B4-BE49-F238E27FC236}">
                <a16:creationId xmlns:a16="http://schemas.microsoft.com/office/drawing/2014/main" id="{26C9B185-0157-4892-AE64-948D6E2CC297}"/>
              </a:ext>
            </a:extLst>
          </p:cNvPr>
          <p:cNvSpPr>
            <a:spLocks xmlns:a="http://schemas.openxmlformats.org/drawingml/2006/main" noGrp="1"/>
          </p:cNvSpPr>
          <p:nvPr/>
        </p:nvSpPr>
        <p:spPr>
          <a:xfrm xmlns:a="http://schemas.openxmlformats.org/drawingml/2006/main">
            <a:off x="1533525" y="5381625"/>
            <a:ext cx="17526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275" b="0">
                <a:solidFill>
                  <a:srgbClr val="F4F6F8"/>
                </a:solidFill>
                <a:latin typeface="DejaVu Sans"/>
                <a:ea typeface="DejaVu Sans"/>
                <a:cs typeface="DejaVu Sans"/>
              </a:defRPr>
            </a:pPr>
            <a:r>
              <a:rPr sz="1275" b="0">
                <a:solidFill>
                  <a:srgbClr val="F4F6F8"/>
                </a:solidFill>
                <a:latin typeface="DejaVu Sans"/>
                <a:ea typeface="DejaVu Sans"/>
                <a:cs typeface="DejaVu Sans"/>
              </a:rPr>
              <a:t>O</a:t>
            </a:r>
            <a:r>
              <a:rPr sz="1275" b="0">
                <a:solidFill>
                  <a:srgbClr val="F4F6F8"/>
                </a:solidFill>
                <a:latin typeface="DejaVu Sans"/>
                <a:ea typeface="DejaVu Sans"/>
                <a:cs typeface="DejaVu Sans"/>
              </a:rPr>
              <a:t>ne</a:t>
            </a:r>
            <a:r>
              <a:rPr sz="1275">
                <a:solidFill>
                  <a:srgbClr val="F4F6F8"/>
                </a:solidFill>
                <a:latin typeface="DejaVu Sans"/>
                <a:ea typeface="DejaVu Sans"/>
                <a:cs typeface="DejaVu Sans"/>
              </a:rPr>
              <a:t> goal for development</a:t>
            </a:r>
            <a:endParaRPr sz="1275" b="0">
              <a:solidFill>
                <a:srgbClr val="F4F6F8"/>
              </a:solidFill>
              <a:latin typeface="DejaVu Sans"/>
              <a:ea typeface="DejaVu Sans"/>
              <a:cs typeface="DejaVu Sans"/>
            </a:endParaRPr>
          </a:p>
        </p:txBody>
      </p:sp>
      <p:sp>
        <p:nvSpPr>
          <p:cNvPr id="17" name="Oval 16">
            <a:extLst xmlns:a="http://schemas.openxmlformats.org/drawingml/2006/main">
              <a:ext uri="{FF2B5EF4-FFF2-40B4-BE49-F238E27FC236}">
                <a16:creationId xmlns:a16="http://schemas.microsoft.com/office/drawing/2014/main" id="{69D0C2E4-E171-494F-8098-73286497058B}"/>
              </a:ext>
            </a:extLst>
          </p:cNvPr>
          <p:cNvSpPr>
            <a:spLocks xmlns:a="http://schemas.openxmlformats.org/drawingml/2006/main" noGrp="1"/>
          </p:cNvSpPr>
          <p:nvPr/>
        </p:nvSpPr>
        <p:spPr>
          <a:xfrm xmlns:a="http://schemas.openxmlformats.org/drawingml/2006/main">
            <a:off x="2857500" y="4095750"/>
            <a:ext cx="533400" cy="533400"/>
          </a:xfrm>
          <a:prstGeom xmlns:a="http://schemas.openxmlformats.org/drawingml/2006/main" prst="ellipse">
            <a:avLst/>
          </a:prstGeom>
          <a:solidFill xmlns:a="http://schemas.openxmlformats.org/drawingml/2006/main">
            <a:srgbClr val="39D7FF"/>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8" name="Rectangle 17">
            <a:extLst xmlns:a="http://schemas.openxmlformats.org/drawingml/2006/main">
              <a:ext uri="{FF2B5EF4-FFF2-40B4-BE49-F238E27FC236}">
                <a16:creationId xmlns:a16="http://schemas.microsoft.com/office/drawing/2014/main" id="{26B55CDC-FF01-4662-A26D-C3C42CF11DF2}"/>
              </a:ext>
            </a:extLst>
          </p:cNvPr>
          <p:cNvSpPr>
            <a:spLocks xmlns:a="http://schemas.openxmlformats.org/drawingml/2006/main" noGrp="1"/>
          </p:cNvSpPr>
          <p:nvPr/>
        </p:nvSpPr>
        <p:spPr>
          <a:xfrm xmlns:a="http://schemas.openxmlformats.org/drawingml/2006/main">
            <a:off x="2962275" y="4200525"/>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5000"/>
              </a:lnSpc>
              <a:buNone/>
              <a:defRPr sz="1350" b="1">
                <a:solidFill>
                  <a:srgbClr val="07090C"/>
                </a:solidFill>
                <a:latin typeface="DejaVu Sans Mono"/>
                <a:ea typeface="DejaVu Sans Mono"/>
                <a:cs typeface="DejaVu Sans Mono"/>
              </a:defRPr>
            </a:pPr>
            <a:r>
              <a:rPr sz="1350" b="1">
                <a:solidFill>
                  <a:srgbClr val="07090C"/>
                </a:solidFill>
                <a:latin typeface="DejaVu Sans Mono"/>
                <a:ea typeface="DejaVu Sans Mono"/>
                <a:cs typeface="DejaVu Sans Mono"/>
              </a:rPr>
              <a:t>2</a:t>
            </a:r>
          </a:p>
        </p:txBody>
      </p:sp>
      <p:sp>
        <p:nvSpPr>
          <p:cNvPr id="19" name="Rectangle 18">
            <a:extLst xmlns:a="http://schemas.openxmlformats.org/drawingml/2006/main">
              <a:ext uri="{FF2B5EF4-FFF2-40B4-BE49-F238E27FC236}">
                <a16:creationId xmlns:a16="http://schemas.microsoft.com/office/drawing/2014/main" id="{18824FC3-8972-4B71-85A6-1F91CF0EE6CD}"/>
              </a:ext>
            </a:extLst>
          </p:cNvPr>
          <p:cNvSpPr>
            <a:spLocks xmlns:a="http://schemas.openxmlformats.org/drawingml/2006/main" noGrp="1"/>
          </p:cNvSpPr>
          <p:nvPr/>
        </p:nvSpPr>
        <p:spPr>
          <a:xfrm xmlns:a="http://schemas.openxmlformats.org/drawingml/2006/main">
            <a:off x="3505200" y="407670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200" b="1">
                <a:solidFill>
                  <a:srgbClr val="39D7FF"/>
                </a:solidFill>
                <a:latin typeface="DejaVu Sans Mono"/>
                <a:ea typeface="DejaVu Sans Mono"/>
                <a:cs typeface="DejaVu Sans Mono"/>
              </a:defRPr>
            </a:pPr>
            <a:r>
              <a:rPr sz="1200" b="1">
                <a:solidFill>
                  <a:srgbClr val="39D7FF"/>
                </a:solidFill>
                <a:latin typeface="DejaVu Sans Mono"/>
                <a:ea typeface="DejaVu Sans Mono"/>
                <a:cs typeface="DejaVu Sans Mono"/>
              </a:rPr>
              <a:t>DEFINE</a:t>
            </a:r>
          </a:p>
        </p:txBody>
      </p:sp>
      <p:sp>
        <p:nvSpPr>
          <p:cNvPr id="20" name="Rectangle 19">
            <a:extLst xmlns:a="http://schemas.openxmlformats.org/drawingml/2006/main">
              <a:ext uri="{FF2B5EF4-FFF2-40B4-BE49-F238E27FC236}">
                <a16:creationId xmlns:a16="http://schemas.microsoft.com/office/drawing/2014/main" id="{4AB6C0CA-8195-4DF2-AFC0-0441B1B9ED9F}"/>
              </a:ext>
            </a:extLst>
          </p:cNvPr>
          <p:cNvSpPr>
            <a:spLocks xmlns:a="http://schemas.openxmlformats.org/drawingml/2006/main" noGrp="1"/>
          </p:cNvSpPr>
          <p:nvPr/>
        </p:nvSpPr>
        <p:spPr>
          <a:xfrm xmlns:a="http://schemas.openxmlformats.org/drawingml/2006/main">
            <a:off x="3428999" y="4542858"/>
            <a:ext cx="1533524" cy="16293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275" b="0">
                <a:solidFill>
                  <a:srgbClr val="F4F6F8"/>
                </a:solidFill>
                <a:latin typeface="DejaVu Sans"/>
                <a:ea typeface="DejaVu Sans"/>
                <a:cs typeface="DejaVu Sans"/>
              </a:defRPr>
            </a:pPr>
            <a:r>
              <a:rPr sz="1275" b="0">
                <a:solidFill>
                  <a:srgbClr val="F4F6F8"/>
                </a:solidFill>
                <a:latin typeface="DejaVu Sans"/>
                <a:ea typeface="DejaVu Sans"/>
                <a:cs typeface="DejaVu Sans"/>
              </a:rPr>
              <a:t>work products +</a:t>
            </a:r>
          </a:p>
          <a:p xmlns:a="http://schemas.openxmlformats.org/drawingml/2006/main">
            <a:pPr algn="l">
              <a:lnSpc>
                <a:spcPct val="100000"/>
              </a:lnSpc>
              <a:buNone/>
              <a:defRPr sz="1275" b="0">
                <a:solidFill>
                  <a:srgbClr val="F4F6F8"/>
                </a:solidFill>
                <a:latin typeface="DejaVu Sans"/>
                <a:ea typeface="DejaVu Sans"/>
                <a:cs typeface="DejaVu Sans"/>
              </a:defRPr>
            </a:pPr>
            <a:r>
              <a:rPr sz="1275" b="0">
                <a:solidFill>
                  <a:srgbClr val="F4F6F8"/>
                </a:solidFill>
                <a:latin typeface="DejaVu Sans"/>
                <a:ea typeface="DejaVu Sans"/>
                <a:cs typeface="DejaVu Sans"/>
              </a:rPr>
              <a:t>evidence classes</a:t>
            </a:r>
            <a:endParaRPr sz="1275" b="0">
              <a:solidFill>
                <a:srgbClr val="F4F6F8"/>
              </a:solidFill>
              <a:latin typeface="DejaVu Sans"/>
              <a:ea typeface="DejaVu Sans"/>
              <a:cs typeface="DejaVu Sans"/>
            </a:endParaRPr>
          </a:p>
          <a:p xmlns:a="http://schemas.openxmlformats.org/drawingml/2006/main">
            <a:pPr algn="l">
              <a:lnSpc>
                <a:spcPct val="100000"/>
              </a:lnSpc>
              <a:buNone/>
              <a:defRPr sz="1275" b="0">
                <a:solidFill>
                  <a:srgbClr val="F4F6F8"/>
                </a:solidFill>
                <a:latin typeface="DejaVu Sans"/>
                <a:ea typeface="DejaVu Sans"/>
                <a:cs typeface="DejaVu Sans"/>
              </a:defRPr>
            </a:pPr>
            <a:r>
              <a:rPr sz="1275">
                <a:solidFill>
                  <a:srgbClr val="F4F6F8"/>
                </a:solidFill>
                <a:latin typeface="DejaVu Sans"/>
                <a:ea typeface="DejaVu Sans"/>
                <a:cs typeface="DejaVu Sans"/>
              </a:rPr>
              <a:t>Define the goal the best you can and provide as much supporting information as you have.</a:t>
            </a:r>
            <a:endParaRPr sz="1275" b="0">
              <a:solidFill>
                <a:srgbClr val="F4F6F8"/>
              </a:solidFill>
              <a:latin typeface="DejaVu Sans"/>
              <a:ea typeface="DejaVu Sans"/>
              <a:cs typeface="DejaVu Sans"/>
            </a:endParaRPr>
          </a:p>
        </p:txBody>
      </p:sp>
      <p:sp>
        <p:nvSpPr>
          <p:cNvPr id="21" name="Oval 20">
            <a:extLst xmlns:a="http://schemas.openxmlformats.org/drawingml/2006/main">
              <a:ext uri="{FF2B5EF4-FFF2-40B4-BE49-F238E27FC236}">
                <a16:creationId xmlns:a16="http://schemas.microsoft.com/office/drawing/2014/main" id="{2D0B0B1D-3868-4EFC-9325-15E5441333D5}"/>
              </a:ext>
            </a:extLst>
          </p:cNvPr>
          <p:cNvSpPr>
            <a:spLocks xmlns:a="http://schemas.openxmlformats.org/drawingml/2006/main" noGrp="1"/>
          </p:cNvSpPr>
          <p:nvPr/>
        </p:nvSpPr>
        <p:spPr>
          <a:xfrm xmlns:a="http://schemas.openxmlformats.org/drawingml/2006/main">
            <a:off x="4876800" y="4648200"/>
            <a:ext cx="533400" cy="533400"/>
          </a:xfrm>
          <a:prstGeom xmlns:a="http://schemas.openxmlformats.org/drawingml/2006/main" prst="ellipse">
            <a:avLst/>
          </a:prstGeom>
          <a:solidFill xmlns:a="http://schemas.openxmlformats.org/drawingml/2006/main">
            <a:srgbClr val="39D7FF"/>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2" name="Rectangle 21">
            <a:extLst xmlns:a="http://schemas.openxmlformats.org/drawingml/2006/main">
              <a:ext uri="{FF2B5EF4-FFF2-40B4-BE49-F238E27FC236}">
                <a16:creationId xmlns:a16="http://schemas.microsoft.com/office/drawing/2014/main" id="{E204F29A-373C-4ECF-8FBB-0B1864143575}"/>
              </a:ext>
            </a:extLst>
          </p:cNvPr>
          <p:cNvSpPr>
            <a:spLocks xmlns:a="http://schemas.openxmlformats.org/drawingml/2006/main" noGrp="1"/>
          </p:cNvSpPr>
          <p:nvPr/>
        </p:nvSpPr>
        <p:spPr>
          <a:xfrm xmlns:a="http://schemas.openxmlformats.org/drawingml/2006/main">
            <a:off x="4981575" y="4752975"/>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5000"/>
              </a:lnSpc>
              <a:buNone/>
              <a:defRPr sz="1350" b="1">
                <a:solidFill>
                  <a:srgbClr val="07090C"/>
                </a:solidFill>
                <a:latin typeface="DejaVu Sans Mono"/>
                <a:ea typeface="DejaVu Sans Mono"/>
                <a:cs typeface="DejaVu Sans Mono"/>
              </a:defRPr>
            </a:pPr>
            <a:r>
              <a:rPr sz="1350" b="1">
                <a:solidFill>
                  <a:srgbClr val="07090C"/>
                </a:solidFill>
                <a:latin typeface="DejaVu Sans Mono"/>
                <a:ea typeface="DejaVu Sans Mono"/>
                <a:cs typeface="DejaVu Sans Mono"/>
              </a:rPr>
              <a:t>3</a:t>
            </a:r>
          </a:p>
        </p:txBody>
      </p:sp>
      <p:sp>
        <p:nvSpPr>
          <p:cNvPr id="23" name="Rectangle 22">
            <a:extLst xmlns:a="http://schemas.openxmlformats.org/drawingml/2006/main">
              <a:ext uri="{FF2B5EF4-FFF2-40B4-BE49-F238E27FC236}">
                <a16:creationId xmlns:a16="http://schemas.microsoft.com/office/drawing/2014/main" id="{91501F49-4227-48FC-AB3C-D4164292518C}"/>
              </a:ext>
            </a:extLst>
          </p:cNvPr>
          <p:cNvSpPr>
            <a:spLocks xmlns:a="http://schemas.openxmlformats.org/drawingml/2006/main" noGrp="1"/>
          </p:cNvSpPr>
          <p:nvPr/>
        </p:nvSpPr>
        <p:spPr>
          <a:xfrm xmlns:a="http://schemas.openxmlformats.org/drawingml/2006/main">
            <a:off x="5524500" y="462915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200" b="1">
                <a:solidFill>
                  <a:srgbClr val="39D7FF"/>
                </a:solidFill>
                <a:latin typeface="DejaVu Sans Mono"/>
                <a:ea typeface="DejaVu Sans Mono"/>
                <a:cs typeface="DejaVu Sans Mono"/>
              </a:defRPr>
            </a:pPr>
            <a:r>
              <a:rPr sz="1200" b="1">
                <a:solidFill>
                  <a:srgbClr val="39D7FF"/>
                </a:solidFill>
                <a:latin typeface="DejaVu Sans Mono"/>
                <a:ea typeface="DejaVu Sans Mono"/>
                <a:cs typeface="DejaVu Sans Mono"/>
              </a:rPr>
              <a:t>APPLY</a:t>
            </a:r>
            <a:endParaRPr sz="1200" b="1">
              <a:solidFill>
                <a:srgbClr val="39D7FF"/>
              </a:solidFill>
              <a:latin typeface="DejaVu Sans Mono"/>
              <a:ea typeface="DejaVu Sans Mono"/>
              <a:cs typeface="DejaVu Sans Mono"/>
            </a:endParaRPr>
          </a:p>
        </p:txBody>
      </p:sp>
      <p:sp>
        <p:nvSpPr>
          <p:cNvPr id="24" name="Rectangle 23">
            <a:extLst xmlns:a="http://schemas.openxmlformats.org/drawingml/2006/main">
              <a:ext uri="{FF2B5EF4-FFF2-40B4-BE49-F238E27FC236}">
                <a16:creationId xmlns:a16="http://schemas.microsoft.com/office/drawing/2014/main" id="{48EF7869-8365-4521-955A-BAC5CC689325}"/>
              </a:ext>
            </a:extLst>
          </p:cNvPr>
          <p:cNvSpPr>
            <a:spLocks xmlns:a="http://schemas.openxmlformats.org/drawingml/2006/main" noGrp="1"/>
          </p:cNvSpPr>
          <p:nvPr/>
        </p:nvSpPr>
        <p:spPr>
          <a:xfrm xmlns:a="http://schemas.openxmlformats.org/drawingml/2006/main">
            <a:off x="5457825" y="5048250"/>
            <a:ext cx="17526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275" b="0">
                <a:solidFill>
                  <a:srgbClr val="F4F6F8"/>
                </a:solidFill>
                <a:latin typeface="DejaVu Sans"/>
                <a:ea typeface="DejaVu Sans"/>
                <a:cs typeface="DejaVu Sans"/>
              </a:defRPr>
            </a:pPr>
            <a:r>
              <a:rPr sz="1275" b="0">
                <a:solidFill>
                  <a:srgbClr val="F4F6F8"/>
                </a:solidFill>
                <a:latin typeface="DejaVu Sans"/>
                <a:ea typeface="DejaVu Sans"/>
                <a:cs typeface="DejaVu Sans"/>
              </a:rPr>
              <a:t>Use the best harness you have available and then give it a set of aerospace specific science and engineer  skills and agents. a</a:t>
            </a:r>
            <a:r>
              <a:rPr sz="1275">
                <a:solidFill>
                  <a:srgbClr val="F4F6F8"/>
                </a:solidFill>
                <a:latin typeface="DejaVu Sans"/>
                <a:ea typeface="DejaVu Sans"/>
                <a:cs typeface="DejaVu Sans"/>
              </a:rPr>
              <a:t>nd mission</a:t>
            </a:r>
            <a:r>
              <a:rPr sz="1275" b="0">
                <a:solidFill>
                  <a:srgbClr val="F4F6F8"/>
                </a:solidFill>
                <a:latin typeface="DejaVu Sans"/>
                <a:ea typeface="DejaVu Sans"/>
                <a:cs typeface="DejaVu Sans"/>
              </a:rPr>
              <a:t> memory</a:t>
            </a:r>
          </a:p>
        </p:txBody>
      </p:sp>
      <p:sp>
        <p:nvSpPr>
          <p:cNvPr id="25" name="Oval 24">
            <a:extLst xmlns:a="http://schemas.openxmlformats.org/drawingml/2006/main">
              <a:ext uri="{FF2B5EF4-FFF2-40B4-BE49-F238E27FC236}">
                <a16:creationId xmlns:a16="http://schemas.microsoft.com/office/drawing/2014/main" id="{FBFC5158-9B1F-43F9-AF1D-30B4B7D35ACA}"/>
              </a:ext>
            </a:extLst>
          </p:cNvPr>
          <p:cNvSpPr>
            <a:spLocks xmlns:a="http://schemas.openxmlformats.org/drawingml/2006/main" noGrp="1"/>
          </p:cNvSpPr>
          <p:nvPr/>
        </p:nvSpPr>
        <p:spPr>
          <a:xfrm xmlns:a="http://schemas.openxmlformats.org/drawingml/2006/main">
            <a:off x="7086600" y="3333750"/>
            <a:ext cx="533400" cy="533400"/>
          </a:xfrm>
          <a:prstGeom xmlns:a="http://schemas.openxmlformats.org/drawingml/2006/main" prst="ellipse">
            <a:avLst/>
          </a:prstGeom>
          <a:solidFill xmlns:a="http://schemas.openxmlformats.org/drawingml/2006/main">
            <a:srgbClr val="62D6A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6" name="Rectangle 25">
            <a:extLst xmlns:a="http://schemas.openxmlformats.org/drawingml/2006/main">
              <a:ext uri="{FF2B5EF4-FFF2-40B4-BE49-F238E27FC236}">
                <a16:creationId xmlns:a16="http://schemas.microsoft.com/office/drawing/2014/main" id="{4B73FE88-F107-4EF6-9C42-DF185B8B12C5}"/>
              </a:ext>
            </a:extLst>
          </p:cNvPr>
          <p:cNvSpPr>
            <a:spLocks xmlns:a="http://schemas.openxmlformats.org/drawingml/2006/main" noGrp="1"/>
          </p:cNvSpPr>
          <p:nvPr/>
        </p:nvSpPr>
        <p:spPr>
          <a:xfrm xmlns:a="http://schemas.openxmlformats.org/drawingml/2006/main">
            <a:off x="7191375" y="3438525"/>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5000"/>
              </a:lnSpc>
              <a:buNone/>
              <a:defRPr sz="1350" b="1">
                <a:solidFill>
                  <a:srgbClr val="07090C"/>
                </a:solidFill>
                <a:latin typeface="DejaVu Sans Mono"/>
                <a:ea typeface="DejaVu Sans Mono"/>
                <a:cs typeface="DejaVu Sans Mono"/>
              </a:defRPr>
            </a:pPr>
            <a:r>
              <a:rPr sz="1350" b="1">
                <a:solidFill>
                  <a:srgbClr val="07090C"/>
                </a:solidFill>
                <a:latin typeface="DejaVu Sans Mono"/>
                <a:ea typeface="DejaVu Sans Mono"/>
                <a:cs typeface="DejaVu Sans Mono"/>
              </a:rPr>
              <a:t>4</a:t>
            </a:r>
          </a:p>
        </p:txBody>
      </p:sp>
      <p:sp>
        <p:nvSpPr>
          <p:cNvPr id="27" name="Rectangle 26">
            <a:extLst xmlns:a="http://schemas.openxmlformats.org/drawingml/2006/main">
              <a:ext uri="{FF2B5EF4-FFF2-40B4-BE49-F238E27FC236}">
                <a16:creationId xmlns:a16="http://schemas.microsoft.com/office/drawing/2014/main" id="{C8413C04-B09A-4A6C-B6C2-B550C1829D1A}"/>
              </a:ext>
            </a:extLst>
          </p:cNvPr>
          <p:cNvSpPr>
            <a:spLocks xmlns:a="http://schemas.openxmlformats.org/drawingml/2006/main" noGrp="1"/>
          </p:cNvSpPr>
          <p:nvPr/>
        </p:nvSpPr>
        <p:spPr>
          <a:xfrm xmlns:a="http://schemas.openxmlformats.org/drawingml/2006/main">
            <a:off x="7734300" y="331470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200" b="1">
                <a:solidFill>
                  <a:srgbClr val="62D6A7"/>
                </a:solidFill>
                <a:latin typeface="DejaVu Sans Mono"/>
                <a:ea typeface="DejaVu Sans Mono"/>
                <a:cs typeface="DejaVu Sans Mono"/>
              </a:defRPr>
            </a:pPr>
            <a:r>
              <a:rPr sz="1200" b="1">
                <a:solidFill>
                  <a:srgbClr val="62D6A7"/>
                </a:solidFill>
                <a:latin typeface="DejaVu Sans Mono"/>
                <a:ea typeface="DejaVu Sans Mono"/>
                <a:cs typeface="DejaVu Sans Mono"/>
              </a:rPr>
              <a:t>VALIDATE</a:t>
            </a:r>
          </a:p>
        </p:txBody>
      </p:sp>
      <p:sp>
        <p:nvSpPr>
          <p:cNvPr id="28" name="Rectangle 27">
            <a:extLst xmlns:a="http://schemas.openxmlformats.org/drawingml/2006/main">
              <a:ext uri="{FF2B5EF4-FFF2-40B4-BE49-F238E27FC236}">
                <a16:creationId xmlns:a16="http://schemas.microsoft.com/office/drawing/2014/main" id="{0F842581-A859-4828-8FDA-CA25DF5AFBA3}"/>
              </a:ext>
            </a:extLst>
          </p:cNvPr>
          <p:cNvSpPr>
            <a:spLocks xmlns:a="http://schemas.openxmlformats.org/drawingml/2006/main" noGrp="1"/>
          </p:cNvSpPr>
          <p:nvPr/>
        </p:nvSpPr>
        <p:spPr>
          <a:xfrm xmlns:a="http://schemas.openxmlformats.org/drawingml/2006/main">
            <a:off x="7772400" y="3752850"/>
            <a:ext cx="17526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275" b="0">
                <a:solidFill>
                  <a:srgbClr val="F4F6F8"/>
                </a:solidFill>
                <a:latin typeface="DejaVu Sans"/>
                <a:ea typeface="DejaVu Sans"/>
                <a:cs typeface="DejaVu Sans"/>
              </a:defRPr>
            </a:pPr>
            <a:r>
              <a:rPr sz="1275" b="0">
                <a:solidFill>
                  <a:srgbClr val="F4F6F8"/>
                </a:solidFill>
                <a:latin typeface="DejaVu Sans"/>
                <a:ea typeface="DejaVu Sans"/>
                <a:cs typeface="DejaVu Sans"/>
              </a:rPr>
              <a:t>expert baseline +</a:t>
            </a:r>
          </a:p>
          <a:p xmlns:a="http://schemas.openxmlformats.org/drawingml/2006/main">
            <a:pPr algn="l">
              <a:lnSpc>
                <a:spcPct val="100000"/>
              </a:lnSpc>
              <a:buNone/>
              <a:defRPr sz="1275" b="0">
                <a:solidFill>
                  <a:srgbClr val="F4F6F8"/>
                </a:solidFill>
                <a:latin typeface="DejaVu Sans"/>
                <a:ea typeface="DejaVu Sans"/>
                <a:cs typeface="DejaVu Sans"/>
              </a:defRPr>
            </a:pPr>
            <a:r>
              <a:rPr sz="1275" b="0">
                <a:solidFill>
                  <a:srgbClr val="F4F6F8"/>
                </a:solidFill>
                <a:latin typeface="DejaVu Sans"/>
                <a:ea typeface="DejaVu Sans"/>
                <a:cs typeface="DejaVu Sans"/>
              </a:rPr>
              <a:t>failed cases</a:t>
            </a:r>
            <a:r>
              <a:rPr sz="1275" b="0">
                <a:solidFill>
                  <a:srgbClr val="F4F6F8"/>
                </a:solidFill>
                <a:latin typeface="DejaVu Sans"/>
                <a:ea typeface="DejaVu Sans"/>
                <a:cs typeface="DejaVu Sans"/>
              </a:rPr>
              <a:t>. Use Human in the loop and review the results regenerate results where needed.</a:t>
            </a:r>
            <a:endParaRPr sz="1275" b="0">
              <a:solidFill>
                <a:srgbClr val="F4F6F8"/>
              </a:solidFill>
              <a:latin typeface="DejaVu Sans"/>
              <a:ea typeface="DejaVu Sans"/>
              <a:cs typeface="DejaVu Sans"/>
            </a:endParaRPr>
          </a:p>
        </p:txBody>
      </p:sp>
      <p:sp>
        <p:nvSpPr>
          <p:cNvPr id="29" name="Oval 28">
            <a:extLst xmlns:a="http://schemas.openxmlformats.org/drawingml/2006/main">
              <a:ext uri="{FF2B5EF4-FFF2-40B4-BE49-F238E27FC236}">
                <a16:creationId xmlns:a16="http://schemas.microsoft.com/office/drawing/2014/main" id="{8CE5998E-C063-4F95-9612-C1BBC88216EF}"/>
              </a:ext>
            </a:extLst>
          </p:cNvPr>
          <p:cNvSpPr>
            <a:spLocks xmlns:a="http://schemas.openxmlformats.org/drawingml/2006/main" noGrp="1"/>
          </p:cNvSpPr>
          <p:nvPr/>
        </p:nvSpPr>
        <p:spPr>
          <a:xfrm xmlns:a="http://schemas.openxmlformats.org/drawingml/2006/main">
            <a:off x="9582150" y="2400300"/>
            <a:ext cx="533400" cy="533400"/>
          </a:xfrm>
          <a:prstGeom xmlns:a="http://schemas.openxmlformats.org/drawingml/2006/main" prst="ellipse">
            <a:avLst/>
          </a:prstGeom>
          <a:solidFill xmlns:a="http://schemas.openxmlformats.org/drawingml/2006/main">
            <a:srgbClr val="FFC85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0" name="Rectangle 29">
            <a:extLst xmlns:a="http://schemas.openxmlformats.org/drawingml/2006/main">
              <a:ext uri="{FF2B5EF4-FFF2-40B4-BE49-F238E27FC236}">
                <a16:creationId xmlns:a16="http://schemas.microsoft.com/office/drawing/2014/main" id="{AF6DD4F6-3422-4707-8D44-C76A6357B5D2}"/>
              </a:ext>
            </a:extLst>
          </p:cNvPr>
          <p:cNvSpPr>
            <a:spLocks xmlns:a="http://schemas.openxmlformats.org/drawingml/2006/main" noGrp="1"/>
          </p:cNvSpPr>
          <p:nvPr/>
        </p:nvSpPr>
        <p:spPr>
          <a:xfrm xmlns:a="http://schemas.openxmlformats.org/drawingml/2006/main">
            <a:off x="9686925" y="2505075"/>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5000"/>
              </a:lnSpc>
              <a:buNone/>
              <a:defRPr sz="1350" b="1">
                <a:solidFill>
                  <a:srgbClr val="07090C"/>
                </a:solidFill>
                <a:latin typeface="DejaVu Sans Mono"/>
                <a:ea typeface="DejaVu Sans Mono"/>
                <a:cs typeface="DejaVu Sans Mono"/>
              </a:defRPr>
            </a:pPr>
            <a:r>
              <a:rPr sz="1350" b="1">
                <a:solidFill>
                  <a:srgbClr val="07090C"/>
                </a:solidFill>
                <a:latin typeface="DejaVu Sans Mono"/>
                <a:ea typeface="DejaVu Sans Mono"/>
                <a:cs typeface="DejaVu Sans Mono"/>
              </a:rPr>
              <a:t>5</a:t>
            </a:r>
          </a:p>
        </p:txBody>
      </p:sp>
      <p:sp>
        <p:nvSpPr>
          <p:cNvPr id="31" name="Rectangle 30">
            <a:extLst xmlns:a="http://schemas.openxmlformats.org/drawingml/2006/main">
              <a:ext uri="{FF2B5EF4-FFF2-40B4-BE49-F238E27FC236}">
                <a16:creationId xmlns:a16="http://schemas.microsoft.com/office/drawing/2014/main" id="{369F1552-F626-4671-97E9-CA8376AF2583}"/>
              </a:ext>
            </a:extLst>
          </p:cNvPr>
          <p:cNvSpPr>
            <a:spLocks xmlns:a="http://schemas.openxmlformats.org/drawingml/2006/main" noGrp="1"/>
          </p:cNvSpPr>
          <p:nvPr/>
        </p:nvSpPr>
        <p:spPr>
          <a:xfrm xmlns:a="http://schemas.openxmlformats.org/drawingml/2006/main">
            <a:off x="10229850" y="238125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200" b="1">
                <a:solidFill>
                  <a:srgbClr val="FFC857"/>
                </a:solidFill>
                <a:latin typeface="DejaVu Sans Mono"/>
                <a:ea typeface="DejaVu Sans Mono"/>
                <a:cs typeface="DejaVu Sans Mono"/>
              </a:defRPr>
            </a:pPr>
            <a:r>
              <a:rPr sz="1200" b="1">
                <a:solidFill>
                  <a:srgbClr val="FFC857"/>
                </a:solidFill>
                <a:latin typeface="DejaVu Sans Mono"/>
                <a:ea typeface="DejaVu Sans Mono"/>
                <a:cs typeface="DejaVu Sans Mono"/>
              </a:rPr>
              <a:t>DEPLOY</a:t>
            </a:r>
            <a:endParaRPr sz="1200" b="1">
              <a:solidFill>
                <a:srgbClr val="FFC857"/>
              </a:solidFill>
              <a:latin typeface="DejaVu Sans Mono"/>
              <a:ea typeface="DejaVu Sans Mono"/>
              <a:cs typeface="DejaVu Sans Mono"/>
            </a:endParaRPr>
          </a:p>
        </p:txBody>
      </p:sp>
      <p:sp>
        <p:nvSpPr>
          <p:cNvPr id="32" name="Rectangle 31">
            <a:extLst xmlns:a="http://schemas.openxmlformats.org/drawingml/2006/main">
              <a:ext uri="{FF2B5EF4-FFF2-40B4-BE49-F238E27FC236}">
                <a16:creationId xmlns:a16="http://schemas.microsoft.com/office/drawing/2014/main" id="{5187AEA8-7F6A-4DE4-AA53-7F9E1416696E}"/>
              </a:ext>
            </a:extLst>
          </p:cNvPr>
          <p:cNvSpPr>
            <a:spLocks xmlns:a="http://schemas.openxmlformats.org/drawingml/2006/main" noGrp="1"/>
          </p:cNvSpPr>
          <p:nvPr/>
        </p:nvSpPr>
        <p:spPr>
          <a:xfrm xmlns:a="http://schemas.openxmlformats.org/drawingml/2006/main">
            <a:off x="10229850" y="2667000"/>
            <a:ext cx="1619248"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275" b="0">
                <a:solidFill>
                  <a:srgbClr val="F4F6F8"/>
                </a:solidFill>
                <a:latin typeface="DejaVu Sans"/>
                <a:ea typeface="DejaVu Sans"/>
                <a:cs typeface="DejaVu Sans"/>
              </a:defRPr>
            </a:pPr>
            <a:r>
              <a:rPr sz="1275" b="0">
                <a:solidFill>
                  <a:srgbClr val="F4F6F8"/>
                </a:solidFill>
                <a:latin typeface="DejaVu Sans"/>
                <a:ea typeface="DejaVu Sans"/>
                <a:cs typeface="DejaVu Sans"/>
              </a:rPr>
              <a:t>Use Ai Driven Project Planning using the work product from the validated design results. Then Deploy per the plan and use Ai to look for risk, track progress and predict blockers.</a:t>
            </a:r>
            <a:endParaRPr sz="1275" b="0">
              <a:solidFill>
                <a:srgbClr val="F4F6F8"/>
              </a:solidFill>
              <a:latin typeface="DejaVu Sans"/>
              <a:ea typeface="DejaVu Sans"/>
              <a:cs typeface="DejaVu Sans"/>
            </a:endParaRPr>
          </a:p>
        </p:txBody>
      </p:sp>
      <p:sp>
        <p:nvSpPr>
          <p:cNvPr id="33" name="Rectangle: Rounded Corners 32">
            <a:extLst xmlns:a="http://schemas.openxmlformats.org/drawingml/2006/main">
              <a:ext uri="{FF2B5EF4-FFF2-40B4-BE49-F238E27FC236}">
                <a16:creationId xmlns:a16="http://schemas.microsoft.com/office/drawing/2014/main" id="{47F3DD03-0B00-4343-8D6A-F3002CB09CCA}"/>
              </a:ext>
            </a:extLst>
          </p:cNvPr>
          <p:cNvSpPr>
            <a:spLocks xmlns:a="http://schemas.openxmlformats.org/drawingml/2006/main" noGrp="1"/>
          </p:cNvSpPr>
          <p:nvPr/>
        </p:nvSpPr>
        <p:spPr>
          <a:xfrm xmlns:a="http://schemas.openxmlformats.org/drawingml/2006/main">
            <a:off x="685800" y="2171699"/>
            <a:ext cx="4191000" cy="1466847"/>
          </a:xfrm>
          <a:prstGeom xmlns:a="http://schemas.openxmlformats.org/drawingml/2006/main" prst="roundRect">
            <a:avLst>
              <a:gd name="adj" fmla="val 15000"/>
            </a:avLst>
          </a:prstGeom>
          <a:solidFill xmlns:a="http://schemas.openxmlformats.org/drawingml/2006/main">
            <a:srgbClr val="10161B"/>
          </a:solidFill>
          <a:ln xmlns:a="http://schemas.openxmlformats.org/drawingml/2006/main" w="11430">
            <a:solidFill>
              <a:srgbClr val="35414B"/>
            </a:solidFill>
            <a:prstDash val="solid"/>
          </a:ln>
        </p:spPr>
        <p:txBody>
          <a:bodyPr xmlns:a="http://schemas.openxmlformats.org/drawingml/2006/main"/>
          <a:lstStyle xmlns:a="http://schemas.openxmlformats.org/drawingml/2006/main"/>
          <a:p xmlns:a="http://schemas.openxmlformats.org/drawingml/2006/main">
            <a:endParaRPr/>
          </a:p>
        </p:txBody>
      </p:sp>
      <p:sp>
        <p:nvSpPr>
          <p:cNvPr id="34" name="Rectangle 33">
            <a:extLst xmlns:a="http://schemas.openxmlformats.org/drawingml/2006/main">
              <a:ext uri="{FF2B5EF4-FFF2-40B4-BE49-F238E27FC236}">
                <a16:creationId xmlns:a16="http://schemas.microsoft.com/office/drawing/2014/main" id="{8E84775B-B5EA-4932-B435-E47B6C2264A4}"/>
              </a:ext>
            </a:extLst>
          </p:cNvPr>
          <p:cNvSpPr>
            <a:spLocks xmlns:a="http://schemas.openxmlformats.org/drawingml/2006/main" noGrp="1"/>
          </p:cNvSpPr>
          <p:nvPr/>
        </p:nvSpPr>
        <p:spPr>
          <a:xfrm xmlns:a="http://schemas.openxmlformats.org/drawingml/2006/main">
            <a:off x="914400" y="2381250"/>
            <a:ext cx="1143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75" b="1">
                <a:solidFill>
                  <a:srgbClr val="F26B38"/>
                </a:solidFill>
                <a:latin typeface="DejaVu Sans Mono"/>
                <a:ea typeface="DejaVu Sans Mono"/>
                <a:cs typeface="DejaVu Sans Mono"/>
              </a:defRPr>
            </a:pPr>
            <a:r>
              <a:rPr sz="975" b="1">
                <a:solidFill>
                  <a:srgbClr val="F26B38"/>
                </a:solidFill>
                <a:latin typeface="DejaVu Sans Mono"/>
                <a:ea typeface="DejaVu Sans Mono"/>
                <a:cs typeface="DejaVu Sans Mono"/>
              </a:rPr>
              <a:t>FIRST WIN</a:t>
            </a:r>
          </a:p>
        </p:txBody>
      </p:sp>
      <p:sp>
        <p:nvSpPr>
          <p:cNvPr id="35" name="Rectangle 34">
            <a:extLst xmlns:a="http://schemas.openxmlformats.org/drawingml/2006/main">
              <a:ext uri="{FF2B5EF4-FFF2-40B4-BE49-F238E27FC236}">
                <a16:creationId xmlns:a16="http://schemas.microsoft.com/office/drawing/2014/main" id="{C2D1DA3F-DA24-49AE-A16A-EFF91DD059DE}"/>
              </a:ext>
            </a:extLst>
          </p:cNvPr>
          <p:cNvSpPr>
            <a:spLocks xmlns:a="http://schemas.openxmlformats.org/drawingml/2006/main" noGrp="1"/>
          </p:cNvSpPr>
          <p:nvPr/>
        </p:nvSpPr>
        <p:spPr>
          <a:xfrm xmlns:a="http://schemas.openxmlformats.org/drawingml/2006/main">
            <a:off x="914400" y="2686050"/>
            <a:ext cx="36004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650" b="1">
                <a:solidFill>
                  <a:srgbClr val="F4F6F8"/>
                </a:solidFill>
                <a:latin typeface="DejaVu Sans"/>
                <a:ea typeface="DejaVu Sans"/>
                <a:cs typeface="DejaVu Sans"/>
              </a:defRPr>
            </a:pPr>
            <a:r>
              <a:rPr sz="1650" b="1">
                <a:solidFill>
                  <a:srgbClr val="F4F6F8"/>
                </a:solidFill>
                <a:latin typeface="DejaVu Sans"/>
                <a:ea typeface="DejaVu Sans"/>
                <a:cs typeface="DejaVu Sans"/>
              </a:rPr>
              <a:t>One high-value learning loop</a:t>
            </a:r>
          </a:p>
          <a:p xmlns:a="http://schemas.openxmlformats.org/drawingml/2006/main">
            <a:pPr algn="l">
              <a:lnSpc>
                <a:spcPct val="100000"/>
              </a:lnSpc>
              <a:buNone/>
              <a:defRPr sz="1650" b="1">
                <a:solidFill>
                  <a:srgbClr val="F4F6F8"/>
                </a:solidFill>
                <a:latin typeface="DejaVu Sans"/>
                <a:ea typeface="DejaVu Sans"/>
                <a:cs typeface="DejaVu Sans"/>
              </a:defRPr>
            </a:pPr>
            <a:r>
              <a:rPr sz="1650" b="1">
                <a:solidFill>
                  <a:srgbClr val="F4F6F8"/>
                </a:solidFill>
                <a:latin typeface="DejaVu Sans"/>
                <a:ea typeface="DejaVu Sans"/>
                <a:cs typeface="DejaVu Sans"/>
              </a:rPr>
              <a:t>with evidence that survives review.</a:t>
            </a:r>
          </a:p>
        </p:txBody>
      </p:sp>
      <p:sp>
        <p:nvSpPr>
          <p:cNvPr id="36" name="Rectangle: Rounded Corners 35">
            <a:extLst xmlns:a="http://schemas.openxmlformats.org/drawingml/2006/main">
              <a:ext uri="{FF2B5EF4-FFF2-40B4-BE49-F238E27FC236}">
                <a16:creationId xmlns:a16="http://schemas.microsoft.com/office/drawing/2014/main" id="{E85B7B48-C069-42BE-B979-DD8F69E440C0}"/>
              </a:ext>
            </a:extLst>
          </p:cNvPr>
          <p:cNvSpPr>
            <a:spLocks xmlns:a="http://schemas.openxmlformats.org/drawingml/2006/main" noGrp="1"/>
          </p:cNvSpPr>
          <p:nvPr/>
        </p:nvSpPr>
        <p:spPr>
          <a:xfrm xmlns:a="http://schemas.openxmlformats.org/drawingml/2006/main">
            <a:off x="7858125" y="5410197"/>
            <a:ext cx="3657600" cy="762000"/>
          </a:xfrm>
          <a:prstGeom xmlns:a="http://schemas.openxmlformats.org/drawingml/2006/main" prst="roundRect">
            <a:avLst>
              <a:gd name="adj" fmla="val 17500"/>
            </a:avLst>
          </a:prstGeom>
          <a:solidFill xmlns:a="http://schemas.openxmlformats.org/drawingml/2006/main">
            <a:srgbClr val="0F1519"/>
          </a:solidFill>
          <a:ln xmlns:a="http://schemas.openxmlformats.org/drawingml/2006/main" w="9525">
            <a:solidFill>
              <a:srgbClr val="35414B"/>
            </a:solidFill>
            <a:prstDash val="solid"/>
          </a:ln>
        </p:spPr>
        <p:txBody>
          <a:bodyPr xmlns:a="http://schemas.openxmlformats.org/drawingml/2006/main"/>
          <a:lstStyle xmlns:a="http://schemas.openxmlformats.org/drawingml/2006/main"/>
          <a:p xmlns:a="http://schemas.openxmlformats.org/drawingml/2006/main">
            <a:r>
              <a:rPr sz="1400">
                <a:solidFill>
                  <a:srgbClr val="00B0F0"/>
                </a:solidFill>
              </a:rPr>
              <a:t>When you have blockers in the design or deploy phase go back to first principles and use the science harness to find solutions</a:t>
            </a:r>
            <a:r>
              <a:rPr>
                <a:solidFill>
                  <a:srgbClr val="00B0F0"/>
                </a:solidFill>
              </a:rPr>
              <a:t>.</a:t>
            </a:r>
            <a:endParaRPr>
              <a:solidFill>
                <a:srgbClr val="00B0F0"/>
              </a:solidFill>
            </a:endParaRPr>
          </a:p>
        </p:txBody>
      </p:sp>
      <p:sp>
        <p:nvSpPr>
          <p:cNvPr id="38" name="Rectangle 37">
            <a:extLst xmlns:a="http://schemas.openxmlformats.org/drawingml/2006/main">
              <a:ext uri="{FF2B5EF4-FFF2-40B4-BE49-F238E27FC236}">
                <a16:creationId xmlns:a16="http://schemas.microsoft.com/office/drawing/2014/main" id="{35A2DD93-B12F-497B-A7BE-6E0A27090000}"/>
              </a:ext>
            </a:extLst>
          </p:cNvPr>
          <p:cNvSpPr>
            <a:spLocks xmlns:a="http://schemas.openxmlformats.org/drawingml/2006/main" noGrp="1"/>
          </p:cNvSpPr>
          <p:nvPr/>
        </p:nvSpPr>
        <p:spPr>
          <a:xfrm xmlns:a="http://schemas.openxmlformats.org/drawingml/2006/main">
            <a:off x="0" y="6400800"/>
            <a:ext cx="12192000" cy="457200"/>
          </a:xfrm>
          <a:prstGeom xmlns:a="http://schemas.openxmlformats.org/drawingml/2006/main" prst="rect">
            <a:avLst/>
          </a:prstGeom>
          <a:solidFill xmlns:a="http://schemas.openxmlformats.org/drawingml/2006/main">
            <a:srgbClr val="07090C">
              <a:alpha val="76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9" name="Rectangle 38">
            <a:extLst xmlns:a="http://schemas.openxmlformats.org/drawingml/2006/main">
              <a:ext uri="{FF2B5EF4-FFF2-40B4-BE49-F238E27FC236}">
                <a16:creationId xmlns:a16="http://schemas.microsoft.com/office/drawing/2014/main" id="{717F724D-772E-46F5-8B0F-F4D8D5616846}"/>
              </a:ext>
            </a:extLst>
          </p:cNvPr>
          <p:cNvSpPr>
            <a:spLocks xmlns:a="http://schemas.openxmlformats.org/drawingml/2006/main" noGrp="1"/>
          </p:cNvSpPr>
          <p:nvPr/>
        </p:nvSpPr>
        <p:spPr>
          <a:xfrm xmlns:a="http://schemas.openxmlformats.org/drawingml/2006/main">
            <a:off x="609600" y="6553200"/>
            <a:ext cx="68580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MARS SOCIETY 2026  •  HARNESSED AGENTIC SCIENCE + ENGINEERING</a:t>
            </a:r>
          </a:p>
        </p:txBody>
      </p:sp>
      <p:sp>
        <p:nvSpPr>
          <p:cNvPr id="40" name="Rectangle 39">
            <a:extLst xmlns:a="http://schemas.openxmlformats.org/drawingml/2006/main">
              <a:ext uri="{FF2B5EF4-FFF2-40B4-BE49-F238E27FC236}">
                <a16:creationId xmlns:a16="http://schemas.microsoft.com/office/drawing/2014/main" id="{D994E301-D4AE-4DDE-8126-85C8AD5DCC40}"/>
              </a:ext>
            </a:extLst>
          </p:cNvPr>
          <p:cNvSpPr>
            <a:spLocks xmlns:a="http://schemas.openxmlformats.org/drawingml/2006/main" noGrp="1"/>
          </p:cNvSpPr>
          <p:nvPr/>
        </p:nvSpPr>
        <p:spPr>
          <a:xfrm xmlns:a="http://schemas.openxmlformats.org/drawingml/2006/main">
            <a:off x="9525000" y="6553200"/>
            <a:ext cx="20574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BOB J MILLS     21</a:t>
            </a:r>
          </a:p>
        </p:txBody>
      </p:sp>
    </p:spTree>
    <p:extLst>
      <p:ext uri="{BB962C8B-B14F-4D97-AF65-F5344CB8AC3E}">
        <p14:creationId xmlns:p14="http://schemas.microsoft.com/office/powerpoint/2010/main" val="1611646966"/>
      </p:ext>
    </p:extLst>
  </p:cSld>
</p:sld>
</file>

<file path=ppt/slides/slide22.xml><?xml version="1.0" encoding="utf-8"?>
<p:sld xmlns:p="http://schemas.openxmlformats.org/presentationml/2006/main">
  <p:cSld>
    <p:bg>
      <p:bgPr>
        <a:solidFill xmlns:a="http://schemas.openxmlformats.org/drawingml/2006/main">
          <a:srgbClr val="07090C"/>
        </a:solidFill>
      </p:bgPr>
    </p:bg>
    <p:spTree>
      <p:nvGrpSpPr>
        <p:cNvPr id="1" name=""/>
        <p:cNvGrpSpPr/>
        <p:nvPr/>
      </p:nvGrpSpPr>
      <p:grpSpPr>
        <a:xfrm xmlns:a="http://schemas.openxmlformats.org/drawingml/2006/main"/>
      </p:grpSpPr>
      <p:pic>
        <p:nvPicPr>
          <p:cNvPr id="48" name="Picture 20"/>
          <p:cNvPicPr>
            <a:picLocks xmlns:a="http://schemas.openxmlformats.org/drawingml/2006/main" noChangeAspect="1"/>
          </p:cNvPicPr>
          <p:nvPr/>
        </p:nvPicPr>
        <p:blipFill>
          <a:blip xmlns:r="http://schemas.openxmlformats.org/officeDocument/2006/relationships" xmlns:a="http://schemas.openxmlformats.org/drawingml/2006/main" r:embed="R418fad112e454264"/>
          <a:srcRect xmlns:a="http://schemas.openxmlformats.org/drawingml/2006/main" l="0" t="27" r="0" b="27"/>
          <a:stretch xmlns:a="http://schemas.openxmlformats.org/drawingml/2006/main">
            <a:fillRect l="0" t="0" r="0" b="0"/>
          </a:stretch>
        </p:blipFill>
        <p:spPr>
          <a:xfrm xmlns:a="http://schemas.openxmlformats.org/drawingml/2006/main">
            <a:off x="0" y="-79083"/>
            <a:ext cx="12192000" cy="6858000"/>
          </a:xfrm>
          <a:prstGeom xmlns:a="http://schemas.openxmlformats.org/drawingml/2006/main" prst="rect">
            <a:avLst/>
          </a:prstGeom>
        </p:spPr>
      </p:pic>
      <p:sp>
        <p:nvSpPr>
          <p:cNvPr id="3" name="Rectangle 2">
            <a:extLst xmlns:a="http://schemas.openxmlformats.org/drawingml/2006/main">
              <a:ext uri="{FF2B5EF4-FFF2-40B4-BE49-F238E27FC236}">
                <a16:creationId xmlns:a16="http://schemas.microsoft.com/office/drawing/2014/main" id="{E4D20AB2-ED38-4E04-A9DA-82A75170BF08}"/>
              </a:ext>
            </a:extLst>
          </p:cNvPr>
          <p:cNvSpPr>
            <a:spLocks xmlns:a="http://schemas.openxmlformats.org/drawingml/2006/main" noGrp="1"/>
          </p:cNvSpPr>
          <p:nvPr/>
        </p:nvSpPr>
        <p:spPr>
          <a:xfrm xmlns:a="http://schemas.openxmlformats.org/drawingml/2006/main">
            <a:off x="609600" y="40005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75" b="1">
                <a:solidFill>
                  <a:srgbClr val="F26B38"/>
                </a:solidFill>
                <a:latin typeface="DejaVu Sans Mono"/>
                <a:ea typeface="DejaVu Sans Mono"/>
                <a:cs typeface="DejaVu Sans Mono"/>
              </a:defRPr>
            </a:pPr>
            <a:r>
              <a:rPr sz="975" b="1">
                <a:solidFill>
                  <a:srgbClr val="F26B38"/>
                </a:solidFill>
                <a:latin typeface="DejaVu Sans Mono"/>
                <a:ea typeface="DejaVu Sans Mono"/>
                <a:cs typeface="DejaVu Sans Mono"/>
              </a:rPr>
              <a:t>22  /  CALL TO ACTION</a:t>
            </a:r>
          </a:p>
        </p:txBody>
      </p:sp>
      <p:sp>
        <p:nvSpPr>
          <p:cNvPr id="4" name="Rectangle 3">
            <a:extLst xmlns:a="http://schemas.openxmlformats.org/drawingml/2006/main">
              <a:ext uri="{FF2B5EF4-FFF2-40B4-BE49-F238E27FC236}">
                <a16:creationId xmlns:a16="http://schemas.microsoft.com/office/drawing/2014/main" id="{AAB6B8E1-2334-4138-8458-843E616069BB}"/>
              </a:ext>
            </a:extLst>
          </p:cNvPr>
          <p:cNvSpPr>
            <a:spLocks xmlns:a="http://schemas.openxmlformats.org/drawingml/2006/main" noGrp="1"/>
          </p:cNvSpPr>
          <p:nvPr/>
        </p:nvSpPr>
        <p:spPr>
          <a:xfrm xmlns:a="http://schemas.openxmlformats.org/drawingml/2006/main">
            <a:off x="609600" y="1123950"/>
            <a:ext cx="6667500" cy="1409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86000"/>
              </a:lnSpc>
              <a:buNone/>
              <a:defRPr sz="4200" b="1">
                <a:solidFill>
                  <a:srgbClr val="F4F6F8"/>
                </a:solidFill>
                <a:latin typeface="DejaVu Sans"/>
                <a:ea typeface="DejaVu Sans"/>
                <a:cs typeface="DejaVu Sans"/>
              </a:defRPr>
            </a:pPr>
            <a:r>
              <a:rPr sz="4200" b="1">
                <a:solidFill>
                  <a:srgbClr val="F4F6F8"/>
                </a:solidFill>
                <a:latin typeface="DejaVu Sans"/>
                <a:ea typeface="DejaVu Sans"/>
                <a:cs typeface="DejaVu Sans"/>
              </a:rPr>
              <a:t>MAKE ENGINEERING</a:t>
            </a:r>
          </a:p>
          <a:p xmlns:a="http://schemas.openxmlformats.org/drawingml/2006/main">
            <a:pPr algn="l">
              <a:lnSpc>
                <a:spcPct val="86000"/>
              </a:lnSpc>
              <a:buNone/>
              <a:defRPr sz="4200" b="1">
                <a:solidFill>
                  <a:srgbClr val="F4F6F8"/>
                </a:solidFill>
                <a:latin typeface="DejaVu Sans"/>
                <a:ea typeface="DejaVu Sans"/>
                <a:cs typeface="DejaVu Sans"/>
              </a:defRPr>
            </a:pPr>
            <a:r>
              <a:rPr sz="4200" b="1">
                <a:solidFill>
                  <a:srgbClr val="F4F6F8"/>
                </a:solidFill>
                <a:latin typeface="DejaVu Sans"/>
                <a:ea typeface="DejaVu Sans"/>
                <a:cs typeface="DejaVu Sans"/>
              </a:rPr>
              <a:t>A LEARNING SYSTEM</a:t>
            </a:r>
          </a:p>
        </p:txBody>
      </p:sp>
      <p:sp>
        <p:nvSpPr>
          <p:cNvPr id="5" name="Rectangle 4">
            <a:extLst xmlns:a="http://schemas.openxmlformats.org/drawingml/2006/main">
              <a:ext uri="{FF2B5EF4-FFF2-40B4-BE49-F238E27FC236}">
                <a16:creationId xmlns:a16="http://schemas.microsoft.com/office/drawing/2014/main" id="{40ABF4AE-FC12-49BD-951B-5ACC5D69AA34}"/>
              </a:ext>
            </a:extLst>
          </p:cNvPr>
          <p:cNvSpPr>
            <a:spLocks xmlns:a="http://schemas.openxmlformats.org/drawingml/2006/main" noGrp="1"/>
          </p:cNvSpPr>
          <p:nvPr/>
        </p:nvSpPr>
        <p:spPr>
          <a:xfrm xmlns:a="http://schemas.openxmlformats.org/drawingml/2006/main">
            <a:off x="647700" y="2857500"/>
            <a:ext cx="5905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725" b="0">
                <a:solidFill>
                  <a:srgbClr val="D8DEE3"/>
                </a:solidFill>
                <a:latin typeface="DejaVu Sans"/>
                <a:ea typeface="DejaVu Sans"/>
                <a:cs typeface="DejaVu Sans"/>
              </a:defRPr>
            </a:pPr>
            <a:r>
              <a:rPr sz="1725" b="0">
                <a:solidFill>
                  <a:srgbClr val="D8DEE3"/>
                </a:solidFill>
                <a:latin typeface="DejaVu Sans"/>
                <a:ea typeface="DejaVu Sans"/>
                <a:cs typeface="DejaVu Sans"/>
              </a:rPr>
              <a:t>Mars will reward teams that learn faster without losing discipline.</a:t>
            </a:r>
          </a:p>
        </p:txBody>
      </p:sp>
      <p:sp>
        <p:nvSpPr>
          <p:cNvPr id="6" name="Rectangle: Rounded Corners 5">
            <a:extLst xmlns:a="http://schemas.openxmlformats.org/drawingml/2006/main">
              <a:ext uri="{FF2B5EF4-FFF2-40B4-BE49-F238E27FC236}">
                <a16:creationId xmlns:a16="http://schemas.microsoft.com/office/drawing/2014/main" id="{E4556C43-632B-477E-898F-C63D9D2F8075}"/>
              </a:ext>
            </a:extLst>
          </p:cNvPr>
          <p:cNvSpPr>
            <a:spLocks xmlns:a="http://schemas.openxmlformats.org/drawingml/2006/main" noGrp="1"/>
          </p:cNvSpPr>
          <p:nvPr/>
        </p:nvSpPr>
        <p:spPr>
          <a:xfrm xmlns:a="http://schemas.openxmlformats.org/drawingml/2006/main">
            <a:off x="678695" y="3816176"/>
            <a:ext cx="1485900" cy="533400"/>
          </a:xfrm>
          <a:prstGeom xmlns:a="http://schemas.openxmlformats.org/drawingml/2006/main" prst="roundRect">
            <a:avLst>
              <a:gd name="adj" fmla="val 28571"/>
            </a:avLst>
          </a:prstGeom>
          <a:solidFill xmlns:a="http://schemas.openxmlformats.org/drawingml/2006/main">
            <a:srgbClr val="0D1216">
              <a:alpha val="94000"/>
            </a:srgbClr>
          </a:solidFill>
          <a:ln xmlns:a="http://schemas.openxmlformats.org/drawingml/2006/main" w="14288">
            <a:solidFill>
              <a:srgbClr val="39D7FF"/>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125" b="1">
                <a:solidFill>
                  <a:srgbClr val="39D7FF"/>
                </a:solidFill>
                <a:latin typeface="DejaVu Sans Mono"/>
                <a:ea typeface="DejaVu Sans Mono"/>
                <a:cs typeface="DejaVu Sans Mono"/>
              </a:defRPr>
            </a:pPr>
            <a:r>
              <a:rPr sz="1125" b="1">
                <a:solidFill>
                  <a:srgbClr val="39D7FF"/>
                </a:solidFill>
                <a:latin typeface="DejaVu Sans Mono"/>
                <a:ea typeface="DejaVu Sans Mono"/>
                <a:cs typeface="DejaVu Sans Mono"/>
              </a:rPr>
              <a:t>SCIENCE</a:t>
            </a:r>
          </a:p>
        </p:txBody>
      </p:sp>
      <p:sp>
        <p:nvSpPr>
          <p:cNvPr id="7" name="Arrow: Right 6">
            <a:extLst xmlns:a="http://schemas.openxmlformats.org/drawingml/2006/main">
              <a:ext uri="{FF2B5EF4-FFF2-40B4-BE49-F238E27FC236}">
                <a16:creationId xmlns:a16="http://schemas.microsoft.com/office/drawing/2014/main" id="{EF19FF5D-4BAB-4848-8365-BBF53856A8FC}"/>
              </a:ext>
            </a:extLst>
          </p:cNvPr>
          <p:cNvSpPr>
            <a:spLocks xmlns:a="http://schemas.openxmlformats.org/drawingml/2006/main" noGrp="1"/>
          </p:cNvSpPr>
          <p:nvPr/>
        </p:nvSpPr>
        <p:spPr>
          <a:xfrm xmlns:a="http://schemas.openxmlformats.org/drawingml/2006/main">
            <a:off x="2187141" y="4006676"/>
            <a:ext cx="685800" cy="152400"/>
          </a:xfrm>
          <a:prstGeom xmlns:a="http://schemas.openxmlformats.org/drawingml/2006/main" prst="rightArrow">
            <a:avLst/>
          </a:prstGeom>
          <a:solidFill xmlns:a="http://schemas.openxmlformats.org/drawingml/2006/main">
            <a:srgbClr val="39D7FF">
              <a:alpha val="65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8" name="Rectangle: Rounded Corners 7">
            <a:extLst xmlns:a="http://schemas.openxmlformats.org/drawingml/2006/main">
              <a:ext uri="{FF2B5EF4-FFF2-40B4-BE49-F238E27FC236}">
                <a16:creationId xmlns:a16="http://schemas.microsoft.com/office/drawing/2014/main" id="{CB3434EA-4A13-4F7C-90BE-A2E5251AA7BB}"/>
              </a:ext>
            </a:extLst>
          </p:cNvPr>
          <p:cNvSpPr>
            <a:spLocks xmlns:a="http://schemas.openxmlformats.org/drawingml/2006/main" noGrp="1"/>
          </p:cNvSpPr>
          <p:nvPr/>
        </p:nvSpPr>
        <p:spPr>
          <a:xfrm xmlns:a="http://schemas.openxmlformats.org/drawingml/2006/main">
            <a:off x="2978600" y="3816176"/>
            <a:ext cx="1485900" cy="533400"/>
          </a:xfrm>
          <a:prstGeom xmlns:a="http://schemas.openxmlformats.org/drawingml/2006/main" prst="roundRect">
            <a:avLst>
              <a:gd name="adj" fmla="val 28571"/>
            </a:avLst>
          </a:prstGeom>
          <a:solidFill xmlns:a="http://schemas.openxmlformats.org/drawingml/2006/main">
            <a:srgbClr val="0D1216">
              <a:alpha val="94000"/>
            </a:srgbClr>
          </a:solidFill>
          <a:ln xmlns:a="http://schemas.openxmlformats.org/drawingml/2006/main" w="14288">
            <a:solidFill>
              <a:srgbClr val="F26B38"/>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125" b="1">
                <a:solidFill>
                  <a:srgbClr val="F26B38"/>
                </a:solidFill>
                <a:latin typeface="DejaVu Sans Mono"/>
                <a:ea typeface="DejaVu Sans Mono"/>
                <a:cs typeface="DejaVu Sans Mono"/>
              </a:defRPr>
            </a:pPr>
            <a:r>
              <a:rPr sz="1125" b="1">
                <a:solidFill>
                  <a:srgbClr val="F26B38"/>
                </a:solidFill>
                <a:latin typeface="DejaVu Sans Mono"/>
                <a:ea typeface="DejaVu Sans Mono"/>
                <a:cs typeface="DejaVu Sans Mono"/>
              </a:rPr>
              <a:t>ENGINEERING</a:t>
            </a:r>
          </a:p>
        </p:txBody>
      </p:sp>
      <p:sp>
        <p:nvSpPr>
          <p:cNvPr id="9" name="Arrow: Right 8">
            <a:extLst xmlns:a="http://schemas.openxmlformats.org/drawingml/2006/main">
              <a:ext uri="{FF2B5EF4-FFF2-40B4-BE49-F238E27FC236}">
                <a16:creationId xmlns:a16="http://schemas.microsoft.com/office/drawing/2014/main" id="{A80727A7-17A8-4196-A8B1-D2961CEEC671}"/>
              </a:ext>
            </a:extLst>
          </p:cNvPr>
          <p:cNvSpPr>
            <a:spLocks xmlns:a="http://schemas.openxmlformats.org/drawingml/2006/main" noGrp="1"/>
          </p:cNvSpPr>
          <p:nvPr/>
        </p:nvSpPr>
        <p:spPr>
          <a:xfrm xmlns:a="http://schemas.openxmlformats.org/drawingml/2006/main" rot="5400000">
            <a:off x="3465373" y="4436817"/>
            <a:ext cx="314021" cy="156931"/>
          </a:xfrm>
          <a:prstGeom xmlns:a="http://schemas.openxmlformats.org/drawingml/2006/main" prst="rightArrow">
            <a:avLst/>
          </a:prstGeom>
          <a:solidFill xmlns:a="http://schemas.openxmlformats.org/drawingml/2006/main">
            <a:srgbClr val="F26B38">
              <a:alpha val="65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6" name="Rectangle 15">
            <a:extLst xmlns:a="http://schemas.openxmlformats.org/drawingml/2006/main">
              <a:ext uri="{FF2B5EF4-FFF2-40B4-BE49-F238E27FC236}">
                <a16:creationId xmlns:a16="http://schemas.microsoft.com/office/drawing/2014/main" id="{3E6031D1-64E8-42D8-B9B5-506D2CE2CB29}"/>
              </a:ext>
            </a:extLst>
          </p:cNvPr>
          <p:cNvSpPr>
            <a:spLocks xmlns:a="http://schemas.openxmlformats.org/drawingml/2006/main" noGrp="1"/>
          </p:cNvSpPr>
          <p:nvPr/>
        </p:nvSpPr>
        <p:spPr>
          <a:xfrm xmlns:a="http://schemas.openxmlformats.org/drawingml/2006/main">
            <a:off x="647700" y="5829300"/>
            <a:ext cx="723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500" b="1">
                <a:solidFill>
                  <a:srgbClr val="F4F6F8"/>
                </a:solidFill>
                <a:latin typeface="DejaVu Sans"/>
                <a:ea typeface="DejaVu Sans"/>
                <a:cs typeface="DejaVu Sans"/>
              </a:defRPr>
            </a:pPr>
            <a:r>
              <a:rPr sz="1500" b="1">
                <a:solidFill>
                  <a:srgbClr val="F4F6F8"/>
                </a:solidFill>
                <a:latin typeface="DejaVu Sans"/>
                <a:ea typeface="DejaVu Sans"/>
                <a:cs typeface="DejaVu Sans"/>
              </a:rPr>
              <a:t>Build the intelligence layer now—so every stronger model inherits a mission-ready way to work.</a:t>
            </a:r>
          </a:p>
        </p:txBody>
      </p:sp>
      <p:sp>
        <p:nvSpPr>
          <p:cNvPr id="17" name="Rectangle 16">
            <a:extLst xmlns:a="http://schemas.openxmlformats.org/drawingml/2006/main">
              <a:ext uri="{FF2B5EF4-FFF2-40B4-BE49-F238E27FC236}">
                <a16:creationId xmlns:a16="http://schemas.microsoft.com/office/drawing/2014/main" id="{15BEEABA-5BA0-458D-B21D-D73567E5A15B}"/>
              </a:ext>
            </a:extLst>
          </p:cNvPr>
          <p:cNvSpPr>
            <a:spLocks xmlns:a="http://schemas.openxmlformats.org/drawingml/2006/main" noGrp="1"/>
          </p:cNvSpPr>
          <p:nvPr/>
        </p:nvSpPr>
        <p:spPr>
          <a:xfrm xmlns:a="http://schemas.openxmlformats.org/drawingml/2006/main">
            <a:off x="0" y="6400800"/>
            <a:ext cx="12192000" cy="457200"/>
          </a:xfrm>
          <a:prstGeom xmlns:a="http://schemas.openxmlformats.org/drawingml/2006/main" prst="rect">
            <a:avLst/>
          </a:prstGeom>
          <a:solidFill xmlns:a="http://schemas.openxmlformats.org/drawingml/2006/main">
            <a:srgbClr val="07090C">
              <a:alpha val="76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8" name="Rectangle 17">
            <a:extLst xmlns:a="http://schemas.openxmlformats.org/drawingml/2006/main">
              <a:ext uri="{FF2B5EF4-FFF2-40B4-BE49-F238E27FC236}">
                <a16:creationId xmlns:a16="http://schemas.microsoft.com/office/drawing/2014/main" id="{A3F3ABB8-5FF0-406D-8380-F04362239B64}"/>
              </a:ext>
            </a:extLst>
          </p:cNvPr>
          <p:cNvSpPr>
            <a:spLocks xmlns:a="http://schemas.openxmlformats.org/drawingml/2006/main" noGrp="1"/>
          </p:cNvSpPr>
          <p:nvPr/>
        </p:nvSpPr>
        <p:spPr>
          <a:xfrm xmlns:a="http://schemas.openxmlformats.org/drawingml/2006/main">
            <a:off x="609600" y="6553200"/>
            <a:ext cx="68580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MARS SOCIETY 2026  •  HARNESSED AGENTIC SCIENCE + ENGINEERING</a:t>
            </a:r>
          </a:p>
        </p:txBody>
      </p:sp>
      <p:sp>
        <p:nvSpPr>
          <p:cNvPr id="19" name="Rectangle 18">
            <a:extLst xmlns:a="http://schemas.openxmlformats.org/drawingml/2006/main">
              <a:ext uri="{FF2B5EF4-FFF2-40B4-BE49-F238E27FC236}">
                <a16:creationId xmlns:a16="http://schemas.microsoft.com/office/drawing/2014/main" id="{35333376-E4E8-45FA-98DC-93E154A53EDF}"/>
              </a:ext>
            </a:extLst>
          </p:cNvPr>
          <p:cNvSpPr>
            <a:spLocks xmlns:a="http://schemas.openxmlformats.org/drawingml/2006/main" noGrp="1"/>
          </p:cNvSpPr>
          <p:nvPr/>
        </p:nvSpPr>
        <p:spPr>
          <a:xfrm xmlns:a="http://schemas.openxmlformats.org/drawingml/2006/main">
            <a:off x="9525000" y="6553200"/>
            <a:ext cx="20574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BOB J MILLS     22</a:t>
            </a:r>
          </a:p>
        </p:txBody>
      </p:sp>
      <p:sp>
        <p:nvSpPr>
          <p:cNvPr id="22" name="Rectangle: Rounded Corners 21">
            <a:extLst xmlns:a="http://schemas.openxmlformats.org/drawingml/2006/main">
              <a:ext uri="{FF2B5EF4-FFF2-40B4-BE49-F238E27FC236}">
                <a16:creationId xmlns:a16="http://schemas.microsoft.com/office/drawing/2014/main" id="{A41E52F6-AAA0-BBB1-6A08-876471B6C965}"/>
              </a:ext>
            </a:extLst>
          </p:cNvPr>
          <p:cNvSpPr>
            <a:spLocks xmlns:a="http://schemas.openxmlformats.org/drawingml/2006/main" noGrp="1"/>
          </p:cNvSpPr>
          <p:nvPr/>
        </p:nvSpPr>
        <p:spPr>
          <a:xfrm xmlns:a="http://schemas.openxmlformats.org/drawingml/2006/main">
            <a:off x="2985701" y="4667712"/>
            <a:ext cx="1485900" cy="765809"/>
          </a:xfrm>
          <a:prstGeom xmlns:a="http://schemas.openxmlformats.org/drawingml/2006/main" prst="roundRect">
            <a:avLst>
              <a:gd name="adj" fmla="val 28571"/>
            </a:avLst>
          </a:prstGeom>
          <a:solidFill xmlns:a="http://schemas.openxmlformats.org/drawingml/2006/main">
            <a:srgbClr val="0D1216">
              <a:alpha val="94000"/>
            </a:srgbClr>
          </a:solidFill>
          <a:ln xmlns:a="http://schemas.openxmlformats.org/drawingml/2006/main" w="14288">
            <a:solidFill>
              <a:srgbClr val="39D7FF"/>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125" b="1">
                <a:solidFill>
                  <a:srgbClr val="39D7FF"/>
                </a:solidFill>
                <a:latin typeface="DejaVu Sans Mono"/>
                <a:ea typeface="DejaVu Sans Mono"/>
                <a:cs typeface="DejaVu Sans Mono"/>
              </a:defRPr>
            </a:pPr>
            <a:r>
              <a:rPr sz="1125" b="1">
                <a:solidFill>
                  <a:srgbClr val="39D7FF"/>
                </a:solidFill>
                <a:latin typeface="DejaVu Sans Mono"/>
                <a:ea typeface="DejaVu Sans Mono"/>
                <a:cs typeface="DejaVu Sans Mono"/>
              </a:rPr>
              <a:t>More </a:t>
            </a:r>
            <a:r>
              <a:rPr sz="1125" b="1">
                <a:solidFill>
                  <a:srgbClr val="39D7FF"/>
                </a:solidFill>
                <a:latin typeface="DejaVu Sans Mono"/>
                <a:ea typeface="DejaVu Sans Mono"/>
                <a:cs typeface="DejaVu Sans Mono"/>
              </a:rPr>
              <a:t>SCIENCE</a:t>
            </a:r>
            <a:r>
              <a:rPr sz="1125" b="1">
                <a:solidFill>
                  <a:srgbClr val="39D7FF"/>
                </a:solidFill>
                <a:latin typeface="DejaVu Sans Mono"/>
                <a:ea typeface="DejaVu Sans Mono"/>
                <a:cs typeface="DejaVu Sans Mono"/>
              </a:rPr>
              <a:t> to address engineering blockers</a:t>
            </a:r>
            <a:endParaRPr sz="1125" b="1">
              <a:solidFill>
                <a:srgbClr val="39D7FF"/>
              </a:solidFill>
              <a:latin typeface="DejaVu Sans Mono"/>
              <a:ea typeface="DejaVu Sans Mono"/>
              <a:cs typeface="DejaVu Sans Mono"/>
            </a:endParaRPr>
          </a:p>
        </p:txBody>
      </p:sp>
      <p:sp>
        <p:nvSpPr>
          <p:cNvPr id="24" name="Arrow: Right 23">
            <a:extLst xmlns:a="http://schemas.openxmlformats.org/drawingml/2006/main">
              <a:ext uri="{FF2B5EF4-FFF2-40B4-BE49-F238E27FC236}">
                <a16:creationId xmlns:a16="http://schemas.microsoft.com/office/drawing/2014/main" id="{90809307-E3F6-53CC-4287-50EEA854EE4A}"/>
              </a:ext>
            </a:extLst>
          </p:cNvPr>
          <p:cNvSpPr>
            <a:spLocks xmlns:a="http://schemas.openxmlformats.org/drawingml/2006/main" noGrp="1"/>
          </p:cNvSpPr>
          <p:nvPr/>
        </p:nvSpPr>
        <p:spPr>
          <a:xfrm xmlns:a="http://schemas.openxmlformats.org/drawingml/2006/main">
            <a:off x="4484679" y="4979566"/>
            <a:ext cx="685800" cy="152400"/>
          </a:xfrm>
          <a:prstGeom xmlns:a="http://schemas.openxmlformats.org/drawingml/2006/main" prst="rightArrow">
            <a:avLst/>
          </a:prstGeom>
          <a:solidFill xmlns:a="http://schemas.openxmlformats.org/drawingml/2006/main">
            <a:srgbClr val="39D7FF">
              <a:alpha val="65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6" name="Rectangle: Rounded Corners 25">
            <a:extLst xmlns:a="http://schemas.openxmlformats.org/drawingml/2006/main">
              <a:ext uri="{FF2B5EF4-FFF2-40B4-BE49-F238E27FC236}">
                <a16:creationId xmlns:a16="http://schemas.microsoft.com/office/drawing/2014/main" id="{2FBA2485-F8BE-1905-3BEA-17C0BDA17583}"/>
              </a:ext>
            </a:extLst>
          </p:cNvPr>
          <p:cNvSpPr>
            <a:spLocks xmlns:a="http://schemas.openxmlformats.org/drawingml/2006/main" noGrp="1"/>
          </p:cNvSpPr>
          <p:nvPr/>
        </p:nvSpPr>
        <p:spPr>
          <a:xfrm xmlns:a="http://schemas.openxmlformats.org/drawingml/2006/main">
            <a:off x="5444113" y="4698608"/>
            <a:ext cx="1485900" cy="753195"/>
          </a:xfrm>
          <a:prstGeom xmlns:a="http://schemas.openxmlformats.org/drawingml/2006/main" prst="roundRect">
            <a:avLst>
              <a:gd name="adj" fmla="val 28571"/>
            </a:avLst>
          </a:prstGeom>
          <a:solidFill xmlns:a="http://schemas.openxmlformats.org/drawingml/2006/main">
            <a:srgbClr val="0D1216">
              <a:alpha val="94000"/>
            </a:srgbClr>
          </a:solidFill>
          <a:ln xmlns:a="http://schemas.openxmlformats.org/drawingml/2006/main" w="14288">
            <a:solidFill>
              <a:srgbClr val="F26B38"/>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125" b="1">
                <a:solidFill>
                  <a:srgbClr val="F26B38"/>
                </a:solidFill>
                <a:latin typeface="DejaVu Sans Mono"/>
                <a:ea typeface="DejaVu Sans Mono"/>
                <a:cs typeface="DejaVu Sans Mono"/>
              </a:defRPr>
            </a:pPr>
            <a:r>
              <a:rPr sz="1125" b="1">
                <a:solidFill>
                  <a:srgbClr val="F26B38"/>
                </a:solidFill>
                <a:latin typeface="DejaVu Sans Mono"/>
                <a:ea typeface="DejaVu Sans Mono"/>
                <a:cs typeface="DejaVu Sans Mono"/>
              </a:rPr>
              <a:t>More </a:t>
            </a:r>
            <a:r>
              <a:rPr sz="1125" b="1">
                <a:solidFill>
                  <a:srgbClr val="F26B38"/>
                </a:solidFill>
                <a:latin typeface="DejaVu Sans Mono"/>
                <a:ea typeface="DejaVu Sans Mono"/>
                <a:cs typeface="DejaVu Sans Mono"/>
              </a:rPr>
              <a:t>ENGINEERING</a:t>
            </a:r>
            <a:r>
              <a:rPr sz="1125" b="1">
                <a:solidFill>
                  <a:srgbClr val="F26B38"/>
                </a:solidFill>
                <a:latin typeface="DejaVu Sans Mono"/>
                <a:ea typeface="DejaVu Sans Mono"/>
                <a:cs typeface="DejaVu Sans Mono"/>
              </a:rPr>
              <a:t> in a loop</a:t>
            </a:r>
            <a:endParaRPr sz="1125" b="1">
              <a:solidFill>
                <a:srgbClr val="F26B38"/>
              </a:solidFill>
              <a:latin typeface="DejaVu Sans Mono"/>
              <a:ea typeface="DejaVu Sans Mono"/>
              <a:cs typeface="DejaVu Sans Mono"/>
            </a:endParaRPr>
          </a:p>
        </p:txBody>
      </p:sp>
      <p:sp>
        <p:nvSpPr>
          <p:cNvPr id="38" name="Arrow: Right 37">
            <a:extLst xmlns:a="http://schemas.openxmlformats.org/drawingml/2006/main">
              <a:ext uri="{FF2B5EF4-FFF2-40B4-BE49-F238E27FC236}">
                <a16:creationId xmlns:a16="http://schemas.microsoft.com/office/drawing/2014/main" id="{F9A938CE-E940-7C20-31F6-772625875FC0}"/>
              </a:ext>
            </a:extLst>
          </p:cNvPr>
          <p:cNvSpPr>
            <a:spLocks xmlns:a="http://schemas.openxmlformats.org/drawingml/2006/main" noGrp="1"/>
          </p:cNvSpPr>
          <p:nvPr/>
        </p:nvSpPr>
        <p:spPr>
          <a:xfrm xmlns:a="http://schemas.openxmlformats.org/drawingml/2006/main">
            <a:off x="6942747" y="5005056"/>
            <a:ext cx="685800" cy="152400"/>
          </a:xfrm>
          <a:prstGeom xmlns:a="http://schemas.openxmlformats.org/drawingml/2006/main" prst="rightArrow">
            <a:avLst/>
          </a:prstGeom>
          <a:solidFill xmlns:a="http://schemas.openxmlformats.org/drawingml/2006/main">
            <a:srgbClr val="F26B38">
              <a:alpha val="65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40" name="Rectangle: Rounded Corners 39">
            <a:extLst xmlns:a="http://schemas.openxmlformats.org/drawingml/2006/main">
              <a:ext uri="{FF2B5EF4-FFF2-40B4-BE49-F238E27FC236}">
                <a16:creationId xmlns:a16="http://schemas.microsoft.com/office/drawing/2014/main" id="{8DA49FF9-0914-540C-195D-5B590C280D59}"/>
              </a:ext>
            </a:extLst>
          </p:cNvPr>
          <p:cNvSpPr>
            <a:spLocks xmlns:a="http://schemas.openxmlformats.org/drawingml/2006/main" noGrp="1"/>
          </p:cNvSpPr>
          <p:nvPr/>
        </p:nvSpPr>
        <p:spPr>
          <a:xfrm xmlns:a="http://schemas.openxmlformats.org/drawingml/2006/main">
            <a:off x="7768021" y="4771742"/>
            <a:ext cx="1485900" cy="533400"/>
          </a:xfrm>
          <a:prstGeom xmlns:a="http://schemas.openxmlformats.org/drawingml/2006/main" prst="roundRect">
            <a:avLst>
              <a:gd name="adj" fmla="val 28571"/>
            </a:avLst>
          </a:prstGeom>
          <a:solidFill xmlns:a="http://schemas.openxmlformats.org/drawingml/2006/main">
            <a:srgbClr val="0D1216">
              <a:alpha val="94000"/>
            </a:srgbClr>
          </a:solidFill>
          <a:ln xmlns:a="http://schemas.openxmlformats.org/drawingml/2006/main" w="14288">
            <a:solidFill>
              <a:srgbClr val="62D6A7"/>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125" b="1">
                <a:solidFill>
                  <a:srgbClr val="62D6A7"/>
                </a:solidFill>
                <a:latin typeface="DejaVu Sans Mono"/>
                <a:ea typeface="DejaVu Sans Mono"/>
                <a:cs typeface="DejaVu Sans Mono"/>
              </a:defRPr>
            </a:pPr>
            <a:r>
              <a:rPr sz="1125" b="1">
                <a:solidFill>
                  <a:srgbClr val="62D6A7"/>
                </a:solidFill>
                <a:latin typeface="DejaVu Sans Mono"/>
                <a:ea typeface="DejaVu Sans Mono"/>
                <a:cs typeface="DejaVu Sans Mono"/>
              </a:rPr>
              <a:t>PROECT MANAGED</a:t>
            </a:r>
          </a:p>
          <a:p xmlns:a="http://schemas.openxmlformats.org/drawingml/2006/main">
            <a:pPr algn="ctr">
              <a:lnSpc>
                <a:spcPct val="90000"/>
              </a:lnSpc>
              <a:buNone/>
              <a:defRPr sz="1125" b="1">
                <a:solidFill>
                  <a:srgbClr val="62D6A7"/>
                </a:solidFill>
                <a:latin typeface="DejaVu Sans Mono"/>
                <a:ea typeface="DejaVu Sans Mono"/>
                <a:cs typeface="DejaVu Sans Mono"/>
              </a:defRPr>
            </a:pPr>
            <a:r>
              <a:rPr sz="1125" b="1">
                <a:solidFill>
                  <a:srgbClr val="62D6A7"/>
                </a:solidFill>
                <a:latin typeface="DejaVu Sans Mono"/>
                <a:ea typeface="DejaVu Sans Mono"/>
                <a:cs typeface="DejaVu Sans Mono"/>
              </a:rPr>
              <a:t>EXECUTION</a:t>
            </a:r>
            <a:endParaRPr sz="1125" b="1">
              <a:solidFill>
                <a:srgbClr val="62D6A7"/>
              </a:solidFill>
              <a:latin typeface="DejaVu Sans Mono"/>
              <a:ea typeface="DejaVu Sans Mono"/>
              <a:cs typeface="DejaVu Sans Mono"/>
            </a:endParaRPr>
          </a:p>
        </p:txBody>
      </p:sp>
      <p:sp>
        <p:nvSpPr>
          <p:cNvPr id="42" name="Arrow: Right 41">
            <a:extLst xmlns:a="http://schemas.openxmlformats.org/drawingml/2006/main">
              <a:ext uri="{FF2B5EF4-FFF2-40B4-BE49-F238E27FC236}">
                <a16:creationId xmlns:a16="http://schemas.microsoft.com/office/drawing/2014/main" id="{E89F119E-9FA6-0E1E-18E5-31CE787C3D9A}"/>
              </a:ext>
            </a:extLst>
          </p:cNvPr>
          <p:cNvSpPr>
            <a:spLocks xmlns:a="http://schemas.openxmlformats.org/drawingml/2006/main" noGrp="1"/>
          </p:cNvSpPr>
          <p:nvPr/>
        </p:nvSpPr>
        <p:spPr>
          <a:xfrm xmlns:a="http://schemas.openxmlformats.org/drawingml/2006/main">
            <a:off x="9253921" y="4964530"/>
            <a:ext cx="685800" cy="152400"/>
          </a:xfrm>
          <a:prstGeom xmlns:a="http://schemas.openxmlformats.org/drawingml/2006/main" prst="rightArrow">
            <a:avLst/>
          </a:prstGeom>
          <a:solidFill xmlns:a="http://schemas.openxmlformats.org/drawingml/2006/main">
            <a:srgbClr val="62D6A7">
              <a:alpha val="65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44" name="Rectangle: Rounded Corners 43">
            <a:extLst xmlns:a="http://schemas.openxmlformats.org/drawingml/2006/main">
              <a:ext uri="{FF2B5EF4-FFF2-40B4-BE49-F238E27FC236}">
                <a16:creationId xmlns:a16="http://schemas.microsoft.com/office/drawing/2014/main" id="{DF2F2956-DE88-A8E6-3A4A-E32ABD8F3988}"/>
              </a:ext>
            </a:extLst>
          </p:cNvPr>
          <p:cNvSpPr>
            <a:spLocks xmlns:a="http://schemas.openxmlformats.org/drawingml/2006/main" noGrp="1"/>
          </p:cNvSpPr>
          <p:nvPr/>
        </p:nvSpPr>
        <p:spPr>
          <a:xfrm xmlns:a="http://schemas.openxmlformats.org/drawingml/2006/main">
            <a:off x="10100180" y="4769067"/>
            <a:ext cx="1485900" cy="533400"/>
          </a:xfrm>
          <a:prstGeom xmlns:a="http://schemas.openxmlformats.org/drawingml/2006/main" prst="roundRect">
            <a:avLst>
              <a:gd name="adj" fmla="val 28571"/>
            </a:avLst>
          </a:prstGeom>
          <a:solidFill xmlns:a="http://schemas.openxmlformats.org/drawingml/2006/main">
            <a:srgbClr val="0D1216">
              <a:alpha val="94000"/>
            </a:srgbClr>
          </a:solidFill>
          <a:ln xmlns:a="http://schemas.openxmlformats.org/drawingml/2006/main" w="14288">
            <a:solidFill>
              <a:srgbClr val="FFC857"/>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125" b="1">
                <a:solidFill>
                  <a:srgbClr val="FFC857"/>
                </a:solidFill>
                <a:latin typeface="DejaVu Sans Mono"/>
                <a:ea typeface="DejaVu Sans Mono"/>
                <a:cs typeface="DejaVu Sans Mono"/>
              </a:defRPr>
            </a:pPr>
            <a:r>
              <a:rPr sz="1125" b="1">
                <a:solidFill>
                  <a:srgbClr val="FFC857"/>
                </a:solidFill>
                <a:latin typeface="DejaVu Sans Mono"/>
                <a:ea typeface="DejaVu Sans Mono"/>
                <a:cs typeface="DejaVu Sans Mono"/>
              </a:rPr>
              <a:t>OPERATIONS</a:t>
            </a:r>
          </a:p>
        </p:txBody>
      </p:sp>
      <p:sp>
        <p:nvSpPr>
          <p:cNvPr id="46" name="Arrow: Right 45">
            <a:extLst xmlns:a="http://schemas.openxmlformats.org/drawingml/2006/main">
              <a:ext uri="{FF2B5EF4-FFF2-40B4-BE49-F238E27FC236}">
                <a16:creationId xmlns:a16="http://schemas.microsoft.com/office/drawing/2014/main" id="{3DE9666C-ED81-BFB3-0763-6C2AE0751882}"/>
              </a:ext>
            </a:extLst>
          </p:cNvPr>
          <p:cNvSpPr>
            <a:spLocks xmlns:a="http://schemas.openxmlformats.org/drawingml/2006/main" noGrp="1"/>
          </p:cNvSpPr>
          <p:nvPr/>
        </p:nvSpPr>
        <p:spPr>
          <a:xfrm xmlns:a="http://schemas.openxmlformats.org/drawingml/2006/main" rot="12280288">
            <a:off x="4517230" y="4536184"/>
            <a:ext cx="1008129" cy="165831"/>
          </a:xfrm>
          <a:prstGeom xmlns:a="http://schemas.openxmlformats.org/drawingml/2006/main" prst="rightArrow">
            <a:avLst/>
          </a:prstGeom>
          <a:solidFill xmlns:a="http://schemas.openxmlformats.org/drawingml/2006/main">
            <a:srgbClr val="F26B38">
              <a:alpha val="65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Tree>
    <p:extLst>
      <p:ext uri="{BB962C8B-B14F-4D97-AF65-F5344CB8AC3E}">
        <p14:creationId xmlns:p14="http://schemas.microsoft.com/office/powerpoint/2010/main" val="749314659"/>
      </p:ext>
    </p:extLst>
  </p:cSld>
</p:sld>
</file>

<file path=ppt/slides/slide23.xml><?xml version="1.0" encoding="utf-8"?>
<p:sld xmlns:p="http://schemas.openxmlformats.org/presentationml/2006/main">
  <p:cSld>
    <p:bg>
      <p:bgPr>
        <a:solidFill xmlns:a="http://schemas.openxmlformats.org/drawingml/2006/main">
          <a:srgbClr val="07090C"/>
        </a:solidFill>
      </p:bgPr>
    </p:bg>
    <p:spTree>
      <p:nvGrpSpPr>
        <p:cNvPr id="1" name=""/>
        <p:cNvGrpSpPr/>
        <p:nvPr/>
      </p:nvGrpSpPr>
      <p:grpSpPr>
        <a:xfrm xmlns:a="http://schemas.openxmlformats.org/drawingml/2006/main"/>
      </p:grpSpPr>
      <p:pic>
        <p:nvPicPr>
          <p:cNvPr id="46" name="Picture 13"/>
          <p:cNvPicPr>
            <a:picLocks xmlns:a="http://schemas.openxmlformats.org/drawingml/2006/main" noChangeAspect="1"/>
          </p:cNvPicPr>
          <p:nvPr/>
        </p:nvPicPr>
        <p:blipFill>
          <a:blip xmlns:r="http://schemas.openxmlformats.org/officeDocument/2006/relationships" xmlns:a="http://schemas.openxmlformats.org/drawingml/2006/main" r:embed="R7eacc78559654174"/>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Rectangle 2">
            <a:extLst xmlns:a="http://schemas.openxmlformats.org/drawingml/2006/main">
              <a:ext uri="{FF2B5EF4-FFF2-40B4-BE49-F238E27FC236}">
                <a16:creationId xmlns:a16="http://schemas.microsoft.com/office/drawing/2014/main" id="{B6420BCB-C95C-1417-CCC8-1695A972803C}"/>
              </a:ext>
            </a:extLst>
          </p:cNvPr>
          <p:cNvSpPr>
            <a:spLocks xmlns:a="http://schemas.openxmlformats.org/drawingml/2006/main" noGrp="1"/>
          </p:cNvSpPr>
          <p:nvPr/>
        </p:nvSpPr>
        <p:spPr>
          <a:xfrm xmlns:a="http://schemas.openxmlformats.org/drawingml/2006/main">
            <a:off x="609600" y="40005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75" b="1">
                <a:solidFill>
                  <a:srgbClr val="F26B38"/>
                </a:solidFill>
                <a:latin typeface="DejaVu Sans Mono"/>
                <a:ea typeface="DejaVu Sans Mono"/>
                <a:cs typeface="DejaVu Sans Mono"/>
              </a:defRPr>
            </a:pPr>
            <a:r>
              <a:rPr sz="975" b="1">
                <a:solidFill>
                  <a:srgbClr val="F26B38"/>
                </a:solidFill>
                <a:latin typeface="DejaVu Sans Mono"/>
                <a:ea typeface="DejaVu Sans Mono"/>
                <a:cs typeface="DejaVu Sans Mono"/>
              </a:rPr>
              <a:t>23  /  CLOSING</a:t>
            </a:r>
          </a:p>
        </p:txBody>
      </p:sp>
      <p:sp>
        <p:nvSpPr>
          <p:cNvPr id="4" name="Rectangle 3">
            <a:extLst xmlns:a="http://schemas.openxmlformats.org/drawingml/2006/main">
              <a:ext uri="{FF2B5EF4-FFF2-40B4-BE49-F238E27FC236}">
                <a16:creationId xmlns:a16="http://schemas.microsoft.com/office/drawing/2014/main" id="{2B6C018A-98E6-EE2B-2F53-617893F6CAC7}"/>
              </a:ext>
            </a:extLst>
          </p:cNvPr>
          <p:cNvSpPr>
            <a:spLocks xmlns:a="http://schemas.openxmlformats.org/drawingml/2006/main" noGrp="1"/>
          </p:cNvSpPr>
          <p:nvPr/>
        </p:nvSpPr>
        <p:spPr>
          <a:xfrm xmlns:a="http://schemas.openxmlformats.org/drawingml/2006/main">
            <a:off x="609600" y="800049"/>
            <a:ext cx="9814560" cy="68507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86000"/>
              </a:lnSpc>
              <a:buNone/>
              <a:defRPr sz="4200" b="1">
                <a:solidFill>
                  <a:srgbClr val="F4F6F8"/>
                </a:solidFill>
                <a:latin typeface="DejaVu Sans"/>
                <a:ea typeface="DejaVu Sans"/>
                <a:cs typeface="DejaVu Sans"/>
              </a:defRPr>
            </a:pPr>
            <a:r>
              <a:rPr sz="4200" b="1">
                <a:solidFill>
                  <a:srgbClr val="F4F6F8"/>
                </a:solidFill>
                <a:latin typeface="DejaVu Sans"/>
                <a:ea typeface="DejaVu Sans"/>
                <a:cs typeface="DejaVu Sans"/>
              </a:rPr>
              <a:t>The Beginning – Not the End</a:t>
            </a:r>
            <a:endParaRPr sz="4200" b="1">
              <a:solidFill>
                <a:srgbClr val="F4F6F8"/>
              </a:solidFill>
              <a:latin typeface="DejaVu Sans"/>
              <a:ea typeface="DejaVu Sans"/>
              <a:cs typeface="DejaVu Sans"/>
            </a:endParaRPr>
          </a:p>
        </p:txBody>
      </p:sp>
      <p:sp>
        <p:nvSpPr>
          <p:cNvPr id="5" name="Rectangle 4">
            <a:extLst xmlns:a="http://schemas.openxmlformats.org/drawingml/2006/main">
              <a:ext uri="{FF2B5EF4-FFF2-40B4-BE49-F238E27FC236}">
                <a16:creationId xmlns:a16="http://schemas.microsoft.com/office/drawing/2014/main" id="{F8BFACBB-D82E-CAAE-B649-4D6A87D508BA}"/>
              </a:ext>
            </a:extLst>
          </p:cNvPr>
          <p:cNvSpPr>
            <a:spLocks xmlns:a="http://schemas.openxmlformats.org/drawingml/2006/main" noGrp="1"/>
          </p:cNvSpPr>
          <p:nvPr/>
        </p:nvSpPr>
        <p:spPr>
          <a:xfrm xmlns:a="http://schemas.openxmlformats.org/drawingml/2006/main">
            <a:off x="8041776" y="1824525"/>
            <a:ext cx="3320879" cy="15002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725" b="0">
                <a:solidFill>
                  <a:srgbClr val="D8DEE3"/>
                </a:solidFill>
                <a:latin typeface="DejaVu Sans"/>
                <a:ea typeface="DejaVu Sans"/>
                <a:cs typeface="DejaVu Sans"/>
              </a:defRPr>
            </a:pPr>
            <a:endParaRPr sz="1725" b="0">
              <a:solidFill>
                <a:srgbClr val="D8DEE3"/>
              </a:solidFill>
              <a:latin typeface="DejaVu Sans"/>
              <a:ea typeface="DejaVu Sans"/>
              <a:cs typeface="DejaVu Sans"/>
            </a:endParaRPr>
          </a:p>
        </p:txBody>
      </p:sp>
      <p:sp>
        <p:nvSpPr>
          <p:cNvPr id="16" name="Rectangle 15">
            <a:extLst xmlns:a="http://schemas.openxmlformats.org/drawingml/2006/main">
              <a:ext uri="{FF2B5EF4-FFF2-40B4-BE49-F238E27FC236}">
                <a16:creationId xmlns:a16="http://schemas.microsoft.com/office/drawing/2014/main" id="{A41117A2-A6C1-598D-1250-77B6A088BFF2}"/>
              </a:ext>
            </a:extLst>
          </p:cNvPr>
          <p:cNvSpPr>
            <a:spLocks xmlns:a="http://schemas.openxmlformats.org/drawingml/2006/main" noGrp="1"/>
          </p:cNvSpPr>
          <p:nvPr/>
        </p:nvSpPr>
        <p:spPr>
          <a:xfrm xmlns:a="http://schemas.openxmlformats.org/drawingml/2006/main">
            <a:off x="677707" y="1580179"/>
            <a:ext cx="6840493" cy="421087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marL="285750" indent="-285750" algn="l">
              <a:lnSpc>
                <a:spcPct val="95000"/>
              </a:lnSpc>
              <a:buFont typeface="Arial"/>
              <a:buChar char="•"/>
              <a:defRPr sz="1500" b="1">
                <a:solidFill>
                  <a:srgbClr val="F4F6F8"/>
                </a:solidFill>
                <a:latin typeface="DejaVu Sans"/>
                <a:ea typeface="DejaVu Sans"/>
                <a:cs typeface="DejaVu Sans"/>
              </a:defRPr>
            </a:pPr>
            <a:r>
              <a:rPr sz="1500" b="1">
                <a:solidFill>
                  <a:srgbClr val="F4F6F8"/>
                </a:solidFill>
                <a:latin typeface="DejaVu Sans"/>
                <a:ea typeface="DejaVu Sans"/>
                <a:cs typeface="DejaVu Sans"/>
              </a:rPr>
              <a:t>The speed of Improvement of Ai is exponential and tomorrow it will be able to do much more than today.  But the need for specialized skills and agent identities will still exist. </a:t>
            </a:r>
          </a:p>
          <a:p xmlns:a="http://schemas.openxmlformats.org/drawingml/2006/main">
            <a:pPr marL="285750" indent="-285750" algn="l">
              <a:lnSpc>
                <a:spcPct val="95000"/>
              </a:lnSpc>
              <a:buFont typeface="Arial"/>
              <a:buChar char="•"/>
              <a:defRPr sz="1500" b="1">
                <a:solidFill>
                  <a:srgbClr val="F4F6F8"/>
                </a:solidFill>
                <a:latin typeface="DejaVu Sans"/>
                <a:ea typeface="DejaVu Sans"/>
                <a:cs typeface="DejaVu Sans"/>
              </a:defRPr>
            </a:pPr>
            <a:endParaRPr sz="1500" b="1">
              <a:solidFill>
                <a:srgbClr val="F4F6F8"/>
              </a:solidFill>
              <a:latin typeface="DejaVu Sans"/>
              <a:ea typeface="DejaVu Sans"/>
              <a:cs typeface="DejaVu Sans"/>
            </a:endParaRPr>
          </a:p>
          <a:p xmlns:a="http://schemas.openxmlformats.org/drawingml/2006/main">
            <a:pPr marL="285750" indent="-285750" algn="l">
              <a:lnSpc>
                <a:spcPct val="95000"/>
              </a:lnSpc>
              <a:buFont typeface="Arial"/>
              <a:buChar char="•"/>
              <a:defRPr sz="1500" b="1">
                <a:solidFill>
                  <a:srgbClr val="F4F6F8"/>
                </a:solidFill>
                <a:latin typeface="DejaVu Sans"/>
                <a:ea typeface="DejaVu Sans"/>
                <a:cs typeface="DejaVu Sans"/>
              </a:defRPr>
            </a:pPr>
            <a:r>
              <a:rPr sz="1500" b="1">
                <a:solidFill>
                  <a:srgbClr val="F4F6F8"/>
                </a:solidFill>
                <a:latin typeface="DejaVu Sans"/>
                <a:ea typeface="DejaVu Sans"/>
                <a:cs typeface="DejaVu Sans"/>
              </a:rPr>
              <a:t>Even now - if you describe a skill you need, the goal it needs to support and tell an Ai to build a detailed skill it will do it better than any human.</a:t>
            </a:r>
          </a:p>
          <a:p xmlns:a="http://schemas.openxmlformats.org/drawingml/2006/main">
            <a:pPr marL="285750" indent="-285750" algn="l">
              <a:lnSpc>
                <a:spcPct val="95000"/>
              </a:lnSpc>
              <a:buFont typeface="Arial"/>
              <a:buChar char="•"/>
              <a:defRPr sz="1500" b="1">
                <a:solidFill>
                  <a:srgbClr val="F4F6F8"/>
                </a:solidFill>
                <a:latin typeface="DejaVu Sans"/>
                <a:ea typeface="DejaVu Sans"/>
                <a:cs typeface="DejaVu Sans"/>
              </a:defRPr>
            </a:pPr>
            <a:endParaRPr sz="1500" b="1">
              <a:solidFill>
                <a:srgbClr val="F4F6F8"/>
              </a:solidFill>
              <a:latin typeface="DejaVu Sans"/>
              <a:ea typeface="DejaVu Sans"/>
              <a:cs typeface="DejaVu Sans"/>
            </a:endParaRPr>
          </a:p>
          <a:p xmlns:a="http://schemas.openxmlformats.org/drawingml/2006/main">
            <a:pPr marL="285750" indent="-285750" algn="l">
              <a:lnSpc>
                <a:spcPct val="95000"/>
              </a:lnSpc>
              <a:buFont typeface="Arial"/>
              <a:buChar char="•"/>
              <a:defRPr sz="1500" b="1">
                <a:solidFill>
                  <a:srgbClr val="F4F6F8"/>
                </a:solidFill>
                <a:latin typeface="DejaVu Sans"/>
                <a:ea typeface="DejaVu Sans"/>
                <a:cs typeface="DejaVu Sans"/>
              </a:defRPr>
            </a:pPr>
            <a:r>
              <a:rPr sz="1500" b="1">
                <a:solidFill>
                  <a:srgbClr val="F4F6F8"/>
                </a:solidFill>
                <a:latin typeface="DejaVu Sans"/>
                <a:ea typeface="DejaVu Sans"/>
                <a:cs typeface="DejaVu Sans"/>
              </a:rPr>
              <a:t>What I have described exists, works and is tested. The website below will provide free working code as either a set of skills for your choice of harness or as a complete Software application. (You will need to provide your own Ai as this is very token intensive, I do have a paid version to cover the cost of providing a integrated Ai solution.)</a:t>
            </a:r>
          </a:p>
          <a:p xmlns:a="http://schemas.openxmlformats.org/drawingml/2006/main">
            <a:pPr marL="285750" indent="-285750" algn="l">
              <a:lnSpc>
                <a:spcPct val="95000"/>
              </a:lnSpc>
              <a:buFont typeface="Arial"/>
              <a:buChar char="•"/>
              <a:defRPr sz="1500" b="1">
                <a:solidFill>
                  <a:srgbClr val="F4F6F8"/>
                </a:solidFill>
                <a:latin typeface="DejaVu Sans"/>
                <a:ea typeface="DejaVu Sans"/>
                <a:cs typeface="DejaVu Sans"/>
              </a:defRPr>
            </a:pPr>
            <a:endParaRPr sz="1500" b="1">
              <a:solidFill>
                <a:srgbClr val="F4F6F8"/>
              </a:solidFill>
              <a:latin typeface="DejaVu Sans"/>
              <a:ea typeface="DejaVu Sans"/>
              <a:cs typeface="DejaVu Sans"/>
            </a:endParaRPr>
          </a:p>
          <a:p xmlns:a="http://schemas.openxmlformats.org/drawingml/2006/main">
            <a:pPr marL="285750" indent="-285750" algn="l">
              <a:lnSpc>
                <a:spcPct val="95000"/>
              </a:lnSpc>
              <a:buFont typeface="Arial"/>
              <a:buChar char="•"/>
              <a:defRPr sz="1500" b="1">
                <a:solidFill>
                  <a:srgbClr val="F4F6F8"/>
                </a:solidFill>
                <a:latin typeface="DejaVu Sans"/>
                <a:ea typeface="DejaVu Sans"/>
                <a:cs typeface="DejaVu Sans"/>
              </a:defRPr>
            </a:pPr>
            <a:r>
              <a:rPr sz="1500" b="1">
                <a:solidFill>
                  <a:srgbClr val="F4F6F8"/>
                </a:solidFill>
                <a:latin typeface="DejaVu Sans"/>
                <a:ea typeface="DejaVu Sans"/>
                <a:cs typeface="DejaVu Sans"/>
              </a:rPr>
              <a:t>More information and code are available on the </a:t>
            </a:r>
            <a:r>
              <a:rPr sz="1500" b="1">
                <a:solidFill>
                  <a:schemeClr val="tx2">
                    <a:lumMod val="50000"/>
                    <a:lumOff val="50000"/>
                  </a:schemeClr>
                </a:solidFill>
                <a:latin typeface="DejaVu Sans"/>
                <a:ea typeface="DejaVu Sans"/>
                <a:cs typeface="DejaVu Sans"/>
                <a:hlinkClick xmlns:r="http://schemas.openxmlformats.org/officeDocument/2006/relationships" r:id="R4cc2ab5e116b4308"/>
              </a:rPr>
              <a:t>https://www.mifeco.com</a:t>
            </a:r>
            <a:r>
              <a:rPr sz="1500" b="1">
                <a:solidFill>
                  <a:schemeClr val="tx2">
                    <a:lumMod val="50000"/>
                    <a:lumOff val="50000"/>
                  </a:schemeClr>
                </a:solidFill>
                <a:latin typeface="DejaVu Sans"/>
                <a:ea typeface="DejaVu Sans"/>
                <a:cs typeface="DejaVu Sans"/>
              </a:rPr>
              <a:t> </a:t>
            </a:r>
            <a:r>
              <a:rPr sz="1500" b="1">
                <a:solidFill>
                  <a:srgbClr val="F4F6F8"/>
                </a:solidFill>
                <a:latin typeface="DejaVu Sans"/>
                <a:ea typeface="DejaVu Sans"/>
                <a:cs typeface="DejaVu Sans"/>
              </a:rPr>
              <a:t>website.</a:t>
            </a:r>
          </a:p>
          <a:p xmlns:a="http://schemas.openxmlformats.org/drawingml/2006/main">
            <a:pPr marL="285750" indent="-285750" algn="l">
              <a:lnSpc>
                <a:spcPct val="95000"/>
              </a:lnSpc>
              <a:buFont typeface="Arial"/>
              <a:buChar char="•"/>
              <a:defRPr sz="1500" b="1">
                <a:solidFill>
                  <a:srgbClr val="F4F6F8"/>
                </a:solidFill>
                <a:latin typeface="DejaVu Sans"/>
                <a:ea typeface="DejaVu Sans"/>
                <a:cs typeface="DejaVu Sans"/>
              </a:defRPr>
            </a:pPr>
            <a:endParaRPr sz="1500" b="1">
              <a:solidFill>
                <a:srgbClr val="F4F6F8"/>
              </a:solidFill>
              <a:latin typeface="DejaVu Sans"/>
              <a:ea typeface="DejaVu Sans"/>
              <a:cs typeface="DejaVu Sans"/>
            </a:endParaRPr>
          </a:p>
          <a:p xmlns:a="http://schemas.openxmlformats.org/drawingml/2006/main">
            <a:pPr marL="285750" indent="-285750" algn="l">
              <a:lnSpc>
                <a:spcPct val="95000"/>
              </a:lnSpc>
              <a:buFont typeface="Arial"/>
              <a:buChar char="•"/>
              <a:defRPr sz="1500" b="1">
                <a:solidFill>
                  <a:srgbClr val="F4F6F8"/>
                </a:solidFill>
                <a:latin typeface="DejaVu Sans"/>
                <a:ea typeface="DejaVu Sans"/>
                <a:cs typeface="DejaVu Sans"/>
              </a:defRPr>
            </a:pPr>
            <a:r>
              <a:rPr sz="1500" b="1">
                <a:solidFill>
                  <a:srgbClr val="F4F6F8"/>
                </a:solidFill>
                <a:latin typeface="DejaVu Sans"/>
                <a:ea typeface="DejaVu Sans"/>
                <a:cs typeface="DejaVu Sans"/>
              </a:rPr>
              <a:t>I can be contacted at </a:t>
            </a:r>
            <a:r>
              <a:rPr sz="1500" b="1">
                <a:solidFill>
                  <a:schemeClr val="tx2">
                    <a:lumMod val="50000"/>
                    <a:lumOff val="50000"/>
                  </a:schemeClr>
                </a:solidFill>
                <a:latin typeface="DejaVu Sans"/>
                <a:ea typeface="DejaVu Sans"/>
                <a:cs typeface="DejaVu Sans"/>
              </a:rPr>
              <a:t>mifecoinc@gmail.com </a:t>
            </a:r>
            <a:endParaRPr sz="1500" b="1">
              <a:solidFill>
                <a:schemeClr val="tx2">
                  <a:lumMod val="50000"/>
                  <a:lumOff val="50000"/>
                </a:schemeClr>
              </a:solidFill>
              <a:latin typeface="DejaVu Sans"/>
              <a:ea typeface="DejaVu Sans"/>
              <a:cs typeface="DejaVu Sans"/>
            </a:endParaRPr>
          </a:p>
        </p:txBody>
      </p:sp>
      <p:sp>
        <p:nvSpPr>
          <p:cNvPr id="17" name="Rectangle 16">
            <a:extLst xmlns:a="http://schemas.openxmlformats.org/drawingml/2006/main">
              <a:ext uri="{FF2B5EF4-FFF2-40B4-BE49-F238E27FC236}">
                <a16:creationId xmlns:a16="http://schemas.microsoft.com/office/drawing/2014/main" id="{44C7BC6B-CBD2-5816-753F-12663EB11B95}"/>
              </a:ext>
            </a:extLst>
          </p:cNvPr>
          <p:cNvSpPr>
            <a:spLocks xmlns:a="http://schemas.openxmlformats.org/drawingml/2006/main" noGrp="1"/>
          </p:cNvSpPr>
          <p:nvPr/>
        </p:nvSpPr>
        <p:spPr>
          <a:xfrm xmlns:a="http://schemas.openxmlformats.org/drawingml/2006/main">
            <a:off x="0" y="6400800"/>
            <a:ext cx="12192000" cy="457200"/>
          </a:xfrm>
          <a:prstGeom xmlns:a="http://schemas.openxmlformats.org/drawingml/2006/main" prst="rect">
            <a:avLst/>
          </a:prstGeom>
          <a:solidFill xmlns:a="http://schemas.openxmlformats.org/drawingml/2006/main">
            <a:srgbClr val="07090C">
              <a:alpha val="76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8" name="Rectangle 17">
            <a:extLst xmlns:a="http://schemas.openxmlformats.org/drawingml/2006/main">
              <a:ext uri="{FF2B5EF4-FFF2-40B4-BE49-F238E27FC236}">
                <a16:creationId xmlns:a16="http://schemas.microsoft.com/office/drawing/2014/main" id="{A843827D-9888-A18C-B0C5-DC947E1B5A60}"/>
              </a:ext>
            </a:extLst>
          </p:cNvPr>
          <p:cNvSpPr>
            <a:spLocks xmlns:a="http://schemas.openxmlformats.org/drawingml/2006/main" noGrp="1"/>
          </p:cNvSpPr>
          <p:nvPr/>
        </p:nvSpPr>
        <p:spPr>
          <a:xfrm xmlns:a="http://schemas.openxmlformats.org/drawingml/2006/main">
            <a:off x="609600" y="6553200"/>
            <a:ext cx="68580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MARS SOCIETY 2026  •  HARNESSED AGENTIC SCIENCE + ENGINEERING</a:t>
            </a:r>
          </a:p>
        </p:txBody>
      </p:sp>
      <p:sp>
        <p:nvSpPr>
          <p:cNvPr id="19" name="Rectangle 18">
            <a:extLst xmlns:a="http://schemas.openxmlformats.org/drawingml/2006/main">
              <a:ext uri="{FF2B5EF4-FFF2-40B4-BE49-F238E27FC236}">
                <a16:creationId xmlns:a16="http://schemas.microsoft.com/office/drawing/2014/main" id="{FEC392AC-6B02-F5B0-5183-88861C6BD77F}"/>
              </a:ext>
            </a:extLst>
          </p:cNvPr>
          <p:cNvSpPr>
            <a:spLocks xmlns:a="http://schemas.openxmlformats.org/drawingml/2006/main" noGrp="1"/>
          </p:cNvSpPr>
          <p:nvPr/>
        </p:nvSpPr>
        <p:spPr>
          <a:xfrm xmlns:a="http://schemas.openxmlformats.org/drawingml/2006/main">
            <a:off x="9525000" y="6553200"/>
            <a:ext cx="20574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BOB J MILLS     23</a:t>
            </a:r>
          </a:p>
        </p:txBody>
      </p:sp>
      <p:sp>
        <p:nvSpPr>
          <p:cNvPr id="44" name="Rectangle: Rounded Corners 43">
            <a:extLst xmlns:a="http://schemas.openxmlformats.org/drawingml/2006/main">
              <a:ext uri="{FF2B5EF4-FFF2-40B4-BE49-F238E27FC236}">
                <a16:creationId xmlns:a16="http://schemas.microsoft.com/office/drawing/2014/main" id="{B40AF053-A4A7-4E89-A71F-231626185ED8}"/>
              </a:ext>
            </a:extLst>
          </p:cNvPr>
          <p:cNvSpPr>
            <a:spLocks xmlns:a="http://schemas.openxmlformats.org/drawingml/2006/main" noGrp="1"/>
          </p:cNvSpPr>
          <p:nvPr/>
        </p:nvSpPr>
        <p:spPr>
          <a:xfrm xmlns:a="http://schemas.openxmlformats.org/drawingml/2006/main">
            <a:off x="8094047" y="1643602"/>
            <a:ext cx="3268608" cy="1105724"/>
          </a:xfrm>
          <a:prstGeom xmlns:a="http://schemas.openxmlformats.org/drawingml/2006/main" prst="roundRect">
            <a:avLst>
              <a:gd name="adj" fmla="val 19631"/>
            </a:avLst>
          </a:prstGeom>
          <a:solidFill xmlns:a="http://schemas.openxmlformats.org/drawingml/2006/main">
            <a:srgbClr val="0D1216">
              <a:alpha val="94000"/>
            </a:srgbClr>
          </a:solidFill>
          <a:ln xmlns:a="http://schemas.openxmlformats.org/drawingml/2006/main" w="14288">
            <a:solidFill>
              <a:srgbClr val="FFC857"/>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125" b="1">
                <a:solidFill>
                  <a:srgbClr val="FFC857"/>
                </a:solidFill>
                <a:latin typeface="DejaVu Sans Mono"/>
                <a:ea typeface="DejaVu Sans Mono"/>
                <a:cs typeface="DejaVu Sans Mono"/>
              </a:defRPr>
            </a:pPr>
            <a:r>
              <a:rPr sz="1200">
                <a:solidFill>
                  <a:srgbClr val="FFC000"/>
                </a:solidFill>
                <a:latin typeface="DejaVu Sans"/>
                <a:ea typeface="DejaVu Sans"/>
                <a:cs typeface="DejaVu Sans"/>
              </a:rPr>
              <a:t>Yes, this works on Mars, the Moon, the Space Economy and on Earth but I am most interested in accelerating the way to Mars.</a:t>
            </a:r>
          </a:p>
        </p:txBody>
      </p:sp>
      <p:sp>
        <p:nvSpPr>
          <p:cNvPr id="12" name="Rectangle: Rounded Corners 11">
            <a:extLst xmlns:a="http://schemas.openxmlformats.org/drawingml/2006/main">
              <a:ext uri="{FF2B5EF4-FFF2-40B4-BE49-F238E27FC236}">
                <a16:creationId xmlns:a16="http://schemas.microsoft.com/office/drawing/2014/main" id="{A3E8FBE1-4547-26D8-E5CA-04309FEDF1B1}"/>
              </a:ext>
            </a:extLst>
          </p:cNvPr>
          <p:cNvSpPr>
            <a:spLocks xmlns:a="http://schemas.openxmlformats.org/drawingml/2006/main" noGrp="1"/>
          </p:cNvSpPr>
          <p:nvPr/>
        </p:nvSpPr>
        <p:spPr>
          <a:xfrm xmlns:a="http://schemas.openxmlformats.org/drawingml/2006/main">
            <a:off x="8128646" y="3024934"/>
            <a:ext cx="3234009" cy="2708600"/>
          </a:xfrm>
          <a:prstGeom xmlns:a="http://schemas.openxmlformats.org/drawingml/2006/main" prst="roundRect">
            <a:avLst>
              <a:gd name="adj" fmla="val 10040"/>
            </a:avLst>
          </a:prstGeom>
          <a:solidFill xmlns:a="http://schemas.openxmlformats.org/drawingml/2006/main">
            <a:srgbClr val="0D1216">
              <a:alpha val="94000"/>
            </a:srgbClr>
          </a:solidFill>
          <a:ln xmlns:a="http://schemas.openxmlformats.org/drawingml/2006/main" w="14288">
            <a:solidFill>
              <a:schemeClr val="accent5">
                <a:lumMod val="60000"/>
                <a:lumOff val="40000"/>
              </a:schemeClr>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125" b="1">
                <a:solidFill>
                  <a:srgbClr val="FFC857"/>
                </a:solidFill>
                <a:latin typeface="DejaVu Sans Mono"/>
                <a:ea typeface="DejaVu Sans Mono"/>
                <a:cs typeface="DejaVu Sans Mono"/>
              </a:defRPr>
            </a:pPr>
            <a:r>
              <a:rPr sz="1200">
                <a:solidFill>
                  <a:schemeClr val="accent5">
                    <a:lumMod val="60000"/>
                    <a:lumOff val="40000"/>
                  </a:schemeClr>
                </a:solidFill>
                <a:latin typeface="DejaVu Sans"/>
                <a:ea typeface="DejaVu Sans"/>
                <a:cs typeface="DejaVu Sans"/>
              </a:rPr>
              <a:t>Currently we are on the brink of AGI (Artificial General Intelligence) This is where Ai is more capable than all humans in every subject including knowledge (done) and reasoning (close).  We need to work hard to stay in the loop and not be overwhelmed.  This is a tsunami that will not slow down or stop.  I hope I can help in a small way using Ai to keep humans in the loop while solving the BIG issues to make the world (and out of this world) a better place </a:t>
            </a:r>
          </a:p>
        </p:txBody>
      </p:sp>
    </p:spTree>
    <p:extLst>
      <p:ext uri="{BB962C8B-B14F-4D97-AF65-F5344CB8AC3E}">
        <p14:creationId xmlns:p14="http://schemas.microsoft.com/office/powerpoint/2010/main" val="268970584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2026-09-07T18:53:47.1340000Z</dcterms:created>
  <dcterms:modified xsi:type="dcterms:W3CDTF">2026-09-07T18:53:47.1340000Z</dcterms:modified>
</coreProperties>
</file>