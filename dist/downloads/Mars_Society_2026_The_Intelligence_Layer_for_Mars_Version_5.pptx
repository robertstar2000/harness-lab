
<file path=[Content_Types].xml><?xml version="1.0" encoding="utf-8"?>
<Types xmlns="http://schemas.openxmlformats.org/package/2006/content-types">
  <Default Extension="xml" ContentType="application/vnd.openxmlformats-package.core-properties+xml"/>
  <Default Extension="png" ContentType="image/pn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7ddb280a1774c79" /><Relationship Type="http://schemas.openxmlformats.org/officeDocument/2006/relationships/extended-properties" Target="/docProps/app.xml" Id="R163e3015a48c4c4a" /><Relationship Type="http://schemas.openxmlformats.org/officeDocument/2006/relationships/officeDocument" Target="/ppt/presentation.xml" Id="Rd0f7e6cac8fd4ffe" /></Relationships>
</file>

<file path=ppt/presentation.xml><?xml version="1.0" encoding="utf-8"?>
<p:presentation xmlns:p="http://schemas.openxmlformats.org/presentationml/2006/main">
  <p:sldMasterIdLst>
    <p:sldMasterId xmlns:r="http://schemas.openxmlformats.org/officeDocument/2006/relationships" id="2147483648" r:id="Rcb364738e38942b7"/>
  </p:sldMasterIdLst>
  <p:notesMasterIdLst>
    <p:notesMasterId xmlns:r="http://schemas.openxmlformats.org/officeDocument/2006/relationships" r:id="R97cdeb071ef24efc"/>
  </p:notesMasterIdLst>
  <p:sldIdLst>
    <p:sldId xmlns:r="http://schemas.openxmlformats.org/officeDocument/2006/relationships" id="256" r:id="R12ffe7ee92e3441a"/>
    <p:sldId xmlns:r="http://schemas.openxmlformats.org/officeDocument/2006/relationships" id="257" r:id="Ra2857f0e963040d4"/>
    <p:sldId xmlns:r="http://schemas.openxmlformats.org/officeDocument/2006/relationships" id="258" r:id="R6d546d363aa34fb8"/>
    <p:sldId xmlns:r="http://schemas.openxmlformats.org/officeDocument/2006/relationships" id="259" r:id="R847e14c649b14a76"/>
    <p:sldId xmlns:r="http://schemas.openxmlformats.org/officeDocument/2006/relationships" id="260" r:id="R01d795f29e2b4d0e"/>
    <p:sldId xmlns:r="http://schemas.openxmlformats.org/officeDocument/2006/relationships" id="261" r:id="R6fe856e5045c462b"/>
    <p:sldId xmlns:r="http://schemas.openxmlformats.org/officeDocument/2006/relationships" id="262" r:id="R23fa7f983ad042e5"/>
    <p:sldId xmlns:r="http://schemas.openxmlformats.org/officeDocument/2006/relationships" id="263" r:id="R1b1f9122645043e4"/>
    <p:sldId xmlns:r="http://schemas.openxmlformats.org/officeDocument/2006/relationships" id="264" r:id="R303c3240fa5a456f"/>
    <p:sldId xmlns:r="http://schemas.openxmlformats.org/officeDocument/2006/relationships" id="265" r:id="Re9233d5ad6034e68"/>
    <p:sldId xmlns:r="http://schemas.openxmlformats.org/officeDocument/2006/relationships" id="266" r:id="Re2fac75851614d38"/>
    <p:sldId xmlns:r="http://schemas.openxmlformats.org/officeDocument/2006/relationships" id="267" r:id="R7c9dd857c47d4e13"/>
    <p:sldId xmlns:r="http://schemas.openxmlformats.org/officeDocument/2006/relationships" id="268" r:id="Rdc51aca9beb24e2c"/>
    <p:sldId xmlns:r="http://schemas.openxmlformats.org/officeDocument/2006/relationships" id="269" r:id="Rb0518678b04842b6"/>
    <p:sldId xmlns:r="http://schemas.openxmlformats.org/officeDocument/2006/relationships" id="270" r:id="R53c3b91cb05d4648"/>
    <p:sldId xmlns:r="http://schemas.openxmlformats.org/officeDocument/2006/relationships" id="271" r:id="R3630a25c74f144db"/>
    <p:sldId xmlns:r="http://schemas.openxmlformats.org/officeDocument/2006/relationships" id="272" r:id="Rca5fca10088e4421"/>
    <p:sldId xmlns:r="http://schemas.openxmlformats.org/officeDocument/2006/relationships" id="273" r:id="R6315ae9ef22f49a2"/>
    <p:sldId xmlns:r="http://schemas.openxmlformats.org/officeDocument/2006/relationships" id="274" r:id="Rb42357e190e44dcc"/>
    <p:sldId xmlns:r="http://schemas.openxmlformats.org/officeDocument/2006/relationships" id="275" r:id="Rdae84ae2e15f480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c21ff87de08472a" /><Relationship Type="http://schemas.openxmlformats.org/officeDocument/2006/relationships/slideMaster" Target="/ppt/slideMasters/slideMaster1.xml" Id="Rcb364738e38942b7" /><Relationship Type="http://schemas.openxmlformats.org/officeDocument/2006/relationships/notesMaster" Target="/ppt/notesMasters/notesMaster1.xml" Id="R97cdeb071ef24efc" /><Relationship Type="http://schemas.openxmlformats.org/officeDocument/2006/relationships/presProps" Target="/ppt/presProps.xml" Id="R791ed415ee2f483b" /><Relationship Type="http://schemas.openxmlformats.org/officeDocument/2006/relationships/tableStyles" Target="/ppt/tableStyles.xml" Id="Reb41b996d15c4d28" /><Relationship Type="http://schemas.openxmlformats.org/officeDocument/2006/relationships/slide" Target="/ppt/slides/slide1.xml" Id="R12ffe7ee92e3441a" /><Relationship Type="http://schemas.openxmlformats.org/officeDocument/2006/relationships/slide" Target="/ppt/slides/slide2.xml" Id="Ra2857f0e963040d4" /><Relationship Type="http://schemas.openxmlformats.org/officeDocument/2006/relationships/slide" Target="/ppt/slides/slide3.xml" Id="R6d546d363aa34fb8" /><Relationship Type="http://schemas.openxmlformats.org/officeDocument/2006/relationships/slide" Target="/ppt/slides/slide4.xml" Id="R847e14c649b14a76" /><Relationship Type="http://schemas.openxmlformats.org/officeDocument/2006/relationships/slide" Target="/ppt/slides/slide5.xml" Id="R01d795f29e2b4d0e" /><Relationship Type="http://schemas.openxmlformats.org/officeDocument/2006/relationships/slide" Target="/ppt/slides/slide6.xml" Id="R6fe856e5045c462b" /><Relationship Type="http://schemas.openxmlformats.org/officeDocument/2006/relationships/slide" Target="/ppt/slides/slide7.xml" Id="R23fa7f983ad042e5" /><Relationship Type="http://schemas.openxmlformats.org/officeDocument/2006/relationships/slide" Target="/ppt/slides/slide8.xml" Id="R1b1f9122645043e4" /><Relationship Type="http://schemas.openxmlformats.org/officeDocument/2006/relationships/slide" Target="/ppt/slides/slide9.xml" Id="R303c3240fa5a456f" /><Relationship Type="http://schemas.openxmlformats.org/officeDocument/2006/relationships/slide" Target="/ppt/slides/slide10.xml" Id="Re9233d5ad6034e68" /><Relationship Type="http://schemas.openxmlformats.org/officeDocument/2006/relationships/slide" Target="/ppt/slides/slide11.xml" Id="Re2fac75851614d38" /><Relationship Type="http://schemas.openxmlformats.org/officeDocument/2006/relationships/slide" Target="/ppt/slides/slide12.xml" Id="R7c9dd857c47d4e13" /><Relationship Type="http://schemas.openxmlformats.org/officeDocument/2006/relationships/slide" Target="/ppt/slides/slide13.xml" Id="Rdc51aca9beb24e2c" /><Relationship Type="http://schemas.openxmlformats.org/officeDocument/2006/relationships/slide" Target="/ppt/slides/slide14.xml" Id="Rb0518678b04842b6" /><Relationship Type="http://schemas.openxmlformats.org/officeDocument/2006/relationships/slide" Target="/ppt/slides/slide15.xml" Id="R53c3b91cb05d4648" /><Relationship Type="http://schemas.openxmlformats.org/officeDocument/2006/relationships/slide" Target="/ppt/slides/slide16.xml" Id="R3630a25c74f144db" /><Relationship Type="http://schemas.openxmlformats.org/officeDocument/2006/relationships/slide" Target="/ppt/slides/slide17.xml" Id="Rca5fca10088e4421" /><Relationship Type="http://schemas.openxmlformats.org/officeDocument/2006/relationships/slide" Target="/ppt/slides/slide18.xml" Id="R6315ae9ef22f49a2" /><Relationship Type="http://schemas.openxmlformats.org/officeDocument/2006/relationships/slide" Target="/ppt/slides/slide19.xml" Id="Rb42357e190e44dcc" /><Relationship Type="http://schemas.openxmlformats.org/officeDocument/2006/relationships/slide" Target="/ppt/slides/slide20.xml" Id="Rdae84ae2e15f48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a0169e4dff40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9468b090c54d83" /><Relationship Type="http://schemas.openxmlformats.org/officeDocument/2006/relationships/notesMaster" Target="/ppt/notesMasters/notesMaster1.xml" Id="R9798376c5ca44f07" /></Relationships>
</file>

<file path=ppt/notesSlides/_rels/notesSlide2.xml.rels>&#65279;<?xml version="1.0" encoding="utf-8"?><Relationships xmlns="http://schemas.openxmlformats.org/package/2006/relationships"><Relationship Type="http://schemas.openxmlformats.org/officeDocument/2006/relationships/slide" Target="/ppt/slides/slide2.xml" Id="Re3e87c424862498d" /><Relationship Type="http://schemas.openxmlformats.org/officeDocument/2006/relationships/notesMaster" Target="/ppt/notesMasters/notesMaster1.xml" Id="Rdff16a2d313d4b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1e53e070cddc4ce6" /><Relationship Type="http://schemas.openxmlformats.org/officeDocument/2006/relationships/notesMaster" Target="/ppt/notesMasters/notesMaster1.xml" Id="Rac1267f3d99d4f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1c5a8b1327a4d67" /><Relationship Type="http://schemas.openxmlformats.org/officeDocument/2006/relationships/notesMaster" Target="/ppt/notesMasters/notesMaster1.xml" Id="R7347e1a260d64400" /></Relationships>
</file>

<file path=ppt/notesSlides/_rels/notesSlide5.xml.rels>&#65279;<?xml version="1.0" encoding="utf-8"?><Relationships xmlns="http://schemas.openxmlformats.org/package/2006/relationships"><Relationship Type="http://schemas.openxmlformats.org/officeDocument/2006/relationships/slide" Target="/ppt/slides/slide5.xml" Id="R28cabfc23ac64741" /><Relationship Type="http://schemas.openxmlformats.org/officeDocument/2006/relationships/notesMaster" Target="/ppt/notesMasters/notesMaster1.xml" Id="Rd848d14b13a742bf" /></Relationships>
</file>

<file path=ppt/notesSlides/_rels/notesSlide6.xml.rels>&#65279;<?xml version="1.0" encoding="utf-8"?><Relationships xmlns="http://schemas.openxmlformats.org/package/2006/relationships"><Relationship Type="http://schemas.openxmlformats.org/officeDocument/2006/relationships/slide" Target="/ppt/slides/slide6.xml" Id="R3815970808d5402f" /><Relationship Type="http://schemas.openxmlformats.org/officeDocument/2006/relationships/notesMaster" Target="/ppt/notesMasters/notesMaster1.xml" Id="R1794b681efda49e0" /></Relationships>
</file>

<file path=ppt/notesSlides/_rels/notesSlide7.xml.rels>&#65279;<?xml version="1.0" encoding="utf-8"?><Relationships xmlns="http://schemas.openxmlformats.org/package/2006/relationships"><Relationship Type="http://schemas.openxmlformats.org/officeDocument/2006/relationships/slide" Target="/ppt/slides/slide7.xml" Id="R47180c6357ef4f4d" /><Relationship Type="http://schemas.openxmlformats.org/officeDocument/2006/relationships/notesMaster" Target="/ppt/notesMasters/notesMaster1.xml" Id="R2a1725dded134ddc" /></Relationships>
</file>

<file path=ppt/notesSlides/_rels/notesSlide8.xml.rels>&#65279;<?xml version="1.0" encoding="utf-8"?><Relationships xmlns="http://schemas.openxmlformats.org/package/2006/relationships"><Relationship Type="http://schemas.openxmlformats.org/officeDocument/2006/relationships/slide" Target="/ppt/slides/slide8.xml" Id="R80ee402c708f4dff" /><Relationship Type="http://schemas.openxmlformats.org/officeDocument/2006/relationships/notesMaster" Target="/ppt/notesMasters/notesMaster1.xml" Id="Rfaed980ca24943c6" /></Relationships>
</file>

<file path=ppt/notesSlides/_rels/notesSlide9.xml.rels>&#65279;<?xml version="1.0" encoding="utf-8"?><Relationships xmlns="http://schemas.openxmlformats.org/package/2006/relationships"><Relationship Type="http://schemas.openxmlformats.org/officeDocument/2006/relationships/slide" Target="/ppt/slides/slide9.xml" Id="R5ce49ef299df430e" /><Relationship Type="http://schemas.openxmlformats.org/officeDocument/2006/relationships/notesMaster" Target="/ppt/notesMasters/notesMaster1.xml" Id="Rd695f815cde2484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cecbbbd132f4a65" /><Relationship Type="http://schemas.openxmlformats.org/officeDocument/2006/relationships/notesMaster" Target="/ppt/notesMasters/notesMaster1.xml" Id="R905e7cbefb57446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61d45d96e6d4518" /><Relationship Type="http://schemas.openxmlformats.org/officeDocument/2006/relationships/notesMaster" Target="/ppt/notesMasters/notesMaster1.xml" Id="R3235973801754f5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b391be717c14d43" /><Relationship Type="http://schemas.openxmlformats.org/officeDocument/2006/relationships/notesMaster" Target="/ppt/notesMasters/notesMaster1.xml" Id="R3813f31fb2fb44a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939348082ac4524" /><Relationship Type="http://schemas.openxmlformats.org/officeDocument/2006/relationships/notesMaster" Target="/ppt/notesMasters/notesMaster1.xml" Id="Rf05b83a271b445a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3fe1134da944faf" /><Relationship Type="http://schemas.openxmlformats.org/officeDocument/2006/relationships/notesMaster" Target="/ppt/notesMasters/notesMaster1.xml" Id="R17dd13471cb84db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1cbb659a7ad4601" /><Relationship Type="http://schemas.openxmlformats.org/officeDocument/2006/relationships/notesMaster" Target="/ppt/notesMasters/notesMaster1.xml" Id="Rfbddebe0bd8f4a6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a0cb041595f413a" /><Relationship Type="http://schemas.openxmlformats.org/officeDocument/2006/relationships/notesMaster" Target="/ppt/notesMasters/notesMaster1.xml" Id="R791f790b6c254d4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f1d8d1980b141f7" /><Relationship Type="http://schemas.openxmlformats.org/officeDocument/2006/relationships/notesMaster" Target="/ppt/notesMasters/notesMaster1.xml" Id="Rcc5e1a2964e443f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36341ac6bf84c5d" /><Relationship Type="http://schemas.openxmlformats.org/officeDocument/2006/relationships/notesMaster" Target="/ppt/notesMasters/notesMaster1.xml" Id="Rbc0259f77dbf40e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1a9b234bbe34fd1" /><Relationship Type="http://schemas.openxmlformats.org/officeDocument/2006/relationships/notesMaster" Target="/ppt/notesMasters/notesMaster1.xml" Id="Rd104a6be56894d4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c58f564349b4420" /><Relationship Type="http://schemas.openxmlformats.org/officeDocument/2006/relationships/notesMaster" Target="/ppt/notesMasters/notesMaster1.xml" Id="R21ce4e53d8d84e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a:t>
            </a:r>
          </a:p>
          <a:p xmlns:a="http://schemas.openxmlformats.org/drawingml/2006/main">
            <a:r>
              <a:t/>
            </a:r>
          </a:p>
          <a:p xmlns:a="http://schemas.openxmlformats.org/drawingml/2006/main">
            <a:r>
              <a:t>Mars is not waiting for one discipline at a time. Every meaningful surface system couples science, physical engineering, operations and human survival. The thesis tonight is simple: the next leap is not a larger chatbot. It is an intelligence layer—a governed way for people, AI models, solvers, instruments and robots to work through evidence, design, verification and learning as one system.</a:t>
            </a:r>
          </a:p>
          <a:p xmlns:a="http://schemas.openxmlformats.org/drawingml/2006/main">
            <a:r>
              <a:t/>
            </a:r>
          </a:p>
          <a:p xmlns:a="http://schemas.openxmlformats.org/drawingml/2006/main">
            <a:r>
              <a:t>The harness is the durable part. Models will change rapidly. Mars missions cannot rebuild their operating method every time the model underneath improves. We need persistent memory, explicit work products, traceable handoffs and gates that stronger future intelligence can inherit. The goal is faster learning without counterfeit certainty.</a:t>
            </a:r>
          </a:p>
          <a:p xmlns:a="http://schemas.openxmlformats.org/drawingml/2006/main">
            <a:r>
              <a:t/>
            </a:r>
          </a:p>
          <a:p xmlns:a="http://schemas.openxmlformats.org/drawingml/2006/main">
            <a:r>
              <a:t>[Sources]</a:t>
            </a:r>
          </a:p>
          <a:p xmlns:a="http://schemas.openxmlformats.org/drawingml/2006/main">
            <a:r>
              <a:t>- https://www.marssociety.org/news/2026/03/23/save-the-dates-29th-annual-international-mars-society-convention-at-usc/</a:t>
            </a:r>
          </a:p>
          <a:p xmlns:a="http://schemas.openxmlformats.org/drawingml/2006/main">
            <a:r>
              <a:t>- https://convention.marssociety.org/</a:t>
            </a:r>
          </a:p>
          <a:p xmlns:a="http://schemas.openxmlformats.org/drawingml/2006/main">
            <a:r>
              <a:t>- Bob J Mills, Detailed Initial Chat Summary and Restored Concepts, Mars project record.</a:t>
            </a:r>
          </a:p>
          <a:p xmlns:a="http://schemas.openxmlformats.org/drawingml/2006/main">
            <a:r>
              <a:t>- Visual: original AI-generated Mars settlement image created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a:t>
            </a:r>
          </a:p>
          <a:p xmlns:a="http://schemas.openxmlformats.org/drawingml/2006/main">
            <a:r>
              <a:t/>
            </a:r>
          </a:p>
          <a:p xmlns:a="http://schemas.openxmlformats.org/drawingml/2006/main">
            <a:r>
              <a:t>Frame the problem as learning latency, not merely compute. Mars teams must turn uncertain observations into defensible action while mass, power, schedule and crew margins keep closing. That requires literature search, data grounding, hypothesis testing, multidisciplinary analysis, review, documentation and physical verification to move as a connected loop.</a:t>
            </a:r>
          </a:p>
          <a:p xmlns:a="http://schemas.openxmlformats.org/drawingml/2006/main">
            <a:r>
              <a:t/>
            </a:r>
          </a:p>
          <a:p xmlns:a="http://schemas.openxmlformats.org/drawingml/2006/main">
            <a:r>
              <a:t>Communications delay makes the problem visible. NASA’s Moon-to-Mars analysis finds one-way delays can reach roughly twenty-one to twenty-three minutes, with representative blackout periods lasting about thirteen to twenty-one days. Earth cannot remain the synchronous brain for every decision. The same constraint appears before launch: science and engineering teams lose time at handoffs, review preparation and rediscovery of prior reasoning.</a:t>
            </a:r>
          </a:p>
          <a:p xmlns:a="http://schemas.openxmlformats.org/drawingml/2006/main">
            <a:r>
              <a:t/>
            </a:r>
          </a:p>
          <a:p xmlns:a="http://schemas.openxmlformats.org/drawingml/2006/main">
            <a:r>
              <a:t>Agentic harnesses do not make physics instantaneous. They compress avoidable waiting by running controlled work in parallel, carrying evidence forward and surfacing broken links early.</a:t>
            </a:r>
          </a:p>
          <a:p xmlns:a="http://schemas.openxmlformats.org/drawingml/2006/main">
            <a:r>
              <a:t/>
            </a:r>
          </a:p>
          <a:p xmlns:a="http://schemas.openxmlformats.org/drawingml/2006/main">
            <a:r>
              <a:t>[Sources]</a:t>
            </a:r>
          </a:p>
          <a:p xmlns:a="http://schemas.openxmlformats.org/drawingml/2006/main">
            <a:r>
              <a:t>- https://www.nasa.gov/wp-content/uploads/2024/01/mars-communications-disruption-and-delay.pdf</a:t>
            </a:r>
          </a:p>
          <a:p xmlns:a="http://schemas.openxmlformats.org/drawingml/2006/main">
            <a:r>
              <a:t>- https://science.nasa.gov/mars/facts/</a:t>
            </a:r>
          </a:p>
          <a:p xmlns:a="http://schemas.openxmlformats.org/drawingml/2006/main">
            <a:r>
              <a:t>- Bob J Mills, Version 4 transcript and restored presentation design record.</a:t>
            </a:r>
          </a:p>
          <a:p xmlns:a="http://schemas.openxmlformats.org/drawingml/2006/main">
            <a:r>
              <a:t>- Visual: original AI-generated Mars mission-control image created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a:t>
            </a:r>
          </a:p>
          <a:p xmlns:a="http://schemas.openxmlformats.org/drawingml/2006/main">
            <a:r>
              <a:t/>
            </a:r>
          </a:p>
          <a:p xmlns:a="http://schemas.openxmlformats.org/drawingml/2006/main">
            <a:r>
              <a:t>This is the architectural definition. A model is the engine; the harness is the infrastructure surrounding it. That infrastructure is the difference between describing a task and completing it with evidence and accountable control.</a:t>
            </a:r>
          </a:p>
          <a:p xmlns:a="http://schemas.openxmlformats.org/drawingml/2006/main">
            <a:r>
              <a:t/>
            </a:r>
          </a:p>
          <a:p xmlns:a="http://schemas.openxmlformats.org/drawingml/2006/main">
            <a:r>
              <a:t>Walk the seven functions: first, the orchestration loop that plans, executes, inspects and repairs. Second, system instructions that define role and purpose. Third, tool access. Fourth, context management. Fifth, memory and state. Sixth, bounded subagents. Seventh, guardrails and approval controls.</a:t>
            </a:r>
          </a:p>
          <a:p xmlns:a="http://schemas.openxmlformats.org/drawingml/2006/main">
            <a:r>
              <a:t/>
            </a:r>
          </a:p>
          <a:p xmlns:a="http://schemas.openxmlformats.org/drawingml/2006/main">
            <a:r>
              <a:t>The model can change without breaking the process because work-product contracts, ground-truth checks, durable state and authority remain stable. This is why harness design can matter more than the model itself.</a:t>
            </a:r>
          </a:p>
          <a:p xmlns:a="http://schemas.openxmlformats.org/drawingml/2006/main">
            <a:r>
              <a:t/>
            </a:r>
          </a:p>
          <a:p xmlns:a="http://schemas.openxmlformats.org/drawingml/2006/main">
            <a:r>
              <a:t>[Sources]</a:t>
            </a:r>
          </a:p>
          <a:p xmlns:a="http://schemas.openxmlformats.org/drawingml/2006/main">
            <a:r>
              <a:t>- User-supplied agent-harness definition and seven-function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a:t>
            </a:r>
          </a:p>
          <a:p xmlns:a="http://schemas.openxmlformats.org/drawingml/2006/main">
            <a:r>
              <a:t/>
            </a:r>
          </a:p>
          <a:p xmlns:a="http://schemas.openxmlformats.org/drawingml/2006/main">
            <a:r>
              <a:t>Named agents are useful for implementation, but they are a fragile architecture. The durable map is the set of capabilities and the evidence each capability must produce. Scientific reasoning, literature grounding, simulation, systems engineering, CAD, FMEA, test planning and governance are skills. A person, model, database, solver, robot or future AGI can perform a skill if it satisfies the contract.</a:t>
            </a:r>
          </a:p>
          <a:p xmlns:a="http://schemas.openxmlformats.org/drawingml/2006/main">
            <a:r>
              <a:t/>
            </a:r>
          </a:p>
          <a:p xmlns:a="http://schemas.openxmlformats.org/drawingml/2006/main">
            <a:r>
              <a:t>This matters on Mars because the executor changes with context. During communications delay, a local model may act. For a nonlinear trade, a deterministic solver should act. For a physical claim, an instrument or chamber test must act. For risk acceptance, authorized mission leadership must act.</a:t>
            </a:r>
          </a:p>
          <a:p xmlns:a="http://schemas.openxmlformats.org/drawingml/2006/main">
            <a:r>
              <a:t/>
            </a:r>
          </a:p>
          <a:p xmlns:a="http://schemas.openxmlformats.org/drawingml/2006/main">
            <a:r>
              <a:t>Skills over agents prevents tool worship. It also makes the handoff auditable: the next stage receives an approved work product, not merely the opinion of a named digital persona.</a:t>
            </a:r>
          </a:p>
          <a:p xmlns:a="http://schemas.openxmlformats.org/drawingml/2006/main">
            <a:r>
              <a:t/>
            </a:r>
          </a:p>
          <a:p xmlns:a="http://schemas.openxmlformats.org/drawingml/2006/main">
            <a:r>
              <a:t>[Sources]</a:t>
            </a:r>
          </a:p>
          <a:p xmlns:a="http://schemas.openxmlformats.org/drawingml/2006/main">
            <a:r>
              <a:t>- Bob J Mills, Detailed Initial Chat Summary and Restored Concepts, section 5.</a:t>
            </a:r>
          </a:p>
          <a:p xmlns:a="http://schemas.openxmlformats.org/drawingml/2006/main">
            <a:r>
              <a:t>- https://github.com/Robertstar2000/Hypatia-Pro</a:t>
            </a:r>
          </a:p>
          <a:p xmlns:a="http://schemas.openxmlformats.org/drawingml/2006/main">
            <a:r>
              <a:t>- https://github.com/Robertstar2000/Intelligent-Engineer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a:t>
            </a:r>
          </a:p>
          <a:p xmlns:a="http://schemas.openxmlformats.org/drawingml/2006/main">
            <a:r>
              <a:t/>
            </a:r>
          </a:p>
          <a:p xmlns:a="http://schemas.openxmlformats.org/drawingml/2006/main">
            <a:r>
              <a:t>The architecture uses two connected harnesses because science and engineering have different jobs. Hypatia Pro asks what is supported, uncertain or unresolved. Intelligent Engineer Pro asks how to build within that evidence, how to control risk and how to prove the result.</a:t>
            </a:r>
          </a:p>
          <a:p xmlns:a="http://schemas.openxmlformats.org/drawingml/2006/main">
            <a:r>
              <a:t/>
            </a:r>
          </a:p>
          <a:p xmlns:a="http://schemas.openxmlformats.org/drawingml/2006/main">
            <a:r>
              <a:t>The forward handoff is an Engineering Evidence Package: equations, distributions, operating envelopes, provenance, assumptions, failure thresholds and minimum additional tests. The return handoff is a Research Request Package: a blocked decision, competing hypotheses, variables, Mars boundary conditions, method and acceptance threshold.</a:t>
            </a:r>
          </a:p>
          <a:p xmlns:a="http://schemas.openxmlformats.org/drawingml/2006/main">
            <a:r>
              <a:t/>
            </a:r>
          </a:p>
          <a:p xmlns:a="http://schemas.openxmlformats.org/drawingml/2006/main">
            <a:r>
              <a:t>That return path is essential. It turns “we need more research” into a bounded job that can be executed and reinserted into the same baseline. Verification, manufacturing and operations then generate new evidence. The digital thread keeps the loop continuous across tools, people and future model generations.</a:t>
            </a:r>
          </a:p>
          <a:p xmlns:a="http://schemas.openxmlformats.org/drawingml/2006/main">
            <a:r>
              <a:t/>
            </a:r>
          </a:p>
          <a:p xmlns:a="http://schemas.openxmlformats.org/drawingml/2006/main">
            <a:r>
              <a:t>[Sources]</a:t>
            </a:r>
          </a:p>
          <a:p xmlns:a="http://schemas.openxmlformats.org/drawingml/2006/main">
            <a:r>
              <a:t>- Bob J Mills, Detailed Initial Chat Summary and Restored Concepts, sections 6–8.</a:t>
            </a:r>
          </a:p>
          <a:p xmlns:a="http://schemas.openxmlformats.org/drawingml/2006/main">
            <a:r>
              <a:t>- https://github.com/Robertstar2000/Hypatia-Pro</a:t>
            </a:r>
          </a:p>
          <a:p xmlns:a="http://schemas.openxmlformats.org/drawingml/2006/main">
            <a:r>
              <a:t>- https://github.com/Robertstar2000/Intelligent-Engineer</a:t>
            </a:r>
          </a:p>
          <a:p xmlns:a="http://schemas.openxmlformats.org/drawingml/2006/main">
            <a:r>
              <a:t>- Animated telemetry assets: original AI-generated sprite sheet assembled into GIFs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a:t>
            </a:r>
          </a:p>
          <a:p xmlns:a="http://schemas.openxmlformats.org/drawingml/2006/main">
            <a:r>
              <a:t/>
            </a:r>
          </a:p>
          <a:p xmlns:a="http://schemas.openxmlformats.org/drawingml/2006/main">
            <a:r>
              <a:t>Hypatia is a scientific-discovery harness, not a fluent literature summarizer. It refines the question, grounds it in prior evidence, generates falsifiable competing hypotheses, defines variables and measurement protocols, obtains evidence, quantifies uncertainty and invites adversarial attack.</a:t>
            </a:r>
          </a:p>
          <a:p xmlns:a="http://schemas.openxmlformats.org/drawingml/2006/main">
            <a:r>
              <a:t/>
            </a:r>
          </a:p>
          <a:p xmlns:a="http://schemas.openxmlformats.org/drawingml/2006/main">
            <a:r>
              <a:t>The governing loop is generate, validate, critique, repair, approve and persist. A model may draft an artifact, but drafting is not promotion. The artifact must survive checks appropriate to its class. A literature claim needs a traceable source. A simulated result needs a model, assumptions and boundary conditions. An empirical claim needs measurement provenance. A failed hypothesis is preserved because negative evidence is part of mission knowledge.</a:t>
            </a:r>
          </a:p>
          <a:p xmlns:a="http://schemas.openxmlformats.org/drawingml/2006/main">
            <a:r>
              <a:t/>
            </a:r>
          </a:p>
          <a:p xmlns:a="http://schemas.openxmlformats.org/drawingml/2006/main">
            <a:r>
              <a:t>The loop can move backward whenever grounding, protocol or inference is weak. That willingness to refuse premature certainty is what makes the output safe enough to become an engineering input.</a:t>
            </a:r>
          </a:p>
          <a:p xmlns:a="http://schemas.openxmlformats.org/drawingml/2006/main">
            <a:r>
              <a:t/>
            </a:r>
          </a:p>
          <a:p xmlns:a="http://schemas.openxmlformats.org/drawingml/2006/main">
            <a:r>
              <a:t>[Sources]</a:t>
            </a:r>
          </a:p>
          <a:p xmlns:a="http://schemas.openxmlformats.org/drawingml/2006/main">
            <a:r>
              <a:t>- Bob J Mills, Detailed Initial Chat Summary and Restored Concepts, section 6.</a:t>
            </a:r>
          </a:p>
          <a:p xmlns:a="http://schemas.openxmlformats.org/drawingml/2006/main">
            <a:r>
              <a:t>- https://github.com/Robertstar2000/Hypatia-Pro</a:t>
            </a:r>
          </a:p>
          <a:p xmlns:a="http://schemas.openxmlformats.org/drawingml/2006/main">
            <a:r>
              <a:t>- Visual: original AI-generated Mars laboratory image created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a:t>
            </a:r>
          </a:p>
          <a:p xmlns:a="http://schemas.openxmlformats.org/drawingml/2006/main">
            <a:r>
              <a:t/>
            </a:r>
          </a:p>
          <a:p xmlns:a="http://schemas.openxmlformats.org/drawingml/2006/main">
            <a:r>
              <a:t>A mission loses integrity when evidence classes blur. Literature can be authoritative within its scope, but it is not automatically valid at a different pressure, temperature, material or scale. A model can be useful and still be wrong outside its assumptions. A physical measurement can be real and still have uncertainty or limited transferability. An unresolved question is not a defect to hide; it is a work item.</a:t>
            </a:r>
          </a:p>
          <a:p xmlns:a="http://schemas.openxmlformats.org/drawingml/2006/main">
            <a:r>
              <a:t/>
            </a:r>
          </a:p>
          <a:p xmlns:a="http://schemas.openxmlformats.org/drawingml/2006/main">
            <a:r>
              <a:t>The harness attaches status to the claim itself. It also carries source, scope, assumptions, boundary conditions, measurement method, uncertainty and disposition. That allows engineering to use knowledge without pretending it is stronger than it is.</a:t>
            </a:r>
          </a:p>
          <a:p xmlns:a="http://schemas.openxmlformats.org/drawingml/2006/main">
            <a:r>
              <a:t/>
            </a:r>
          </a:p>
          <a:p xmlns:a="http://schemas.openxmlformats.org/drawingml/2006/main">
            <a:r>
              <a:t>This is especially important in AI-generated work. Fluency can erase the visual cues that used to warn us an answer was tentative. Explicit epistemic status puts those cues back into the engineering record and lets later evidence reopen affected requirements and decisions.</a:t>
            </a:r>
          </a:p>
          <a:p xmlns:a="http://schemas.openxmlformats.org/drawingml/2006/main">
            <a:r>
              <a:t/>
            </a:r>
          </a:p>
          <a:p xmlns:a="http://schemas.openxmlformats.org/drawingml/2006/main">
            <a:r>
              <a:t>[Sources]</a:t>
            </a:r>
          </a:p>
          <a:p xmlns:a="http://schemas.openxmlformats.org/drawingml/2006/main">
            <a:r>
              <a:t>- Bob J Mills, Sources, Claims and Replacement Ledger, Mars Version 4 package.</a:t>
            </a:r>
          </a:p>
          <a:p xmlns:a="http://schemas.openxmlformats.org/drawingml/2006/main">
            <a:r>
              <a:t>- https://science.nasa.gov/mars/facts/</a:t>
            </a:r>
          </a:p>
          <a:p xmlns:a="http://schemas.openxmlformats.org/drawingml/2006/main">
            <a:r>
              <a:t>- https://github.com/Robertstar2000/Hypatia-Pro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a:t>
            </a:r>
          </a:p>
          <a:p xmlns:a="http://schemas.openxmlformats.org/drawingml/2006/main">
            <a:r>
              <a:t/>
            </a:r>
          </a:p>
          <a:p xmlns:a="http://schemas.openxmlformats.org/drawingml/2006/main">
            <a:r>
              <a:t>Intelligent Engineer Pro takes an approved evidence package and converts it into requirements, architecture alternatives, margins, design analyses, risks, verification methods and controlled review artifacts. It is phase-gated because a fast draft must not become an invisible baseline.</a:t>
            </a:r>
          </a:p>
          <a:p xmlns:a="http://schemas.openxmlformats.org/drawingml/2006/main">
            <a:r>
              <a:t/>
            </a:r>
          </a:p>
          <a:p xmlns:a="http://schemas.openxmlformats.org/drawingml/2006/main">
            <a:r>
              <a:t>The harness supports project definition, requirements and constraints, discipline selection, preliminary and critical design, focused design sprints, multidisciplinary analysis, CAD, FEA, CFD, circuit and process work, DFMA, FMEA, redundancy, manufacturing, maintenance and operations planning. It can generate next-phase seeds, but those seeds remain drafts until reviewed.</a:t>
            </a:r>
          </a:p>
          <a:p xmlns:a="http://schemas.openxmlformats.org/drawingml/2006/main">
            <a:r>
              <a:t/>
            </a:r>
          </a:p>
          <a:p xmlns:a="http://schemas.openxmlformats.org/drawingml/2006/main">
            <a:r>
              <a:t>The important distinction is authorization. A model can propose a requirement or design. The project records what evidence supports it, what assumptions remain, what test will verify it and what authority locks it. That discipline lets automation accelerate engineering without smuggling unreviewed content into the next phase.</a:t>
            </a:r>
          </a:p>
          <a:p xmlns:a="http://schemas.openxmlformats.org/drawingml/2006/main">
            <a:r>
              <a:t/>
            </a:r>
          </a:p>
          <a:p xmlns:a="http://schemas.openxmlformats.org/drawingml/2006/main">
            <a:r>
              <a:t>[Sources]</a:t>
            </a:r>
          </a:p>
          <a:p xmlns:a="http://schemas.openxmlformats.org/drawingml/2006/main">
            <a:r>
              <a:t>- Bob J Mills, Detailed Initial Chat Summary and Restored Concepts, section 6.</a:t>
            </a:r>
          </a:p>
          <a:p xmlns:a="http://schemas.openxmlformats.org/drawingml/2006/main">
            <a:r>
              <a:t>- https://github.com/Robertstar2000/Intelligent-Engineer</a:t>
            </a:r>
          </a:p>
          <a:p xmlns:a="http://schemas.openxmlformats.org/drawingml/2006/main">
            <a:r>
              <a:t>- Visual: original AI-generated Mars engineering and digital-twin image created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a:t>
            </a:r>
          </a:p>
          <a:p xmlns:a="http://schemas.openxmlformats.org/drawingml/2006/main">
            <a:r>
              <a:t/>
            </a:r>
          </a:p>
          <a:p xmlns:a="http://schemas.openxmlformats.org/drawingml/2006/main">
            <a:r>
              <a:t>The handoff between science and engineering cannot be a prose answer. Engineering needs a structured evidence package containing equations, parameter distributions, operating envelopes, assumptions, failure thresholds, confidence, provenance and the tests still required.</a:t>
            </a:r>
          </a:p>
          <a:p xmlns:a="http://schemas.openxmlformats.org/drawingml/2006/main">
            <a:r>
              <a:t/>
            </a:r>
          </a:p>
          <a:p xmlns:a="http://schemas.openxmlformats.org/drawingml/2006/main">
            <a:r>
              <a:t>Each element is linked. A source supports a bounded claim. The claim defines a parameter or constraint. The parameter supports a requirement or trade. The requirement has a verification method and status. When evidence changes, the digital thread identifies exactly which requirement, model, test or decision is affected.</a:t>
            </a:r>
          </a:p>
          <a:p xmlns:a="http://schemas.openxmlformats.org/drawingml/2006/main">
            <a:r>
              <a:t/>
            </a:r>
          </a:p>
          <a:p xmlns:a="http://schemas.openxmlformats.org/drawingml/2006/main">
            <a:r>
              <a:t>This is where a harness becomes more than workflow automation. It creates machine-readable contracts between disciplines. It allows agents to maintain traceability, detect inconsistencies and reopen focused work before a review. The result is less time reconstructing intent and more time resolving the actual engineering question.</a:t>
            </a:r>
          </a:p>
          <a:p xmlns:a="http://schemas.openxmlformats.org/drawingml/2006/main">
            <a:r>
              <a:t/>
            </a:r>
          </a:p>
          <a:p xmlns:a="http://schemas.openxmlformats.org/drawingml/2006/main">
            <a:r>
              <a:t>[Sources]</a:t>
            </a:r>
          </a:p>
          <a:p xmlns:a="http://schemas.openxmlformats.org/drawingml/2006/main">
            <a:r>
              <a:t>- Bob J Mills, Detailed Initial Chat Summary and Restored Concepts, section 7.</a:t>
            </a:r>
          </a:p>
          <a:p xmlns:a="http://schemas.openxmlformats.org/drawingml/2006/main">
            <a:r>
              <a:t>- https://github.com/Robertstar2000/Hypatia-Pro</a:t>
            </a:r>
          </a:p>
          <a:p xmlns:a="http://schemas.openxmlformats.org/drawingml/2006/main">
            <a:r>
              <a:t>- https://github.com/Robertstar2000/Intelligent-Engineer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a:t>
            </a:r>
          </a:p>
          <a:p xmlns:a="http://schemas.openxmlformats.org/drawingml/2006/main">
            <a:r>
              <a:t/>
            </a:r>
          </a:p>
          <a:p xmlns:a="http://schemas.openxmlformats.org/drawingml/2006/main">
            <a:r>
              <a:t>A linear research-to-engineering arrow is incomplete. The real acceleration comes from closing the return path. Research delivers approved evidence. Engineering turns it into requirements and trades. Design or analysis exposes a blocking uncertainty. The harness packages that uncertainty as a precise research request. Targeted evidence returns to the same baseline, the affected decision is updated and engineering continues.</a:t>
            </a:r>
          </a:p>
          <a:p xmlns:a="http://schemas.openxmlformats.org/drawingml/2006/main">
            <a:r>
              <a:t/>
            </a:r>
          </a:p>
          <a:p xmlns:a="http://schemas.openxmlformats.org/drawingml/2006/main">
            <a:r>
              <a:t>Agents can search, simulate, critique, document and maintain links throughout the loop. The key is that they do not erase the issue. They make it explicit and executable. A good Research Request Package names the blocked decision, hypotheses, variables, Mars boundary conditions, method, minimum detectable effect, evidence quality and acceptance threshold.</a:t>
            </a:r>
          </a:p>
          <a:p xmlns:a="http://schemas.openxmlformats.org/drawingml/2006/main">
            <a:r>
              <a:t/>
            </a:r>
          </a:p>
          <a:p xmlns:a="http://schemas.openxmlformats.org/drawingml/2006/main">
            <a:r>
              <a:t>Verification, manufacturing and operations remain part of the same learning system. A failed test or field observation can reopen science, requirements or design without losing the chain of reasoning.</a:t>
            </a:r>
          </a:p>
          <a:p xmlns:a="http://schemas.openxmlformats.org/drawingml/2006/main">
            <a:r>
              <a:t/>
            </a:r>
          </a:p>
          <a:p xmlns:a="http://schemas.openxmlformats.org/drawingml/2006/main">
            <a:r>
              <a:t>[Sources]</a:t>
            </a:r>
          </a:p>
          <a:p xmlns:a="http://schemas.openxmlformats.org/drawingml/2006/main">
            <a:r>
              <a:t>- Bob J Mills, Detailed Initial Chat Summary and Restored Concepts, section 8.</a:t>
            </a:r>
          </a:p>
          <a:p xmlns:a="http://schemas.openxmlformats.org/drawingml/2006/main">
            <a:r>
              <a:t>- https://github.com/Robertstar2000/Hypatia-Pro</a:t>
            </a:r>
          </a:p>
          <a:p xmlns:a="http://schemas.openxmlformats.org/drawingml/2006/main">
            <a:r>
              <a:t>- https://github.com/Robertstar2000/Intelligent-Engineer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1:10]</a:t>
            </a:r>
          </a:p>
          <a:p xmlns:a="http://schemas.openxmlformats.org/drawingml/2006/main">
            <a:r>
              <a:t/>
            </a:r>
          </a:p>
          <a:p xmlns:a="http://schemas.openxmlformats.org/drawingml/2006/main">
            <a:r>
              <a:t>Parallelism is where agentic systems can attack real schedule. One workstream searches evidence and contradictions. Another runs models and sensitivity studies. Another tries to break the preferred conclusion. Another builds traceable artifacts and review material. These tasks can overlap when their interfaces and permissions are defined.</a:t>
            </a:r>
          </a:p>
          <a:p xmlns:a="http://schemas.openxmlformats.org/drawingml/2006/main">
            <a:r>
              <a:t/>
            </a:r>
          </a:p>
          <a:p xmlns:a="http://schemas.openxmlformats.org/drawingml/2006/main">
            <a:r>
              <a:t>The merge gate matters more than the number of agents. Independent outputs must be reconciled, validated, critiqued and approved before they become one package. Parallel work should not create four incompatible truths or hide duplicated assumptions. The harness records dependencies, evidence classes and unresolved conflicts.</a:t>
            </a:r>
          </a:p>
          <a:p xmlns:a="http://schemas.openxmlformats.org/drawingml/2006/main">
            <a:r>
              <a:t/>
            </a:r>
          </a:p>
          <a:p xmlns:a="http://schemas.openxmlformats.org/drawingml/2006/main">
            <a:r>
              <a:t>The result is not “AI worked four times faster.” The defensible claim is narrower: controlled concurrency reduces avoidable waiting and review preparation while preserving the evidence standard. That is a practical way to compress the research–engineering–research issue–completion loop.</a:t>
            </a:r>
          </a:p>
          <a:p xmlns:a="http://schemas.openxmlformats.org/drawingml/2006/main">
            <a:r>
              <a:t/>
            </a:r>
          </a:p>
          <a:p xmlns:a="http://schemas.openxmlformats.org/drawingml/2006/main">
            <a:r>
              <a:t>[Sources]</a:t>
            </a:r>
          </a:p>
          <a:p xmlns:a="http://schemas.openxmlformats.org/drawingml/2006/main">
            <a:r>
              <a:t>- Bob J Mills, Version 4 Change Log and restored presentation design record.</a:t>
            </a:r>
          </a:p>
          <a:p xmlns:a="http://schemas.openxmlformats.org/drawingml/2006/main">
            <a:r>
              <a:t>- https://github.com/Robertstar2000/Hypatia-Pro</a:t>
            </a:r>
          </a:p>
          <a:p xmlns:a="http://schemas.openxmlformats.org/drawingml/2006/main">
            <a:r>
              <a:t>- https://github.com/Robertstar2000/Intelligent-Engineer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1:10]</a:t>
            </a:r>
          </a:p>
          <a:p xmlns:a="http://schemas.openxmlformats.org/drawingml/2006/main">
            <a:r>
              <a:t/>
            </a:r>
          </a:p>
          <a:p xmlns:a="http://schemas.openxmlformats.org/drawingml/2006/main">
            <a:r>
              <a:t>Verification is not the last phase. It begins with the first claim. Every claim needs provenance. Every requirement needs a method. Every uncertainty needs a disposition: analyze it, test it, constrain the design around it or explicitly accept the risk.</a:t>
            </a:r>
          </a:p>
          <a:p xmlns:a="http://schemas.openxmlformats.org/drawingml/2006/main">
            <a:r>
              <a:t/>
            </a:r>
          </a:p>
          <a:p xmlns:a="http://schemas.openxmlformats.org/drawingml/2006/main">
            <a:r>
              <a:t>A harness can maintain the trace matrix continuously. It can identify a source that no longer supports its claim, a changed parameter that invalidates a requirement, a requirement without a method or a test result that does not meet its acceptance criterion. That broken link becomes focused rework before the review, not a surprise during it.</a:t>
            </a:r>
          </a:p>
          <a:p xmlns:a="http://schemas.openxmlformats.org/drawingml/2006/main">
            <a:r>
              <a:t/>
            </a:r>
          </a:p>
          <a:p xmlns:a="http://schemas.openxmlformats.org/drawingml/2006/main">
            <a:r>
              <a:t>AI can help generate tests, check consistency, update FMEA and organize evidence. It cannot claim that a simulation physically validated hardware. Verification is the discipline that separates an impressive demonstration from engineering that can be trusted on Mars.</a:t>
            </a:r>
          </a:p>
          <a:p xmlns:a="http://schemas.openxmlformats.org/drawingml/2006/main">
            <a:r>
              <a:t/>
            </a:r>
          </a:p>
          <a:p xmlns:a="http://schemas.openxmlformats.org/drawingml/2006/main">
            <a:r>
              <a:t>[Sources]</a:t>
            </a:r>
          </a:p>
          <a:p xmlns:a="http://schemas.openxmlformats.org/drawingml/2006/main">
            <a:r>
              <a:t>- Bob J Mills, Detailed Initial Chat Summary and Restored Concepts, section 9.</a:t>
            </a:r>
          </a:p>
          <a:p xmlns:a="http://schemas.openxmlformats.org/drawingml/2006/main">
            <a:r>
              <a:t>- https://ntrs.nasa.gov/citations/20100036405</a:t>
            </a:r>
          </a:p>
          <a:p xmlns:a="http://schemas.openxmlformats.org/drawingml/2006/main">
            <a:r>
              <a:t>- https://github.com/Robertstar2000/Intelligent-Engineer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1:10]</a:t>
            </a:r>
          </a:p>
          <a:p xmlns:a="http://schemas.openxmlformats.org/drawingml/2006/main">
            <a:r>
              <a:t/>
            </a:r>
          </a:p>
          <a:p xmlns:a="http://schemas.openxmlformats.org/drawingml/2006/main">
            <a:r>
              <a:t>The shared digital brain is not a personified super-AI. It is governed mission context: evidence, assumptions, parameters, requirements, decisions, risks, tests, field data and open questions connected in a reusable graph.</a:t>
            </a:r>
          </a:p>
          <a:p xmlns:a="http://schemas.openxmlformats.org/drawingml/2006/main">
            <a:r>
              <a:t/>
            </a:r>
          </a:p>
          <a:p xmlns:a="http://schemas.openxmlformats.org/drawingml/2006/main">
            <a:r>
              <a:t>That memory survives staff changes, model upgrades and tool replacements. It prevents context from disappearing into isolated chats or static reports. It also makes future models more useful because they inherit structured knowledge instead of reconstructing the mission from fragments.</a:t>
            </a:r>
          </a:p>
          <a:p xmlns:a="http://schemas.openxmlformats.org/drawingml/2006/main">
            <a:r>
              <a:t/>
            </a:r>
          </a:p>
          <a:p xmlns:a="http://schemas.openxmlformats.org/drawingml/2006/main">
            <a:r>
              <a:t>Every harness reads and writes through controlled interfaces. Hypatia adds approved evidence and uncertainty. Intelligent Engineer adds requirements, trades and verification. CAD, PLM, simulators, labs and operations add models and results. The digital thread links them. This is how learning compounds across projects: a negative test, failed hypothesis or field observation remains available to prevent repetition and sharpen the next decision.</a:t>
            </a:r>
          </a:p>
          <a:p xmlns:a="http://schemas.openxmlformats.org/drawingml/2006/main">
            <a:r>
              <a:t/>
            </a:r>
          </a:p>
          <a:p xmlns:a="http://schemas.openxmlformats.org/drawingml/2006/main">
            <a:r>
              <a:t>[Sources]</a:t>
            </a:r>
          </a:p>
          <a:p xmlns:a="http://schemas.openxmlformats.org/drawingml/2006/main">
            <a:r>
              <a:t>- Bob J Mills, Detailed Initial Chat Summary and Restored Concepts, section 11.</a:t>
            </a:r>
          </a:p>
          <a:p xmlns:a="http://schemas.openxmlformats.org/drawingml/2006/main">
            <a:r>
              <a:t>- https://github.com/Robertstar2000/Hypatia-Pro</a:t>
            </a:r>
          </a:p>
          <a:p xmlns:a="http://schemas.openxmlformats.org/drawingml/2006/main">
            <a:r>
              <a:t>- https://github.com/Robertstar2000/Intelligent-Engineer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1:10]</a:t>
            </a:r>
          </a:p>
          <a:p xmlns:a="http://schemas.openxmlformats.org/drawingml/2006/main">
            <a:r>
              <a:t/>
            </a:r>
          </a:p>
          <a:p xmlns:a="http://schemas.openxmlformats.org/drawingml/2006/main">
            <a:r>
              <a:t>NASA’s communication analysis makes the autonomy requirement unavoidable. One-way delay can exceed twenty minutes, and solar conjunction can produce blackouts lasting roughly two or three weeks in representative mission profiles. Relays may mitigate some disruption, but they cannot eliminate the speed-of-light delay.</a:t>
            </a:r>
          </a:p>
          <a:p xmlns:a="http://schemas.openxmlformats.org/drawingml/2006/main">
            <a:r>
              <a:t/>
            </a:r>
          </a:p>
          <a:p xmlns:a="http://schemas.openxmlformats.org/drawingml/2006/main">
            <a:r>
              <a:t>A Mars intelligence layer therefore needs three operating modes. Local mode uses cached evidence, local models and controlled tools to keep work moving. Sync mode reconciles new evidence, decisions and software with Earth when the link is available. Safe mode degrades predictably when capabilities, data or authority are insufficient.</a:t>
            </a:r>
          </a:p>
          <a:p xmlns:a="http://schemas.openxmlformats.org/drawingml/2006/main">
            <a:r>
              <a:t/>
            </a:r>
          </a:p>
          <a:p xmlns:a="http://schemas.openxmlformats.org/drawingml/2006/main">
            <a:r>
              <a:t>The harness makes those boundaries explicit. It knows which decisions can be made locally, which require later reconciliation and which must stop. This is more robust than treating autonomy as a single “agent” and more realistic than assuming mission control remains continuously synchronous.</a:t>
            </a:r>
          </a:p>
          <a:p xmlns:a="http://schemas.openxmlformats.org/drawingml/2006/main">
            <a:r>
              <a:t/>
            </a:r>
          </a:p>
          <a:p xmlns:a="http://schemas.openxmlformats.org/drawingml/2006/main">
            <a:r>
              <a:t>[Sources]</a:t>
            </a:r>
          </a:p>
          <a:p xmlns:a="http://schemas.openxmlformats.org/drawingml/2006/main">
            <a:r>
              <a:t>- https://www.nasa.gov/wp-content/uploads/2024/01/mars-communications-disruption-and-delay.pdf</a:t>
            </a:r>
          </a:p>
          <a:p xmlns:a="http://schemas.openxmlformats.org/drawingml/2006/main">
            <a:r>
              <a:t>- https://science.nasa.gov/mars/facts/</a:t>
            </a:r>
          </a:p>
          <a:p xmlns:a="http://schemas.openxmlformats.org/drawingml/2006/main">
            <a:r>
              <a:t>- Visual: original AI-generated Earth–Mars communications image created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2:30]</a:t>
            </a:r>
          </a:p>
          <a:p xmlns:a="http://schemas.openxmlformats.org/drawingml/2006/main">
            <a:r>
              <a:t/>
            </a:r>
          </a:p>
          <a:p xmlns:a="http://schemas.openxmlformats.org/drawingml/2006/main">
            <a:r>
              <a:t>Now apply the architecture to a compact Mars oxygen plant. NASA’s MOXIE experiment gives us a real empirical anchor. Across sixteen runs it produced a total of 122 grams of oxygen. At peak it reached 12 grams per hour—twice its original goal—at 98 percent purity or better. That is powerful evidence that solid-oxide electrolysis can extract oxygen from the Martian carbon-dioxide atmosphere.</a:t>
            </a:r>
          </a:p>
          <a:p xmlns:a="http://schemas.openxmlformats.org/drawingml/2006/main">
            <a:r>
              <a:t/>
            </a:r>
          </a:p>
          <a:p xmlns:a="http://schemas.openxmlformats.org/drawingml/2006/main">
            <a:r>
              <a:t>But a settlement plant is not simply “make MOXIE bigger.” NASA’s own next-step framing includes the generator plus oxygen liquefaction and storage. Engineering must also resolve atmospheric variability, dust filtration and electrostatics, thermal cycling, material and seal degradation, process aging, contamination, maintenance access, redundancy and interfaces to power and storage.</a:t>
            </a:r>
          </a:p>
          <a:p xmlns:a="http://schemas.openxmlformats.org/drawingml/2006/main">
            <a:r>
              <a:t/>
            </a:r>
          </a:p>
          <a:p xmlns:a="http://schemas.openxmlformats.org/drawingml/2006/main">
            <a:r>
              <a:t>A Hypatia evidence package would separate the empirical MOXIE results from literature, modeled expectations and open questions. It would carry equations, parameter ranges, boundary conditions, uncertainty, failed hypotheses and the minimum additional experiments required. The visible open list is intentionally not presented as solved. This is the integrity point: proof of principle is evidence, but it is not yet a settlement-qualified baseline.</a:t>
            </a:r>
          </a:p>
          <a:p xmlns:a="http://schemas.openxmlformats.org/drawingml/2006/main">
            <a:r>
              <a:t/>
            </a:r>
          </a:p>
          <a:p xmlns:a="http://schemas.openxmlformats.org/drawingml/2006/main">
            <a:r>
              <a:t>[Sources]</a:t>
            </a:r>
          </a:p>
          <a:p xmlns:a="http://schemas.openxmlformats.org/drawingml/2006/main">
            <a:r>
              <a:t>- https://www.nasa.gov/missions/mars-2020-perseverance/perseverance-rover/nasas-oxygen-generating-experiment-moxie-completes-mars-mission/</a:t>
            </a:r>
          </a:p>
          <a:p xmlns:a="http://schemas.openxmlformats.org/drawingml/2006/main">
            <a:r>
              <a:t>- https://science.nasa.gov/mars/facts/</a:t>
            </a:r>
          </a:p>
          <a:p xmlns:a="http://schemas.openxmlformats.org/drawingml/2006/main">
            <a:r>
              <a:t>- https://ntrs.nasa.gov/citations/20100036405</a:t>
            </a:r>
          </a:p>
          <a:p xmlns:a="http://schemas.openxmlformats.org/drawingml/2006/main">
            <a:r>
              <a:t>- Bob J Mills, Hypatia / Intelligent Engineer Demo Package, Mars Version 4.</a:t>
            </a:r>
          </a:p>
          <a:p xmlns:a="http://schemas.openxmlformats.org/drawingml/2006/main">
            <a:r>
              <a:t>- Visual: original AI-generated Mars ISRU cutaway created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2:30]</a:t>
            </a:r>
          </a:p>
          <a:p xmlns:a="http://schemas.openxmlformats.org/drawingml/2006/main">
            <a:r>
              <a:t/>
            </a:r>
          </a:p>
          <a:p xmlns:a="http://schemas.openxmlformats.org/drawingml/2006/main">
            <a:r>
              <a:t>This slide demonstrates how Intelligent Engineer should translate evidence into a controlled baseline. It is explicitly illustrative; the final conference version should replace these rows with reviewed harness output.</a:t>
            </a:r>
          </a:p>
          <a:p xmlns:a="http://schemas.openxmlformats.org/drawingml/2006/main">
            <a:r>
              <a:t/>
            </a:r>
          </a:p>
          <a:p xmlns:a="http://schemas.openxmlformats.org/drawingml/2006/main">
            <a:r>
              <a:t>The first track begins with MOXIE’s empirical proof of principle. It does not invent a settlement production number. It creates a requirement to meet mission-defined oxygen demand with qualified margin, verified by an integrated endurance demonstration. The second track uses the thin carbon-dioxide atmosphere and the need for an inlet envelope. The requirement must reference the qualified pressure and composition profile, then be verified in a representative chamber.</a:t>
            </a:r>
          </a:p>
          <a:p xmlns:a="http://schemas.openxmlformats.org/drawingml/2006/main">
            <a:r>
              <a:t/>
            </a:r>
          </a:p>
          <a:p xmlns:a="http://schemas.openxmlformats.org/drawingml/2006/main">
            <a:r>
              <a:t>The third track refuses to pretend the dust issue is solved. It creates a recoverability requirement tied to a specified exposure, with a dust loading and recovery test. The fourth track follows NASA’s stated future direction: a full system needs oxygen generation plus liquefaction and storage, so engineering defines and verifies that interface.</a:t>
            </a:r>
          </a:p>
          <a:p xmlns:a="http://schemas.openxmlformats.org/drawingml/2006/main">
            <a:r>
              <a:t/>
            </a:r>
          </a:p>
          <a:p xmlns:a="http://schemas.openxmlformats.org/drawingml/2006/main">
            <a:r>
              <a:t>Notice the pattern. Evidence may support a requirement. Open uncertainty may create a bounded assumption, margin or research request. A mission decision may deliberately set a value. Every path remains visible. Every requirement has a proof method from the moment it enters the baseline.</a:t>
            </a:r>
          </a:p>
          <a:p xmlns:a="http://schemas.openxmlformats.org/drawingml/2006/main">
            <a:r>
              <a:t/>
            </a:r>
          </a:p>
          <a:p xmlns:a="http://schemas.openxmlformats.org/drawingml/2006/main">
            <a:r>
              <a:t>[Sources]</a:t>
            </a:r>
          </a:p>
          <a:p xmlns:a="http://schemas.openxmlformats.org/drawingml/2006/main">
            <a:r>
              <a:t>- https://www.nasa.gov/missions/mars-2020-perseverance/perseverance-rover/nasas-oxygen-generating-experiment-moxie-completes-mars-mission/</a:t>
            </a:r>
          </a:p>
          <a:p xmlns:a="http://schemas.openxmlformats.org/drawingml/2006/main">
            <a:r>
              <a:t>- https://science.nasa.gov/mars/facts/</a:t>
            </a:r>
          </a:p>
          <a:p xmlns:a="http://schemas.openxmlformats.org/drawingml/2006/main">
            <a:r>
              <a:t>- https://ntrs.nasa.gov/citations/20100036405</a:t>
            </a:r>
          </a:p>
          <a:p xmlns:a="http://schemas.openxmlformats.org/drawingml/2006/main">
            <a:r>
              <a:t>- Bob J Mills, Hypatia / Intelligent Engineer Demo Package, Mars Version 4.</a:t>
            </a:r>
          </a:p>
          <a:p xmlns:a="http://schemas.openxmlformats.org/drawingml/2006/main">
            <a:r>
              <a:t>- https://github.com/Robertstar2000/Intelligent-Engineer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2:30]</a:t>
            </a:r>
          </a:p>
          <a:p xmlns:a="http://schemas.openxmlformats.org/drawingml/2006/main">
            <a:r>
              <a:t/>
            </a:r>
          </a:p>
          <a:p xmlns:a="http://schemas.openxmlformats.org/drawingml/2006/main">
            <a:r>
              <a:t>Here the engineering analysis has reached a real decision: how often must the inlet filter be cleaned or replaced? That decision affects filter area, compressor margin, maintenance time, spares and operating availability. But dust adhesion after repeated thermal cycling under Mars pressure is not sufficiently bounded.</a:t>
            </a:r>
          </a:p>
          <a:p xmlns:a="http://schemas.openxmlformats.org/drawingml/2006/main">
            <a:r>
              <a:t/>
            </a:r>
          </a:p>
          <a:p xmlns:a="http://schemas.openxmlformats.org/drawingml/2006/main">
            <a:r>
              <a:t>Instead of burying a convenient assumption, Intelligent Engineer creates a Research Request Package. It states competing hypotheses. One says thermal cycling has limited effect within the qualified range. Another says electrostatic adhesion drives persistent fouling. It defines the dependent measures—pressure drop, recovery and adhesion—and the independent variables—dust loading, temperature cycles and exposure. It specifies Mars-relevant pressure and composition, a qualified simulant, the proposed factorial chamber test and uncertainty analysis. The acceptance criterion is not invented by the scientist; it is derived from the engineering margin and requirement.</a:t>
            </a:r>
          </a:p>
          <a:p xmlns:a="http://schemas.openxmlformats.org/drawingml/2006/main">
            <a:r>
              <a:t/>
            </a:r>
          </a:p>
          <a:p xmlns:a="http://schemas.openxmlformats.org/drawingml/2006/main">
            <a:r>
              <a:t>Hypatia executes or coordinates the targeted work, classifies the evidence, attacks the inference and returns only reviewed findings. The baseline then updates the filter sizing, compressor margin, cleaning interval and verification plan. Engineering continues from the same traceable state. This is the completion loop the presentation is advocating.</a:t>
            </a:r>
          </a:p>
          <a:p xmlns:a="http://schemas.openxmlformats.org/drawingml/2006/main">
            <a:r>
              <a:t/>
            </a:r>
          </a:p>
          <a:p xmlns:a="http://schemas.openxmlformats.org/drawingml/2006/main">
            <a:r>
              <a:t>[Sources]</a:t>
            </a:r>
          </a:p>
          <a:p xmlns:a="http://schemas.openxmlformats.org/drawingml/2006/main">
            <a:r>
              <a:t>- https://ntrs.nasa.gov/citations/20100036405</a:t>
            </a:r>
          </a:p>
          <a:p xmlns:a="http://schemas.openxmlformats.org/drawingml/2006/main">
            <a:r>
              <a:t>- https://www.nasa.gov/science-research/kennedy-scientists-developing-technology-to-remove-martian-dust/</a:t>
            </a:r>
          </a:p>
          <a:p xmlns:a="http://schemas.openxmlformats.org/drawingml/2006/main">
            <a:r>
              <a:t>- https://science.nasa.gov/mars/facts/</a:t>
            </a:r>
          </a:p>
          <a:p xmlns:a="http://schemas.openxmlformats.org/drawingml/2006/main">
            <a:r>
              <a:t>- Bob J Mills, Hypatia / Intelligent Engineer Demo Package and restored completion-loop requirement.</a:t>
            </a:r>
          </a:p>
          <a:p xmlns:a="http://schemas.openxmlformats.org/drawingml/2006/main">
            <a:r>
              <a:t>- https://github.com/Robertstar2000/Hypatia-Pro</a:t>
            </a:r>
          </a:p>
          <a:p xmlns:a="http://schemas.openxmlformats.org/drawingml/2006/main">
            <a:r>
              <a:t>- https://github.com/Robertstar2000/Intelligent-Engineer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1:50]</a:t>
            </a:r>
          </a:p>
          <a:p xmlns:a="http://schemas.openxmlformats.org/drawingml/2006/main">
            <a:r>
              <a:t/>
            </a:r>
          </a:p>
          <a:p xmlns:a="http://schemas.openxmlformats.org/drawingml/2006/main">
            <a:r>
              <a:t>The five application patterns become portable skills. Hypatia structures scientific work. Hyperia performs broad research and synthesis. Intelligent Engineer controls the physical-engineering baseline. Vibe Engineering supports collaborative design. PM Accelerator controls execution and review readiness.</a:t>
            </a:r>
          </a:p>
          <a:p xmlns:a="http://schemas.openxmlformats.org/drawingml/2006/main">
            <a:r>
              <a:t/>
            </a:r>
          </a:p>
          <a:p xmlns:a="http://schemas.openxmlformats.org/drawingml/2006/main">
            <a:r>
              <a:t>Each pack defines a role, decision loop, tool contract, work product, ground-truth checks, memory rules and approval boundaries. Three shared controls—orchestration, validation and mission memory—compose them safely.</a:t>
            </a:r>
          </a:p>
          <a:p xmlns:a="http://schemas.openxmlformats.org/drawingml/2006/main">
            <a:r>
              <a:t/>
            </a:r>
          </a:p>
          <a:p xmlns:a="http://schemas.openxmlformats.org/drawingml/2006/main">
            <a:r>
              <a:t>The core instructions can travel across Codex, Claude Cowork, Hermes and Grok. Placement and invocation differ, and the runtime can execute only the tools and permissions it actually has.</a:t>
            </a:r>
          </a:p>
          <a:p xmlns:a="http://schemas.openxmlformats.org/drawingml/2006/main">
            <a:r>
              <a:t/>
            </a:r>
          </a:p>
          <a:p xmlns:a="http://schemas.openxmlformats.org/drawingml/2006/main">
            <a:r>
              <a:t>This is functional workflow emulation, not a copy of a proprietary interface or a claim of feature parity.</a:t>
            </a:r>
          </a:p>
          <a:p xmlns:a="http://schemas.openxmlformats.org/drawingml/2006/main">
            <a:r>
              <a:t/>
            </a:r>
          </a:p>
          <a:p xmlns:a="http://schemas.openxmlformats.org/drawingml/2006/main">
            <a:r>
              <a:t>[Sources]</a:t>
            </a:r>
          </a:p>
          <a:p xmlns:a="http://schemas.openxmlformats.org/drawingml/2006/main">
            <a:r>
              <a:t>- https://docs.x.ai/build/features/skills-plugins-marketplaces</a:t>
            </a:r>
          </a:p>
          <a:p xmlns:a="http://schemas.openxmlformats.org/drawingml/2006/main">
            <a:r>
              <a:t>- https://github.com/NousResearch/hermes-agent/blob/main/website/docs/user-guide/features/skills.md</a:t>
            </a:r>
          </a:p>
          <a:p xmlns:a="http://schemas.openxmlformats.org/drawingml/2006/main">
            <a:r>
              <a:t>- https://support.claude.com/en/articles/12512198-how-to-create-custom-skills</a:t>
            </a:r>
          </a:p>
          <a:p xmlns:a="http://schemas.openxmlformats.org/drawingml/2006/main">
            <a:r>
              <a:t>- User-supplied SaaS application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1:40]</a:t>
            </a:r>
          </a:p>
          <a:p xmlns:a="http://schemas.openxmlformats.org/drawingml/2006/main">
            <a:r>
              <a:t/>
            </a:r>
          </a:p>
          <a:p xmlns:a="http://schemas.openxmlformats.org/drawingml/2006/main">
            <a:r>
              <a:t>The practical starting point is not an enterprise transformation. Choose one recurring decision where delay, rework or lost evidence matters. Define the required work products, evidence classes, tools, permissions, validation steps and release authority. Connect only the data and tools needed for that loop.</a:t>
            </a:r>
          </a:p>
          <a:p xmlns:a="http://schemas.openxmlformats.org/drawingml/2006/main">
            <a:r>
              <a:t/>
            </a:r>
          </a:p>
          <a:p xmlns:a="http://schemas.openxmlformats.org/drawingml/2006/main">
            <a:r>
              <a:t>Then compare the harness output against expert work and known failure cases. Can it preserve provenance? Does it distinguish modeled from empirical evidence? Does it expose uncertainty? Can a reviewer reconstruct the decision? Does it fail safely when the evidence is inadequate?</a:t>
            </a:r>
          </a:p>
          <a:p xmlns:a="http://schemas.openxmlformats.org/drawingml/2006/main">
            <a:r>
              <a:t/>
            </a:r>
          </a:p>
          <a:p xmlns:a="http://schemas.openxmlformats.org/drawingml/2006/main">
            <a:r>
              <a:t>Only after that loop survives real pressure should the organization scale to adjacent skills and domains. Most organizations are still moving from chatbot to task agent. The practical next stage is the harness: workflow, memory, tools and gates. Mars-scale learning eventually requires an ecosystem, but reliability is earned one consequential loop at a time.</a:t>
            </a:r>
          </a:p>
          <a:p xmlns:a="http://schemas.openxmlformats.org/drawingml/2006/main">
            <a:r>
              <a:t/>
            </a:r>
          </a:p>
          <a:p xmlns:a="http://schemas.openxmlformats.org/drawingml/2006/main">
            <a:r>
              <a:t>[Sources]</a:t>
            </a:r>
          </a:p>
          <a:p xmlns:a="http://schemas.openxmlformats.org/drawingml/2006/main">
            <a:r>
              <a:t>- Bob J Mills, Version 4 Run of Show and restored adoption model.</a:t>
            </a:r>
          </a:p>
          <a:p xmlns:a="http://schemas.openxmlformats.org/drawingml/2006/main">
            <a:r>
              <a:t>- https://github.com/Robertstar2000/Hypatia-Pro</a:t>
            </a:r>
          </a:p>
          <a:p xmlns:a="http://schemas.openxmlformats.org/drawingml/2006/main">
            <a:r>
              <a:t>- https://github.com/Robertstar2000/Intelligent-Engineer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1:40]</a:t>
            </a:r>
          </a:p>
          <a:p xmlns:a="http://schemas.openxmlformats.org/drawingml/2006/main">
            <a:r>
              <a:t/>
            </a:r>
          </a:p>
          <a:p xmlns:a="http://schemas.openxmlformats.org/drawingml/2006/main">
            <a:r>
              <a:t>Return to the opening promise. Mars is a learning-rate problem, but speed without discipline is not progress. The architecture presented here turns AI into structured engineering capacity: specialized harnesses, durable skills, explicit evidence classes, phase gates, continuous verification, persistent mission memory and a complete return path from engineering uncertainty to targeted science.</a:t>
            </a:r>
          </a:p>
          <a:p xmlns:a="http://schemas.openxmlformats.org/drawingml/2006/main">
            <a:r>
              <a:t/>
            </a:r>
          </a:p>
          <a:p xmlns:a="http://schemas.openxmlformats.org/drawingml/2006/main">
            <a:r>
              <a:t>The model is replaceable. The way the mission defines work, remembers evidence, accepts risk and proves a result must endure. Stronger AI will move more execution into automation. That makes the harness more important, not less, because purpose, authority, provenance and acceptance must remain visible as capability changes.</a:t>
            </a:r>
          </a:p>
          <a:p xmlns:a="http://schemas.openxmlformats.org/drawingml/2006/main">
            <a:r>
              <a:t/>
            </a:r>
          </a:p>
          <a:p xmlns:a="http://schemas.openxmlformats.org/drawingml/2006/main">
            <a:r>
              <a:t>Start with one consequential loop. Make the evidence survive review. Preserve negative results. Let science refuse false certainty. Let engineering return precise questions. Then connect the loops until science, engineering, verification and operations become one learning system.</a:t>
            </a:r>
          </a:p>
          <a:p xmlns:a="http://schemas.openxmlformats.org/drawingml/2006/main">
            <a:r>
              <a:t/>
            </a:r>
          </a:p>
          <a:p xmlns:a="http://schemas.openxmlformats.org/drawingml/2006/main">
            <a:r>
              <a:t>Mars will not be built by a chatbot. It will be built by people and increasingly capable intelligence working through a mission-ready way to learn.</a:t>
            </a:r>
          </a:p>
          <a:p xmlns:a="http://schemas.openxmlformats.org/drawingml/2006/main">
            <a:r>
              <a:t/>
            </a:r>
          </a:p>
          <a:p xmlns:a="http://schemas.openxmlformats.org/drawingml/2006/main">
            <a:r>
              <a:t>[Sources]</a:t>
            </a:r>
          </a:p>
          <a:p xmlns:a="http://schemas.openxmlformats.org/drawingml/2006/main">
            <a:r>
              <a:t>- Bob J Mills, Detailed Initial Chat Summary and Restored Concepts, durable principles and closing frame.</a:t>
            </a:r>
          </a:p>
          <a:p xmlns:a="http://schemas.openxmlformats.org/drawingml/2006/main">
            <a:r>
              <a:t>- https://www.nasa.gov/wp-content/uploads/2024/01/mars-communications-disruption-and-delay.pdf</a:t>
            </a:r>
          </a:p>
          <a:p xmlns:a="http://schemas.openxmlformats.org/drawingml/2006/main">
            <a:r>
              <a:t>- https://www.nasa.gov/missions/mars-2020-perseverance/perseverance-rover/nasas-oxygen-generating-experiment-moxie-completes-mars-mission/</a:t>
            </a:r>
          </a:p>
          <a:p xmlns:a="http://schemas.openxmlformats.org/drawingml/2006/main">
            <a:r>
              <a:t>- https://github.com/Robertstar2000/Hypatia-Pro</a:t>
            </a:r>
          </a:p>
          <a:p xmlns:a="http://schemas.openxmlformats.org/drawingml/2006/main">
            <a:r>
              <a:t>- https://github.com/Robertstar2000/Intelligent-Engineer</a:t>
            </a:r>
          </a:p>
          <a:p xmlns:a="http://schemas.openxmlformats.org/drawingml/2006/main">
            <a:r>
              <a:t>- Visual: original AI-generated closing Mars settlement image created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13baab80ecf48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02acf24701a4684" /><Relationship Type="http://schemas.openxmlformats.org/officeDocument/2006/relationships/slideLayout" Target="/ppt/slideLayouts/slideLayout1.xml" Id="Rc62b22f7fe5a4d4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2b22f7fe5a4d4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2c21c20e3194af3" /><Relationship Type="http://schemas.openxmlformats.org/officeDocument/2006/relationships/image" Target="/ppt/media/image.png" Id="Rc23b4a8fbe124885" /><Relationship Type="http://schemas.openxmlformats.org/officeDocument/2006/relationships/notesSlide" Target="/ppt/notesSlides/notesSlide1.xml" Id="Rf6bd9a0c14ee4e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05ca8bc24a54a1b" /><Relationship Type="http://schemas.openxmlformats.org/officeDocument/2006/relationships/image" Target="/ppt/media/image2.png" Id="Rf41790f8c2634372" /><Relationship Type="http://schemas.openxmlformats.org/officeDocument/2006/relationships/notesSlide" Target="/ppt/notesSlides/notesSlide2.xml" Id="Rf5e58e6406df4df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e655ed638a14591" /><Relationship Type="http://schemas.openxmlformats.org/officeDocument/2006/relationships/notesSlide" Target="/ppt/notesSlides/notesSlide3.xml" Id="R2ad4c82673914ef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1e1b5f437984423" /><Relationship Type="http://schemas.openxmlformats.org/officeDocument/2006/relationships/notesSlide" Target="/ppt/notesSlides/notesSlide4.xml" Id="R99e2566fa1834a6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80c38c295634eb7" /><Relationship Type="http://schemas.openxmlformats.org/officeDocument/2006/relationships/image" Target="/ppt/media/image.gif" Id="R47bbffd94f9f49cc" /><Relationship Type="http://schemas.openxmlformats.org/officeDocument/2006/relationships/image" Target="/ppt/media/image2.gif" Id="R7603f66a3ea44770" /><Relationship Type="http://schemas.openxmlformats.org/officeDocument/2006/relationships/notesSlide" Target="/ppt/notesSlides/notesSlide5.xml" Id="R741865a7318c45c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fae7e0445e94dc0" /><Relationship Type="http://schemas.openxmlformats.org/officeDocument/2006/relationships/image" Target="/ppt/media/image3.png" Id="R0e0ca74dff614e46" /><Relationship Type="http://schemas.openxmlformats.org/officeDocument/2006/relationships/notesSlide" Target="/ppt/notesSlides/notesSlide6.xml" Id="Rce0aedf4b2f1436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664139e883c467e" /><Relationship Type="http://schemas.openxmlformats.org/officeDocument/2006/relationships/notesSlide" Target="/ppt/notesSlides/notesSlide7.xml" Id="R6dca1808ed20450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37bf88f72e7495a" /><Relationship Type="http://schemas.openxmlformats.org/officeDocument/2006/relationships/image" Target="/ppt/media/image4.png" Id="R55396fa14e8646f8" /><Relationship Type="http://schemas.openxmlformats.org/officeDocument/2006/relationships/notesSlide" Target="/ppt/notesSlides/notesSlide8.xml" Id="R1d3a9cafd90f422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36d6ca5a9ab4dbb" /><Relationship Type="http://schemas.openxmlformats.org/officeDocument/2006/relationships/notesSlide" Target="/ppt/notesSlides/notesSlide9.xml" Id="R90bf3619f2bd47a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4e92c15c8cc4a2e" /><Relationship Type="http://schemas.openxmlformats.org/officeDocument/2006/relationships/notesSlide" Target="/ppt/notesSlides/notesSlide10.xml" Id="R580af0e2279a41d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cab9db516324805" /><Relationship Type="http://schemas.openxmlformats.org/officeDocument/2006/relationships/notesSlide" Target="/ppt/notesSlides/notesSlide11.xml" Id="Ra5ebb32d10dd467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e000df989294195" /><Relationship Type="http://schemas.openxmlformats.org/officeDocument/2006/relationships/notesSlide" Target="/ppt/notesSlides/notesSlide12.xml" Id="R3181f07e4e51487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c15e114e5374c9a" /><Relationship Type="http://schemas.openxmlformats.org/officeDocument/2006/relationships/notesSlide" Target="/ppt/notesSlides/notesSlide13.xml" Id="Re276300ecd6c4af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ebd43aac2f64766" /><Relationship Type="http://schemas.openxmlformats.org/officeDocument/2006/relationships/image" Target="/ppt/media/image5.png" Id="Rd70c4152351d4579" /><Relationship Type="http://schemas.openxmlformats.org/officeDocument/2006/relationships/notesSlide" Target="/ppt/notesSlides/notesSlide14.xml" Id="R9f199b413bf14cf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fd74503e8fe4808" /><Relationship Type="http://schemas.openxmlformats.org/officeDocument/2006/relationships/image" Target="/ppt/media/image6.png" Id="R1c90b4dd9e4043c3" /><Relationship Type="http://schemas.openxmlformats.org/officeDocument/2006/relationships/chart" Target="/ppt/slides/charts/chart1.xml" Id="R128dfc5f1e7a49b4" /><Relationship Type="http://schemas.openxmlformats.org/officeDocument/2006/relationships/notesSlide" Target="/ppt/notesSlides/notesSlide15.xml" Id="R917881eb6af3418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66ee01c4ae148fe" /><Relationship Type="http://schemas.openxmlformats.org/officeDocument/2006/relationships/notesSlide" Target="/ppt/notesSlides/notesSlide16.xml" Id="Rfc0f0051ecda4ba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db4bd3c9038448a" /><Relationship Type="http://schemas.openxmlformats.org/officeDocument/2006/relationships/notesSlide" Target="/ppt/notesSlides/notesSlide17.xml" Id="Ra5e3ab2bb2c04cb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9d25987873143f1" /><Relationship Type="http://schemas.openxmlformats.org/officeDocument/2006/relationships/image" Target="/ppt/media/image7.png" Id="Rc81511bcef2b4bf5" /><Relationship Type="http://schemas.openxmlformats.org/officeDocument/2006/relationships/notesSlide" Target="/ppt/notesSlides/notesSlide18.xml" Id="R8913597e6c7542d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0dbb909988d45db" /><Relationship Type="http://schemas.openxmlformats.org/officeDocument/2006/relationships/notesSlide" Target="/ppt/notesSlides/notesSlide19.xml" Id="R6a438da307534b1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edf9f7fe04f4f00" /><Relationship Type="http://schemas.openxmlformats.org/officeDocument/2006/relationships/image" Target="/ppt/media/image8.png" Id="R4a12e2ba53924c98" /><Relationship Type="http://schemas.openxmlformats.org/officeDocument/2006/relationships/notesSlide" Target="/ppt/notesSlides/notesSlide20.xml" Id="Rb043f84391fa4b65" /></Relationships>
</file>

<file path=ppt/slides/charts/chart1.xml><?xml version="1.0" encoding="utf-8"?>
<c:chartSpace xmlns:c="http://schemas.openxmlformats.org/drawingml/2006/chart">
  <c:lang val="en-US"/>
  <c:chart>
    <c:plotArea>
      <c:barChart>
        <c:barDir val="bar"/>
        <c:grouping val="clustered"/>
        <c:varyColors val="0"/>
        <c:ser>
          <c:idx val="0"/>
          <c:order val="0"/>
          <c:tx>
            <c:v>g/h</c:v>
          </c:tx>
          <c:spPr>
            <a:solidFill xmlns:a="http://schemas.openxmlformats.org/drawingml/2006/main">
              <a:srgbClr val="F26B38"/>
            </a:solidFill>
          </c:spPr>
          <c:dPt>
            <c:idx val="0"/>
            <c:invertIfNegative val="0"/>
            <c:spPr>
              <a:solidFill xmlns:a="http://schemas.openxmlformats.org/drawingml/2006/main">
                <a:srgbClr val="8D99A3"/>
              </a:solidFill>
            </c:spPr>
          </c:dPt>
          <c:dPt>
            <c:idx val="1"/>
            <c:invertIfNegative val="0"/>
            <c:spPr>
              <a:solidFill xmlns:a="http://schemas.openxmlformats.org/drawingml/2006/main">
                <a:srgbClr val="F26B38"/>
              </a:solidFill>
            </c:spPr>
          </c:dPt>
          <c:cat>
            <c:strLit>
              <c:ptCount val="2"/>
              <c:pt idx="0">
                <c:v>Original goal</c:v>
              </c:pt>
              <c:pt idx="1">
                <c:v>Peak demonstrated</c:v>
              </c:pt>
            </c:strLit>
          </c:cat>
          <c:val>
            <c:numLit>
              <c:formatCode>General</c:formatCode>
              <c:ptCount val="2"/>
              <c:pt idx="0">
                <c:v>6</c:v>
              </c:pt>
              <c:pt idx="1">
                <c:v>12</c:v>
              </c:pt>
            </c:numLit>
          </c:val>
        </c:ser>
        <c:dLbls>
          <c:txPr>
            <a:bodyPr xmlns:a="http://schemas.openxmlformats.org/drawingml/2006/main" anchorCtr="1"/>
            <a:lstStyle xmlns:a="http://schemas.openxmlformats.org/drawingml/2006/main"/>
            <a:p xmlns:a="http://schemas.openxmlformats.org/drawingml/2006/main">
              <a:pPr>
                <a:defRPr sz="1200" b="1">
                  <a:solidFill>
                    <a:srgbClr val="F4F6F8"/>
                  </a:solidFill>
                </a:defRPr>
              </a:pPr>
            </a:p>
          </c:txPr>
          <c:dLblPos val="outEnd"/>
          <c:showLegendKey val="0"/>
          <c:showVal val="1"/>
          <c:showCatName val="0"/>
          <c:showSerName val="0"/>
          <c:showPercent val="0"/>
          <c:showBubbleSize val="0"/>
          <c:showLeaderLines val="0"/>
        </c:dLbls>
        <c:gapWidth val="64"/>
        <c:axId val="48650112"/>
        <c:axId val="48672768"/>
      </c:barChart>
      <c:catAx>
        <c:axId val="48650112"/>
        <c:scaling>
          <c:orientation val="minMax"/>
        </c:scaling>
        <c:delete val="0"/>
        <c:axPos val="l"/>
        <c:majorGridlines>
          <c:spPr>
            <a:ln xmlns:a="http://schemas.openxmlformats.org/drawingml/2006/main" w="9525">
              <a:solidFill>
                <a:srgbClr val="35414B"/>
              </a:solidFill>
              <a:prstDash val="dot"/>
            </a:ln>
          </c:spPr>
        </c:majorGridlines>
        <c:title>
          <c:tx>
            <c:rich>
              <a:bodyPr xmlns:a="http://schemas.openxmlformats.org/drawingml/2006/main"/>
              <a:lstStyle xmlns:a="http://schemas.openxmlformats.org/drawingml/2006/main"/>
              <a:p xmlns:a="http://schemas.openxmlformats.org/drawingml/2006/main">
                <a:r>
                  <a:rPr sz="900">
                    <a:solidFill>
                      <a:srgbClr val="8D99A3"/>
                    </a:solidFill>
                  </a:rPr>
                  <a:t>grams per hour</a:t>
                </a:r>
              </a:p>
            </c:rich>
          </c:tx>
          <c:overlay val="0"/>
          <c:txPr>
            <a:bodyPr xmlns:a="http://schemas.openxmlformats.org/drawingml/2006/main" anchorCtr="1"/>
            <a:lstStyle xmlns:a="http://schemas.openxmlformats.org/drawingml/2006/main"/>
            <a:p xmlns:a="http://schemas.openxmlformats.org/drawingml/2006/main">
              <a:pPr>
                <a:defRPr sz="900">
                  <a:solidFill>
                    <a:srgbClr val="8D99A3"/>
                  </a:solidFill>
                </a:defRPr>
              </a:pPr>
            </a:p>
          </c:txPr>
        </c:title>
        <c:numFmt formatCode="General"/>
        <c:majorTickMark val="none"/>
        <c:minorTickMark val="none"/>
        <c:spPr>
          <a:ln xmlns:a="http://schemas.openxmlformats.org/drawingml/2006/main" w="9525">
            <a:solidFill>
              <a:srgbClr val="35414B"/>
            </a:solidFill>
            <a:prstDash val="solid"/>
          </a:ln>
        </c:spPr>
        <c:txPr>
          <a:bodyPr xmlns:a="http://schemas.openxmlformats.org/drawingml/2006/main" anchorCtr="1"/>
          <a:lstStyle xmlns:a="http://schemas.openxmlformats.org/drawingml/2006/main"/>
          <a:p xmlns:a="http://schemas.openxmlformats.org/drawingml/2006/main">
            <a:pPr>
              <a:defRPr sz="900">
                <a:solidFill>
                  <a:srgbClr val="8D99A3"/>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050" b="1">
                <a:solidFill>
                  <a:srgbClr val="D8DEE3"/>
                </a:solidFill>
              </a:defRPr>
            </a:pPr>
          </a:p>
        </c:txPr>
        <c:crossAx val="48650112"/>
        <c:crossBetween val="between"/>
      </c:valAx>
      <c:spPr>
        <a:solidFill xmlns:a="http://schemas.openxmlformats.org/drawingml/2006/main">
          <a:srgbClr val="000000">
            <a:alpha val="0"/>
          </a:srgbClr>
        </a:solidFill>
        <a:ln xmlns:a="http://schemas.openxmlformats.org/drawingml/2006/main" w="0">
          <a:noFill/>
          <a:prstDash val="solid"/>
        </a:ln>
      </c:spPr>
    </c:plotArea>
    <c:plotVisOnly val="1"/>
  </c:chart>
  <c:spPr>
    <a:solidFill xmlns:a="http://schemas.openxmlformats.org/drawingml/2006/main">
      <a:srgbClr val="000000">
        <a:alpha val="0"/>
      </a:srgbClr>
    </a:solidFill>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07090C"/>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23b4a8fbe12488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C731539-EC74-4CAE-8C90-90B5507BC5A8}"/>
              </a:ext>
            </a:extLst>
          </p:cNvPr>
          <p:cNvSpPr>
            <a:spLocks xmlns:a="http://schemas.openxmlformats.org/drawingml/2006/main" noGrp="1"/>
          </p:cNvSpPr>
          <p:nvPr/>
        </p:nvSpPr>
        <p:spPr>
          <a:xfrm xmlns:a="http://schemas.openxmlformats.org/drawingml/2006/main">
            <a:off x="0" y="0"/>
            <a:ext cx="8858250" cy="6858000"/>
          </a:xfrm>
          <a:prstGeom xmlns:a="http://schemas.openxmlformats.org/drawingml/2006/main" prst="rect">
            <a:avLst/>
          </a:prstGeom>
          <a:gradFill xmlns:a="http://schemas.openxmlformats.org/drawingml/2006/main">
            <a:gsLst>
              <a:gs pos="0">
                <a:srgbClr val="07090C"/>
              </a:gs>
              <a:gs pos="52000">
                <a:srgbClr val="07090C">
                  <a:alpha val="96000"/>
                </a:srgbClr>
              </a:gs>
              <a:gs pos="100000">
                <a:srgbClr val="07090C">
                  <a:alpha val="0"/>
                </a:srgbClr>
              </a:gs>
            </a:gsLst>
            <a:lin ang="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0FA4B53-DDE4-4094-80E6-D8EEE64A8115}"/>
              </a:ext>
            </a:extLst>
          </p:cNvPr>
          <p:cNvSpPr>
            <a:spLocks xmlns:a="http://schemas.openxmlformats.org/drawingml/2006/main" noGrp="1"/>
          </p:cNvSpPr>
          <p:nvPr/>
        </p:nvSpPr>
        <p:spPr>
          <a:xfrm xmlns:a="http://schemas.openxmlformats.org/drawingml/2006/main">
            <a:off x="609600" y="4381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050" b="1">
                <a:solidFill>
                  <a:srgbClr val="F26B38"/>
                </a:solidFill>
                <a:latin typeface="DejaVu Sans Mono"/>
                <a:ea typeface="DejaVu Sans Mono"/>
                <a:cs typeface="DejaVu Sans Mono"/>
              </a:defRPr>
            </a:pPr>
            <a:r>
              <a:rPr sz="1050" b="1">
                <a:solidFill>
                  <a:srgbClr val="F26B38"/>
                </a:solidFill>
                <a:latin typeface="DejaVu Sans Mono"/>
                <a:ea typeface="DejaVu Sans Mono"/>
                <a:cs typeface="DejaVu Sans Mono"/>
              </a:rPr>
              <a:t>29TH INTERNATIONAL MARS SOCIETY CONVENTION</a:t>
            </a:r>
          </a:p>
        </p:txBody>
      </p:sp>
      <p:sp>
        <p:nvSpPr>
          <p:cNvPr id="4" name="">
            <a:extLst xmlns:a="http://schemas.openxmlformats.org/drawingml/2006/main">
              <a:ext uri="{FF2B5EF4-FFF2-40B4-BE49-F238E27FC236}">
                <a16:creationId xmlns:a16="http://schemas.microsoft.com/office/drawing/2014/main" id="{60C42635-2EE2-4058-8677-4255CDAFE628}"/>
              </a:ext>
            </a:extLst>
          </p:cNvPr>
          <p:cNvSpPr>
            <a:spLocks xmlns:a="http://schemas.openxmlformats.org/drawingml/2006/main" noGrp="1"/>
          </p:cNvSpPr>
          <p:nvPr/>
        </p:nvSpPr>
        <p:spPr>
          <a:xfrm xmlns:a="http://schemas.openxmlformats.org/drawingml/2006/main">
            <a:off x="609600" y="1200150"/>
            <a:ext cx="6572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83000"/>
              </a:lnSpc>
              <a:buNone/>
              <a:defRPr sz="4650" b="1">
                <a:solidFill>
                  <a:srgbClr val="F4F6F8"/>
                </a:solidFill>
                <a:latin typeface="DejaVu Sans"/>
                <a:ea typeface="DejaVu Sans"/>
                <a:cs typeface="DejaVu Sans"/>
              </a:defRPr>
            </a:pPr>
            <a:r>
              <a:rPr sz="4650" b="1">
                <a:solidFill>
                  <a:srgbClr val="F4F6F8"/>
                </a:solidFill>
                <a:latin typeface="DejaVu Sans"/>
                <a:ea typeface="DejaVu Sans"/>
                <a:cs typeface="DejaVu Sans"/>
              </a:rPr>
              <a:t>THE INTELLIGENCE</a:t>
            </a:r>
          </a:p>
          <a:p xmlns:a="http://schemas.openxmlformats.org/drawingml/2006/main">
            <a:pPr algn="l">
              <a:lnSpc>
                <a:spcPct val="83000"/>
              </a:lnSpc>
              <a:buNone/>
              <a:defRPr sz="4650" b="1">
                <a:solidFill>
                  <a:srgbClr val="F4F6F8"/>
                </a:solidFill>
                <a:latin typeface="DejaVu Sans"/>
                <a:ea typeface="DejaVu Sans"/>
                <a:cs typeface="DejaVu Sans"/>
              </a:defRPr>
            </a:pPr>
            <a:r>
              <a:rPr sz="4650" b="1">
                <a:solidFill>
                  <a:srgbClr val="F4F6F8"/>
                </a:solidFill>
                <a:latin typeface="DejaVu Sans"/>
                <a:ea typeface="DejaVu Sans"/>
                <a:cs typeface="DejaVu Sans"/>
              </a:rPr>
              <a:t>LAYER FOR MARS</a:t>
            </a:r>
          </a:p>
        </p:txBody>
      </p:sp>
      <p:sp>
        <p:nvSpPr>
          <p:cNvPr id="5" name="">
            <a:extLst xmlns:a="http://schemas.openxmlformats.org/drawingml/2006/main">
              <a:ext uri="{FF2B5EF4-FFF2-40B4-BE49-F238E27FC236}">
                <a16:creationId xmlns:a16="http://schemas.microsoft.com/office/drawing/2014/main" id="{5A869B4C-867C-4D16-AB39-5A92DF316F47}"/>
              </a:ext>
            </a:extLst>
          </p:cNvPr>
          <p:cNvSpPr>
            <a:spLocks xmlns:a="http://schemas.openxmlformats.org/drawingml/2006/main" noGrp="1"/>
          </p:cNvSpPr>
          <p:nvPr/>
        </p:nvSpPr>
        <p:spPr>
          <a:xfrm xmlns:a="http://schemas.openxmlformats.org/drawingml/2006/main">
            <a:off x="647700" y="3067050"/>
            <a:ext cx="581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0">
                <a:solidFill>
                  <a:srgbClr val="D8DEE3"/>
                </a:solidFill>
                <a:latin typeface="DejaVu Sans"/>
                <a:ea typeface="DejaVu Sans"/>
                <a:cs typeface="DejaVu Sans"/>
              </a:defRPr>
            </a:pPr>
            <a:r>
              <a:rPr sz="1800" b="0">
                <a:solidFill>
                  <a:srgbClr val="D8DEE3"/>
                </a:solidFill>
                <a:latin typeface="DejaVu Sans"/>
                <a:ea typeface="DejaVu Sans"/>
                <a:cs typeface="DejaVu Sans"/>
              </a:rPr>
              <a:t>Harnessed agentic AI for science, engineering and settlement</a:t>
            </a:r>
          </a:p>
        </p:txBody>
      </p:sp>
      <p:sp>
        <p:nvSpPr>
          <p:cNvPr id="6" name="">
            <a:extLst xmlns:a="http://schemas.openxmlformats.org/drawingml/2006/main">
              <a:ext uri="{FF2B5EF4-FFF2-40B4-BE49-F238E27FC236}">
                <a16:creationId xmlns:a16="http://schemas.microsoft.com/office/drawing/2014/main" id="{C46C4E06-CA3A-47BC-8E92-986A80F6EEEE}"/>
              </a:ext>
            </a:extLst>
          </p:cNvPr>
          <p:cNvSpPr>
            <a:spLocks xmlns:a="http://schemas.openxmlformats.org/drawingml/2006/main" noGrp="1"/>
          </p:cNvSpPr>
          <p:nvPr/>
        </p:nvSpPr>
        <p:spPr>
          <a:xfrm xmlns:a="http://schemas.openxmlformats.org/drawingml/2006/main">
            <a:off x="647700" y="4114800"/>
            <a:ext cx="4953000" cy="0"/>
          </a:xfrm>
          <a:prstGeom xmlns:a="http://schemas.openxmlformats.org/drawingml/2006/main" prst="line">
            <a:avLst/>
          </a:prstGeom>
          <a:noFill xmlns:a="http://schemas.openxmlformats.org/drawingml/2006/main"/>
          <a:ln xmlns:a="http://schemas.openxmlformats.org/drawingml/2006/main" w="28575">
            <a:solidFill>
              <a:srgbClr val="F26B38"/>
            </a:solidFill>
            <a:prstDash val="solid"/>
          </a:ln>
        </p:spPr>
      </p:sp>
      <p:sp>
        <p:nvSpPr>
          <p:cNvPr id="7" name="">
            <a:extLst xmlns:a="http://schemas.openxmlformats.org/drawingml/2006/main">
              <a:ext uri="{FF2B5EF4-FFF2-40B4-BE49-F238E27FC236}">
                <a16:creationId xmlns:a16="http://schemas.microsoft.com/office/drawing/2014/main" id="{F96DE93F-762F-40EA-A4F0-86BE1DB7A203}"/>
              </a:ext>
            </a:extLst>
          </p:cNvPr>
          <p:cNvSpPr>
            <a:spLocks xmlns:a="http://schemas.openxmlformats.org/drawingml/2006/main" noGrp="1"/>
          </p:cNvSpPr>
          <p:nvPr/>
        </p:nvSpPr>
        <p:spPr>
          <a:xfrm xmlns:a="http://schemas.openxmlformats.org/drawingml/2006/main">
            <a:off x="647700" y="4400550"/>
            <a:ext cx="1371600" cy="533400"/>
          </a:xfrm>
          <a:prstGeom xmlns:a="http://schemas.openxmlformats.org/drawingml/2006/main" prst="roundRect">
            <a:avLst>
              <a:gd name="adj" fmla="val 28571"/>
            </a:avLst>
          </a:prstGeom>
          <a:solidFill xmlns:a="http://schemas.openxmlformats.org/drawingml/2006/main">
            <a:srgbClr val="0F1A20">
              <a:alpha val="92000"/>
            </a:srgbClr>
          </a:solidFill>
          <a:ln xmlns:a="http://schemas.openxmlformats.org/drawingml/2006/main" w="14288">
            <a:solidFill>
              <a:srgbClr val="39D7FF"/>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275" b="1">
                <a:solidFill>
                  <a:srgbClr val="39D7FF"/>
                </a:solidFill>
                <a:latin typeface="DejaVu Sans"/>
                <a:ea typeface="DejaVu Sans"/>
                <a:cs typeface="DejaVu Sans"/>
              </a:defRPr>
            </a:pPr>
            <a:r>
              <a:rPr sz="1275" b="1">
                <a:solidFill>
                  <a:srgbClr val="39D7FF"/>
                </a:solidFill>
                <a:latin typeface="DejaVu Sans"/>
                <a:ea typeface="DejaVu Sans"/>
                <a:cs typeface="DejaVu Sans"/>
              </a:rPr>
              <a:t>SCIENCE</a:t>
            </a:r>
          </a:p>
        </p:txBody>
      </p:sp>
      <p:sp>
        <p:nvSpPr>
          <p:cNvPr id="8" name="">
            <a:extLst xmlns:a="http://schemas.openxmlformats.org/drawingml/2006/main">
              <a:ext uri="{FF2B5EF4-FFF2-40B4-BE49-F238E27FC236}">
                <a16:creationId xmlns:a16="http://schemas.microsoft.com/office/drawing/2014/main" id="{E19C4ED1-E9EF-4FB7-A328-96C375078945}"/>
              </a:ext>
            </a:extLst>
          </p:cNvPr>
          <p:cNvSpPr>
            <a:spLocks xmlns:a="http://schemas.openxmlformats.org/drawingml/2006/main" noGrp="1"/>
          </p:cNvSpPr>
          <p:nvPr/>
        </p:nvSpPr>
        <p:spPr>
          <a:xfrm xmlns:a="http://schemas.openxmlformats.org/drawingml/2006/main" rot="0">
            <a:off x="2152650" y="4562475"/>
            <a:ext cx="819150" cy="190500"/>
          </a:xfrm>
          <a:prstGeom xmlns:a="http://schemas.openxmlformats.org/drawingml/2006/main" prst="rightArrow">
            <a:avLst/>
          </a:prstGeom>
          <a:solidFill xmlns:a="http://schemas.openxmlformats.org/drawingml/2006/main">
            <a:srgbClr val="39D7FF">
              <a:alpha val="75000"/>
            </a:srgbClr>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6E7A095-83B1-49C0-BA12-74D4C61EE565}"/>
              </a:ext>
            </a:extLst>
          </p:cNvPr>
          <p:cNvSpPr>
            <a:spLocks xmlns:a="http://schemas.openxmlformats.org/drawingml/2006/main" noGrp="1"/>
          </p:cNvSpPr>
          <p:nvPr/>
        </p:nvSpPr>
        <p:spPr>
          <a:xfrm xmlns:a="http://schemas.openxmlformats.org/drawingml/2006/main">
            <a:off x="3105150" y="4400550"/>
            <a:ext cx="1695450" cy="533400"/>
          </a:xfrm>
          <a:prstGeom xmlns:a="http://schemas.openxmlformats.org/drawingml/2006/main" prst="roundRect">
            <a:avLst>
              <a:gd name="adj" fmla="val 28571"/>
            </a:avLst>
          </a:prstGeom>
          <a:solidFill xmlns:a="http://schemas.openxmlformats.org/drawingml/2006/main">
            <a:srgbClr val="191612">
              <a:alpha val="94000"/>
            </a:srgbClr>
          </a:solidFill>
          <a:ln xmlns:a="http://schemas.openxmlformats.org/drawingml/2006/main" w="14288">
            <a:solidFill>
              <a:srgbClr val="F26B38"/>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275" b="1">
                <a:solidFill>
                  <a:srgbClr val="F26B38"/>
                </a:solidFill>
                <a:latin typeface="DejaVu Sans"/>
                <a:ea typeface="DejaVu Sans"/>
                <a:cs typeface="DejaVu Sans"/>
              </a:defRPr>
            </a:pPr>
            <a:r>
              <a:rPr sz="1275" b="1">
                <a:solidFill>
                  <a:srgbClr val="F26B38"/>
                </a:solidFill>
                <a:latin typeface="DejaVu Sans"/>
                <a:ea typeface="DejaVu Sans"/>
                <a:cs typeface="DejaVu Sans"/>
              </a:rPr>
              <a:t>ENGINEERING</a:t>
            </a:r>
          </a:p>
        </p:txBody>
      </p:sp>
      <p:sp>
        <p:nvSpPr>
          <p:cNvPr id="10" name="">
            <a:extLst xmlns:a="http://schemas.openxmlformats.org/drawingml/2006/main">
              <a:ext uri="{FF2B5EF4-FFF2-40B4-BE49-F238E27FC236}">
                <a16:creationId xmlns:a16="http://schemas.microsoft.com/office/drawing/2014/main" id="{5F51F77F-6ED3-47AE-88C5-CB2C4C244FAC}"/>
              </a:ext>
            </a:extLst>
          </p:cNvPr>
          <p:cNvSpPr>
            <a:spLocks xmlns:a="http://schemas.openxmlformats.org/drawingml/2006/main" noGrp="1"/>
          </p:cNvSpPr>
          <p:nvPr/>
        </p:nvSpPr>
        <p:spPr>
          <a:xfrm xmlns:a="http://schemas.openxmlformats.org/drawingml/2006/main" rot="0">
            <a:off x="4933950" y="4562475"/>
            <a:ext cx="819150" cy="190500"/>
          </a:xfrm>
          <a:prstGeom xmlns:a="http://schemas.openxmlformats.org/drawingml/2006/main" prst="rightArrow">
            <a:avLst/>
          </a:prstGeom>
          <a:solidFill xmlns:a="http://schemas.openxmlformats.org/drawingml/2006/main">
            <a:srgbClr val="F26B38">
              <a:alpha val="75000"/>
            </a:srgbClr>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CA98D05-F35D-42E6-BB37-7DD3D0AF8044}"/>
              </a:ext>
            </a:extLst>
          </p:cNvPr>
          <p:cNvSpPr>
            <a:spLocks xmlns:a="http://schemas.openxmlformats.org/drawingml/2006/main" noGrp="1"/>
          </p:cNvSpPr>
          <p:nvPr/>
        </p:nvSpPr>
        <p:spPr>
          <a:xfrm xmlns:a="http://schemas.openxmlformats.org/drawingml/2006/main">
            <a:off x="5886450" y="4400550"/>
            <a:ext cx="1562100" cy="533400"/>
          </a:xfrm>
          <a:prstGeom xmlns:a="http://schemas.openxmlformats.org/drawingml/2006/main" prst="roundRect">
            <a:avLst>
              <a:gd name="adj" fmla="val 28571"/>
            </a:avLst>
          </a:prstGeom>
          <a:solidFill xmlns:a="http://schemas.openxmlformats.org/drawingml/2006/main">
            <a:srgbClr val="101A17">
              <a:alpha val="94000"/>
            </a:srgbClr>
          </a:solidFill>
          <a:ln xmlns:a="http://schemas.openxmlformats.org/drawingml/2006/main" w="14288">
            <a:solidFill>
              <a:srgbClr val="62D6A7"/>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275" b="1">
                <a:solidFill>
                  <a:srgbClr val="62D6A7"/>
                </a:solidFill>
                <a:latin typeface="DejaVu Sans"/>
                <a:ea typeface="DejaVu Sans"/>
                <a:cs typeface="DejaVu Sans"/>
              </a:defRPr>
            </a:pPr>
            <a:r>
              <a:rPr sz="1275" b="1">
                <a:solidFill>
                  <a:srgbClr val="62D6A7"/>
                </a:solidFill>
                <a:latin typeface="DejaVu Sans"/>
                <a:ea typeface="DejaVu Sans"/>
                <a:cs typeface="DejaVu Sans"/>
              </a:rPr>
              <a:t>OPERATIONS</a:t>
            </a:r>
          </a:p>
        </p:txBody>
      </p:sp>
      <p:sp>
        <p:nvSpPr>
          <p:cNvPr id="12" name="">
            <a:extLst xmlns:a="http://schemas.openxmlformats.org/drawingml/2006/main">
              <a:ext uri="{FF2B5EF4-FFF2-40B4-BE49-F238E27FC236}">
                <a16:creationId xmlns:a16="http://schemas.microsoft.com/office/drawing/2014/main" id="{C971008F-08C2-4839-9E76-534C0CEE878C}"/>
              </a:ext>
            </a:extLst>
          </p:cNvPr>
          <p:cNvSpPr>
            <a:spLocks xmlns:a="http://schemas.openxmlformats.org/drawingml/2006/main" noGrp="1"/>
          </p:cNvSpPr>
          <p:nvPr/>
        </p:nvSpPr>
        <p:spPr>
          <a:xfrm xmlns:a="http://schemas.openxmlformats.org/drawingml/2006/main">
            <a:off x="647700" y="57912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125" b="1">
                <a:solidFill>
                  <a:srgbClr val="D8DEE3"/>
                </a:solidFill>
                <a:latin typeface="DejaVu Sans Mono"/>
                <a:ea typeface="DejaVu Sans Mono"/>
                <a:cs typeface="DejaVu Sans Mono"/>
              </a:defRPr>
            </a:pPr>
            <a:r>
              <a:rPr sz="1125" b="1">
                <a:solidFill>
                  <a:srgbClr val="D8DEE3"/>
                </a:solidFill>
                <a:latin typeface="DejaVu Sans Mono"/>
                <a:ea typeface="DejaVu Sans Mono"/>
                <a:cs typeface="DejaVu Sans Mono"/>
              </a:rPr>
              <a:t>OCTOBER 22–24, 2026  •  USC, LOS ANGELES</a:t>
            </a:r>
          </a:p>
        </p:txBody>
      </p:sp>
      <p:sp>
        <p:nvSpPr>
          <p:cNvPr id="13" name="">
            <a:extLst xmlns:a="http://schemas.openxmlformats.org/drawingml/2006/main">
              <a:ext uri="{FF2B5EF4-FFF2-40B4-BE49-F238E27FC236}">
                <a16:creationId xmlns:a16="http://schemas.microsoft.com/office/drawing/2014/main" id="{EF1CBEC0-B754-4CD4-9535-49E6DF09D099}"/>
              </a:ext>
            </a:extLst>
          </p:cNvPr>
          <p:cNvSpPr>
            <a:spLocks xmlns:a="http://schemas.openxmlformats.org/drawingml/2006/main" noGrp="1"/>
          </p:cNvSpPr>
          <p:nvPr/>
        </p:nvSpPr>
        <p:spPr>
          <a:xfrm xmlns:a="http://schemas.openxmlformats.org/drawingml/2006/main">
            <a:off x="647700" y="61150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275" b="1">
                <a:solidFill>
                  <a:srgbClr val="F4F6F8"/>
                </a:solidFill>
                <a:latin typeface="DejaVu Sans"/>
                <a:ea typeface="DejaVu Sans"/>
                <a:cs typeface="DejaVu Sans"/>
              </a:defRPr>
            </a:pPr>
            <a:r>
              <a:rPr sz="1275" b="1">
                <a:solidFill>
                  <a:srgbClr val="F4F6F8"/>
                </a:solidFill>
                <a:latin typeface="DejaVu Sans"/>
                <a:ea typeface="DejaVu Sans"/>
                <a:cs typeface="DejaVu Sans"/>
              </a:rPr>
              <a:t>BOB J MILLS</a:t>
            </a:r>
          </a:p>
        </p:txBody>
      </p:sp>
    </p:spTree>
    <p:extLst>
      <p:ext uri="{BB962C8B-B14F-4D97-AF65-F5344CB8AC3E}">
        <p14:creationId xmlns:p14="http://schemas.microsoft.com/office/powerpoint/2010/main" val="749810425"/>
      </p:ext>
    </p:extLst>
  </p:cSld>
</p:sld>
</file>

<file path=ppt/slides/slide2.xml><?xml version="1.0" encoding="utf-8"?>
<p:sld xmlns:p="http://schemas.openxmlformats.org/presentationml/2006/main">
  <p:cSld>
    <p:bg>
      <p:bgPr>
        <a:solidFill xmlns:a="http://schemas.openxmlformats.org/drawingml/2006/main">
          <a:srgbClr val="07090C"/>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f41790f8c263437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B5E39E1-A130-46A9-9BF5-A5B4064FFAD5}"/>
              </a:ext>
            </a:extLst>
          </p:cNvPr>
          <p:cNvSpPr>
            <a:spLocks xmlns:a="http://schemas.openxmlformats.org/drawingml/2006/main" noGrp="1"/>
          </p:cNvSpPr>
          <p:nvPr/>
        </p:nvSpPr>
        <p:spPr>
          <a:xfrm xmlns:a="http://schemas.openxmlformats.org/drawingml/2006/main">
            <a:off x="0" y="0"/>
            <a:ext cx="7429500" cy="6858000"/>
          </a:xfrm>
          <a:prstGeom xmlns:a="http://schemas.openxmlformats.org/drawingml/2006/main" prst="rect">
            <a:avLst/>
          </a:prstGeom>
          <a:gradFill xmlns:a="http://schemas.openxmlformats.org/drawingml/2006/main">
            <a:gsLst>
              <a:gs pos="0">
                <a:srgbClr val="07090C"/>
              </a:gs>
              <a:gs pos="67000">
                <a:srgbClr val="07090C">
                  <a:alpha val="97000"/>
                </a:srgbClr>
              </a:gs>
              <a:gs pos="100000">
                <a:srgbClr val="07090C">
                  <a:alpha val="0"/>
                </a:srgbClr>
              </a:gs>
            </a:gsLst>
            <a:lin ang="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7DFCF75-48DD-4B6A-838B-5712F472D29F}"/>
              </a:ext>
            </a:extLst>
          </p:cNvPr>
          <p:cNvSpPr>
            <a:spLocks xmlns:a="http://schemas.openxmlformats.org/drawingml/2006/main" noGrp="1"/>
          </p:cNvSpPr>
          <p:nvPr/>
        </p:nvSpPr>
        <p:spPr>
          <a:xfrm xmlns:a="http://schemas.openxmlformats.org/drawingml/2006/main">
            <a:off x="609600" y="3429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975" b="1">
                <a:solidFill>
                  <a:srgbClr val="F26B38"/>
                </a:solidFill>
                <a:latin typeface="DejaVu Sans Mono"/>
                <a:ea typeface="DejaVu Sans Mono"/>
                <a:cs typeface="DejaVu Sans Mono"/>
              </a:defRPr>
            </a:pPr>
            <a:r>
              <a:rPr sz="975" b="1">
                <a:solidFill>
                  <a:srgbClr val="F26B38"/>
                </a:solidFill>
                <a:latin typeface="DejaVu Sans Mono"/>
                <a:ea typeface="DejaVu Sans Mono"/>
                <a:cs typeface="DejaVu Sans Mono"/>
              </a:rPr>
              <a:t>02  /  MISSION CONSTRAINT</a:t>
            </a:r>
          </a:p>
        </p:txBody>
      </p:sp>
      <p:sp>
        <p:nvSpPr>
          <p:cNvPr id="4" name="">
            <a:extLst xmlns:a="http://schemas.openxmlformats.org/drawingml/2006/main">
              <a:ext uri="{FF2B5EF4-FFF2-40B4-BE49-F238E27FC236}">
                <a16:creationId xmlns:a16="http://schemas.microsoft.com/office/drawing/2014/main" id="{F76F475D-63B5-456C-A8F1-9E3A063609C6}"/>
              </a:ext>
            </a:extLst>
          </p:cNvPr>
          <p:cNvSpPr>
            <a:spLocks xmlns:a="http://schemas.openxmlformats.org/drawingml/2006/main" noGrp="1"/>
          </p:cNvSpPr>
          <p:nvPr/>
        </p:nvSpPr>
        <p:spPr>
          <a:xfrm xmlns:a="http://schemas.openxmlformats.org/drawingml/2006/main">
            <a:off x="609600" y="723900"/>
            <a:ext cx="619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625" b="1">
                <a:solidFill>
                  <a:srgbClr val="F4F6F8"/>
                </a:solidFill>
                <a:latin typeface="DejaVu Sans"/>
                <a:ea typeface="DejaVu Sans"/>
                <a:cs typeface="DejaVu Sans"/>
              </a:defRPr>
            </a:pPr>
            <a:r>
              <a:rPr sz="2625" b="1">
                <a:solidFill>
                  <a:srgbClr val="F4F6F8"/>
                </a:solidFill>
                <a:latin typeface="DejaVu Sans"/>
                <a:ea typeface="DejaVu Sans"/>
                <a:cs typeface="DejaVu Sans"/>
              </a:rPr>
              <a:t>Mars is a learning-rate problem</a:t>
            </a:r>
          </a:p>
        </p:txBody>
      </p:sp>
      <p:sp>
        <p:nvSpPr>
          <p:cNvPr id="5" name="">
            <a:extLst xmlns:a="http://schemas.openxmlformats.org/drawingml/2006/main">
              <a:ext uri="{FF2B5EF4-FFF2-40B4-BE49-F238E27FC236}">
                <a16:creationId xmlns:a16="http://schemas.microsoft.com/office/drawing/2014/main" id="{FCCEA69D-608F-43B8-8170-73D1F3977FA3}"/>
              </a:ext>
            </a:extLst>
          </p:cNvPr>
          <p:cNvSpPr>
            <a:spLocks xmlns:a="http://schemas.openxmlformats.org/drawingml/2006/main" noGrp="1"/>
          </p:cNvSpPr>
          <p:nvPr/>
        </p:nvSpPr>
        <p:spPr>
          <a:xfrm xmlns:a="http://schemas.openxmlformats.org/drawingml/2006/main">
            <a:off x="628650" y="1352550"/>
            <a:ext cx="5810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0">
                <a:solidFill>
                  <a:srgbClr val="D8DEE3"/>
                </a:solidFill>
                <a:latin typeface="DejaVu Sans"/>
                <a:ea typeface="DejaVu Sans"/>
                <a:cs typeface="DejaVu Sans"/>
              </a:defRPr>
            </a:pPr>
            <a:r>
              <a:rPr sz="1650" b="0">
                <a:solidFill>
                  <a:srgbClr val="D8DEE3"/>
                </a:solidFill>
                <a:latin typeface="DejaVu Sans"/>
                <a:ea typeface="DejaVu Sans"/>
                <a:cs typeface="DejaVu Sans"/>
              </a:rPr>
              <a:t>The scarce resource is elapsed time from uncertain observation to a verified decision.</a:t>
            </a:r>
          </a:p>
        </p:txBody>
      </p:sp>
      <p:sp>
        <p:nvSpPr>
          <p:cNvPr id="6" name="">
            <a:extLst xmlns:a="http://schemas.openxmlformats.org/drawingml/2006/main">
              <a:ext uri="{FF2B5EF4-FFF2-40B4-BE49-F238E27FC236}">
                <a16:creationId xmlns:a16="http://schemas.microsoft.com/office/drawing/2014/main" id="{E3B78FA8-D5F6-4FE4-B5FA-738A8F1B83A9}"/>
              </a:ext>
            </a:extLst>
          </p:cNvPr>
          <p:cNvSpPr>
            <a:spLocks xmlns:a="http://schemas.openxmlformats.org/drawingml/2006/main" noGrp="1"/>
          </p:cNvSpPr>
          <p:nvPr/>
        </p:nvSpPr>
        <p:spPr>
          <a:xfrm xmlns:a="http://schemas.openxmlformats.org/drawingml/2006/main">
            <a:off x="647700" y="2305050"/>
            <a:ext cx="4953000" cy="0"/>
          </a:xfrm>
          <a:prstGeom xmlns:a="http://schemas.openxmlformats.org/drawingml/2006/main" prst="line">
            <a:avLst/>
          </a:prstGeom>
          <a:noFill xmlns:a="http://schemas.openxmlformats.org/drawingml/2006/main"/>
          <a:ln xmlns:a="http://schemas.openxmlformats.org/drawingml/2006/main" w="9525">
            <a:solidFill>
              <a:srgbClr val="35414B"/>
            </a:solidFill>
            <a:prstDash val="solid"/>
          </a:ln>
        </p:spPr>
      </p:sp>
      <p:sp>
        <p:nvSpPr>
          <p:cNvPr id="7" name="">
            <a:extLst xmlns:a="http://schemas.openxmlformats.org/drawingml/2006/main">
              <a:ext uri="{FF2B5EF4-FFF2-40B4-BE49-F238E27FC236}">
                <a16:creationId xmlns:a16="http://schemas.microsoft.com/office/drawing/2014/main" id="{7ADC2A2D-6CBB-431D-99C8-4CB2B0C6A256}"/>
              </a:ext>
            </a:extLst>
          </p:cNvPr>
          <p:cNvSpPr>
            <a:spLocks xmlns:a="http://schemas.openxmlformats.org/drawingml/2006/main" noGrp="1"/>
          </p:cNvSpPr>
          <p:nvPr/>
        </p:nvSpPr>
        <p:spPr>
          <a:xfrm xmlns:a="http://schemas.openxmlformats.org/drawingml/2006/main">
            <a:off x="809625" y="2752725"/>
            <a:ext cx="285750" cy="285750"/>
          </a:xfrm>
          <a:prstGeom xmlns:a="http://schemas.openxmlformats.org/drawingml/2006/main" prst="ellipse">
            <a:avLst/>
          </a:prstGeom>
          <a:solidFill xmlns:a="http://schemas.openxmlformats.org/drawingml/2006/main">
            <a:srgbClr val="39D7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F8CF435-ABE1-4160-BBD8-39F57B05E1EB}"/>
              </a:ext>
            </a:extLst>
          </p:cNvPr>
          <p:cNvSpPr>
            <a:spLocks xmlns:a="http://schemas.openxmlformats.org/drawingml/2006/main" noGrp="1"/>
          </p:cNvSpPr>
          <p:nvPr/>
        </p:nvSpPr>
        <p:spPr>
          <a:xfrm xmlns:a="http://schemas.openxmlformats.org/drawingml/2006/main">
            <a:off x="666750" y="31813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1125" b="1">
                <a:solidFill>
                  <a:srgbClr val="39D7FF"/>
                </a:solidFill>
                <a:latin typeface="DejaVu Sans Mono"/>
                <a:ea typeface="DejaVu Sans Mono"/>
                <a:cs typeface="DejaVu Sans Mono"/>
              </a:defRPr>
            </a:pPr>
            <a:r>
              <a:rPr sz="1125" b="1">
                <a:solidFill>
                  <a:srgbClr val="39D7FF"/>
                </a:solidFill>
                <a:latin typeface="DejaVu Sans Mono"/>
                <a:ea typeface="DejaVu Sans Mono"/>
                <a:cs typeface="DejaVu Sans Mono"/>
              </a:rPr>
              <a:t>OBSERVE</a:t>
            </a:r>
          </a:p>
        </p:txBody>
      </p:sp>
      <p:sp>
        <p:nvSpPr>
          <p:cNvPr id="9" name="">
            <a:extLst xmlns:a="http://schemas.openxmlformats.org/drawingml/2006/main">
              <a:ext uri="{FF2B5EF4-FFF2-40B4-BE49-F238E27FC236}">
                <a16:creationId xmlns:a16="http://schemas.microsoft.com/office/drawing/2014/main" id="{2860B627-B7C1-4B27-B4F1-5602A65307C4}"/>
              </a:ext>
            </a:extLst>
          </p:cNvPr>
          <p:cNvSpPr>
            <a:spLocks xmlns:a="http://schemas.openxmlformats.org/drawingml/2006/main" noGrp="1"/>
          </p:cNvSpPr>
          <p:nvPr/>
        </p:nvSpPr>
        <p:spPr>
          <a:xfrm xmlns:a="http://schemas.openxmlformats.org/drawingml/2006/main" rot="0">
            <a:off x="1219200" y="2819400"/>
            <a:ext cx="742950" cy="152400"/>
          </a:xfrm>
          <a:prstGeom xmlns:a="http://schemas.openxmlformats.org/drawingml/2006/main" prst="rightArrow">
            <a:avLst/>
          </a:prstGeom>
          <a:solidFill xmlns:a="http://schemas.openxmlformats.org/drawingml/2006/main">
            <a:srgbClr val="39D7FF">
              <a:alpha val="70000"/>
            </a:srgbClr>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21A9D6F-C656-4935-AADA-D67A69E33AA0}"/>
              </a:ext>
            </a:extLst>
          </p:cNvPr>
          <p:cNvSpPr>
            <a:spLocks xmlns:a="http://schemas.openxmlformats.org/drawingml/2006/main" noGrp="1"/>
          </p:cNvSpPr>
          <p:nvPr/>
        </p:nvSpPr>
        <p:spPr>
          <a:xfrm xmlns:a="http://schemas.openxmlformats.org/drawingml/2006/main">
            <a:off x="2352675" y="2752725"/>
            <a:ext cx="285750" cy="285750"/>
          </a:xfrm>
          <a:prstGeom xmlns:a="http://schemas.openxmlformats.org/drawingml/2006/main" prst="ellipse">
            <a:avLst/>
          </a:prstGeom>
          <a:solidFill xmlns:a="http://schemas.openxmlformats.org/drawingml/2006/main">
            <a:srgbClr val="39D7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C791463-B7CE-4C2B-8BF7-783F5FC57A29}"/>
              </a:ext>
            </a:extLst>
          </p:cNvPr>
          <p:cNvSpPr>
            <a:spLocks xmlns:a="http://schemas.openxmlformats.org/drawingml/2006/main" noGrp="1"/>
          </p:cNvSpPr>
          <p:nvPr/>
        </p:nvSpPr>
        <p:spPr>
          <a:xfrm xmlns:a="http://schemas.openxmlformats.org/drawingml/2006/main">
            <a:off x="2209800" y="31813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1125" b="1">
                <a:solidFill>
                  <a:srgbClr val="39D7FF"/>
                </a:solidFill>
                <a:latin typeface="DejaVu Sans Mono"/>
                <a:ea typeface="DejaVu Sans Mono"/>
                <a:cs typeface="DejaVu Sans Mono"/>
              </a:defRPr>
            </a:pPr>
            <a:r>
              <a:rPr sz="1125" b="1">
                <a:solidFill>
                  <a:srgbClr val="39D7FF"/>
                </a:solidFill>
                <a:latin typeface="DejaVu Sans Mono"/>
                <a:ea typeface="DejaVu Sans Mono"/>
                <a:cs typeface="DejaVu Sans Mono"/>
              </a:rPr>
              <a:t>GROUND</a:t>
            </a:r>
          </a:p>
        </p:txBody>
      </p:sp>
      <p:sp>
        <p:nvSpPr>
          <p:cNvPr id="12" name="">
            <a:extLst xmlns:a="http://schemas.openxmlformats.org/drawingml/2006/main">
              <a:ext uri="{FF2B5EF4-FFF2-40B4-BE49-F238E27FC236}">
                <a16:creationId xmlns:a16="http://schemas.microsoft.com/office/drawing/2014/main" id="{61FC6E74-7CAF-4CE0-B648-5DA9CF69BF68}"/>
              </a:ext>
            </a:extLst>
          </p:cNvPr>
          <p:cNvSpPr>
            <a:spLocks xmlns:a="http://schemas.openxmlformats.org/drawingml/2006/main" noGrp="1"/>
          </p:cNvSpPr>
          <p:nvPr/>
        </p:nvSpPr>
        <p:spPr>
          <a:xfrm xmlns:a="http://schemas.openxmlformats.org/drawingml/2006/main" rot="0">
            <a:off x="2762250" y="2819400"/>
            <a:ext cx="742950" cy="152400"/>
          </a:xfrm>
          <a:prstGeom xmlns:a="http://schemas.openxmlformats.org/drawingml/2006/main" prst="rightArrow">
            <a:avLst/>
          </a:prstGeom>
          <a:solidFill xmlns:a="http://schemas.openxmlformats.org/drawingml/2006/main">
            <a:srgbClr val="39D7FF">
              <a:alpha val="70000"/>
            </a:srgbClr>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DE1A772-59A5-457B-BB29-BA9548D0D145}"/>
              </a:ext>
            </a:extLst>
          </p:cNvPr>
          <p:cNvSpPr>
            <a:spLocks xmlns:a="http://schemas.openxmlformats.org/drawingml/2006/main" noGrp="1"/>
          </p:cNvSpPr>
          <p:nvPr/>
        </p:nvSpPr>
        <p:spPr>
          <a:xfrm xmlns:a="http://schemas.openxmlformats.org/drawingml/2006/main">
            <a:off x="3895725" y="2752725"/>
            <a:ext cx="285750" cy="285750"/>
          </a:xfrm>
          <a:prstGeom xmlns:a="http://schemas.openxmlformats.org/drawingml/2006/main" prst="ellipse">
            <a:avLst/>
          </a:prstGeom>
          <a:solidFill xmlns:a="http://schemas.openxmlformats.org/drawingml/2006/main">
            <a:srgbClr val="F26B3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926617E-DE6E-4351-8170-677AB56B4367}"/>
              </a:ext>
            </a:extLst>
          </p:cNvPr>
          <p:cNvSpPr>
            <a:spLocks xmlns:a="http://schemas.openxmlformats.org/drawingml/2006/main" noGrp="1"/>
          </p:cNvSpPr>
          <p:nvPr/>
        </p:nvSpPr>
        <p:spPr>
          <a:xfrm xmlns:a="http://schemas.openxmlformats.org/drawingml/2006/main">
            <a:off x="3752850" y="31813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1125" b="1">
                <a:solidFill>
                  <a:srgbClr val="F26B38"/>
                </a:solidFill>
                <a:latin typeface="DejaVu Sans Mono"/>
                <a:ea typeface="DejaVu Sans Mono"/>
                <a:cs typeface="DejaVu Sans Mono"/>
              </a:defRPr>
            </a:pPr>
            <a:r>
              <a:rPr sz="1125" b="1">
                <a:solidFill>
                  <a:srgbClr val="F26B38"/>
                </a:solidFill>
                <a:latin typeface="DejaVu Sans Mono"/>
                <a:ea typeface="DejaVu Sans Mono"/>
                <a:cs typeface="DejaVu Sans Mono"/>
              </a:rPr>
              <a:t>DECIDE</a:t>
            </a:r>
          </a:p>
        </p:txBody>
      </p:sp>
      <p:sp>
        <p:nvSpPr>
          <p:cNvPr id="15" name="">
            <a:extLst xmlns:a="http://schemas.openxmlformats.org/drawingml/2006/main">
              <a:ext uri="{FF2B5EF4-FFF2-40B4-BE49-F238E27FC236}">
                <a16:creationId xmlns:a16="http://schemas.microsoft.com/office/drawing/2014/main" id="{043E9515-CAB6-4B19-8421-10C976802354}"/>
              </a:ext>
            </a:extLst>
          </p:cNvPr>
          <p:cNvSpPr>
            <a:spLocks xmlns:a="http://schemas.openxmlformats.org/drawingml/2006/main" noGrp="1"/>
          </p:cNvSpPr>
          <p:nvPr/>
        </p:nvSpPr>
        <p:spPr>
          <a:xfrm xmlns:a="http://schemas.openxmlformats.org/drawingml/2006/main" rot="0">
            <a:off x="4305300" y="2819400"/>
            <a:ext cx="742950" cy="152400"/>
          </a:xfrm>
          <a:prstGeom xmlns:a="http://schemas.openxmlformats.org/drawingml/2006/main" prst="rightArrow">
            <a:avLst/>
          </a:prstGeom>
          <a:solidFill xmlns:a="http://schemas.openxmlformats.org/drawingml/2006/main">
            <a:srgbClr val="F26B38">
              <a:alpha val="70000"/>
            </a:srgbClr>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82E9BF4-D80E-415C-8EAC-064F3029C779}"/>
              </a:ext>
            </a:extLst>
          </p:cNvPr>
          <p:cNvSpPr>
            <a:spLocks xmlns:a="http://schemas.openxmlformats.org/drawingml/2006/main" noGrp="1"/>
          </p:cNvSpPr>
          <p:nvPr/>
        </p:nvSpPr>
        <p:spPr>
          <a:xfrm xmlns:a="http://schemas.openxmlformats.org/drawingml/2006/main">
            <a:off x="5438775" y="2752725"/>
            <a:ext cx="285750" cy="285750"/>
          </a:xfrm>
          <a:prstGeom xmlns:a="http://schemas.openxmlformats.org/drawingml/2006/main" prst="ellipse">
            <a:avLst/>
          </a:prstGeom>
          <a:solidFill xmlns:a="http://schemas.openxmlformats.org/drawingml/2006/main">
            <a:srgbClr val="62D6A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5AFEDB8-DAFD-44E2-A126-52A6BF808BBC}"/>
              </a:ext>
            </a:extLst>
          </p:cNvPr>
          <p:cNvSpPr>
            <a:spLocks xmlns:a="http://schemas.openxmlformats.org/drawingml/2006/main" noGrp="1"/>
          </p:cNvSpPr>
          <p:nvPr/>
        </p:nvSpPr>
        <p:spPr>
          <a:xfrm xmlns:a="http://schemas.openxmlformats.org/drawingml/2006/main">
            <a:off x="5295900" y="31813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1125" b="1">
                <a:solidFill>
                  <a:srgbClr val="62D6A7"/>
                </a:solidFill>
                <a:latin typeface="DejaVu Sans Mono"/>
                <a:ea typeface="DejaVu Sans Mono"/>
                <a:cs typeface="DejaVu Sans Mono"/>
              </a:defRPr>
            </a:pPr>
            <a:r>
              <a:rPr sz="1125" b="1">
                <a:solidFill>
                  <a:srgbClr val="62D6A7"/>
                </a:solidFill>
                <a:latin typeface="DejaVu Sans Mono"/>
                <a:ea typeface="DejaVu Sans Mono"/>
                <a:cs typeface="DejaVu Sans Mono"/>
              </a:rPr>
              <a:t>VERIFY</a:t>
            </a:r>
          </a:p>
        </p:txBody>
      </p:sp>
      <p:sp>
        <p:nvSpPr>
          <p:cNvPr id="18" name="">
            <a:extLst xmlns:a="http://schemas.openxmlformats.org/drawingml/2006/main">
              <a:ext uri="{FF2B5EF4-FFF2-40B4-BE49-F238E27FC236}">
                <a16:creationId xmlns:a16="http://schemas.microsoft.com/office/drawing/2014/main" id="{784D3DA6-E482-48BB-B462-51E845616FB5}"/>
              </a:ext>
            </a:extLst>
          </p:cNvPr>
          <p:cNvSpPr>
            <a:spLocks xmlns:a="http://schemas.openxmlformats.org/drawingml/2006/main" noGrp="1"/>
          </p:cNvSpPr>
          <p:nvPr/>
        </p:nvSpPr>
        <p:spPr>
          <a:xfrm xmlns:a="http://schemas.openxmlformats.org/drawingml/2006/main">
            <a:off x="647700" y="3714750"/>
            <a:ext cx="5238750" cy="1676400"/>
          </a:xfrm>
          <a:prstGeom xmlns:a="http://schemas.openxmlformats.org/drawingml/2006/main" prst="roundRect">
            <a:avLst>
              <a:gd name="adj" fmla="val 10227"/>
            </a:avLst>
          </a:prstGeom>
          <a:solidFill xmlns:a="http://schemas.openxmlformats.org/drawingml/2006/main">
            <a:srgbClr val="0C1116">
              <a:alpha val="92000"/>
            </a:srgbClr>
          </a:solidFill>
          <a:ln xmlns:a="http://schemas.openxmlformats.org/drawingml/2006/main" w="11430">
            <a:solidFill>
              <a:srgbClr val="35414B"/>
            </a:solidFill>
            <a:prstDash val="solid"/>
          </a:ln>
        </p:spPr>
      </p:sp>
      <p:sp>
        <p:nvSpPr>
          <p:cNvPr id="19" name="">
            <a:extLst xmlns:a="http://schemas.openxmlformats.org/drawingml/2006/main">
              <a:ext uri="{FF2B5EF4-FFF2-40B4-BE49-F238E27FC236}">
                <a16:creationId xmlns:a16="http://schemas.microsoft.com/office/drawing/2014/main" id="{A3C37A59-C10F-4DC7-A796-15B80C12CCA5}"/>
              </a:ext>
            </a:extLst>
          </p:cNvPr>
          <p:cNvSpPr>
            <a:spLocks xmlns:a="http://schemas.openxmlformats.org/drawingml/2006/main" noGrp="1"/>
          </p:cNvSpPr>
          <p:nvPr/>
        </p:nvSpPr>
        <p:spPr>
          <a:xfrm xmlns:a="http://schemas.openxmlformats.org/drawingml/2006/main">
            <a:off x="895350" y="400050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550" b="1">
                <a:solidFill>
                  <a:srgbClr val="39D7FF"/>
                </a:solidFill>
                <a:latin typeface="DejaVu Sans Mono"/>
                <a:ea typeface="DejaVu Sans Mono"/>
                <a:cs typeface="DejaVu Sans Mono"/>
              </a:defRPr>
            </a:pPr>
            <a:r>
              <a:rPr sz="2550" b="1">
                <a:solidFill>
                  <a:srgbClr val="39D7FF"/>
                </a:solidFill>
                <a:latin typeface="DejaVu Sans Mono"/>
                <a:ea typeface="DejaVu Sans Mono"/>
                <a:cs typeface="DejaVu Sans Mono"/>
              </a:rPr>
              <a:t>21–23 min</a:t>
            </a:r>
          </a:p>
        </p:txBody>
      </p:sp>
      <p:sp>
        <p:nvSpPr>
          <p:cNvPr id="20" name="">
            <a:extLst xmlns:a="http://schemas.openxmlformats.org/drawingml/2006/main">
              <a:ext uri="{FF2B5EF4-FFF2-40B4-BE49-F238E27FC236}">
                <a16:creationId xmlns:a16="http://schemas.microsoft.com/office/drawing/2014/main" id="{64ED78BD-EB2C-441D-9ED7-A3BC6BA2AC83}"/>
              </a:ext>
            </a:extLst>
          </p:cNvPr>
          <p:cNvSpPr>
            <a:spLocks xmlns:a="http://schemas.openxmlformats.org/drawingml/2006/main" noGrp="1"/>
          </p:cNvSpPr>
          <p:nvPr/>
        </p:nvSpPr>
        <p:spPr>
          <a:xfrm xmlns:a="http://schemas.openxmlformats.org/drawingml/2006/main">
            <a:off x="895350" y="4505325"/>
            <a:ext cx="219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a:solidFill>
                  <a:srgbClr val="D8DEE3"/>
                </a:solidFill>
                <a:latin typeface="DejaVu Sans"/>
                <a:ea typeface="DejaVu Sans"/>
                <a:cs typeface="DejaVu Sans"/>
              </a:defRPr>
            </a:pPr>
            <a:r>
              <a:rPr sz="1200" b="1">
                <a:solidFill>
                  <a:srgbClr val="D8DEE3"/>
                </a:solidFill>
                <a:latin typeface="DejaVu Sans"/>
                <a:ea typeface="DejaVu Sans"/>
                <a:cs typeface="DejaVu Sans"/>
              </a:rPr>
              <a:t>maximum one-way communication delay in NASA crewed-Mars profiles</a:t>
            </a:r>
          </a:p>
        </p:txBody>
      </p:sp>
      <p:sp>
        <p:nvSpPr>
          <p:cNvPr id="21" name="">
            <a:extLst xmlns:a="http://schemas.openxmlformats.org/drawingml/2006/main">
              <a:ext uri="{FF2B5EF4-FFF2-40B4-BE49-F238E27FC236}">
                <a16:creationId xmlns:a16="http://schemas.microsoft.com/office/drawing/2014/main" id="{F1EA9F8C-4506-429D-B384-769D88EA20FA}"/>
              </a:ext>
            </a:extLst>
          </p:cNvPr>
          <p:cNvSpPr>
            <a:spLocks xmlns:a="http://schemas.openxmlformats.org/drawingml/2006/main" noGrp="1"/>
          </p:cNvSpPr>
          <p:nvPr/>
        </p:nvSpPr>
        <p:spPr>
          <a:xfrm xmlns:a="http://schemas.openxmlformats.org/drawingml/2006/main">
            <a:off x="3352800" y="400050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550" b="1">
                <a:solidFill>
                  <a:srgbClr val="F26B38"/>
                </a:solidFill>
                <a:latin typeface="DejaVu Sans Mono"/>
                <a:ea typeface="DejaVu Sans Mono"/>
                <a:cs typeface="DejaVu Sans Mono"/>
              </a:defRPr>
            </a:pPr>
            <a:r>
              <a:rPr sz="2550" b="1">
                <a:solidFill>
                  <a:srgbClr val="F26B38"/>
                </a:solidFill>
                <a:latin typeface="DejaVu Sans Mono"/>
                <a:ea typeface="DejaVu Sans Mono"/>
                <a:cs typeface="DejaVu Sans Mono"/>
              </a:rPr>
              <a:t>13–21 days</a:t>
            </a:r>
          </a:p>
        </p:txBody>
      </p:sp>
      <p:sp>
        <p:nvSpPr>
          <p:cNvPr id="22" name="">
            <a:extLst xmlns:a="http://schemas.openxmlformats.org/drawingml/2006/main">
              <a:ext uri="{FF2B5EF4-FFF2-40B4-BE49-F238E27FC236}">
                <a16:creationId xmlns:a16="http://schemas.microsoft.com/office/drawing/2014/main" id="{CAE64288-935E-45CE-A7B5-568FBB2066C1}"/>
              </a:ext>
            </a:extLst>
          </p:cNvPr>
          <p:cNvSpPr>
            <a:spLocks xmlns:a="http://schemas.openxmlformats.org/drawingml/2006/main" noGrp="1"/>
          </p:cNvSpPr>
          <p:nvPr/>
        </p:nvSpPr>
        <p:spPr>
          <a:xfrm xmlns:a="http://schemas.openxmlformats.org/drawingml/2006/main">
            <a:off x="3352800" y="4505325"/>
            <a:ext cx="219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a:solidFill>
                  <a:srgbClr val="D8DEE3"/>
                </a:solidFill>
                <a:latin typeface="DejaVu Sans"/>
                <a:ea typeface="DejaVu Sans"/>
                <a:cs typeface="DejaVu Sans"/>
              </a:defRPr>
            </a:pPr>
            <a:r>
              <a:rPr sz="1200" b="1">
                <a:solidFill>
                  <a:srgbClr val="D8DEE3"/>
                </a:solidFill>
                <a:latin typeface="DejaVu Sans"/>
                <a:ea typeface="DejaVu Sans"/>
                <a:cs typeface="DejaVu Sans"/>
              </a:rPr>
              <a:t>blackout examples in two representative NASA mission profiles</a:t>
            </a:r>
          </a:p>
        </p:txBody>
      </p:sp>
      <p:sp>
        <p:nvSpPr>
          <p:cNvPr id="23" name="">
            <a:extLst xmlns:a="http://schemas.openxmlformats.org/drawingml/2006/main">
              <a:ext uri="{FF2B5EF4-FFF2-40B4-BE49-F238E27FC236}">
                <a16:creationId xmlns:a16="http://schemas.microsoft.com/office/drawing/2014/main" id="{A39371BA-4C32-4A37-B380-9B7B0945A0F7}"/>
              </a:ext>
            </a:extLst>
          </p:cNvPr>
          <p:cNvSpPr>
            <a:spLocks xmlns:a="http://schemas.openxmlformats.org/drawingml/2006/main" noGrp="1"/>
          </p:cNvSpPr>
          <p:nvPr/>
        </p:nvSpPr>
        <p:spPr>
          <a:xfrm xmlns:a="http://schemas.openxmlformats.org/drawingml/2006/main">
            <a:off x="666750" y="5715000"/>
            <a:ext cx="571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350" b="1">
                <a:solidFill>
                  <a:srgbClr val="F4F6F8"/>
                </a:solidFill>
                <a:latin typeface="DejaVu Sans"/>
                <a:ea typeface="DejaVu Sans"/>
                <a:cs typeface="DejaVu Sans"/>
              </a:defRPr>
            </a:pPr>
            <a:r>
              <a:rPr sz="1350" b="1">
                <a:solidFill>
                  <a:srgbClr val="F4F6F8"/>
                </a:solidFill>
                <a:latin typeface="DejaVu Sans"/>
                <a:ea typeface="DejaVu Sans"/>
                <a:cs typeface="DejaVu Sans"/>
              </a:rPr>
              <a:t>A harness attacks coordination latency while preserving the evidence needed to close the decision.</a:t>
            </a:r>
          </a:p>
        </p:txBody>
      </p:sp>
      <p:sp>
        <p:nvSpPr>
          <p:cNvPr id="24" name="">
            <a:extLst xmlns:a="http://schemas.openxmlformats.org/drawingml/2006/main">
              <a:ext uri="{FF2B5EF4-FFF2-40B4-BE49-F238E27FC236}">
                <a16:creationId xmlns:a16="http://schemas.microsoft.com/office/drawing/2014/main" id="{704F5D42-F5BF-4ECA-9A94-5FF7766298C6}"/>
              </a:ext>
            </a:extLst>
          </p:cNvPr>
          <p:cNvSpPr>
            <a:spLocks xmlns:a="http://schemas.openxmlformats.org/drawingml/2006/main" noGrp="1"/>
          </p:cNvSpPr>
          <p:nvPr/>
        </p:nvSpPr>
        <p:spPr>
          <a:xfrm xmlns:a="http://schemas.openxmlformats.org/drawingml/2006/main">
            <a:off x="0" y="6400800"/>
            <a:ext cx="12192000" cy="457200"/>
          </a:xfrm>
          <a:prstGeom xmlns:a="http://schemas.openxmlformats.org/drawingml/2006/main" prst="rect">
            <a:avLst/>
          </a:prstGeom>
          <a:solidFill xmlns:a="http://schemas.openxmlformats.org/drawingml/2006/main">
            <a:srgbClr val="07090C">
              <a:alpha val="76000"/>
            </a:srgbClr>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206F28C-0C64-4F6A-842F-79EACD4518B6}"/>
              </a:ext>
            </a:extLst>
          </p:cNvPr>
          <p:cNvSpPr>
            <a:spLocks xmlns:a="http://schemas.openxmlformats.org/drawingml/2006/main" noGrp="1"/>
          </p:cNvSpPr>
          <p:nvPr/>
        </p:nvSpPr>
        <p:spPr>
          <a:xfrm xmlns:a="http://schemas.openxmlformats.org/drawingml/2006/main">
            <a:off x="609600" y="6553200"/>
            <a:ext cx="6858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MARS SOCIETY 2026  •  HARNESSED AGENTIC SCIENCE + ENGINEERING</a:t>
            </a:r>
          </a:p>
        </p:txBody>
      </p:sp>
      <p:sp>
        <p:nvSpPr>
          <p:cNvPr id="26" name="">
            <a:extLst xmlns:a="http://schemas.openxmlformats.org/drawingml/2006/main">
              <a:ext uri="{FF2B5EF4-FFF2-40B4-BE49-F238E27FC236}">
                <a16:creationId xmlns:a16="http://schemas.microsoft.com/office/drawing/2014/main" id="{820DBEB9-F27F-4A15-A7D8-347CFD35A24D}"/>
              </a:ext>
            </a:extLst>
          </p:cNvPr>
          <p:cNvSpPr>
            <a:spLocks xmlns:a="http://schemas.openxmlformats.org/drawingml/2006/main" noGrp="1"/>
          </p:cNvSpPr>
          <p:nvPr/>
        </p:nvSpPr>
        <p:spPr>
          <a:xfrm xmlns:a="http://schemas.openxmlformats.org/drawingml/2006/main">
            <a:off x="9525000" y="6553200"/>
            <a:ext cx="2057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BOB J MILLS     02</a:t>
            </a:r>
          </a:p>
        </p:txBody>
      </p:sp>
    </p:spTree>
    <p:extLst>
      <p:ext uri="{BB962C8B-B14F-4D97-AF65-F5344CB8AC3E}">
        <p14:creationId xmlns:p14="http://schemas.microsoft.com/office/powerpoint/2010/main" val="1255319208"/>
      </p:ext>
    </p:extLst>
  </p:cSld>
</p:sld>
</file>

<file path=ppt/slides/slide3.xml><?xml version="1.0" encoding="utf-8"?>
<p:sld xmlns:p="http://schemas.openxmlformats.org/presentationml/2006/main">
  <p:cSld>
    <p:bg>
      <p:bgPr>
        <a:solidFill xmlns:a="http://schemas.openxmlformats.org/drawingml/2006/main">
          <a:srgbClr val="07090C"/>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31FA1995-487E-4366-BE17-9B32CAECA8C1}"/>
              </a:ext>
            </a:extLst>
          </p:cNvPr>
          <p:cNvSpPr>
            <a:spLocks xmlns:a="http://schemas.openxmlformats.org/drawingml/2006/main" noGrp="1"/>
          </p:cNvSpPr>
          <p:nvPr/>
        </p:nvSpPr>
        <p:spPr>
          <a:xfrm xmlns:a="http://schemas.openxmlformats.org/drawingml/2006/main">
            <a:off x="609600" y="3429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975" b="1">
                <a:solidFill>
                  <a:srgbClr val="F26B38"/>
                </a:solidFill>
                <a:latin typeface="DejaVu Sans Mono"/>
                <a:ea typeface="DejaVu Sans Mono"/>
                <a:cs typeface="DejaVu Sans Mono"/>
              </a:defRPr>
            </a:pPr>
            <a:r>
              <a:rPr sz="975" b="1">
                <a:solidFill>
                  <a:srgbClr val="F26B38"/>
                </a:solidFill>
                <a:latin typeface="DejaVu Sans Mono"/>
                <a:ea typeface="DejaVu Sans Mono"/>
                <a:cs typeface="DejaVu Sans Mono"/>
              </a:rPr>
              <a:t>03  /  DESIGN RULE</a:t>
            </a:r>
          </a:p>
        </p:txBody>
      </p:sp>
      <p:sp>
        <p:nvSpPr>
          <p:cNvPr id="2" name="">
            <a:extLst xmlns:a="http://schemas.openxmlformats.org/drawingml/2006/main">
              <a:ext uri="{FF2B5EF4-FFF2-40B4-BE49-F238E27FC236}">
                <a16:creationId xmlns:a16="http://schemas.microsoft.com/office/drawing/2014/main" id="{1A269685-ADB1-4481-BC73-C864F7874BCD}"/>
              </a:ext>
            </a:extLst>
          </p:cNvPr>
          <p:cNvSpPr>
            <a:spLocks xmlns:a="http://schemas.openxmlformats.org/drawingml/2006/main" noGrp="1"/>
          </p:cNvSpPr>
          <p:nvPr/>
        </p:nvSpPr>
        <p:spPr>
          <a:xfrm xmlns:a="http://schemas.openxmlformats.org/drawingml/2006/main">
            <a:off x="609600" y="6477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2625" b="1">
                <a:solidFill>
                  <a:srgbClr val="F4F6F8"/>
                </a:solidFill>
                <a:latin typeface="DejaVu Sans"/>
                <a:ea typeface="DejaVu Sans"/>
                <a:cs typeface="DejaVu Sans"/>
              </a:defRPr>
            </a:pPr>
            <a:r>
              <a:rPr sz="2625" b="1">
                <a:solidFill>
                  <a:srgbClr val="F4F6F8"/>
                </a:solidFill>
                <a:latin typeface="DejaVu Sans"/>
                <a:ea typeface="DejaVu Sans"/>
                <a:cs typeface="DejaVu Sans"/>
              </a:rPr>
              <a:t>Seven functions turn a model into a mission harness</a:t>
            </a:r>
          </a:p>
        </p:txBody>
      </p:sp>
      <p:sp>
        <p:nvSpPr>
          <p:cNvPr id="3" name="">
            <a:extLst xmlns:a="http://schemas.openxmlformats.org/drawingml/2006/main">
              <a:ext uri="{FF2B5EF4-FFF2-40B4-BE49-F238E27FC236}">
                <a16:creationId xmlns:a16="http://schemas.microsoft.com/office/drawing/2014/main" id="{C3516197-4703-4D20-98E2-40D49192D417}"/>
              </a:ext>
            </a:extLst>
          </p:cNvPr>
          <p:cNvSpPr>
            <a:spLocks xmlns:a="http://schemas.openxmlformats.org/drawingml/2006/main" noGrp="1"/>
          </p:cNvSpPr>
          <p:nvPr/>
        </p:nvSpPr>
        <p:spPr>
          <a:xfrm xmlns:a="http://schemas.openxmlformats.org/drawingml/2006/main">
            <a:off x="628650" y="12382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425" b="0">
                <a:solidFill>
                  <a:srgbClr val="8D99A3"/>
                </a:solidFill>
                <a:latin typeface="DejaVu Sans"/>
                <a:ea typeface="DejaVu Sans"/>
                <a:cs typeface="DejaVu Sans"/>
              </a:defRPr>
            </a:pPr>
            <a:r>
              <a:rPr sz="1425" b="0">
                <a:solidFill>
                  <a:srgbClr val="8D99A3"/>
                </a:solidFill>
                <a:latin typeface="DejaVu Sans"/>
                <a:ea typeface="DejaVu Sans"/>
                <a:cs typeface="DejaVu Sans"/>
              </a:rPr>
              <a:t>The model supplies reasoning. Seven surrounding functions make its work executable, reviewable and durable.</a:t>
            </a:r>
          </a:p>
        </p:txBody>
      </p:sp>
      <p:sp>
        <p:nvSpPr>
          <p:cNvPr id="4" name="">
            <a:extLst xmlns:a="http://schemas.openxmlformats.org/drawingml/2006/main">
              <a:ext uri="{FF2B5EF4-FFF2-40B4-BE49-F238E27FC236}">
                <a16:creationId xmlns:a16="http://schemas.microsoft.com/office/drawing/2014/main" id="{C50070E4-3364-4F83-A611-F65CE6CEAE17}"/>
              </a:ext>
            </a:extLst>
          </p:cNvPr>
          <p:cNvSpPr>
            <a:spLocks xmlns:a="http://schemas.openxmlformats.org/drawingml/2006/main" noGrp="1"/>
          </p:cNvSpPr>
          <p:nvPr/>
        </p:nvSpPr>
        <p:spPr>
          <a:xfrm xmlns:a="http://schemas.openxmlformats.org/drawingml/2006/main">
            <a:off x="609600" y="1676400"/>
            <a:ext cx="10972800" cy="0"/>
          </a:xfrm>
          <a:prstGeom xmlns:a="http://schemas.openxmlformats.org/drawingml/2006/main" prst="line">
            <a:avLst/>
          </a:prstGeom>
          <a:noFill xmlns:a="http://schemas.openxmlformats.org/drawingml/2006/main"/>
          <a:ln xmlns:a="http://schemas.openxmlformats.org/drawingml/2006/main" w="9525">
            <a:solidFill>
              <a:srgbClr val="35414B"/>
            </a:solidFill>
            <a:prstDash val="solid"/>
          </a:ln>
        </p:spPr>
      </p:sp>
      <p:sp>
        <p:nvSpPr>
          <p:cNvPr id="5" name="">
            <a:extLst xmlns:a="http://schemas.openxmlformats.org/drawingml/2006/main">
              <a:ext uri="{FF2B5EF4-FFF2-40B4-BE49-F238E27FC236}">
                <a16:creationId xmlns:a16="http://schemas.microsoft.com/office/drawing/2014/main" id="{B22468E2-1C8C-44B8-B681-C9C26BA7B25D}"/>
              </a:ext>
            </a:extLst>
          </p:cNvPr>
          <p:cNvSpPr>
            <a:spLocks xmlns:a="http://schemas.openxmlformats.org/drawingml/2006/main" noGrp="1"/>
          </p:cNvSpPr>
          <p:nvPr/>
        </p:nvSpPr>
        <p:spPr>
          <a:xfrm xmlns:a="http://schemas.openxmlformats.org/drawingml/2006/main">
            <a:off x="1809750" y="2057400"/>
            <a:ext cx="3429000" cy="495300"/>
          </a:xfrm>
          <a:prstGeom xmlns:a="http://schemas.openxmlformats.org/drawingml/2006/main" prst="roundRect">
            <a:avLst>
              <a:gd name="adj" fmla="val 26923"/>
            </a:avLst>
          </a:prstGeom>
          <a:solidFill xmlns:a="http://schemas.openxmlformats.org/drawingml/2006/main">
            <a:srgbClr val="111820"/>
          </a:solidFill>
          <a:ln xmlns:a="http://schemas.openxmlformats.org/drawingml/2006/main" w="13335">
            <a:solidFill>
              <a:srgbClr val="F26B38">
                <a:alpha val="70000"/>
              </a:srgbClr>
            </a:solidFill>
            <a:prstDash val="solid"/>
          </a:ln>
        </p:spPr>
      </p:sp>
      <p:sp>
        <p:nvSpPr>
          <p:cNvPr id="6" name="">
            <a:extLst xmlns:a="http://schemas.openxmlformats.org/drawingml/2006/main">
              <a:ext uri="{FF2B5EF4-FFF2-40B4-BE49-F238E27FC236}">
                <a16:creationId xmlns:a16="http://schemas.microsoft.com/office/drawing/2014/main" id="{CC9895A5-E4B1-4593-A1CB-0C98405E97B4}"/>
              </a:ext>
            </a:extLst>
          </p:cNvPr>
          <p:cNvSpPr>
            <a:spLocks xmlns:a="http://schemas.openxmlformats.org/drawingml/2006/main" noGrp="1"/>
          </p:cNvSpPr>
          <p:nvPr/>
        </p:nvSpPr>
        <p:spPr>
          <a:xfrm xmlns:a="http://schemas.openxmlformats.org/drawingml/2006/main">
            <a:off x="1924050" y="2190750"/>
            <a:ext cx="3200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1200" b="1">
                <a:solidFill>
                  <a:srgbClr val="F26B38"/>
                </a:solidFill>
                <a:latin typeface="DejaVu Sans Mono"/>
                <a:ea typeface="DejaVu Sans Mono"/>
                <a:cs typeface="DejaVu Sans Mono"/>
              </a:defRPr>
            </a:pPr>
            <a:r>
              <a:rPr sz="1200" b="1">
                <a:solidFill>
                  <a:srgbClr val="F26B38"/>
                </a:solidFill>
                <a:latin typeface="DejaVu Sans Mono"/>
                <a:ea typeface="DejaVu Sans Mono"/>
                <a:cs typeface="DejaVu Sans Mono"/>
              </a:rPr>
              <a:t>ROLE + PURPOSE + ACCOUNTABILITY</a:t>
            </a:r>
          </a:p>
        </p:txBody>
      </p:sp>
      <p:sp>
        <p:nvSpPr>
          <p:cNvPr id="7" name="">
            <a:extLst xmlns:a="http://schemas.openxmlformats.org/drawingml/2006/main">
              <a:ext uri="{FF2B5EF4-FFF2-40B4-BE49-F238E27FC236}">
                <a16:creationId xmlns:a16="http://schemas.microsoft.com/office/drawing/2014/main" id="{14031FD1-5700-4278-9AC2-F69BC674B8C0}"/>
              </a:ext>
            </a:extLst>
          </p:cNvPr>
          <p:cNvSpPr>
            <a:spLocks xmlns:a="http://schemas.openxmlformats.org/drawingml/2006/main" noGrp="1"/>
          </p:cNvSpPr>
          <p:nvPr/>
        </p:nvSpPr>
        <p:spPr>
          <a:xfrm xmlns:a="http://schemas.openxmlformats.org/drawingml/2006/main">
            <a:off x="2095500" y="2743200"/>
            <a:ext cx="3905250" cy="495300"/>
          </a:xfrm>
          <a:prstGeom xmlns:a="http://schemas.openxmlformats.org/drawingml/2006/main" prst="roundRect">
            <a:avLst>
              <a:gd name="adj" fmla="val 26923"/>
            </a:avLst>
          </a:prstGeom>
          <a:solidFill xmlns:a="http://schemas.openxmlformats.org/drawingml/2006/main">
            <a:srgbClr val="111820"/>
          </a:solidFill>
          <a:ln xmlns:a="http://schemas.openxmlformats.org/drawingml/2006/main" w="13335">
            <a:solidFill>
              <a:srgbClr val="F4F6F8">
                <a:alpha val="70000"/>
              </a:srgbClr>
            </a:solidFill>
            <a:prstDash val="solid"/>
          </a:ln>
        </p:spPr>
      </p:sp>
      <p:sp>
        <p:nvSpPr>
          <p:cNvPr id="8" name="">
            <a:extLst xmlns:a="http://schemas.openxmlformats.org/drawingml/2006/main">
              <a:ext uri="{FF2B5EF4-FFF2-40B4-BE49-F238E27FC236}">
                <a16:creationId xmlns:a16="http://schemas.microsoft.com/office/drawing/2014/main" id="{BC305707-CB1C-4ADC-96E3-21118C2530E1}"/>
              </a:ext>
            </a:extLst>
          </p:cNvPr>
          <p:cNvSpPr>
            <a:spLocks xmlns:a="http://schemas.openxmlformats.org/drawingml/2006/main" noGrp="1"/>
          </p:cNvSpPr>
          <p:nvPr/>
        </p:nvSpPr>
        <p:spPr>
          <a:xfrm xmlns:a="http://schemas.openxmlformats.org/drawingml/2006/main">
            <a:off x="2209800" y="2876550"/>
            <a:ext cx="3676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1200" b="1">
                <a:solidFill>
                  <a:srgbClr val="F4F6F8"/>
                </a:solidFill>
                <a:latin typeface="DejaVu Sans Mono"/>
                <a:ea typeface="DejaVu Sans Mono"/>
                <a:cs typeface="DejaVu Sans Mono"/>
              </a:defRPr>
            </a:pPr>
            <a:r>
              <a:rPr sz="1200" b="1">
                <a:solidFill>
                  <a:srgbClr val="F4F6F8"/>
                </a:solidFill>
                <a:latin typeface="DejaVu Sans Mono"/>
                <a:ea typeface="DejaVu Sans Mono"/>
                <a:cs typeface="DejaVu Sans Mono"/>
              </a:rPr>
              <a:t>1 LOOP  •  2 INSTRUCTIONS  •  3 TOOL ACCESS  •  4 CONTEXT</a:t>
            </a:r>
          </a:p>
        </p:txBody>
      </p:sp>
      <p:sp>
        <p:nvSpPr>
          <p:cNvPr id="9" name="">
            <a:extLst xmlns:a="http://schemas.openxmlformats.org/drawingml/2006/main">
              <a:ext uri="{FF2B5EF4-FFF2-40B4-BE49-F238E27FC236}">
                <a16:creationId xmlns:a16="http://schemas.microsoft.com/office/drawing/2014/main" id="{620124A0-1C34-4412-9682-E39646C6B061}"/>
              </a:ext>
            </a:extLst>
          </p:cNvPr>
          <p:cNvSpPr>
            <a:spLocks xmlns:a="http://schemas.openxmlformats.org/drawingml/2006/main" noGrp="1"/>
          </p:cNvSpPr>
          <p:nvPr/>
        </p:nvSpPr>
        <p:spPr>
          <a:xfrm xmlns:a="http://schemas.openxmlformats.org/drawingml/2006/main">
            <a:off x="2381250" y="3429000"/>
            <a:ext cx="4381500" cy="495300"/>
          </a:xfrm>
          <a:prstGeom xmlns:a="http://schemas.openxmlformats.org/drawingml/2006/main" prst="roundRect">
            <a:avLst>
              <a:gd name="adj" fmla="val 26923"/>
            </a:avLst>
          </a:prstGeom>
          <a:solidFill xmlns:a="http://schemas.openxmlformats.org/drawingml/2006/main">
            <a:srgbClr val="111820"/>
          </a:solidFill>
          <a:ln xmlns:a="http://schemas.openxmlformats.org/drawingml/2006/main" w="13335">
            <a:solidFill>
              <a:srgbClr val="39D7FF">
                <a:alpha val="70000"/>
              </a:srgbClr>
            </a:solidFill>
            <a:prstDash val="solid"/>
          </a:ln>
        </p:spPr>
      </p:sp>
      <p:sp>
        <p:nvSpPr>
          <p:cNvPr id="10" name="">
            <a:extLst xmlns:a="http://schemas.openxmlformats.org/drawingml/2006/main">
              <a:ext uri="{FF2B5EF4-FFF2-40B4-BE49-F238E27FC236}">
                <a16:creationId xmlns:a16="http://schemas.microsoft.com/office/drawing/2014/main" id="{CBD0737E-4DD0-4129-98D4-763E38E56FB6}"/>
              </a:ext>
            </a:extLst>
          </p:cNvPr>
          <p:cNvSpPr>
            <a:spLocks xmlns:a="http://schemas.openxmlformats.org/drawingml/2006/main" noGrp="1"/>
          </p:cNvSpPr>
          <p:nvPr/>
        </p:nvSpPr>
        <p:spPr>
          <a:xfrm xmlns:a="http://schemas.openxmlformats.org/drawingml/2006/main">
            <a:off x="2495550" y="3562350"/>
            <a:ext cx="4152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1200" b="1">
                <a:solidFill>
                  <a:srgbClr val="39D7FF"/>
                </a:solidFill>
                <a:latin typeface="DejaVu Sans Mono"/>
                <a:ea typeface="DejaVu Sans Mono"/>
                <a:cs typeface="DejaVu Sans Mono"/>
              </a:defRPr>
            </a:pPr>
            <a:r>
              <a:rPr sz="1200" b="1">
                <a:solidFill>
                  <a:srgbClr val="39D7FF"/>
                </a:solidFill>
                <a:latin typeface="DejaVu Sans Mono"/>
                <a:ea typeface="DejaVu Sans Mono"/>
                <a:cs typeface="DejaVu Sans Mono"/>
              </a:rPr>
              <a:t>5 MEMORY + STATE  •  6 SUBAGENTS  •  7 GUARDRAILS + APPROVALS</a:t>
            </a:r>
          </a:p>
        </p:txBody>
      </p:sp>
      <p:sp>
        <p:nvSpPr>
          <p:cNvPr id="11" name="">
            <a:extLst xmlns:a="http://schemas.openxmlformats.org/drawingml/2006/main">
              <a:ext uri="{FF2B5EF4-FFF2-40B4-BE49-F238E27FC236}">
                <a16:creationId xmlns:a16="http://schemas.microsoft.com/office/drawing/2014/main" id="{F5B123AC-C67A-45F4-BF8C-BF06D1B0C8B4}"/>
              </a:ext>
            </a:extLst>
          </p:cNvPr>
          <p:cNvSpPr>
            <a:spLocks xmlns:a="http://schemas.openxmlformats.org/drawingml/2006/main" noGrp="1"/>
          </p:cNvSpPr>
          <p:nvPr/>
        </p:nvSpPr>
        <p:spPr>
          <a:xfrm xmlns:a="http://schemas.openxmlformats.org/drawingml/2006/main">
            <a:off x="2667000" y="4114800"/>
            <a:ext cx="4762500" cy="495300"/>
          </a:xfrm>
          <a:prstGeom xmlns:a="http://schemas.openxmlformats.org/drawingml/2006/main" prst="roundRect">
            <a:avLst>
              <a:gd name="adj" fmla="val 26923"/>
            </a:avLst>
          </a:prstGeom>
          <a:solidFill xmlns:a="http://schemas.openxmlformats.org/drawingml/2006/main">
            <a:srgbClr val="111820"/>
          </a:solidFill>
          <a:ln xmlns:a="http://schemas.openxmlformats.org/drawingml/2006/main" w="13335">
            <a:solidFill>
              <a:srgbClr val="62D6A7">
                <a:alpha val="70000"/>
              </a:srgbClr>
            </a:solidFill>
            <a:prstDash val="solid"/>
          </a:ln>
        </p:spPr>
      </p:sp>
      <p:sp>
        <p:nvSpPr>
          <p:cNvPr id="12" name="">
            <a:extLst xmlns:a="http://schemas.openxmlformats.org/drawingml/2006/main">
              <a:ext uri="{FF2B5EF4-FFF2-40B4-BE49-F238E27FC236}">
                <a16:creationId xmlns:a16="http://schemas.microsoft.com/office/drawing/2014/main" id="{5D3982D1-2FAE-4B8B-85DD-AF9A0562C284}"/>
              </a:ext>
            </a:extLst>
          </p:cNvPr>
          <p:cNvSpPr>
            <a:spLocks xmlns:a="http://schemas.openxmlformats.org/drawingml/2006/main" noGrp="1"/>
          </p:cNvSpPr>
          <p:nvPr/>
        </p:nvSpPr>
        <p:spPr>
          <a:xfrm xmlns:a="http://schemas.openxmlformats.org/drawingml/2006/main">
            <a:off x="2781300" y="4248150"/>
            <a:ext cx="453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1200" b="1">
                <a:solidFill>
                  <a:srgbClr val="62D6A7"/>
                </a:solidFill>
                <a:latin typeface="DejaVu Sans Mono"/>
                <a:ea typeface="DejaVu Sans Mono"/>
                <a:cs typeface="DejaVu Sans Mono"/>
              </a:defRPr>
            </a:pPr>
            <a:r>
              <a:rPr sz="1200" b="1">
                <a:solidFill>
                  <a:srgbClr val="62D6A7"/>
                </a:solidFill>
                <a:latin typeface="DejaVu Sans Mono"/>
                <a:ea typeface="DejaVu Sans Mono"/>
                <a:cs typeface="DejaVu Sans Mono"/>
              </a:rPr>
              <a:t>GROUND TRUTH  •  WORK-PRODUCT CONTRACTS  •  DURABLE STATE</a:t>
            </a:r>
          </a:p>
        </p:txBody>
      </p:sp>
      <p:sp>
        <p:nvSpPr>
          <p:cNvPr id="13" name="">
            <a:extLst xmlns:a="http://schemas.openxmlformats.org/drawingml/2006/main">
              <a:ext uri="{FF2B5EF4-FFF2-40B4-BE49-F238E27FC236}">
                <a16:creationId xmlns:a16="http://schemas.microsoft.com/office/drawing/2014/main" id="{DDF7E78F-96F5-4D3A-9CE6-A6ABDE037D99}"/>
              </a:ext>
            </a:extLst>
          </p:cNvPr>
          <p:cNvSpPr>
            <a:spLocks xmlns:a="http://schemas.openxmlformats.org/drawingml/2006/main" noGrp="1"/>
          </p:cNvSpPr>
          <p:nvPr/>
        </p:nvSpPr>
        <p:spPr>
          <a:xfrm xmlns:a="http://schemas.openxmlformats.org/drawingml/2006/main">
            <a:off x="2952750" y="4800600"/>
            <a:ext cx="5143500" cy="495300"/>
          </a:xfrm>
          <a:prstGeom xmlns:a="http://schemas.openxmlformats.org/drawingml/2006/main" prst="roundRect">
            <a:avLst>
              <a:gd name="adj" fmla="val 26923"/>
            </a:avLst>
          </a:prstGeom>
          <a:solidFill xmlns:a="http://schemas.openxmlformats.org/drawingml/2006/main">
            <a:srgbClr val="201A0E"/>
          </a:solidFill>
          <a:ln xmlns:a="http://schemas.openxmlformats.org/drawingml/2006/main" w="13335">
            <a:solidFill>
              <a:srgbClr val="FFC857">
                <a:alpha val="70000"/>
              </a:srgbClr>
            </a:solidFill>
            <a:prstDash val="solid"/>
          </a:ln>
        </p:spPr>
      </p:sp>
      <p:sp>
        <p:nvSpPr>
          <p:cNvPr id="14" name="">
            <a:extLst xmlns:a="http://schemas.openxmlformats.org/drawingml/2006/main">
              <a:ext uri="{FF2B5EF4-FFF2-40B4-BE49-F238E27FC236}">
                <a16:creationId xmlns:a16="http://schemas.microsoft.com/office/drawing/2014/main" id="{24E953EF-83C5-48FA-83B2-77AC80F7D2A8}"/>
              </a:ext>
            </a:extLst>
          </p:cNvPr>
          <p:cNvSpPr>
            <a:spLocks xmlns:a="http://schemas.openxmlformats.org/drawingml/2006/main" noGrp="1"/>
          </p:cNvSpPr>
          <p:nvPr/>
        </p:nvSpPr>
        <p:spPr>
          <a:xfrm xmlns:a="http://schemas.openxmlformats.org/drawingml/2006/main">
            <a:off x="3067050" y="4933950"/>
            <a:ext cx="4914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1200" b="1">
                <a:solidFill>
                  <a:srgbClr val="FFC857"/>
                </a:solidFill>
                <a:latin typeface="DejaVu Sans Mono"/>
                <a:ea typeface="DejaVu Sans Mono"/>
                <a:cs typeface="DejaVu Sans Mono"/>
              </a:defRPr>
            </a:pPr>
            <a:r>
              <a:rPr sz="1200" b="1">
                <a:solidFill>
                  <a:srgbClr val="FFC857"/>
                </a:solidFill>
                <a:latin typeface="DejaVu Sans Mono"/>
                <a:ea typeface="DejaVu Sans Mono"/>
                <a:cs typeface="DejaVu Sans Mono"/>
              </a:rPr>
              <a:t>MODELS + AGENTS — SWAPPABLE</a:t>
            </a:r>
          </a:p>
        </p:txBody>
      </p:sp>
      <p:sp>
        <p:nvSpPr>
          <p:cNvPr id="15" name="">
            <a:extLst xmlns:a="http://schemas.openxmlformats.org/drawingml/2006/main">
              <a:ext uri="{FF2B5EF4-FFF2-40B4-BE49-F238E27FC236}">
                <a16:creationId xmlns:a16="http://schemas.microsoft.com/office/drawing/2014/main" id="{7F57F3C5-9B86-45C4-9B8B-A5C6879E3374}"/>
              </a:ext>
            </a:extLst>
          </p:cNvPr>
          <p:cNvSpPr>
            <a:spLocks xmlns:a="http://schemas.openxmlformats.org/drawingml/2006/main" noGrp="1"/>
          </p:cNvSpPr>
          <p:nvPr/>
        </p:nvSpPr>
        <p:spPr>
          <a:xfrm xmlns:a="http://schemas.openxmlformats.org/drawingml/2006/main">
            <a:off x="704850" y="2362200"/>
            <a:ext cx="8382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5000"/>
              </a:lnSpc>
              <a:buNone/>
              <a:defRPr sz="1125" b="1">
                <a:solidFill>
                  <a:srgbClr val="39D7FF"/>
                </a:solidFill>
                <a:latin typeface="DejaVu Sans Mono"/>
                <a:ea typeface="DejaVu Sans Mono"/>
                <a:cs typeface="DejaVu Sans Mono"/>
              </a:defRPr>
            </a:pPr>
            <a:r>
              <a:rPr sz="1125" b="1">
                <a:solidFill>
                  <a:srgbClr val="39D7FF"/>
                </a:solidFill>
                <a:latin typeface="DejaVu Sans Mono"/>
                <a:ea typeface="DejaVu Sans Mono"/>
                <a:cs typeface="DejaVu Sans Mono"/>
              </a:rPr>
              <a:t>DURABLE</a:t>
            </a:r>
          </a:p>
        </p:txBody>
      </p:sp>
      <p:sp>
        <p:nvSpPr>
          <p:cNvPr id="16" name="">
            <a:extLst xmlns:a="http://schemas.openxmlformats.org/drawingml/2006/main">
              <a:ext uri="{FF2B5EF4-FFF2-40B4-BE49-F238E27FC236}">
                <a16:creationId xmlns:a16="http://schemas.microsoft.com/office/drawing/2014/main" id="{F80FF17D-0461-45CC-9696-5B5D1A4CABEA}"/>
              </a:ext>
            </a:extLst>
          </p:cNvPr>
          <p:cNvSpPr>
            <a:spLocks xmlns:a="http://schemas.openxmlformats.org/drawingml/2006/main" noGrp="1"/>
          </p:cNvSpPr>
          <p:nvPr/>
        </p:nvSpPr>
        <p:spPr>
          <a:xfrm xmlns:a="http://schemas.openxmlformats.org/drawingml/2006/main">
            <a:off x="1581150" y="2114550"/>
            <a:ext cx="0" cy="0"/>
          </a:xfrm>
          <a:prstGeom xmlns:a="http://schemas.openxmlformats.org/drawingml/2006/main" prst="line">
            <a:avLst/>
          </a:prstGeom>
          <a:noFill xmlns:a="http://schemas.openxmlformats.org/drawingml/2006/main"/>
          <a:ln xmlns:a="http://schemas.openxmlformats.org/drawingml/2006/main" w="38100">
            <a:solidFill>
              <a:srgbClr val="39D7FF"/>
            </a:solidFill>
            <a:prstDash val="solid"/>
          </a:ln>
        </p:spPr>
      </p:sp>
      <p:sp>
        <p:nvSpPr>
          <p:cNvPr id="17" name="">
            <a:extLst xmlns:a="http://schemas.openxmlformats.org/drawingml/2006/main">
              <a:ext uri="{FF2B5EF4-FFF2-40B4-BE49-F238E27FC236}">
                <a16:creationId xmlns:a16="http://schemas.microsoft.com/office/drawing/2014/main" id="{87423C49-5993-4A5D-B0A9-C40E40864651}"/>
              </a:ext>
            </a:extLst>
          </p:cNvPr>
          <p:cNvSpPr>
            <a:spLocks xmlns:a="http://schemas.openxmlformats.org/drawingml/2006/main" noGrp="1"/>
          </p:cNvSpPr>
          <p:nvPr/>
        </p:nvSpPr>
        <p:spPr>
          <a:xfrm xmlns:a="http://schemas.openxmlformats.org/drawingml/2006/main">
            <a:off x="1562100" y="2114550"/>
            <a:ext cx="38100" cy="2457450"/>
          </a:xfrm>
          <a:prstGeom xmlns:a="http://schemas.openxmlformats.org/drawingml/2006/main" prst="rect">
            <a:avLst/>
          </a:prstGeom>
          <a:solidFill xmlns:a="http://schemas.openxmlformats.org/drawingml/2006/main">
            <a:srgbClr val="39D7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C8C0378-94C5-43C6-91AE-F49488AABDDA}"/>
              </a:ext>
            </a:extLst>
          </p:cNvPr>
          <p:cNvSpPr>
            <a:spLocks xmlns:a="http://schemas.openxmlformats.org/drawingml/2006/main" noGrp="1"/>
          </p:cNvSpPr>
          <p:nvPr/>
        </p:nvSpPr>
        <p:spPr>
          <a:xfrm xmlns:a="http://schemas.openxmlformats.org/drawingml/2006/main">
            <a:off x="685800" y="4953000"/>
            <a:ext cx="876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975" b="1">
                <a:solidFill>
                  <a:srgbClr val="FFC857"/>
                </a:solidFill>
                <a:latin typeface="DejaVu Sans Mono"/>
                <a:ea typeface="DejaVu Sans Mono"/>
                <a:cs typeface="DejaVu Sans Mono"/>
              </a:defRPr>
            </a:pPr>
            <a:r>
              <a:rPr sz="975" b="1">
                <a:solidFill>
                  <a:srgbClr val="FFC857"/>
                </a:solidFill>
                <a:latin typeface="DejaVu Sans Mono"/>
                <a:ea typeface="DejaVu Sans Mono"/>
                <a:cs typeface="DejaVu Sans Mono"/>
              </a:rPr>
              <a:t>REPLACEABLE</a:t>
            </a:r>
          </a:p>
        </p:txBody>
      </p:sp>
      <p:sp>
        <p:nvSpPr>
          <p:cNvPr id="19" name="">
            <a:extLst xmlns:a="http://schemas.openxmlformats.org/drawingml/2006/main">
              <a:ext uri="{FF2B5EF4-FFF2-40B4-BE49-F238E27FC236}">
                <a16:creationId xmlns:a16="http://schemas.microsoft.com/office/drawing/2014/main" id="{B22ECC55-6185-4152-B30C-F2438DE28DAD}"/>
              </a:ext>
            </a:extLst>
          </p:cNvPr>
          <p:cNvSpPr>
            <a:spLocks xmlns:a="http://schemas.openxmlformats.org/drawingml/2006/main" noGrp="1"/>
          </p:cNvSpPr>
          <p:nvPr/>
        </p:nvSpPr>
        <p:spPr>
          <a:xfrm xmlns:a="http://schemas.openxmlformats.org/drawingml/2006/main">
            <a:off x="1562100" y="4762500"/>
            <a:ext cx="38100" cy="552450"/>
          </a:xfrm>
          <a:prstGeom xmlns:a="http://schemas.openxmlformats.org/drawingml/2006/main" prst="rect">
            <a:avLst/>
          </a:prstGeom>
          <a:solidFill xmlns:a="http://schemas.openxmlformats.org/drawingml/2006/main">
            <a:srgbClr val="FFC85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78756E9-401D-4D3B-B13C-7A57594F970E}"/>
              </a:ext>
            </a:extLst>
          </p:cNvPr>
          <p:cNvSpPr>
            <a:spLocks xmlns:a="http://schemas.openxmlformats.org/drawingml/2006/main" noGrp="1"/>
          </p:cNvSpPr>
          <p:nvPr/>
        </p:nvSpPr>
        <p:spPr>
          <a:xfrm xmlns:a="http://schemas.openxmlformats.org/drawingml/2006/main">
            <a:off x="8191500" y="2400300"/>
            <a:ext cx="0" cy="0"/>
          </a:xfrm>
          <a:prstGeom xmlns:a="http://schemas.openxmlformats.org/drawingml/2006/main" prst="line">
            <a:avLst/>
          </a:prstGeom>
          <a:noFill xmlns:a="http://schemas.openxmlformats.org/drawingml/2006/main"/>
          <a:ln xmlns:a="http://schemas.openxmlformats.org/drawingml/2006/main" w="19050">
            <a:solidFill>
              <a:srgbClr val="35414B"/>
            </a:solidFill>
            <a:prstDash val="solid"/>
          </a:ln>
        </p:spPr>
      </p:sp>
      <p:sp>
        <p:nvSpPr>
          <p:cNvPr id="21" name="">
            <a:extLst xmlns:a="http://schemas.openxmlformats.org/drawingml/2006/main">
              <a:ext uri="{FF2B5EF4-FFF2-40B4-BE49-F238E27FC236}">
                <a16:creationId xmlns:a16="http://schemas.microsoft.com/office/drawing/2014/main" id="{3A4CAF2D-DA17-49DC-8B50-99C585F6F50D}"/>
              </a:ext>
            </a:extLst>
          </p:cNvPr>
          <p:cNvSpPr>
            <a:spLocks xmlns:a="http://schemas.openxmlformats.org/drawingml/2006/main" noGrp="1"/>
          </p:cNvSpPr>
          <p:nvPr/>
        </p:nvSpPr>
        <p:spPr>
          <a:xfrm xmlns:a="http://schemas.openxmlformats.org/drawingml/2006/main">
            <a:off x="8172450" y="2324100"/>
            <a:ext cx="28575" cy="2667000"/>
          </a:xfrm>
          <a:prstGeom xmlns:a="http://schemas.openxmlformats.org/drawingml/2006/main" prst="rect">
            <a:avLst/>
          </a:prstGeom>
          <a:solidFill xmlns:a="http://schemas.openxmlformats.org/drawingml/2006/main">
            <a:srgbClr val="35414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E430F77-97E0-4AF7-93D4-EBB8FC3EB4B0}"/>
              </a:ext>
            </a:extLst>
          </p:cNvPr>
          <p:cNvSpPr>
            <a:spLocks xmlns:a="http://schemas.openxmlformats.org/drawingml/2006/main" noGrp="1"/>
          </p:cNvSpPr>
          <p:nvPr/>
        </p:nvSpPr>
        <p:spPr>
          <a:xfrm xmlns:a="http://schemas.openxmlformats.org/drawingml/2006/main">
            <a:off x="8105775" y="2466975"/>
            <a:ext cx="171450" cy="171450"/>
          </a:xfrm>
          <a:prstGeom xmlns:a="http://schemas.openxmlformats.org/drawingml/2006/main" prst="ellipse">
            <a:avLst/>
          </a:prstGeom>
          <a:solidFill xmlns:a="http://schemas.openxmlformats.org/drawingml/2006/main">
            <a:srgbClr val="8D99A3"/>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ED3DA19-E862-44F9-9DCD-E9079F2658CE}"/>
              </a:ext>
            </a:extLst>
          </p:cNvPr>
          <p:cNvSpPr>
            <a:spLocks xmlns:a="http://schemas.openxmlformats.org/drawingml/2006/main" noGrp="1"/>
          </p:cNvSpPr>
          <p:nvPr/>
        </p:nvSpPr>
        <p:spPr>
          <a:xfrm xmlns:a="http://schemas.openxmlformats.org/drawingml/2006/main">
            <a:off x="8477250" y="22669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975" b="1">
                <a:solidFill>
                  <a:srgbClr val="8D99A3"/>
                </a:solidFill>
                <a:latin typeface="DejaVu Sans Mono"/>
                <a:ea typeface="DejaVu Sans Mono"/>
                <a:cs typeface="DejaVu Sans Mono"/>
              </a:defRPr>
            </a:pPr>
            <a:r>
              <a:rPr sz="975" b="1">
                <a:solidFill>
                  <a:srgbClr val="8D99A3"/>
                </a:solidFill>
                <a:latin typeface="DejaVu Sans Mono"/>
                <a:ea typeface="DejaVu Sans Mono"/>
                <a:cs typeface="DejaVu Sans Mono"/>
              </a:rPr>
              <a:t>2026</a:t>
            </a:r>
          </a:p>
        </p:txBody>
      </p:sp>
      <p:sp>
        <p:nvSpPr>
          <p:cNvPr id="24" name="">
            <a:extLst xmlns:a="http://schemas.openxmlformats.org/drawingml/2006/main">
              <a:ext uri="{FF2B5EF4-FFF2-40B4-BE49-F238E27FC236}">
                <a16:creationId xmlns:a16="http://schemas.microsoft.com/office/drawing/2014/main" id="{0B58358E-3C12-4D92-8503-60E499D50564}"/>
              </a:ext>
            </a:extLst>
          </p:cNvPr>
          <p:cNvSpPr>
            <a:spLocks xmlns:a="http://schemas.openxmlformats.org/drawingml/2006/main" noGrp="1"/>
          </p:cNvSpPr>
          <p:nvPr/>
        </p:nvSpPr>
        <p:spPr>
          <a:xfrm xmlns:a="http://schemas.openxmlformats.org/drawingml/2006/main">
            <a:off x="8477250" y="25527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575" b="1">
                <a:solidFill>
                  <a:srgbClr val="F4F6F8"/>
                </a:solidFill>
                <a:latin typeface="DejaVu Sans"/>
                <a:ea typeface="DejaVu Sans"/>
                <a:cs typeface="DejaVu Sans"/>
              </a:defRPr>
            </a:pPr>
            <a:r>
              <a:rPr sz="1575" b="1">
                <a:solidFill>
                  <a:srgbClr val="F4F6F8"/>
                </a:solidFill>
                <a:latin typeface="DejaVu Sans"/>
                <a:ea typeface="DejaVu Sans"/>
                <a:cs typeface="DejaVu Sans"/>
              </a:rPr>
              <a:t>GENERAL LLM</a:t>
            </a:r>
          </a:p>
        </p:txBody>
      </p:sp>
      <p:sp>
        <p:nvSpPr>
          <p:cNvPr id="25" name="">
            <a:extLst xmlns:a="http://schemas.openxmlformats.org/drawingml/2006/main">
              <a:ext uri="{FF2B5EF4-FFF2-40B4-BE49-F238E27FC236}">
                <a16:creationId xmlns:a16="http://schemas.microsoft.com/office/drawing/2014/main" id="{03F0BF95-C48B-4EB9-95FC-BD9FA71682E4}"/>
              </a:ext>
            </a:extLst>
          </p:cNvPr>
          <p:cNvSpPr>
            <a:spLocks xmlns:a="http://schemas.openxmlformats.org/drawingml/2006/main" noGrp="1"/>
          </p:cNvSpPr>
          <p:nvPr/>
        </p:nvSpPr>
        <p:spPr>
          <a:xfrm xmlns:a="http://schemas.openxmlformats.org/drawingml/2006/main">
            <a:off x="8105775" y="3609975"/>
            <a:ext cx="171450" cy="171450"/>
          </a:xfrm>
          <a:prstGeom xmlns:a="http://schemas.openxmlformats.org/drawingml/2006/main" prst="ellipse">
            <a:avLst/>
          </a:prstGeom>
          <a:solidFill xmlns:a="http://schemas.openxmlformats.org/drawingml/2006/main">
            <a:srgbClr val="39D7F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ED6E4A8-3F30-480A-90FB-CD61A5B33841}"/>
              </a:ext>
            </a:extLst>
          </p:cNvPr>
          <p:cNvSpPr>
            <a:spLocks xmlns:a="http://schemas.openxmlformats.org/drawingml/2006/main" noGrp="1"/>
          </p:cNvSpPr>
          <p:nvPr/>
        </p:nvSpPr>
        <p:spPr>
          <a:xfrm xmlns:a="http://schemas.openxmlformats.org/drawingml/2006/main">
            <a:off x="8477250" y="34099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975" b="1">
                <a:solidFill>
                  <a:srgbClr val="39D7FF"/>
                </a:solidFill>
                <a:latin typeface="DejaVu Sans Mono"/>
                <a:ea typeface="DejaVu Sans Mono"/>
                <a:cs typeface="DejaVu Sans Mono"/>
              </a:defRPr>
            </a:pPr>
            <a:r>
              <a:rPr sz="975" b="1">
                <a:solidFill>
                  <a:srgbClr val="39D7FF"/>
                </a:solidFill>
                <a:latin typeface="DejaVu Sans Mono"/>
                <a:ea typeface="DejaVu Sans Mono"/>
                <a:cs typeface="DejaVu Sans Mono"/>
              </a:rPr>
              <a:t>NEXT</a:t>
            </a:r>
          </a:p>
        </p:txBody>
      </p:sp>
      <p:sp>
        <p:nvSpPr>
          <p:cNvPr id="27" name="">
            <a:extLst xmlns:a="http://schemas.openxmlformats.org/drawingml/2006/main">
              <a:ext uri="{FF2B5EF4-FFF2-40B4-BE49-F238E27FC236}">
                <a16:creationId xmlns:a16="http://schemas.microsoft.com/office/drawing/2014/main" id="{04537398-F5F5-43A1-9C29-053E592BD4D0}"/>
              </a:ext>
            </a:extLst>
          </p:cNvPr>
          <p:cNvSpPr>
            <a:spLocks xmlns:a="http://schemas.openxmlformats.org/drawingml/2006/main" noGrp="1"/>
          </p:cNvSpPr>
          <p:nvPr/>
        </p:nvSpPr>
        <p:spPr>
          <a:xfrm xmlns:a="http://schemas.openxmlformats.org/drawingml/2006/main">
            <a:off x="8477250" y="36957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575" b="1">
                <a:solidFill>
                  <a:srgbClr val="F4F6F8"/>
                </a:solidFill>
                <a:latin typeface="DejaVu Sans"/>
                <a:ea typeface="DejaVu Sans"/>
                <a:cs typeface="DejaVu Sans"/>
              </a:defRPr>
            </a:pPr>
            <a:r>
              <a:rPr sz="1575" b="1">
                <a:solidFill>
                  <a:srgbClr val="F4F6F8"/>
                </a:solidFill>
                <a:latin typeface="DejaVu Sans"/>
                <a:ea typeface="DejaVu Sans"/>
                <a:cs typeface="DejaVu Sans"/>
              </a:rPr>
              <a:t>SPECIALIST MODEL</a:t>
            </a:r>
          </a:p>
        </p:txBody>
      </p:sp>
      <p:sp>
        <p:nvSpPr>
          <p:cNvPr id="28" name="">
            <a:extLst xmlns:a="http://schemas.openxmlformats.org/drawingml/2006/main">
              <a:ext uri="{FF2B5EF4-FFF2-40B4-BE49-F238E27FC236}">
                <a16:creationId xmlns:a16="http://schemas.microsoft.com/office/drawing/2014/main" id="{81991EE6-EF4A-4C1E-A8AF-239910D7D19D}"/>
              </a:ext>
            </a:extLst>
          </p:cNvPr>
          <p:cNvSpPr>
            <a:spLocks xmlns:a="http://schemas.openxmlformats.org/drawingml/2006/main" noGrp="1"/>
          </p:cNvSpPr>
          <p:nvPr/>
        </p:nvSpPr>
        <p:spPr>
          <a:xfrm xmlns:a="http://schemas.openxmlformats.org/drawingml/2006/main">
            <a:off x="8105775" y="4752975"/>
            <a:ext cx="171450" cy="171450"/>
          </a:xfrm>
          <a:prstGeom xmlns:a="http://schemas.openxmlformats.org/drawingml/2006/main" prst="ellipse">
            <a:avLst/>
          </a:prstGeom>
          <a:solidFill xmlns:a="http://schemas.openxmlformats.org/drawingml/2006/main">
            <a:srgbClr val="F26B3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851BC6A6-F7CB-4EEF-A125-AB52A22E04F5}"/>
              </a:ext>
            </a:extLst>
          </p:cNvPr>
          <p:cNvSpPr>
            <a:spLocks xmlns:a="http://schemas.openxmlformats.org/drawingml/2006/main" noGrp="1"/>
          </p:cNvSpPr>
          <p:nvPr/>
        </p:nvSpPr>
        <p:spPr>
          <a:xfrm xmlns:a="http://schemas.openxmlformats.org/drawingml/2006/main">
            <a:off x="8477250" y="45529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975" b="1">
                <a:solidFill>
                  <a:srgbClr val="F26B38"/>
                </a:solidFill>
                <a:latin typeface="DejaVu Sans Mono"/>
                <a:ea typeface="DejaVu Sans Mono"/>
                <a:cs typeface="DejaVu Sans Mono"/>
              </a:defRPr>
            </a:pPr>
            <a:r>
              <a:rPr sz="975" b="1">
                <a:solidFill>
                  <a:srgbClr val="F26B38"/>
                </a:solidFill>
                <a:latin typeface="DejaVu Sans Mono"/>
                <a:ea typeface="DejaVu Sans Mono"/>
                <a:cs typeface="DejaVu Sans Mono"/>
              </a:rPr>
              <a:t>FUTURE</a:t>
            </a:r>
          </a:p>
        </p:txBody>
      </p:sp>
      <p:sp>
        <p:nvSpPr>
          <p:cNvPr id="30" name="">
            <a:extLst xmlns:a="http://schemas.openxmlformats.org/drawingml/2006/main">
              <a:ext uri="{FF2B5EF4-FFF2-40B4-BE49-F238E27FC236}">
                <a16:creationId xmlns:a16="http://schemas.microsoft.com/office/drawing/2014/main" id="{3A00125A-6EDA-42E1-A18C-AA048A22EAEA}"/>
              </a:ext>
            </a:extLst>
          </p:cNvPr>
          <p:cNvSpPr>
            <a:spLocks xmlns:a="http://schemas.openxmlformats.org/drawingml/2006/main" noGrp="1"/>
          </p:cNvSpPr>
          <p:nvPr/>
        </p:nvSpPr>
        <p:spPr>
          <a:xfrm xmlns:a="http://schemas.openxmlformats.org/drawingml/2006/main">
            <a:off x="8477250" y="48387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575" b="1">
                <a:solidFill>
                  <a:srgbClr val="F4F6F8"/>
                </a:solidFill>
                <a:latin typeface="DejaVu Sans"/>
                <a:ea typeface="DejaVu Sans"/>
                <a:cs typeface="DejaVu Sans"/>
              </a:defRPr>
            </a:pPr>
            <a:r>
              <a:rPr sz="1575" b="1">
                <a:solidFill>
                  <a:srgbClr val="F4F6F8"/>
                </a:solidFill>
                <a:latin typeface="DejaVu Sans"/>
                <a:ea typeface="DejaVu Sans"/>
                <a:cs typeface="DejaVu Sans"/>
              </a:rPr>
              <a:t>AGI / AUTONOMOUS LAB</a:t>
            </a:r>
          </a:p>
        </p:txBody>
      </p:sp>
      <p:sp>
        <p:nvSpPr>
          <p:cNvPr id="31" name="">
            <a:extLst xmlns:a="http://schemas.openxmlformats.org/drawingml/2006/main">
              <a:ext uri="{FF2B5EF4-FFF2-40B4-BE49-F238E27FC236}">
                <a16:creationId xmlns:a16="http://schemas.microsoft.com/office/drawing/2014/main" id="{FE397565-4BA1-40B8-A2F3-50E434409107}"/>
              </a:ext>
            </a:extLst>
          </p:cNvPr>
          <p:cNvSpPr>
            <a:spLocks xmlns:a="http://schemas.openxmlformats.org/drawingml/2006/main" noGrp="1"/>
          </p:cNvSpPr>
          <p:nvPr/>
        </p:nvSpPr>
        <p:spPr>
          <a:xfrm xmlns:a="http://schemas.openxmlformats.org/drawingml/2006/main">
            <a:off x="7810500" y="5572125"/>
            <a:ext cx="342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0">
                <a:solidFill>
                  <a:srgbClr val="D8DEE3"/>
                </a:solidFill>
                <a:latin typeface="DejaVu Sans"/>
                <a:ea typeface="DejaVu Sans"/>
                <a:cs typeface="DejaVu Sans"/>
              </a:defRPr>
            </a:pPr>
            <a:r>
              <a:rPr sz="1350" b="0">
                <a:solidFill>
                  <a:srgbClr val="D8DEE3"/>
                </a:solidFill>
                <a:latin typeface="DejaVu Sans"/>
                <a:ea typeface="DejaVu Sans"/>
                <a:cs typeface="DejaVu Sans"/>
              </a:rPr>
              <a:t>Stable contracts and approval authority let every stronger model inherit a mission-ready way to work.</a:t>
            </a:r>
          </a:p>
        </p:txBody>
      </p:sp>
      <p:sp>
        <p:nvSpPr>
          <p:cNvPr id="32" name="">
            <a:extLst xmlns:a="http://schemas.openxmlformats.org/drawingml/2006/main">
              <a:ext uri="{FF2B5EF4-FFF2-40B4-BE49-F238E27FC236}">
                <a16:creationId xmlns:a16="http://schemas.microsoft.com/office/drawing/2014/main" id="{9097D924-DC0A-4891-B170-1BD9B594177E}"/>
              </a:ext>
            </a:extLst>
          </p:cNvPr>
          <p:cNvSpPr>
            <a:spLocks xmlns:a="http://schemas.openxmlformats.org/drawingml/2006/main" noGrp="1"/>
          </p:cNvSpPr>
          <p:nvPr/>
        </p:nvSpPr>
        <p:spPr>
          <a:xfrm xmlns:a="http://schemas.openxmlformats.org/drawingml/2006/main">
            <a:off x="0" y="6400800"/>
            <a:ext cx="12192000" cy="457200"/>
          </a:xfrm>
          <a:prstGeom xmlns:a="http://schemas.openxmlformats.org/drawingml/2006/main" prst="rect">
            <a:avLst/>
          </a:prstGeom>
          <a:solidFill xmlns:a="http://schemas.openxmlformats.org/drawingml/2006/main">
            <a:srgbClr val="07090C">
              <a:alpha val="76000"/>
            </a:srgbClr>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5D023356-B471-43FE-9A00-0242BC2DD638}"/>
              </a:ext>
            </a:extLst>
          </p:cNvPr>
          <p:cNvSpPr>
            <a:spLocks xmlns:a="http://schemas.openxmlformats.org/drawingml/2006/main" noGrp="1"/>
          </p:cNvSpPr>
          <p:nvPr/>
        </p:nvSpPr>
        <p:spPr>
          <a:xfrm xmlns:a="http://schemas.openxmlformats.org/drawingml/2006/main">
            <a:off x="609600" y="6553200"/>
            <a:ext cx="6858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MARS SOCIETY 2026  •  HARNESSED AGENTIC SCIENCE + ENGINEERING</a:t>
            </a:r>
          </a:p>
        </p:txBody>
      </p:sp>
      <p:sp>
        <p:nvSpPr>
          <p:cNvPr id="34" name="">
            <a:extLst xmlns:a="http://schemas.openxmlformats.org/drawingml/2006/main">
              <a:ext uri="{FF2B5EF4-FFF2-40B4-BE49-F238E27FC236}">
                <a16:creationId xmlns:a16="http://schemas.microsoft.com/office/drawing/2014/main" id="{879CAD44-E4EE-4F4A-B31B-2B99DA20218E}"/>
              </a:ext>
            </a:extLst>
          </p:cNvPr>
          <p:cNvSpPr>
            <a:spLocks xmlns:a="http://schemas.openxmlformats.org/drawingml/2006/main" noGrp="1"/>
          </p:cNvSpPr>
          <p:nvPr/>
        </p:nvSpPr>
        <p:spPr>
          <a:xfrm xmlns:a="http://schemas.openxmlformats.org/drawingml/2006/main">
            <a:off x="9525000" y="6553200"/>
            <a:ext cx="2057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BOB J MILLS     03</a:t>
            </a:r>
          </a:p>
        </p:txBody>
      </p:sp>
    </p:spTree>
    <p:extLst>
      <p:ext uri="{BB962C8B-B14F-4D97-AF65-F5344CB8AC3E}">
        <p14:creationId xmlns:p14="http://schemas.microsoft.com/office/powerpoint/2010/main" val="1183335745"/>
      </p:ext>
    </p:extLst>
  </p:cSld>
</p:sld>
</file>

<file path=ppt/slides/slide4.xml><?xml version="1.0" encoding="utf-8"?>
<p:sld xmlns:p="http://schemas.openxmlformats.org/presentationml/2006/main">
  <p:cSld>
    <p:bg>
      <p:bgPr>
        <a:solidFill xmlns:a="http://schemas.openxmlformats.org/drawingml/2006/main">
          <a:srgbClr val="07090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6D26A5E7-8BC4-4130-A7E9-E7143E71FCFB}"/>
              </a:ext>
            </a:extLst>
          </p:cNvPr>
          <p:cNvSpPr>
            <a:spLocks xmlns:a="http://schemas.openxmlformats.org/drawingml/2006/main" noGrp="1"/>
          </p:cNvSpPr>
          <p:nvPr/>
        </p:nvSpPr>
        <p:spPr>
          <a:xfrm xmlns:a="http://schemas.openxmlformats.org/drawingml/2006/main">
            <a:off x="609600" y="3429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975" b="1">
                <a:solidFill>
                  <a:srgbClr val="F26B38"/>
                </a:solidFill>
                <a:latin typeface="DejaVu Sans Mono"/>
                <a:ea typeface="DejaVu Sans Mono"/>
                <a:cs typeface="DejaVu Sans Mono"/>
              </a:defRPr>
            </a:pPr>
            <a:r>
              <a:rPr sz="975" b="1">
                <a:solidFill>
                  <a:srgbClr val="F26B38"/>
                </a:solidFill>
                <a:latin typeface="DejaVu Sans Mono"/>
                <a:ea typeface="DejaVu Sans Mono"/>
                <a:cs typeface="DejaVu Sans Mono"/>
              </a:rPr>
              <a:t>04  /  CAPABILITY MAP</a:t>
            </a:r>
          </a:p>
        </p:txBody>
      </p:sp>
      <p:sp>
        <p:nvSpPr>
          <p:cNvPr id="2" name="">
            <a:extLst xmlns:a="http://schemas.openxmlformats.org/drawingml/2006/main">
              <a:ext uri="{FF2B5EF4-FFF2-40B4-BE49-F238E27FC236}">
                <a16:creationId xmlns:a16="http://schemas.microsoft.com/office/drawing/2014/main" id="{13928B07-3B7B-4076-B70F-789D2989B77C}"/>
              </a:ext>
            </a:extLst>
          </p:cNvPr>
          <p:cNvSpPr>
            <a:spLocks xmlns:a="http://schemas.openxmlformats.org/drawingml/2006/main" noGrp="1"/>
          </p:cNvSpPr>
          <p:nvPr/>
        </p:nvSpPr>
        <p:spPr>
          <a:xfrm xmlns:a="http://schemas.openxmlformats.org/drawingml/2006/main">
            <a:off x="609600" y="6477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2625" b="1">
                <a:solidFill>
                  <a:srgbClr val="F4F6F8"/>
                </a:solidFill>
                <a:latin typeface="DejaVu Sans"/>
                <a:ea typeface="DejaVu Sans"/>
                <a:cs typeface="DejaVu Sans"/>
              </a:defRPr>
            </a:pPr>
            <a:r>
              <a:rPr sz="2625" b="1">
                <a:solidFill>
                  <a:srgbClr val="F4F6F8"/>
                </a:solidFill>
                <a:latin typeface="DejaVu Sans"/>
                <a:ea typeface="DejaVu Sans"/>
                <a:cs typeface="DejaVu Sans"/>
              </a:rPr>
              <a:t>Skills are durable; agents are assignments</a:t>
            </a:r>
          </a:p>
        </p:txBody>
      </p:sp>
      <p:sp>
        <p:nvSpPr>
          <p:cNvPr id="3" name="">
            <a:extLst xmlns:a="http://schemas.openxmlformats.org/drawingml/2006/main">
              <a:ext uri="{FF2B5EF4-FFF2-40B4-BE49-F238E27FC236}">
                <a16:creationId xmlns:a16="http://schemas.microsoft.com/office/drawing/2014/main" id="{B30F2812-CDC2-47B2-A270-78A9026A259B}"/>
              </a:ext>
            </a:extLst>
          </p:cNvPr>
          <p:cNvSpPr>
            <a:spLocks xmlns:a="http://schemas.openxmlformats.org/drawingml/2006/main" noGrp="1"/>
          </p:cNvSpPr>
          <p:nvPr/>
        </p:nvSpPr>
        <p:spPr>
          <a:xfrm xmlns:a="http://schemas.openxmlformats.org/drawingml/2006/main">
            <a:off x="628650" y="12382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425" b="0">
                <a:solidFill>
                  <a:srgbClr val="8D99A3"/>
                </a:solidFill>
                <a:latin typeface="DejaVu Sans"/>
                <a:ea typeface="DejaVu Sans"/>
                <a:cs typeface="DejaVu Sans"/>
              </a:defRPr>
            </a:pPr>
            <a:r>
              <a:rPr sz="1425" b="0">
                <a:solidFill>
                  <a:srgbClr val="8D99A3"/>
                </a:solidFill>
                <a:latin typeface="DejaVu Sans"/>
                <a:ea typeface="DejaVu Sans"/>
                <a:cs typeface="DejaVu Sans"/>
              </a:rPr>
              <a:t>Define the capability, evidence and work product first. Then assign the best executor available.</a:t>
            </a:r>
          </a:p>
        </p:txBody>
      </p:sp>
      <p:sp>
        <p:nvSpPr>
          <p:cNvPr id="4" name="">
            <a:extLst xmlns:a="http://schemas.openxmlformats.org/drawingml/2006/main">
              <a:ext uri="{FF2B5EF4-FFF2-40B4-BE49-F238E27FC236}">
                <a16:creationId xmlns:a16="http://schemas.microsoft.com/office/drawing/2014/main" id="{1CF877C0-5DB9-4F19-B146-270A496DBB48}"/>
              </a:ext>
            </a:extLst>
          </p:cNvPr>
          <p:cNvSpPr>
            <a:spLocks xmlns:a="http://schemas.openxmlformats.org/drawingml/2006/main" noGrp="1"/>
          </p:cNvSpPr>
          <p:nvPr/>
        </p:nvSpPr>
        <p:spPr>
          <a:xfrm xmlns:a="http://schemas.openxmlformats.org/drawingml/2006/main">
            <a:off x="609600" y="1676400"/>
            <a:ext cx="10972800" cy="0"/>
          </a:xfrm>
          <a:prstGeom xmlns:a="http://schemas.openxmlformats.org/drawingml/2006/main" prst="line">
            <a:avLst/>
          </a:prstGeom>
          <a:noFill xmlns:a="http://schemas.openxmlformats.org/drawingml/2006/main"/>
          <a:ln xmlns:a="http://schemas.openxmlformats.org/drawingml/2006/main" w="9525">
            <a:solidFill>
              <a:srgbClr val="35414B"/>
            </a:solidFill>
            <a:prstDash val="solid"/>
          </a:ln>
        </p:spPr>
      </p:sp>
      <p:sp>
        <p:nvSpPr>
          <p:cNvPr id="5" name="">
            <a:extLst xmlns:a="http://schemas.openxmlformats.org/drawingml/2006/main">
              <a:ext uri="{FF2B5EF4-FFF2-40B4-BE49-F238E27FC236}">
                <a16:creationId xmlns:a16="http://schemas.microsoft.com/office/drawing/2014/main" id="{923B982E-A674-4BB3-8579-E4D70A3A4FCC}"/>
              </a:ext>
            </a:extLst>
          </p:cNvPr>
          <p:cNvSpPr>
            <a:spLocks xmlns:a="http://schemas.openxmlformats.org/drawingml/2006/main" noGrp="1"/>
          </p:cNvSpPr>
          <p:nvPr/>
        </p:nvSpPr>
        <p:spPr>
          <a:xfrm xmlns:a="http://schemas.openxmlformats.org/drawingml/2006/main">
            <a:off x="4819650" y="2324100"/>
            <a:ext cx="2552700" cy="1562100"/>
          </a:xfrm>
          <a:prstGeom xmlns:a="http://schemas.openxmlformats.org/drawingml/2006/main" prst="ellipse">
            <a:avLst/>
          </a:prstGeom>
          <a:gradFill xmlns:a="http://schemas.openxmlformats.org/drawingml/2006/main">
            <a:gsLst>
              <a:gs pos="0">
                <a:srgbClr val="17303A"/>
              </a:gs>
              <a:gs pos="100000">
                <a:srgbClr val="0C1217"/>
              </a:gs>
            </a:gsLst>
            <a:path path="shape"/>
          </a:gradFill>
          <a:ln xmlns:a="http://schemas.openxmlformats.org/drawingml/2006/main" w="14288">
            <a:solidFill>
              <a:srgbClr val="39D7FF"/>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2025" b="1">
                <a:solidFill>
                  <a:srgbClr val="F4F6F8"/>
                </a:solidFill>
                <a:latin typeface="DejaVu Sans"/>
                <a:ea typeface="DejaVu Sans"/>
                <a:cs typeface="DejaVu Sans"/>
              </a:defRPr>
            </a:pPr>
            <a:r>
              <a:rPr sz="2025" b="1">
                <a:solidFill>
                  <a:srgbClr val="F4F6F8"/>
                </a:solidFill>
                <a:latin typeface="DejaVu Sans"/>
                <a:ea typeface="DejaVu Sans"/>
                <a:cs typeface="DejaVu Sans"/>
              </a:rPr>
              <a:t>SKILL</a:t>
            </a:r>
          </a:p>
          <a:p xmlns:a="http://schemas.openxmlformats.org/drawingml/2006/main">
            <a:pPr algn="ctr">
              <a:lnSpc>
                <a:spcPct val="90000"/>
              </a:lnSpc>
              <a:buNone/>
              <a:defRPr sz="2025" b="1">
                <a:solidFill>
                  <a:srgbClr val="F4F6F8"/>
                </a:solidFill>
                <a:latin typeface="DejaVu Sans"/>
                <a:ea typeface="DejaVu Sans"/>
                <a:cs typeface="DejaVu Sans"/>
              </a:defRPr>
            </a:pPr>
            <a:r>
              <a:rPr sz="2025" b="1">
                <a:solidFill>
                  <a:srgbClr val="F4F6F8"/>
                </a:solidFill>
                <a:latin typeface="DejaVu Sans"/>
                <a:ea typeface="DejaVu Sans"/>
                <a:cs typeface="DejaVu Sans"/>
              </a:rPr>
              <a:t>CONTRACT</a:t>
            </a:r>
          </a:p>
        </p:txBody>
      </p:sp>
      <p:sp>
        <p:nvSpPr>
          <p:cNvPr id="6" name="">
            <a:extLst xmlns:a="http://schemas.openxmlformats.org/drawingml/2006/main">
              <a:ext uri="{FF2B5EF4-FFF2-40B4-BE49-F238E27FC236}">
                <a16:creationId xmlns:a16="http://schemas.microsoft.com/office/drawing/2014/main" id="{B4DD2DBA-4DAD-494D-840B-BFE34AF48E12}"/>
              </a:ext>
            </a:extLst>
          </p:cNvPr>
          <p:cNvSpPr>
            <a:spLocks xmlns:a="http://schemas.openxmlformats.org/drawingml/2006/main" noGrp="1"/>
          </p:cNvSpPr>
          <p:nvPr/>
        </p:nvSpPr>
        <p:spPr>
          <a:xfrm xmlns:a="http://schemas.openxmlformats.org/drawingml/2006/main">
            <a:off x="3371850" y="2743200"/>
            <a:ext cx="1447800" cy="0"/>
          </a:xfrm>
          <a:prstGeom xmlns:a="http://schemas.openxmlformats.org/drawingml/2006/main" prst="line">
            <a:avLst/>
          </a:prstGeom>
          <a:noFill xmlns:a="http://schemas.openxmlformats.org/drawingml/2006/main"/>
          <a:ln xmlns:a="http://schemas.openxmlformats.org/drawingml/2006/main" w="28575">
            <a:solidFill>
              <a:srgbClr val="35414B"/>
            </a:solidFill>
            <a:prstDash val="solid"/>
          </a:ln>
        </p:spPr>
      </p:sp>
      <p:sp>
        <p:nvSpPr>
          <p:cNvPr id="7" name="">
            <a:extLst xmlns:a="http://schemas.openxmlformats.org/drawingml/2006/main">
              <a:ext uri="{FF2B5EF4-FFF2-40B4-BE49-F238E27FC236}">
                <a16:creationId xmlns:a16="http://schemas.microsoft.com/office/drawing/2014/main" id="{4FE865D6-1427-444E-BA80-C69FC815ACDE}"/>
              </a:ext>
            </a:extLst>
          </p:cNvPr>
          <p:cNvSpPr>
            <a:spLocks xmlns:a="http://schemas.openxmlformats.org/drawingml/2006/main" noGrp="1"/>
          </p:cNvSpPr>
          <p:nvPr/>
        </p:nvSpPr>
        <p:spPr>
          <a:xfrm xmlns:a="http://schemas.openxmlformats.org/drawingml/2006/main">
            <a:off x="7372350" y="2743200"/>
            <a:ext cx="1219200" cy="0"/>
          </a:xfrm>
          <a:prstGeom xmlns:a="http://schemas.openxmlformats.org/drawingml/2006/main" prst="line">
            <a:avLst/>
          </a:prstGeom>
          <a:noFill xmlns:a="http://schemas.openxmlformats.org/drawingml/2006/main"/>
          <a:ln xmlns:a="http://schemas.openxmlformats.org/drawingml/2006/main" w="28575">
            <a:solidFill>
              <a:srgbClr val="35414B"/>
            </a:solidFill>
            <a:prstDash val="solid"/>
          </a:ln>
        </p:spPr>
      </p:sp>
      <p:sp>
        <p:nvSpPr>
          <p:cNvPr id="8" name="">
            <a:extLst xmlns:a="http://schemas.openxmlformats.org/drawingml/2006/main">
              <a:ext uri="{FF2B5EF4-FFF2-40B4-BE49-F238E27FC236}">
                <a16:creationId xmlns:a16="http://schemas.microsoft.com/office/drawing/2014/main" id="{F9308F5B-CD13-4511-A48C-F1E48761DF10}"/>
              </a:ext>
            </a:extLst>
          </p:cNvPr>
          <p:cNvSpPr>
            <a:spLocks xmlns:a="http://schemas.openxmlformats.org/drawingml/2006/main" noGrp="1"/>
          </p:cNvSpPr>
          <p:nvPr/>
        </p:nvSpPr>
        <p:spPr>
          <a:xfrm xmlns:a="http://schemas.openxmlformats.org/drawingml/2006/main">
            <a:off x="3371850" y="4505325"/>
            <a:ext cx="1447800" cy="0"/>
          </a:xfrm>
          <a:prstGeom xmlns:a="http://schemas.openxmlformats.org/drawingml/2006/main" prst="line">
            <a:avLst/>
          </a:prstGeom>
          <a:noFill xmlns:a="http://schemas.openxmlformats.org/drawingml/2006/main"/>
          <a:ln xmlns:a="http://schemas.openxmlformats.org/drawingml/2006/main" w="28575">
            <a:solidFill>
              <a:srgbClr val="35414B"/>
            </a:solidFill>
            <a:prstDash val="solid"/>
          </a:ln>
        </p:spPr>
      </p:sp>
      <p:sp>
        <p:nvSpPr>
          <p:cNvPr id="9" name="">
            <a:extLst xmlns:a="http://schemas.openxmlformats.org/drawingml/2006/main">
              <a:ext uri="{FF2B5EF4-FFF2-40B4-BE49-F238E27FC236}">
                <a16:creationId xmlns:a16="http://schemas.microsoft.com/office/drawing/2014/main" id="{C999214E-7DA1-40A3-A9FD-536ECC8D9FAA}"/>
              </a:ext>
            </a:extLst>
          </p:cNvPr>
          <p:cNvSpPr>
            <a:spLocks xmlns:a="http://schemas.openxmlformats.org/drawingml/2006/main" noGrp="1"/>
          </p:cNvSpPr>
          <p:nvPr/>
        </p:nvSpPr>
        <p:spPr>
          <a:xfrm xmlns:a="http://schemas.openxmlformats.org/drawingml/2006/main">
            <a:off x="7372350" y="4505325"/>
            <a:ext cx="1219200" cy="0"/>
          </a:xfrm>
          <a:prstGeom xmlns:a="http://schemas.openxmlformats.org/drawingml/2006/main" prst="line">
            <a:avLst/>
          </a:prstGeom>
          <a:noFill xmlns:a="http://schemas.openxmlformats.org/drawingml/2006/main"/>
          <a:ln xmlns:a="http://schemas.openxmlformats.org/drawingml/2006/main" w="28575">
            <a:solidFill>
              <a:srgbClr val="35414B"/>
            </a:solidFill>
            <a:prstDash val="solid"/>
          </a:ln>
        </p:spPr>
      </p:sp>
      <p:sp>
        <p:nvSpPr>
          <p:cNvPr id="10" name="">
            <a:extLst xmlns:a="http://schemas.openxmlformats.org/drawingml/2006/main">
              <a:ext uri="{FF2B5EF4-FFF2-40B4-BE49-F238E27FC236}">
                <a16:creationId xmlns:a16="http://schemas.microsoft.com/office/drawing/2014/main" id="{0F42444F-D71D-49E3-BDFD-CE6CB8BE4964}"/>
              </a:ext>
            </a:extLst>
          </p:cNvPr>
          <p:cNvSpPr>
            <a:spLocks xmlns:a="http://schemas.openxmlformats.org/drawingml/2006/main" noGrp="1"/>
          </p:cNvSpPr>
          <p:nvPr/>
        </p:nvSpPr>
        <p:spPr>
          <a:xfrm xmlns:a="http://schemas.openxmlformats.org/drawingml/2006/main">
            <a:off x="1428750" y="2038350"/>
            <a:ext cx="1943100" cy="685800"/>
          </a:xfrm>
          <a:prstGeom xmlns:a="http://schemas.openxmlformats.org/drawingml/2006/main" prst="roundRect">
            <a:avLst>
              <a:gd name="adj" fmla="val 22222"/>
            </a:avLst>
          </a:prstGeom>
          <a:solidFill xmlns:a="http://schemas.openxmlformats.org/drawingml/2006/main">
            <a:srgbClr val="11171C"/>
          </a:solidFill>
          <a:ln xmlns:a="http://schemas.openxmlformats.org/drawingml/2006/main" w="14288">
            <a:solidFill>
              <a:srgbClr val="F26B38"/>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425" b="1">
                <a:solidFill>
                  <a:srgbClr val="F26B38"/>
                </a:solidFill>
                <a:latin typeface="DejaVu Sans"/>
                <a:ea typeface="DejaVu Sans"/>
                <a:cs typeface="DejaVu Sans"/>
              </a:defRPr>
            </a:pPr>
            <a:r>
              <a:rPr sz="1425" b="1">
                <a:solidFill>
                  <a:srgbClr val="F26B38"/>
                </a:solidFill>
                <a:latin typeface="DejaVu Sans"/>
                <a:ea typeface="DejaVu Sans"/>
                <a:cs typeface="DejaVu Sans"/>
              </a:rPr>
              <a:t>HUMAN</a:t>
            </a:r>
          </a:p>
        </p:txBody>
      </p:sp>
      <p:sp>
        <p:nvSpPr>
          <p:cNvPr id="11" name="">
            <a:extLst xmlns:a="http://schemas.openxmlformats.org/drawingml/2006/main">
              <a:ext uri="{FF2B5EF4-FFF2-40B4-BE49-F238E27FC236}">
                <a16:creationId xmlns:a16="http://schemas.microsoft.com/office/drawing/2014/main" id="{F7353855-18C3-4093-8C59-CE38422F179C}"/>
              </a:ext>
            </a:extLst>
          </p:cNvPr>
          <p:cNvSpPr>
            <a:spLocks xmlns:a="http://schemas.openxmlformats.org/drawingml/2006/main" noGrp="1"/>
          </p:cNvSpPr>
          <p:nvPr/>
        </p:nvSpPr>
        <p:spPr>
          <a:xfrm xmlns:a="http://schemas.openxmlformats.org/drawingml/2006/main">
            <a:off x="1428750" y="2819400"/>
            <a:ext cx="1943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1125" b="0">
                <a:solidFill>
                  <a:srgbClr val="8D99A3"/>
                </a:solidFill>
                <a:latin typeface="DejaVu Sans"/>
                <a:ea typeface="DejaVu Sans"/>
                <a:cs typeface="DejaVu Sans"/>
              </a:defRPr>
            </a:pPr>
            <a:r>
              <a:rPr sz="1125" b="0">
                <a:solidFill>
                  <a:srgbClr val="8D99A3"/>
                </a:solidFill>
                <a:latin typeface="DejaVu Sans"/>
                <a:ea typeface="DejaVu Sans"/>
                <a:cs typeface="DejaVu Sans"/>
              </a:rPr>
              <a:t>intent • creativity • risk</a:t>
            </a:r>
          </a:p>
        </p:txBody>
      </p:sp>
      <p:sp>
        <p:nvSpPr>
          <p:cNvPr id="12" name="">
            <a:extLst xmlns:a="http://schemas.openxmlformats.org/drawingml/2006/main">
              <a:ext uri="{FF2B5EF4-FFF2-40B4-BE49-F238E27FC236}">
                <a16:creationId xmlns:a16="http://schemas.microsoft.com/office/drawing/2014/main" id="{942E3AA5-AD11-4C65-805A-CD21A819B762}"/>
              </a:ext>
            </a:extLst>
          </p:cNvPr>
          <p:cNvSpPr>
            <a:spLocks xmlns:a="http://schemas.openxmlformats.org/drawingml/2006/main" noGrp="1"/>
          </p:cNvSpPr>
          <p:nvPr/>
        </p:nvSpPr>
        <p:spPr>
          <a:xfrm xmlns:a="http://schemas.openxmlformats.org/drawingml/2006/main">
            <a:off x="8591550" y="2038350"/>
            <a:ext cx="1943100" cy="685800"/>
          </a:xfrm>
          <a:prstGeom xmlns:a="http://schemas.openxmlformats.org/drawingml/2006/main" prst="roundRect">
            <a:avLst>
              <a:gd name="adj" fmla="val 22222"/>
            </a:avLst>
          </a:prstGeom>
          <a:solidFill xmlns:a="http://schemas.openxmlformats.org/drawingml/2006/main">
            <a:srgbClr val="11171C"/>
          </a:solidFill>
          <a:ln xmlns:a="http://schemas.openxmlformats.org/drawingml/2006/main" w="14288">
            <a:solidFill>
              <a:srgbClr val="39D7FF"/>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425" b="1">
                <a:solidFill>
                  <a:srgbClr val="39D7FF"/>
                </a:solidFill>
                <a:latin typeface="DejaVu Sans"/>
                <a:ea typeface="DejaVu Sans"/>
                <a:cs typeface="DejaVu Sans"/>
              </a:defRPr>
            </a:pPr>
            <a:r>
              <a:rPr sz="1425" b="1">
                <a:solidFill>
                  <a:srgbClr val="39D7FF"/>
                </a:solidFill>
                <a:latin typeface="DejaVu Sans"/>
                <a:ea typeface="DejaVu Sans"/>
                <a:cs typeface="DejaVu Sans"/>
              </a:rPr>
              <a:t>AI MODEL</a:t>
            </a:r>
          </a:p>
        </p:txBody>
      </p:sp>
      <p:sp>
        <p:nvSpPr>
          <p:cNvPr id="13" name="">
            <a:extLst xmlns:a="http://schemas.openxmlformats.org/drawingml/2006/main">
              <a:ext uri="{FF2B5EF4-FFF2-40B4-BE49-F238E27FC236}">
                <a16:creationId xmlns:a16="http://schemas.microsoft.com/office/drawing/2014/main" id="{D8E24423-7932-4D54-98C8-52DEE497AD2F}"/>
              </a:ext>
            </a:extLst>
          </p:cNvPr>
          <p:cNvSpPr>
            <a:spLocks xmlns:a="http://schemas.openxmlformats.org/drawingml/2006/main" noGrp="1"/>
          </p:cNvSpPr>
          <p:nvPr/>
        </p:nvSpPr>
        <p:spPr>
          <a:xfrm xmlns:a="http://schemas.openxmlformats.org/drawingml/2006/main">
            <a:off x="8591550" y="2819400"/>
            <a:ext cx="1943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1125" b="0">
                <a:solidFill>
                  <a:srgbClr val="8D99A3"/>
                </a:solidFill>
                <a:latin typeface="DejaVu Sans"/>
                <a:ea typeface="DejaVu Sans"/>
                <a:cs typeface="DejaVu Sans"/>
              </a:defRPr>
            </a:pPr>
            <a:r>
              <a:rPr sz="1125" b="0">
                <a:solidFill>
                  <a:srgbClr val="8D99A3"/>
                </a:solidFill>
                <a:latin typeface="DejaVu Sans"/>
                <a:ea typeface="DejaVu Sans"/>
                <a:cs typeface="DejaVu Sans"/>
              </a:rPr>
              <a:t>search • synthesis • critique</a:t>
            </a:r>
          </a:p>
        </p:txBody>
      </p:sp>
      <p:sp>
        <p:nvSpPr>
          <p:cNvPr id="14" name="">
            <a:extLst xmlns:a="http://schemas.openxmlformats.org/drawingml/2006/main">
              <a:ext uri="{FF2B5EF4-FFF2-40B4-BE49-F238E27FC236}">
                <a16:creationId xmlns:a16="http://schemas.microsoft.com/office/drawing/2014/main" id="{611CFFA2-72A6-4553-AB2F-51B6ADB74676}"/>
              </a:ext>
            </a:extLst>
          </p:cNvPr>
          <p:cNvSpPr>
            <a:spLocks xmlns:a="http://schemas.openxmlformats.org/drawingml/2006/main" noGrp="1"/>
          </p:cNvSpPr>
          <p:nvPr/>
        </p:nvSpPr>
        <p:spPr>
          <a:xfrm xmlns:a="http://schemas.openxmlformats.org/drawingml/2006/main">
            <a:off x="1428750" y="4000500"/>
            <a:ext cx="1943100" cy="685800"/>
          </a:xfrm>
          <a:prstGeom xmlns:a="http://schemas.openxmlformats.org/drawingml/2006/main" prst="roundRect">
            <a:avLst>
              <a:gd name="adj" fmla="val 22222"/>
            </a:avLst>
          </a:prstGeom>
          <a:solidFill xmlns:a="http://schemas.openxmlformats.org/drawingml/2006/main">
            <a:srgbClr val="11171C"/>
          </a:solidFill>
          <a:ln xmlns:a="http://schemas.openxmlformats.org/drawingml/2006/main" w="14288">
            <a:solidFill>
              <a:srgbClr val="62D6A7"/>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425" b="1">
                <a:solidFill>
                  <a:srgbClr val="62D6A7"/>
                </a:solidFill>
                <a:latin typeface="DejaVu Sans"/>
                <a:ea typeface="DejaVu Sans"/>
                <a:cs typeface="DejaVu Sans"/>
              </a:defRPr>
            </a:pPr>
            <a:r>
              <a:rPr sz="1425" b="1">
                <a:solidFill>
                  <a:srgbClr val="62D6A7"/>
                </a:solidFill>
                <a:latin typeface="DejaVu Sans"/>
                <a:ea typeface="DejaVu Sans"/>
                <a:cs typeface="DejaVu Sans"/>
              </a:rPr>
              <a:t>SOLVER / DB</a:t>
            </a:r>
          </a:p>
        </p:txBody>
      </p:sp>
      <p:sp>
        <p:nvSpPr>
          <p:cNvPr id="15" name="">
            <a:extLst xmlns:a="http://schemas.openxmlformats.org/drawingml/2006/main">
              <a:ext uri="{FF2B5EF4-FFF2-40B4-BE49-F238E27FC236}">
                <a16:creationId xmlns:a16="http://schemas.microsoft.com/office/drawing/2014/main" id="{77E3E046-E65B-483B-959D-04D464CF6E04}"/>
              </a:ext>
            </a:extLst>
          </p:cNvPr>
          <p:cNvSpPr>
            <a:spLocks xmlns:a="http://schemas.openxmlformats.org/drawingml/2006/main" noGrp="1"/>
          </p:cNvSpPr>
          <p:nvPr/>
        </p:nvSpPr>
        <p:spPr>
          <a:xfrm xmlns:a="http://schemas.openxmlformats.org/drawingml/2006/main">
            <a:off x="1428750" y="4781550"/>
            <a:ext cx="1943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1125" b="0">
                <a:solidFill>
                  <a:srgbClr val="8D99A3"/>
                </a:solidFill>
                <a:latin typeface="DejaVu Sans"/>
                <a:ea typeface="DejaVu Sans"/>
                <a:cs typeface="DejaVu Sans"/>
              </a:defRPr>
            </a:pPr>
            <a:r>
              <a:rPr sz="1125" b="0">
                <a:solidFill>
                  <a:srgbClr val="8D99A3"/>
                </a:solidFill>
                <a:latin typeface="DejaVu Sans"/>
                <a:ea typeface="DejaVu Sans"/>
                <a:cs typeface="DejaVu Sans"/>
              </a:rPr>
              <a:t>equations • data • simulation</a:t>
            </a:r>
          </a:p>
        </p:txBody>
      </p:sp>
      <p:sp>
        <p:nvSpPr>
          <p:cNvPr id="16" name="">
            <a:extLst xmlns:a="http://schemas.openxmlformats.org/drawingml/2006/main">
              <a:ext uri="{FF2B5EF4-FFF2-40B4-BE49-F238E27FC236}">
                <a16:creationId xmlns:a16="http://schemas.microsoft.com/office/drawing/2014/main" id="{FAC67B21-3FE2-4060-BE6D-7D8442B7E02A}"/>
              </a:ext>
            </a:extLst>
          </p:cNvPr>
          <p:cNvSpPr>
            <a:spLocks xmlns:a="http://schemas.openxmlformats.org/drawingml/2006/main" noGrp="1"/>
          </p:cNvSpPr>
          <p:nvPr/>
        </p:nvSpPr>
        <p:spPr>
          <a:xfrm xmlns:a="http://schemas.openxmlformats.org/drawingml/2006/main">
            <a:off x="8591550" y="4000500"/>
            <a:ext cx="1943100" cy="685800"/>
          </a:xfrm>
          <a:prstGeom xmlns:a="http://schemas.openxmlformats.org/drawingml/2006/main" prst="roundRect">
            <a:avLst>
              <a:gd name="adj" fmla="val 22222"/>
            </a:avLst>
          </a:prstGeom>
          <a:solidFill xmlns:a="http://schemas.openxmlformats.org/drawingml/2006/main">
            <a:srgbClr val="11171C"/>
          </a:solidFill>
          <a:ln xmlns:a="http://schemas.openxmlformats.org/drawingml/2006/main" w="14288">
            <a:solidFill>
              <a:srgbClr val="FFC857"/>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425" b="1">
                <a:solidFill>
                  <a:srgbClr val="FFC857"/>
                </a:solidFill>
                <a:latin typeface="DejaVu Sans"/>
                <a:ea typeface="DejaVu Sans"/>
                <a:cs typeface="DejaVu Sans"/>
              </a:defRPr>
            </a:pPr>
            <a:r>
              <a:rPr sz="1425" b="1">
                <a:solidFill>
                  <a:srgbClr val="FFC857"/>
                </a:solidFill>
                <a:latin typeface="DejaVu Sans"/>
                <a:ea typeface="DejaVu Sans"/>
                <a:cs typeface="DejaVu Sans"/>
              </a:rPr>
              <a:t>ROBOT / LAB</a:t>
            </a:r>
          </a:p>
        </p:txBody>
      </p:sp>
      <p:sp>
        <p:nvSpPr>
          <p:cNvPr id="17" name="">
            <a:extLst xmlns:a="http://schemas.openxmlformats.org/drawingml/2006/main">
              <a:ext uri="{FF2B5EF4-FFF2-40B4-BE49-F238E27FC236}">
                <a16:creationId xmlns:a16="http://schemas.microsoft.com/office/drawing/2014/main" id="{E7C34EAB-0A8F-4F42-BA2B-B84F426D732E}"/>
              </a:ext>
            </a:extLst>
          </p:cNvPr>
          <p:cNvSpPr>
            <a:spLocks xmlns:a="http://schemas.openxmlformats.org/drawingml/2006/main" noGrp="1"/>
          </p:cNvSpPr>
          <p:nvPr/>
        </p:nvSpPr>
        <p:spPr>
          <a:xfrm xmlns:a="http://schemas.openxmlformats.org/drawingml/2006/main">
            <a:off x="8591550" y="4781550"/>
            <a:ext cx="1943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1125" b="0">
                <a:solidFill>
                  <a:srgbClr val="8D99A3"/>
                </a:solidFill>
                <a:latin typeface="DejaVu Sans"/>
                <a:ea typeface="DejaVu Sans"/>
                <a:cs typeface="DejaVu Sans"/>
              </a:defRPr>
            </a:pPr>
            <a:r>
              <a:rPr sz="1125" b="0">
                <a:solidFill>
                  <a:srgbClr val="8D99A3"/>
                </a:solidFill>
                <a:latin typeface="DejaVu Sans"/>
                <a:ea typeface="DejaVu Sans"/>
                <a:cs typeface="DejaVu Sans"/>
              </a:rPr>
              <a:t>measure • manipulate • test</a:t>
            </a:r>
          </a:p>
        </p:txBody>
      </p:sp>
      <p:sp>
        <p:nvSpPr>
          <p:cNvPr id="18" name="">
            <a:extLst xmlns:a="http://schemas.openxmlformats.org/drawingml/2006/main">
              <a:ext uri="{FF2B5EF4-FFF2-40B4-BE49-F238E27FC236}">
                <a16:creationId xmlns:a16="http://schemas.microsoft.com/office/drawing/2014/main" id="{F99EF94A-BF27-4AF2-A1F3-EFD3098F65BF}"/>
              </a:ext>
            </a:extLst>
          </p:cNvPr>
          <p:cNvSpPr>
            <a:spLocks xmlns:a="http://schemas.openxmlformats.org/drawingml/2006/main" noGrp="1"/>
          </p:cNvSpPr>
          <p:nvPr/>
        </p:nvSpPr>
        <p:spPr>
          <a:xfrm xmlns:a="http://schemas.openxmlformats.org/drawingml/2006/main">
            <a:off x="666750" y="5638800"/>
            <a:ext cx="1809750" cy="57150"/>
          </a:xfrm>
          <a:prstGeom xmlns:a="http://schemas.openxmlformats.org/drawingml/2006/main" prst="rect">
            <a:avLst/>
          </a:prstGeom>
          <a:solidFill xmlns:a="http://schemas.openxmlformats.org/drawingml/2006/main">
            <a:srgbClr val="39D7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9D94360-47AC-4C56-AFC2-034CD2A55F62}"/>
              </a:ext>
            </a:extLst>
          </p:cNvPr>
          <p:cNvSpPr>
            <a:spLocks xmlns:a="http://schemas.openxmlformats.org/drawingml/2006/main" noGrp="1"/>
          </p:cNvSpPr>
          <p:nvPr/>
        </p:nvSpPr>
        <p:spPr>
          <a:xfrm xmlns:a="http://schemas.openxmlformats.org/drawingml/2006/main">
            <a:off x="666750" y="57912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1050" b="1">
                <a:solidFill>
                  <a:srgbClr val="39D7FF"/>
                </a:solidFill>
                <a:latin typeface="DejaVu Sans Mono"/>
                <a:ea typeface="DejaVu Sans Mono"/>
                <a:cs typeface="DejaVu Sans Mono"/>
              </a:defRPr>
            </a:pPr>
            <a:r>
              <a:rPr sz="1050" b="1">
                <a:solidFill>
                  <a:srgbClr val="39D7FF"/>
                </a:solidFill>
                <a:latin typeface="DejaVu Sans Mono"/>
                <a:ea typeface="DejaVu Sans Mono"/>
                <a:cs typeface="DejaVu Sans Mono"/>
              </a:rPr>
              <a:t>DISCOVERY</a:t>
            </a:r>
          </a:p>
        </p:txBody>
      </p:sp>
      <p:sp>
        <p:nvSpPr>
          <p:cNvPr id="20" name="">
            <a:extLst xmlns:a="http://schemas.openxmlformats.org/drawingml/2006/main">
              <a:ext uri="{FF2B5EF4-FFF2-40B4-BE49-F238E27FC236}">
                <a16:creationId xmlns:a16="http://schemas.microsoft.com/office/drawing/2014/main" id="{4DABBFB3-86F6-4A6C-A60A-A5D955BFB962}"/>
              </a:ext>
            </a:extLst>
          </p:cNvPr>
          <p:cNvSpPr>
            <a:spLocks xmlns:a="http://schemas.openxmlformats.org/drawingml/2006/main" noGrp="1"/>
          </p:cNvSpPr>
          <p:nvPr/>
        </p:nvSpPr>
        <p:spPr>
          <a:xfrm xmlns:a="http://schemas.openxmlformats.org/drawingml/2006/main">
            <a:off x="2857500" y="5638800"/>
            <a:ext cx="1809750" cy="57150"/>
          </a:xfrm>
          <a:prstGeom xmlns:a="http://schemas.openxmlformats.org/drawingml/2006/main" prst="rect">
            <a:avLst/>
          </a:prstGeom>
          <a:solidFill xmlns:a="http://schemas.openxmlformats.org/drawingml/2006/main">
            <a:srgbClr val="39D7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64AFEDA-A44A-477C-BCE5-8155310E9E5C}"/>
              </a:ext>
            </a:extLst>
          </p:cNvPr>
          <p:cNvSpPr>
            <a:spLocks xmlns:a="http://schemas.openxmlformats.org/drawingml/2006/main" noGrp="1"/>
          </p:cNvSpPr>
          <p:nvPr/>
        </p:nvSpPr>
        <p:spPr>
          <a:xfrm xmlns:a="http://schemas.openxmlformats.org/drawingml/2006/main">
            <a:off x="2857500" y="57912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1050" b="1">
                <a:solidFill>
                  <a:srgbClr val="39D7FF"/>
                </a:solidFill>
                <a:latin typeface="DejaVu Sans Mono"/>
                <a:ea typeface="DejaVu Sans Mono"/>
                <a:cs typeface="DejaVu Sans Mono"/>
              </a:defRPr>
            </a:pPr>
            <a:r>
              <a:rPr sz="1050" b="1">
                <a:solidFill>
                  <a:srgbClr val="39D7FF"/>
                </a:solidFill>
                <a:latin typeface="DejaVu Sans Mono"/>
                <a:ea typeface="DejaVu Sans Mono"/>
                <a:cs typeface="DejaVu Sans Mono"/>
              </a:rPr>
              <a:t>MODELING</a:t>
            </a:r>
          </a:p>
        </p:txBody>
      </p:sp>
      <p:sp>
        <p:nvSpPr>
          <p:cNvPr id="22" name="">
            <a:extLst xmlns:a="http://schemas.openxmlformats.org/drawingml/2006/main">
              <a:ext uri="{FF2B5EF4-FFF2-40B4-BE49-F238E27FC236}">
                <a16:creationId xmlns:a16="http://schemas.microsoft.com/office/drawing/2014/main" id="{DF54546F-6B33-44D4-94A7-689832305402}"/>
              </a:ext>
            </a:extLst>
          </p:cNvPr>
          <p:cNvSpPr>
            <a:spLocks xmlns:a="http://schemas.openxmlformats.org/drawingml/2006/main" noGrp="1"/>
          </p:cNvSpPr>
          <p:nvPr/>
        </p:nvSpPr>
        <p:spPr>
          <a:xfrm xmlns:a="http://schemas.openxmlformats.org/drawingml/2006/main">
            <a:off x="5048250" y="5638800"/>
            <a:ext cx="1809750" cy="57150"/>
          </a:xfrm>
          <a:prstGeom xmlns:a="http://schemas.openxmlformats.org/drawingml/2006/main" prst="rect">
            <a:avLst/>
          </a:prstGeom>
          <a:solidFill xmlns:a="http://schemas.openxmlformats.org/drawingml/2006/main">
            <a:srgbClr val="F26B3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17278AD-9483-43B1-A78E-726C932D33B8}"/>
              </a:ext>
            </a:extLst>
          </p:cNvPr>
          <p:cNvSpPr>
            <a:spLocks xmlns:a="http://schemas.openxmlformats.org/drawingml/2006/main" noGrp="1"/>
          </p:cNvSpPr>
          <p:nvPr/>
        </p:nvSpPr>
        <p:spPr>
          <a:xfrm xmlns:a="http://schemas.openxmlformats.org/drawingml/2006/main">
            <a:off x="5048250" y="57912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1050" b="1">
                <a:solidFill>
                  <a:srgbClr val="F26B38"/>
                </a:solidFill>
                <a:latin typeface="DejaVu Sans Mono"/>
                <a:ea typeface="DejaVu Sans Mono"/>
                <a:cs typeface="DejaVu Sans Mono"/>
              </a:defRPr>
            </a:pPr>
            <a:r>
              <a:rPr sz="1050" b="1">
                <a:solidFill>
                  <a:srgbClr val="F26B38"/>
                </a:solidFill>
                <a:latin typeface="DejaVu Sans Mono"/>
                <a:ea typeface="DejaVu Sans Mono"/>
                <a:cs typeface="DejaVu Sans Mono"/>
              </a:rPr>
              <a:t>ENGINEERING</a:t>
            </a:r>
          </a:p>
        </p:txBody>
      </p:sp>
      <p:sp>
        <p:nvSpPr>
          <p:cNvPr id="24" name="">
            <a:extLst xmlns:a="http://schemas.openxmlformats.org/drawingml/2006/main">
              <a:ext uri="{FF2B5EF4-FFF2-40B4-BE49-F238E27FC236}">
                <a16:creationId xmlns:a16="http://schemas.microsoft.com/office/drawing/2014/main" id="{D6E0A8F1-8987-41FC-9D26-E24062ADBE6D}"/>
              </a:ext>
            </a:extLst>
          </p:cNvPr>
          <p:cNvSpPr>
            <a:spLocks xmlns:a="http://schemas.openxmlformats.org/drawingml/2006/main" noGrp="1"/>
          </p:cNvSpPr>
          <p:nvPr/>
        </p:nvSpPr>
        <p:spPr>
          <a:xfrm xmlns:a="http://schemas.openxmlformats.org/drawingml/2006/main">
            <a:off x="7239000" y="5638800"/>
            <a:ext cx="1809750" cy="57150"/>
          </a:xfrm>
          <a:prstGeom xmlns:a="http://schemas.openxmlformats.org/drawingml/2006/main" prst="rect">
            <a:avLst/>
          </a:prstGeom>
          <a:solidFill xmlns:a="http://schemas.openxmlformats.org/drawingml/2006/main">
            <a:srgbClr val="62D6A7"/>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64CE8CC-F7BB-4195-9371-D2B78674B040}"/>
              </a:ext>
            </a:extLst>
          </p:cNvPr>
          <p:cNvSpPr>
            <a:spLocks xmlns:a="http://schemas.openxmlformats.org/drawingml/2006/main" noGrp="1"/>
          </p:cNvSpPr>
          <p:nvPr/>
        </p:nvSpPr>
        <p:spPr>
          <a:xfrm xmlns:a="http://schemas.openxmlformats.org/drawingml/2006/main">
            <a:off x="7239000" y="57912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1050" b="1">
                <a:solidFill>
                  <a:srgbClr val="62D6A7"/>
                </a:solidFill>
                <a:latin typeface="DejaVu Sans Mono"/>
                <a:ea typeface="DejaVu Sans Mono"/>
                <a:cs typeface="DejaVu Sans Mono"/>
              </a:defRPr>
            </a:pPr>
            <a:r>
              <a:rPr sz="1050" b="1">
                <a:solidFill>
                  <a:srgbClr val="62D6A7"/>
                </a:solidFill>
                <a:latin typeface="DejaVu Sans Mono"/>
                <a:ea typeface="DejaVu Sans Mono"/>
                <a:cs typeface="DejaVu Sans Mono"/>
              </a:rPr>
              <a:t>VERIFICATION</a:t>
            </a:r>
          </a:p>
        </p:txBody>
      </p:sp>
      <p:sp>
        <p:nvSpPr>
          <p:cNvPr id="26" name="">
            <a:extLst xmlns:a="http://schemas.openxmlformats.org/drawingml/2006/main">
              <a:ext uri="{FF2B5EF4-FFF2-40B4-BE49-F238E27FC236}">
                <a16:creationId xmlns:a16="http://schemas.microsoft.com/office/drawing/2014/main" id="{10335DAF-149B-4E61-9A52-E7197F399DC6}"/>
              </a:ext>
            </a:extLst>
          </p:cNvPr>
          <p:cNvSpPr>
            <a:spLocks xmlns:a="http://schemas.openxmlformats.org/drawingml/2006/main" noGrp="1"/>
          </p:cNvSpPr>
          <p:nvPr/>
        </p:nvSpPr>
        <p:spPr>
          <a:xfrm xmlns:a="http://schemas.openxmlformats.org/drawingml/2006/main">
            <a:off x="9429750" y="5638800"/>
            <a:ext cx="1809750" cy="57150"/>
          </a:xfrm>
          <a:prstGeom xmlns:a="http://schemas.openxmlformats.org/drawingml/2006/main" prst="rect">
            <a:avLst/>
          </a:prstGeom>
          <a:solidFill xmlns:a="http://schemas.openxmlformats.org/drawingml/2006/main">
            <a:srgbClr val="FFC85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BBD0A55-E93D-4936-8543-ED1FBC04D43E}"/>
              </a:ext>
            </a:extLst>
          </p:cNvPr>
          <p:cNvSpPr>
            <a:spLocks xmlns:a="http://schemas.openxmlformats.org/drawingml/2006/main" noGrp="1"/>
          </p:cNvSpPr>
          <p:nvPr/>
        </p:nvSpPr>
        <p:spPr>
          <a:xfrm xmlns:a="http://schemas.openxmlformats.org/drawingml/2006/main">
            <a:off x="9429750" y="57912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1050" b="1">
                <a:solidFill>
                  <a:srgbClr val="FFC857"/>
                </a:solidFill>
                <a:latin typeface="DejaVu Sans Mono"/>
                <a:ea typeface="DejaVu Sans Mono"/>
                <a:cs typeface="DejaVu Sans Mono"/>
              </a:defRPr>
            </a:pPr>
            <a:r>
              <a:rPr sz="1050" b="1">
                <a:solidFill>
                  <a:srgbClr val="FFC857"/>
                </a:solidFill>
                <a:latin typeface="DejaVu Sans Mono"/>
                <a:ea typeface="DejaVu Sans Mono"/>
                <a:cs typeface="DejaVu Sans Mono"/>
              </a:rPr>
              <a:t>GOVERNANCE</a:t>
            </a:r>
          </a:p>
        </p:txBody>
      </p:sp>
      <p:sp>
        <p:nvSpPr>
          <p:cNvPr id="28" name="">
            <a:extLst xmlns:a="http://schemas.openxmlformats.org/drawingml/2006/main">
              <a:ext uri="{FF2B5EF4-FFF2-40B4-BE49-F238E27FC236}">
                <a16:creationId xmlns:a16="http://schemas.microsoft.com/office/drawing/2014/main" id="{D09C715C-87D4-4FD5-8E88-2713BDD932EF}"/>
              </a:ext>
            </a:extLst>
          </p:cNvPr>
          <p:cNvSpPr>
            <a:spLocks xmlns:a="http://schemas.openxmlformats.org/drawingml/2006/main" noGrp="1"/>
          </p:cNvSpPr>
          <p:nvPr/>
        </p:nvSpPr>
        <p:spPr>
          <a:xfrm xmlns:a="http://schemas.openxmlformats.org/drawingml/2006/main">
            <a:off x="0" y="6400800"/>
            <a:ext cx="12192000" cy="457200"/>
          </a:xfrm>
          <a:prstGeom xmlns:a="http://schemas.openxmlformats.org/drawingml/2006/main" prst="rect">
            <a:avLst/>
          </a:prstGeom>
          <a:solidFill xmlns:a="http://schemas.openxmlformats.org/drawingml/2006/main">
            <a:srgbClr val="07090C">
              <a:alpha val="76000"/>
            </a:srgbClr>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0CA07976-85C4-4103-8415-92399613A709}"/>
              </a:ext>
            </a:extLst>
          </p:cNvPr>
          <p:cNvSpPr>
            <a:spLocks xmlns:a="http://schemas.openxmlformats.org/drawingml/2006/main" noGrp="1"/>
          </p:cNvSpPr>
          <p:nvPr/>
        </p:nvSpPr>
        <p:spPr>
          <a:xfrm xmlns:a="http://schemas.openxmlformats.org/drawingml/2006/main">
            <a:off x="609600" y="6553200"/>
            <a:ext cx="6858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MARS SOCIETY 2026  •  HARNESSED AGENTIC SCIENCE + ENGINEERING</a:t>
            </a:r>
          </a:p>
        </p:txBody>
      </p:sp>
      <p:sp>
        <p:nvSpPr>
          <p:cNvPr id="30" name="">
            <a:extLst xmlns:a="http://schemas.openxmlformats.org/drawingml/2006/main">
              <a:ext uri="{FF2B5EF4-FFF2-40B4-BE49-F238E27FC236}">
                <a16:creationId xmlns:a16="http://schemas.microsoft.com/office/drawing/2014/main" id="{9622C97A-4EC5-4005-83EA-BF231B9E9E45}"/>
              </a:ext>
            </a:extLst>
          </p:cNvPr>
          <p:cNvSpPr>
            <a:spLocks xmlns:a="http://schemas.openxmlformats.org/drawingml/2006/main" noGrp="1"/>
          </p:cNvSpPr>
          <p:nvPr/>
        </p:nvSpPr>
        <p:spPr>
          <a:xfrm xmlns:a="http://schemas.openxmlformats.org/drawingml/2006/main">
            <a:off x="9525000" y="6553200"/>
            <a:ext cx="2057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BOB J MILLS     04</a:t>
            </a:r>
          </a:p>
        </p:txBody>
      </p:sp>
    </p:spTree>
    <p:extLst>
      <p:ext uri="{BB962C8B-B14F-4D97-AF65-F5344CB8AC3E}">
        <p14:creationId xmlns:p14="http://schemas.microsoft.com/office/powerpoint/2010/main" val="2121864163"/>
      </p:ext>
    </p:extLst>
  </p:cSld>
</p:sld>
</file>

<file path=ppt/slides/slide5.xml><?xml version="1.0" encoding="utf-8"?>
<p:sld xmlns:p="http://schemas.openxmlformats.org/presentationml/2006/main">
  <p:cSld>
    <p:bg>
      <p:bgPr>
        <a:solidFill xmlns:a="http://schemas.openxmlformats.org/drawingml/2006/main">
          <a:srgbClr val="07090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BE4F409-10F3-419F-B2BB-7BF2554735EF}"/>
              </a:ext>
            </a:extLst>
          </p:cNvPr>
          <p:cNvSpPr>
            <a:spLocks xmlns:a="http://schemas.openxmlformats.org/drawingml/2006/main" noGrp="1"/>
          </p:cNvSpPr>
          <p:nvPr/>
        </p:nvSpPr>
        <p:spPr>
          <a:xfrm xmlns:a="http://schemas.openxmlformats.org/drawingml/2006/main">
            <a:off x="609600" y="3429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975" b="1">
                <a:solidFill>
                  <a:srgbClr val="F26B38"/>
                </a:solidFill>
                <a:latin typeface="DejaVu Sans Mono"/>
                <a:ea typeface="DejaVu Sans Mono"/>
                <a:cs typeface="DejaVu Sans Mono"/>
              </a:defRPr>
            </a:pPr>
            <a:r>
              <a:rPr sz="975" b="1">
                <a:solidFill>
                  <a:srgbClr val="F26B38"/>
                </a:solidFill>
                <a:latin typeface="DejaVu Sans Mono"/>
                <a:ea typeface="DejaVu Sans Mono"/>
                <a:cs typeface="DejaVu Sans Mono"/>
              </a:rPr>
              <a:t>05  /  SYSTEM ARCHITECTURE</a:t>
            </a:r>
          </a:p>
        </p:txBody>
      </p:sp>
      <p:sp>
        <p:nvSpPr>
          <p:cNvPr id="2" name="">
            <a:extLst xmlns:a="http://schemas.openxmlformats.org/drawingml/2006/main">
              <a:ext uri="{FF2B5EF4-FFF2-40B4-BE49-F238E27FC236}">
                <a16:creationId xmlns:a16="http://schemas.microsoft.com/office/drawing/2014/main" id="{5BC3B8C3-5AA2-494E-AC4B-D923C0B62543}"/>
              </a:ext>
            </a:extLst>
          </p:cNvPr>
          <p:cNvSpPr>
            <a:spLocks xmlns:a="http://schemas.openxmlformats.org/drawingml/2006/main" noGrp="1"/>
          </p:cNvSpPr>
          <p:nvPr/>
        </p:nvSpPr>
        <p:spPr>
          <a:xfrm xmlns:a="http://schemas.openxmlformats.org/drawingml/2006/main">
            <a:off x="609600" y="6477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000" b="1">
                <a:solidFill>
                  <a:srgbClr val="F4F6F8"/>
                </a:solidFill>
                <a:latin typeface="DejaVu Sans"/>
                <a:ea typeface="DejaVu Sans"/>
                <a:cs typeface="DejaVu Sans"/>
              </a:defRPr>
            </a:pPr>
            <a:r>
              <a:rPr sz="3000" b="1">
                <a:solidFill>
                  <a:srgbClr val="F4F6F8"/>
                </a:solidFill>
                <a:latin typeface="DejaVu Sans"/>
                <a:ea typeface="DejaVu Sans"/>
                <a:cs typeface="DejaVu Sans"/>
              </a:rPr>
              <a:t>Two harnesses. One digital thread.</a:t>
            </a:r>
          </a:p>
        </p:txBody>
      </p:sp>
      <p:sp>
        <p:nvSpPr>
          <p:cNvPr id="3" name="">
            <a:extLst xmlns:a="http://schemas.openxmlformats.org/drawingml/2006/main">
              <a:ext uri="{FF2B5EF4-FFF2-40B4-BE49-F238E27FC236}">
                <a16:creationId xmlns:a16="http://schemas.microsoft.com/office/drawing/2014/main" id="{BA915C9F-59BB-46A6-A979-BFB3AC025078}"/>
              </a:ext>
            </a:extLst>
          </p:cNvPr>
          <p:cNvSpPr>
            <a:spLocks xmlns:a="http://schemas.openxmlformats.org/drawingml/2006/main" noGrp="1"/>
          </p:cNvSpPr>
          <p:nvPr/>
        </p:nvSpPr>
        <p:spPr>
          <a:xfrm xmlns:a="http://schemas.openxmlformats.org/drawingml/2006/main">
            <a:off x="628650" y="12382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425" b="0">
                <a:solidFill>
                  <a:srgbClr val="8D99A3"/>
                </a:solidFill>
                <a:latin typeface="DejaVu Sans"/>
                <a:ea typeface="DejaVu Sans"/>
                <a:cs typeface="DejaVu Sans"/>
              </a:defRPr>
            </a:pPr>
            <a:r>
              <a:rPr sz="1425" b="0">
                <a:solidFill>
                  <a:srgbClr val="8D99A3"/>
                </a:solidFill>
                <a:latin typeface="DejaVu Sans"/>
                <a:ea typeface="DejaVu Sans"/>
                <a:cs typeface="DejaVu Sans"/>
              </a:rPr>
              <a:t>Research and engineering stay specialized, but evidence and unresolved questions move through one governed baseline.</a:t>
            </a:r>
          </a:p>
        </p:txBody>
      </p:sp>
      <p:sp>
        <p:nvSpPr>
          <p:cNvPr id="4" name="">
            <a:extLst xmlns:a="http://schemas.openxmlformats.org/drawingml/2006/main">
              <a:ext uri="{FF2B5EF4-FFF2-40B4-BE49-F238E27FC236}">
                <a16:creationId xmlns:a16="http://schemas.microsoft.com/office/drawing/2014/main" id="{FDD18598-8A98-47AA-ABEB-BC06CD276C0F}"/>
              </a:ext>
            </a:extLst>
          </p:cNvPr>
          <p:cNvSpPr>
            <a:spLocks xmlns:a="http://schemas.openxmlformats.org/drawingml/2006/main" noGrp="1"/>
          </p:cNvSpPr>
          <p:nvPr/>
        </p:nvSpPr>
        <p:spPr>
          <a:xfrm xmlns:a="http://schemas.openxmlformats.org/drawingml/2006/main">
            <a:off x="609600" y="1676400"/>
            <a:ext cx="10972800" cy="0"/>
          </a:xfrm>
          <a:prstGeom xmlns:a="http://schemas.openxmlformats.org/drawingml/2006/main" prst="line">
            <a:avLst/>
          </a:prstGeom>
          <a:noFill xmlns:a="http://schemas.openxmlformats.org/drawingml/2006/main"/>
          <a:ln xmlns:a="http://schemas.openxmlformats.org/drawingml/2006/main" w="9525">
            <a:solidFill>
              <a:srgbClr val="35414B"/>
            </a:solidFill>
            <a:prstDash val="solid"/>
          </a:ln>
        </p:spPr>
      </p:sp>
      <p:sp>
        <p:nvSpPr>
          <p:cNvPr id="5" name="">
            <a:extLst xmlns:a="http://schemas.openxmlformats.org/drawingml/2006/main">
              <a:ext uri="{FF2B5EF4-FFF2-40B4-BE49-F238E27FC236}">
                <a16:creationId xmlns:a16="http://schemas.microsoft.com/office/drawing/2014/main" id="{0E4A8EDF-98FB-45A3-9F26-FEDEF305A95D}"/>
              </a:ext>
            </a:extLst>
          </p:cNvPr>
          <p:cNvSpPr>
            <a:spLocks xmlns:a="http://schemas.openxmlformats.org/drawingml/2006/main" noGrp="1"/>
          </p:cNvSpPr>
          <p:nvPr/>
        </p:nvSpPr>
        <p:spPr>
          <a:xfrm xmlns:a="http://schemas.openxmlformats.org/drawingml/2006/main">
            <a:off x="1905000" y="3190875"/>
            <a:ext cx="8382000" cy="0"/>
          </a:xfrm>
          <a:prstGeom xmlns:a="http://schemas.openxmlformats.org/drawingml/2006/main" prst="line">
            <a:avLst/>
          </a:prstGeom>
          <a:noFill xmlns:a="http://schemas.openxmlformats.org/drawingml/2006/main"/>
          <a:ln xmlns:a="http://schemas.openxmlformats.org/drawingml/2006/main" w="19050">
            <a:solidFill>
              <a:srgbClr val="35414B"/>
            </a:solid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47bbffd94f9f49cc"/>
          <a:srcRect xmlns:a="http://schemas.openxmlformats.org/drawingml/2006/main" l="0" t="27135" r="0" b="27135"/>
          <a:stretch xmlns:a="http://schemas.openxmlformats.org/drawingml/2006/main">
            <a:fillRect l="0" t="0" r="0" b="0"/>
          </a:stretch>
        </p:blipFill>
        <p:spPr>
          <a:xfrm xmlns:a="http://schemas.openxmlformats.org/drawingml/2006/main">
            <a:off x="2686050" y="2686050"/>
            <a:ext cx="6819900" cy="895350"/>
          </a:xfrm>
          <a:prstGeom xmlns:a="http://schemas.openxmlformats.org/drawingml/2006/main" prst="rect">
            <a:avLst/>
          </a:prstGeom>
        </p:spPr>
      </p:pic>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7603f66a3ea44770"/>
          <a:srcRect xmlns:a="http://schemas.openxmlformats.org/drawingml/2006/main" l="0" t="30054" r="0" b="30054"/>
          <a:stretch xmlns:a="http://schemas.openxmlformats.org/drawingml/2006/main">
            <a:fillRect l="0" t="0" r="0" b="0"/>
          </a:stretch>
        </p:blipFill>
        <p:spPr>
          <a:xfrm xmlns:a="http://schemas.openxmlformats.org/drawingml/2006/main">
            <a:off x="2686050" y="4762500"/>
            <a:ext cx="6819900" cy="7810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CD74CF2-A199-44E0-B543-6BAB1E03CC90}"/>
              </a:ext>
            </a:extLst>
          </p:cNvPr>
          <p:cNvSpPr>
            <a:spLocks xmlns:a="http://schemas.openxmlformats.org/drawingml/2006/main" noGrp="1"/>
          </p:cNvSpPr>
          <p:nvPr/>
        </p:nvSpPr>
        <p:spPr>
          <a:xfrm xmlns:a="http://schemas.openxmlformats.org/drawingml/2006/main">
            <a:off x="704850" y="2381250"/>
            <a:ext cx="2190750" cy="1619250"/>
          </a:xfrm>
          <a:prstGeom xmlns:a="http://schemas.openxmlformats.org/drawingml/2006/main" prst="ellipse">
            <a:avLst/>
          </a:prstGeom>
          <a:gradFill xmlns:a="http://schemas.openxmlformats.org/drawingml/2006/main">
            <a:gsLst>
              <a:gs pos="0">
                <a:srgbClr val="15303A"/>
              </a:gs>
              <a:gs pos="100000">
                <a:srgbClr val="0B1115"/>
              </a:gs>
            </a:gsLst>
            <a:path path="shape"/>
          </a:gradFill>
          <a:ln xmlns:a="http://schemas.openxmlformats.org/drawingml/2006/main" w="14288">
            <a:solidFill>
              <a:srgbClr val="39D7FF"/>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350" b="1">
                <a:solidFill>
                  <a:srgbClr val="39D7FF"/>
                </a:solidFill>
                <a:latin typeface="DejaVu Sans"/>
                <a:ea typeface="DejaVu Sans"/>
                <a:cs typeface="DejaVu Sans"/>
              </a:defRPr>
            </a:pPr>
            <a:r>
              <a:rPr sz="1350" b="1">
                <a:solidFill>
                  <a:srgbClr val="39D7FF"/>
                </a:solidFill>
                <a:latin typeface="DejaVu Sans"/>
                <a:ea typeface="DejaVu Sans"/>
                <a:cs typeface="DejaVu Sans"/>
              </a:rPr>
              <a:t>HYPATIA PRO</a:t>
            </a:r>
          </a:p>
          <a:p xmlns:a="http://schemas.openxmlformats.org/drawingml/2006/main">
            <a:pPr algn="ctr">
              <a:lnSpc>
                <a:spcPct val="90000"/>
              </a:lnSpc>
              <a:buNone/>
              <a:defRPr sz="1350" b="1">
                <a:solidFill>
                  <a:srgbClr val="39D7FF"/>
                </a:solidFill>
                <a:latin typeface="DejaVu Sans"/>
                <a:ea typeface="DejaVu Sans"/>
                <a:cs typeface="DejaVu Sans"/>
              </a:defRPr>
            </a:pPr>
            <a:r>
              <a:rPr sz="1350" b="1">
                <a:solidFill>
                  <a:srgbClr val="39D7FF"/>
                </a:solidFill>
                <a:latin typeface="DejaVu Sans"/>
                <a:ea typeface="DejaVu Sans"/>
                <a:cs typeface="DejaVu Sans"/>
              </a:rPr>
              <a:t>SCIENCE</a:t>
            </a:r>
          </a:p>
          <a:p xmlns:a="http://schemas.openxmlformats.org/drawingml/2006/main">
            <a:pPr algn="ctr">
              <a:lnSpc>
                <a:spcPct val="90000"/>
              </a:lnSpc>
              <a:buNone/>
              <a:defRPr sz="1350" b="1">
                <a:solidFill>
                  <a:srgbClr val="39D7FF"/>
                </a:solidFill>
                <a:latin typeface="DejaVu Sans"/>
                <a:ea typeface="DejaVu Sans"/>
                <a:cs typeface="DejaVu Sans"/>
              </a:defRPr>
            </a:pPr>
            <a:r>
              <a:rPr sz="1350" b="1">
                <a:solidFill>
                  <a:srgbClr val="39D7FF"/>
                </a:solidFill>
                <a:latin typeface="DejaVu Sans"/>
                <a:ea typeface="DejaVu Sans"/>
                <a:cs typeface="DejaVu Sans"/>
              </a:rPr>
              <a:t>HARNESS</a:t>
            </a:r>
          </a:p>
        </p:txBody>
      </p:sp>
      <p:sp>
        <p:nvSpPr>
          <p:cNvPr id="9" name="">
            <a:extLst xmlns:a="http://schemas.openxmlformats.org/drawingml/2006/main">
              <a:ext uri="{FF2B5EF4-FFF2-40B4-BE49-F238E27FC236}">
                <a16:creationId xmlns:a16="http://schemas.microsoft.com/office/drawing/2014/main" id="{8570FE04-D065-4CB5-B85C-BDC1AD7A2B69}"/>
              </a:ext>
            </a:extLst>
          </p:cNvPr>
          <p:cNvSpPr>
            <a:spLocks xmlns:a="http://schemas.openxmlformats.org/drawingml/2006/main" noGrp="1"/>
          </p:cNvSpPr>
          <p:nvPr/>
        </p:nvSpPr>
        <p:spPr>
          <a:xfrm xmlns:a="http://schemas.openxmlformats.org/drawingml/2006/main">
            <a:off x="4781550" y="2428875"/>
            <a:ext cx="2628900" cy="1524000"/>
          </a:xfrm>
          <a:prstGeom xmlns:a="http://schemas.openxmlformats.org/drawingml/2006/main" prst="diamond">
            <a:avLst/>
          </a:prstGeom>
          <a:solidFill xmlns:a="http://schemas.openxmlformats.org/drawingml/2006/main">
            <a:srgbClr val="161B20"/>
          </a:solidFill>
          <a:ln xmlns:a="http://schemas.openxmlformats.org/drawingml/2006/main" w="14288">
            <a:solidFill>
              <a:srgbClr val="F4F6F8"/>
            </a:solidFill>
            <a:prstDash val="solid"/>
          </a:ln>
        </p:spPr>
        <p:txBody>
          <a:bodyPr xmlns:a="http://schemas.openxmlformats.org/drawingml/2006/main" lIns="0" tIns="114300" rIns="0" bIns="114300" anchor="ctr">
            <a:noAutofit/>
          </a:bodyPr>
          <a:lstStyle xmlns:a="http://schemas.openxmlformats.org/drawingml/2006/main"/>
          <a:p xmlns:a="http://schemas.openxmlformats.org/drawingml/2006/main">
            <a:pPr algn="ctr">
              <a:lnSpc>
                <a:spcPct val="90000"/>
              </a:lnSpc>
              <a:buNone/>
              <a:defRPr sz="1200" b="1">
                <a:solidFill>
                  <a:srgbClr val="F4F6F8"/>
                </a:solidFill>
                <a:latin typeface="DejaVu Sans"/>
                <a:ea typeface="DejaVu Sans"/>
                <a:cs typeface="DejaVu Sans"/>
              </a:defRPr>
            </a:pPr>
            <a:r>
              <a:rPr sz="1200" b="1">
                <a:solidFill>
                  <a:srgbClr val="F4F6F8"/>
                </a:solidFill>
                <a:latin typeface="DejaVu Sans"/>
                <a:ea typeface="DejaVu Sans"/>
                <a:cs typeface="DejaVu Sans"/>
              </a:rPr>
              <a:t>ENGINEERING</a:t>
            </a:r>
          </a:p>
          <a:p xmlns:a="http://schemas.openxmlformats.org/drawingml/2006/main">
            <a:pPr algn="ctr">
              <a:lnSpc>
                <a:spcPct val="90000"/>
              </a:lnSpc>
              <a:buNone/>
              <a:defRPr sz="1200" b="1">
                <a:solidFill>
                  <a:srgbClr val="F4F6F8"/>
                </a:solidFill>
                <a:latin typeface="DejaVu Sans"/>
                <a:ea typeface="DejaVu Sans"/>
                <a:cs typeface="DejaVu Sans"/>
              </a:defRPr>
            </a:pPr>
            <a:r>
              <a:rPr sz="1200" b="1">
                <a:solidFill>
                  <a:srgbClr val="F4F6F8"/>
                </a:solidFill>
                <a:latin typeface="DejaVu Sans"/>
                <a:ea typeface="DejaVu Sans"/>
                <a:cs typeface="DejaVu Sans"/>
              </a:rPr>
              <a:t>EVIDENCE</a:t>
            </a:r>
          </a:p>
          <a:p xmlns:a="http://schemas.openxmlformats.org/drawingml/2006/main">
            <a:pPr algn="ctr">
              <a:lnSpc>
                <a:spcPct val="90000"/>
              </a:lnSpc>
              <a:buNone/>
              <a:defRPr sz="1200" b="1">
                <a:solidFill>
                  <a:srgbClr val="F4F6F8"/>
                </a:solidFill>
                <a:latin typeface="DejaVu Sans"/>
                <a:ea typeface="DejaVu Sans"/>
                <a:cs typeface="DejaVu Sans"/>
              </a:defRPr>
            </a:pPr>
            <a:r>
              <a:rPr sz="1200" b="1">
                <a:solidFill>
                  <a:srgbClr val="F4F6F8"/>
                </a:solidFill>
                <a:latin typeface="DejaVu Sans"/>
                <a:ea typeface="DejaVu Sans"/>
                <a:cs typeface="DejaVu Sans"/>
              </a:rPr>
              <a:t>PACKAGE</a:t>
            </a:r>
          </a:p>
        </p:txBody>
      </p:sp>
      <p:sp>
        <p:nvSpPr>
          <p:cNvPr id="10" name="">
            <a:extLst xmlns:a="http://schemas.openxmlformats.org/drawingml/2006/main">
              <a:ext uri="{FF2B5EF4-FFF2-40B4-BE49-F238E27FC236}">
                <a16:creationId xmlns:a16="http://schemas.microsoft.com/office/drawing/2014/main" id="{F8E5D0AA-8B61-4CE6-8DCB-1649673A87E4}"/>
              </a:ext>
            </a:extLst>
          </p:cNvPr>
          <p:cNvSpPr>
            <a:spLocks xmlns:a="http://schemas.openxmlformats.org/drawingml/2006/main" noGrp="1"/>
          </p:cNvSpPr>
          <p:nvPr/>
        </p:nvSpPr>
        <p:spPr>
          <a:xfrm xmlns:a="http://schemas.openxmlformats.org/drawingml/2006/main">
            <a:off x="9296400" y="2381250"/>
            <a:ext cx="2190750" cy="1619250"/>
          </a:xfrm>
          <a:prstGeom xmlns:a="http://schemas.openxmlformats.org/drawingml/2006/main" prst="ellipse">
            <a:avLst/>
          </a:prstGeom>
          <a:gradFill xmlns:a="http://schemas.openxmlformats.org/drawingml/2006/main">
            <a:gsLst>
              <a:gs pos="0">
                <a:srgbClr val="342014"/>
              </a:gs>
              <a:gs pos="100000">
                <a:srgbClr val="120D0A"/>
              </a:gs>
            </a:gsLst>
            <a:path path="shape"/>
          </a:gradFill>
          <a:ln xmlns:a="http://schemas.openxmlformats.org/drawingml/2006/main" w="14288">
            <a:solidFill>
              <a:srgbClr val="F26B38"/>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350" b="1">
                <a:solidFill>
                  <a:srgbClr val="F26B38"/>
                </a:solidFill>
                <a:latin typeface="DejaVu Sans"/>
                <a:ea typeface="DejaVu Sans"/>
                <a:cs typeface="DejaVu Sans"/>
              </a:defRPr>
            </a:pPr>
            <a:r>
              <a:rPr sz="1350" b="1">
                <a:solidFill>
                  <a:srgbClr val="F26B38"/>
                </a:solidFill>
                <a:latin typeface="DejaVu Sans"/>
                <a:ea typeface="DejaVu Sans"/>
                <a:cs typeface="DejaVu Sans"/>
              </a:rPr>
              <a:t>INTELLIGENT</a:t>
            </a:r>
          </a:p>
          <a:p xmlns:a="http://schemas.openxmlformats.org/drawingml/2006/main">
            <a:pPr algn="ctr">
              <a:lnSpc>
                <a:spcPct val="90000"/>
              </a:lnSpc>
              <a:buNone/>
              <a:defRPr sz="1350" b="1">
                <a:solidFill>
                  <a:srgbClr val="F26B38"/>
                </a:solidFill>
                <a:latin typeface="DejaVu Sans"/>
                <a:ea typeface="DejaVu Sans"/>
                <a:cs typeface="DejaVu Sans"/>
              </a:defRPr>
            </a:pPr>
            <a:r>
              <a:rPr sz="1350" b="1">
                <a:solidFill>
                  <a:srgbClr val="F26B38"/>
                </a:solidFill>
                <a:latin typeface="DejaVu Sans"/>
                <a:ea typeface="DejaVu Sans"/>
                <a:cs typeface="DejaVu Sans"/>
              </a:rPr>
              <a:t>ENGINEER</a:t>
            </a:r>
          </a:p>
          <a:p xmlns:a="http://schemas.openxmlformats.org/drawingml/2006/main">
            <a:pPr algn="ctr">
              <a:lnSpc>
                <a:spcPct val="90000"/>
              </a:lnSpc>
              <a:buNone/>
              <a:defRPr sz="1350" b="1">
                <a:solidFill>
                  <a:srgbClr val="F26B38"/>
                </a:solidFill>
                <a:latin typeface="DejaVu Sans"/>
                <a:ea typeface="DejaVu Sans"/>
                <a:cs typeface="DejaVu Sans"/>
              </a:defRPr>
            </a:pPr>
            <a:r>
              <a:rPr sz="1350" b="1">
                <a:solidFill>
                  <a:srgbClr val="F26B38"/>
                </a:solidFill>
                <a:latin typeface="DejaVu Sans"/>
                <a:ea typeface="DejaVu Sans"/>
                <a:cs typeface="DejaVu Sans"/>
              </a:rPr>
              <a:t>PRO</a:t>
            </a:r>
          </a:p>
        </p:txBody>
      </p:sp>
      <p:sp>
        <p:nvSpPr>
          <p:cNvPr id="11" name="">
            <a:extLst xmlns:a="http://schemas.openxmlformats.org/drawingml/2006/main">
              <a:ext uri="{FF2B5EF4-FFF2-40B4-BE49-F238E27FC236}">
                <a16:creationId xmlns:a16="http://schemas.microsoft.com/office/drawing/2014/main" id="{3EDCCF59-F03F-4407-AE2B-51792ED0F7A3}"/>
              </a:ext>
            </a:extLst>
          </p:cNvPr>
          <p:cNvSpPr>
            <a:spLocks xmlns:a="http://schemas.openxmlformats.org/drawingml/2006/main" noGrp="1"/>
          </p:cNvSpPr>
          <p:nvPr/>
        </p:nvSpPr>
        <p:spPr>
          <a:xfrm xmlns:a="http://schemas.openxmlformats.org/drawingml/2006/main">
            <a:off x="4000500" y="4095750"/>
            <a:ext cx="4191000" cy="590550"/>
          </a:xfrm>
          <a:prstGeom xmlns:a="http://schemas.openxmlformats.org/drawingml/2006/main" prst="roundRect">
            <a:avLst>
              <a:gd name="adj" fmla="val 25806"/>
            </a:avLst>
          </a:prstGeom>
          <a:solidFill xmlns:a="http://schemas.openxmlformats.org/drawingml/2006/main">
            <a:srgbClr val="101A17"/>
          </a:solidFill>
          <a:ln xmlns:a="http://schemas.openxmlformats.org/drawingml/2006/main" w="14288">
            <a:solidFill>
              <a:srgbClr val="62D6A7"/>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275" b="1">
                <a:solidFill>
                  <a:srgbClr val="62D6A7"/>
                </a:solidFill>
                <a:latin typeface="DejaVu Sans Mono"/>
                <a:ea typeface="DejaVu Sans Mono"/>
                <a:cs typeface="DejaVu Sans Mono"/>
              </a:defRPr>
            </a:pPr>
            <a:r>
              <a:rPr sz="1275" b="1">
                <a:solidFill>
                  <a:srgbClr val="62D6A7"/>
                </a:solidFill>
                <a:latin typeface="DejaVu Sans Mono"/>
                <a:ea typeface="DejaVu Sans Mono"/>
                <a:cs typeface="DejaVu Sans Mono"/>
              </a:rPr>
              <a:t>VERIFY  •  MANUFACTURE  •  OPERATE</a:t>
            </a:r>
          </a:p>
        </p:txBody>
      </p:sp>
      <p:sp>
        <p:nvSpPr>
          <p:cNvPr id="12" name="">
            <a:extLst xmlns:a="http://schemas.openxmlformats.org/drawingml/2006/main">
              <a:ext uri="{FF2B5EF4-FFF2-40B4-BE49-F238E27FC236}">
                <a16:creationId xmlns:a16="http://schemas.microsoft.com/office/drawing/2014/main" id="{2DB62700-3847-4D1A-852E-038EC1DFB09C}"/>
              </a:ext>
            </a:extLst>
          </p:cNvPr>
          <p:cNvSpPr>
            <a:spLocks xmlns:a="http://schemas.openxmlformats.org/drawingml/2006/main" noGrp="1"/>
          </p:cNvSpPr>
          <p:nvPr/>
        </p:nvSpPr>
        <p:spPr>
          <a:xfrm xmlns:a="http://schemas.openxmlformats.org/drawingml/2006/main">
            <a:off x="2952750" y="21526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975" b="1">
                <a:solidFill>
                  <a:srgbClr val="39D7FF"/>
                </a:solidFill>
                <a:latin typeface="DejaVu Sans Mono"/>
                <a:ea typeface="DejaVu Sans Mono"/>
                <a:cs typeface="DejaVu Sans Mono"/>
              </a:defRPr>
            </a:pPr>
            <a:r>
              <a:rPr sz="975" b="1">
                <a:solidFill>
                  <a:srgbClr val="39D7FF"/>
                </a:solidFill>
                <a:latin typeface="DejaVu Sans Mono"/>
                <a:ea typeface="DejaVu Sans Mono"/>
                <a:cs typeface="DejaVu Sans Mono"/>
              </a:rPr>
              <a:t>APPROVED EVIDENCE →</a:t>
            </a:r>
          </a:p>
        </p:txBody>
      </p:sp>
      <p:sp>
        <p:nvSpPr>
          <p:cNvPr id="13" name="">
            <a:extLst xmlns:a="http://schemas.openxmlformats.org/drawingml/2006/main">
              <a:ext uri="{FF2B5EF4-FFF2-40B4-BE49-F238E27FC236}">
                <a16:creationId xmlns:a16="http://schemas.microsoft.com/office/drawing/2014/main" id="{86C44AD7-BDE5-4894-B032-80555E35BF38}"/>
              </a:ext>
            </a:extLst>
          </p:cNvPr>
          <p:cNvSpPr>
            <a:spLocks xmlns:a="http://schemas.openxmlformats.org/drawingml/2006/main" noGrp="1"/>
          </p:cNvSpPr>
          <p:nvPr/>
        </p:nvSpPr>
        <p:spPr>
          <a:xfrm xmlns:a="http://schemas.openxmlformats.org/drawingml/2006/main">
            <a:off x="6553200" y="567690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975" b="1">
                <a:solidFill>
                  <a:srgbClr val="F26B38"/>
                </a:solidFill>
                <a:latin typeface="DejaVu Sans Mono"/>
                <a:ea typeface="DejaVu Sans Mono"/>
                <a:cs typeface="DejaVu Sans Mono"/>
              </a:defRPr>
            </a:pPr>
            <a:r>
              <a:rPr sz="975" b="1">
                <a:solidFill>
                  <a:srgbClr val="F26B38"/>
                </a:solidFill>
                <a:latin typeface="DejaVu Sans Mono"/>
                <a:ea typeface="DejaVu Sans Mono"/>
                <a:cs typeface="DejaVu Sans Mono"/>
              </a:rPr>
              <a:t>← RESEARCH REQUEST PACKAGE</a:t>
            </a:r>
          </a:p>
        </p:txBody>
      </p:sp>
      <p:sp>
        <p:nvSpPr>
          <p:cNvPr id="14" name="">
            <a:extLst xmlns:a="http://schemas.openxmlformats.org/drawingml/2006/main">
              <a:ext uri="{FF2B5EF4-FFF2-40B4-BE49-F238E27FC236}">
                <a16:creationId xmlns:a16="http://schemas.microsoft.com/office/drawing/2014/main" id="{EFE1900C-6644-468B-AB27-EB0A6FD50187}"/>
              </a:ext>
            </a:extLst>
          </p:cNvPr>
          <p:cNvSpPr>
            <a:spLocks xmlns:a="http://schemas.openxmlformats.org/drawingml/2006/main" noGrp="1"/>
          </p:cNvSpPr>
          <p:nvPr/>
        </p:nvSpPr>
        <p:spPr>
          <a:xfrm xmlns:a="http://schemas.openxmlformats.org/drawingml/2006/main">
            <a:off x="3752850" y="6019800"/>
            <a:ext cx="468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1350" b="1">
                <a:solidFill>
                  <a:srgbClr val="F4F6F8"/>
                </a:solidFill>
                <a:latin typeface="DejaVu Sans"/>
                <a:ea typeface="DejaVu Sans"/>
                <a:cs typeface="DejaVu Sans"/>
              </a:defRPr>
            </a:pPr>
            <a:r>
              <a:rPr sz="1350" b="1">
                <a:solidFill>
                  <a:srgbClr val="F4F6F8"/>
                </a:solidFill>
                <a:latin typeface="DejaVu Sans"/>
                <a:ea typeface="DejaVu Sans"/>
                <a:cs typeface="DejaVu Sans"/>
              </a:rPr>
              <a:t>Field and test evidence can reopen the science—or the design.</a:t>
            </a:r>
          </a:p>
        </p:txBody>
      </p:sp>
      <p:sp>
        <p:nvSpPr>
          <p:cNvPr id="15" name="">
            <a:extLst xmlns:a="http://schemas.openxmlformats.org/drawingml/2006/main">
              <a:ext uri="{FF2B5EF4-FFF2-40B4-BE49-F238E27FC236}">
                <a16:creationId xmlns:a16="http://schemas.microsoft.com/office/drawing/2014/main" id="{34D6999F-A22C-4405-9A67-3F8387B2BE3C}"/>
              </a:ext>
            </a:extLst>
          </p:cNvPr>
          <p:cNvSpPr>
            <a:spLocks xmlns:a="http://schemas.openxmlformats.org/drawingml/2006/main" noGrp="1"/>
          </p:cNvSpPr>
          <p:nvPr/>
        </p:nvSpPr>
        <p:spPr>
          <a:xfrm xmlns:a="http://schemas.openxmlformats.org/drawingml/2006/main">
            <a:off x="0" y="6400800"/>
            <a:ext cx="12192000" cy="457200"/>
          </a:xfrm>
          <a:prstGeom xmlns:a="http://schemas.openxmlformats.org/drawingml/2006/main" prst="rect">
            <a:avLst/>
          </a:prstGeom>
          <a:solidFill xmlns:a="http://schemas.openxmlformats.org/drawingml/2006/main">
            <a:srgbClr val="07090C">
              <a:alpha val="76000"/>
            </a:srgbClr>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3F87CE9-4DDE-494E-A604-59FF5DDA74E0}"/>
              </a:ext>
            </a:extLst>
          </p:cNvPr>
          <p:cNvSpPr>
            <a:spLocks xmlns:a="http://schemas.openxmlformats.org/drawingml/2006/main" noGrp="1"/>
          </p:cNvSpPr>
          <p:nvPr/>
        </p:nvSpPr>
        <p:spPr>
          <a:xfrm xmlns:a="http://schemas.openxmlformats.org/drawingml/2006/main">
            <a:off x="609600" y="6553200"/>
            <a:ext cx="6858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MARS SOCIETY 2026  •  HARNESSED AGENTIC SCIENCE + ENGINEERING</a:t>
            </a:r>
          </a:p>
        </p:txBody>
      </p:sp>
      <p:sp>
        <p:nvSpPr>
          <p:cNvPr id="17" name="">
            <a:extLst xmlns:a="http://schemas.openxmlformats.org/drawingml/2006/main">
              <a:ext uri="{FF2B5EF4-FFF2-40B4-BE49-F238E27FC236}">
                <a16:creationId xmlns:a16="http://schemas.microsoft.com/office/drawing/2014/main" id="{1E494963-105F-45B0-8E0C-CEC1B9B044B4}"/>
              </a:ext>
            </a:extLst>
          </p:cNvPr>
          <p:cNvSpPr>
            <a:spLocks xmlns:a="http://schemas.openxmlformats.org/drawingml/2006/main" noGrp="1"/>
          </p:cNvSpPr>
          <p:nvPr/>
        </p:nvSpPr>
        <p:spPr>
          <a:xfrm xmlns:a="http://schemas.openxmlformats.org/drawingml/2006/main">
            <a:off x="9525000" y="6553200"/>
            <a:ext cx="2057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BOB J MILLS     05</a:t>
            </a:r>
          </a:p>
        </p:txBody>
      </p:sp>
    </p:spTree>
    <p:extLst>
      <p:ext uri="{BB962C8B-B14F-4D97-AF65-F5344CB8AC3E}">
        <p14:creationId xmlns:p14="http://schemas.microsoft.com/office/powerpoint/2010/main" val="868838422"/>
      </p:ext>
    </p:extLst>
  </p:cSld>
</p:sld>
</file>

<file path=ppt/slides/slide6.xml><?xml version="1.0" encoding="utf-8"?>
<p:sld xmlns:p="http://schemas.openxmlformats.org/presentationml/2006/main">
  <p:cSld>
    <p:bg>
      <p:bgPr>
        <a:solidFill xmlns:a="http://schemas.openxmlformats.org/drawingml/2006/main">
          <a:srgbClr val="07090C"/>
        </a:solidFill>
      </p:bgPr>
    </p:bg>
    <p:spTree>
      <p:nvGrpSpPr>
        <p:cNvPr id="1" name=""/>
        <p:cNvGrpSpPr/>
        <p:nvPr/>
      </p:nvGrpSpPr>
      <p:grpSpPr>
        <a:xfrm xmlns:a="http://schemas.openxmlformats.org/drawingml/2006/main"/>
      </p:grpSpPr>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0e0ca74dff614e4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ADC8F3A-3860-448A-B7A5-4368C4E22B58}"/>
              </a:ext>
            </a:extLst>
          </p:cNvPr>
          <p:cNvSpPr>
            <a:spLocks xmlns:a="http://schemas.openxmlformats.org/drawingml/2006/main" noGrp="1"/>
          </p:cNvSpPr>
          <p:nvPr/>
        </p:nvSpPr>
        <p:spPr>
          <a:xfrm xmlns:a="http://schemas.openxmlformats.org/drawingml/2006/main">
            <a:off x="0" y="0"/>
            <a:ext cx="7239000" cy="6858000"/>
          </a:xfrm>
          <a:prstGeom xmlns:a="http://schemas.openxmlformats.org/drawingml/2006/main" prst="rect">
            <a:avLst/>
          </a:prstGeom>
          <a:gradFill xmlns:a="http://schemas.openxmlformats.org/drawingml/2006/main">
            <a:gsLst>
              <a:gs pos="0">
                <a:srgbClr val="07090C"/>
              </a:gs>
              <a:gs pos="68000">
                <a:srgbClr val="07090C">
                  <a:alpha val="98000"/>
                </a:srgbClr>
              </a:gs>
              <a:gs pos="100000">
                <a:srgbClr val="07090C">
                  <a:alpha val="0"/>
                </a:srgbClr>
              </a:gs>
            </a:gsLst>
            <a:lin ang="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A46B219-0EA7-43DB-A418-0F066D317280}"/>
              </a:ext>
            </a:extLst>
          </p:cNvPr>
          <p:cNvSpPr>
            <a:spLocks xmlns:a="http://schemas.openxmlformats.org/drawingml/2006/main" noGrp="1"/>
          </p:cNvSpPr>
          <p:nvPr/>
        </p:nvSpPr>
        <p:spPr>
          <a:xfrm xmlns:a="http://schemas.openxmlformats.org/drawingml/2006/main">
            <a:off x="609600" y="3429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975" b="1">
                <a:solidFill>
                  <a:srgbClr val="F26B38"/>
                </a:solidFill>
                <a:latin typeface="DejaVu Sans Mono"/>
                <a:ea typeface="DejaVu Sans Mono"/>
                <a:cs typeface="DejaVu Sans Mono"/>
              </a:defRPr>
            </a:pPr>
            <a:r>
              <a:rPr sz="975" b="1">
                <a:solidFill>
                  <a:srgbClr val="F26B38"/>
                </a:solidFill>
                <a:latin typeface="DejaVu Sans Mono"/>
                <a:ea typeface="DejaVu Sans Mono"/>
                <a:cs typeface="DejaVu Sans Mono"/>
              </a:rPr>
              <a:t>06  /  SCIENCE HARNESS</a:t>
            </a:r>
          </a:p>
        </p:txBody>
      </p:sp>
      <p:sp>
        <p:nvSpPr>
          <p:cNvPr id="4" name="">
            <a:extLst xmlns:a="http://schemas.openxmlformats.org/drawingml/2006/main">
              <a:ext uri="{FF2B5EF4-FFF2-40B4-BE49-F238E27FC236}">
                <a16:creationId xmlns:a16="http://schemas.microsoft.com/office/drawing/2014/main" id="{2231CB85-FDF0-43B5-86D2-B4C30CCB4D20}"/>
              </a:ext>
            </a:extLst>
          </p:cNvPr>
          <p:cNvSpPr>
            <a:spLocks xmlns:a="http://schemas.openxmlformats.org/drawingml/2006/main" noGrp="1"/>
          </p:cNvSpPr>
          <p:nvPr/>
        </p:nvSpPr>
        <p:spPr>
          <a:xfrm xmlns:a="http://schemas.openxmlformats.org/drawingml/2006/main">
            <a:off x="609600" y="704850"/>
            <a:ext cx="685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2000"/>
              </a:lnSpc>
              <a:buNone/>
              <a:defRPr sz="3000" b="1">
                <a:solidFill>
                  <a:srgbClr val="F4F6F8"/>
                </a:solidFill>
                <a:latin typeface="DejaVu Sans"/>
                <a:ea typeface="DejaVu Sans"/>
                <a:cs typeface="DejaVu Sans"/>
              </a:defRPr>
            </a:pPr>
            <a:r>
              <a:rPr sz="3000" b="1">
                <a:solidFill>
                  <a:srgbClr val="F4F6F8"/>
                </a:solidFill>
                <a:latin typeface="DejaVu Sans"/>
                <a:ea typeface="DejaVu Sans"/>
                <a:cs typeface="DejaVu Sans"/>
              </a:rPr>
              <a:t>Hypatia turns curiosity into defensible science</a:t>
            </a:r>
          </a:p>
        </p:txBody>
      </p:sp>
      <p:sp>
        <p:nvSpPr>
          <p:cNvPr id="5" name="">
            <a:extLst xmlns:a="http://schemas.openxmlformats.org/drawingml/2006/main">
              <a:ext uri="{FF2B5EF4-FFF2-40B4-BE49-F238E27FC236}">
                <a16:creationId xmlns:a16="http://schemas.microsoft.com/office/drawing/2014/main" id="{FB2ADB63-C9AA-466A-89F2-8048865D2C4F}"/>
              </a:ext>
            </a:extLst>
          </p:cNvPr>
          <p:cNvSpPr>
            <a:spLocks xmlns:a="http://schemas.openxmlformats.org/drawingml/2006/main" noGrp="1"/>
          </p:cNvSpPr>
          <p:nvPr/>
        </p:nvSpPr>
        <p:spPr>
          <a:xfrm xmlns:a="http://schemas.openxmlformats.org/drawingml/2006/main">
            <a:off x="628650" y="161925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500" b="0">
                <a:solidFill>
                  <a:srgbClr val="D8DEE3"/>
                </a:solidFill>
                <a:latin typeface="DejaVu Sans"/>
                <a:ea typeface="DejaVu Sans"/>
                <a:cs typeface="DejaVu Sans"/>
              </a:defRPr>
            </a:pPr>
            <a:r>
              <a:rPr sz="1500" b="0">
                <a:solidFill>
                  <a:srgbClr val="D8DEE3"/>
                </a:solidFill>
                <a:latin typeface="DejaVu Sans"/>
                <a:ea typeface="DejaVu Sans"/>
                <a:cs typeface="DejaVu Sans"/>
              </a:rPr>
              <a:t>Falsifiable questions. Explicit variables. Classified evidence. Adversarial attack.</a:t>
            </a:r>
          </a:p>
        </p:txBody>
      </p:sp>
      <p:sp>
        <p:nvSpPr>
          <p:cNvPr id="6" name="">
            <a:extLst xmlns:a="http://schemas.openxmlformats.org/drawingml/2006/main">
              <a:ext uri="{FF2B5EF4-FFF2-40B4-BE49-F238E27FC236}">
                <a16:creationId xmlns:a16="http://schemas.microsoft.com/office/drawing/2014/main" id="{F411F1A7-65F2-4F26-9E03-E987112065F4}"/>
              </a:ext>
            </a:extLst>
          </p:cNvPr>
          <p:cNvSpPr>
            <a:spLocks xmlns:a="http://schemas.openxmlformats.org/drawingml/2006/main" noGrp="1"/>
          </p:cNvSpPr>
          <p:nvPr/>
        </p:nvSpPr>
        <p:spPr>
          <a:xfrm xmlns:a="http://schemas.openxmlformats.org/drawingml/2006/main">
            <a:off x="933450" y="2476500"/>
            <a:ext cx="38100" cy="2724150"/>
          </a:xfrm>
          <a:prstGeom xmlns:a="http://schemas.openxmlformats.org/drawingml/2006/main" prst="rect">
            <a:avLst/>
          </a:prstGeom>
          <a:solidFill xmlns:a="http://schemas.openxmlformats.org/drawingml/2006/main">
            <a:srgbClr val="35414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98AB3D8-F0DC-4DD6-AE0A-174EF5527254}"/>
              </a:ext>
            </a:extLst>
          </p:cNvPr>
          <p:cNvSpPr>
            <a:spLocks xmlns:a="http://schemas.openxmlformats.org/drawingml/2006/main" noGrp="1"/>
          </p:cNvSpPr>
          <p:nvPr/>
        </p:nvSpPr>
        <p:spPr>
          <a:xfrm xmlns:a="http://schemas.openxmlformats.org/drawingml/2006/main">
            <a:off x="876300" y="2447925"/>
            <a:ext cx="152400" cy="152400"/>
          </a:xfrm>
          <a:prstGeom xmlns:a="http://schemas.openxmlformats.org/drawingml/2006/main" prst="ellipse">
            <a:avLst/>
          </a:prstGeom>
          <a:solidFill xmlns:a="http://schemas.openxmlformats.org/drawingml/2006/main">
            <a:srgbClr val="39D7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258CC81-D9C7-489C-993C-783314797513}"/>
              </a:ext>
            </a:extLst>
          </p:cNvPr>
          <p:cNvSpPr>
            <a:spLocks xmlns:a="http://schemas.openxmlformats.org/drawingml/2006/main" noGrp="1"/>
          </p:cNvSpPr>
          <p:nvPr/>
        </p:nvSpPr>
        <p:spPr>
          <a:xfrm xmlns:a="http://schemas.openxmlformats.org/drawingml/2006/main">
            <a:off x="1219200" y="2343150"/>
            <a:ext cx="1390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125" b="1">
                <a:solidFill>
                  <a:srgbClr val="39D7FF"/>
                </a:solidFill>
                <a:latin typeface="DejaVu Sans Mono"/>
                <a:ea typeface="DejaVu Sans Mono"/>
                <a:cs typeface="DejaVu Sans Mono"/>
              </a:defRPr>
            </a:pPr>
            <a:r>
              <a:rPr sz="1125" b="1">
                <a:solidFill>
                  <a:srgbClr val="39D7FF"/>
                </a:solidFill>
                <a:latin typeface="DejaVu Sans Mono"/>
                <a:ea typeface="DejaVu Sans Mono"/>
                <a:cs typeface="DejaVu Sans Mono"/>
              </a:rPr>
              <a:t>REFINE</a:t>
            </a:r>
          </a:p>
        </p:txBody>
      </p:sp>
      <p:sp>
        <p:nvSpPr>
          <p:cNvPr id="9" name="">
            <a:extLst xmlns:a="http://schemas.openxmlformats.org/drawingml/2006/main">
              <a:ext uri="{FF2B5EF4-FFF2-40B4-BE49-F238E27FC236}">
                <a16:creationId xmlns:a16="http://schemas.microsoft.com/office/drawing/2014/main" id="{AC5D0877-D818-451C-9257-6497BBA09BD0}"/>
              </a:ext>
            </a:extLst>
          </p:cNvPr>
          <p:cNvSpPr>
            <a:spLocks xmlns:a="http://schemas.openxmlformats.org/drawingml/2006/main" noGrp="1"/>
          </p:cNvSpPr>
          <p:nvPr/>
        </p:nvSpPr>
        <p:spPr>
          <a:xfrm xmlns:a="http://schemas.openxmlformats.org/drawingml/2006/main">
            <a:off x="2609850" y="2343150"/>
            <a:ext cx="2724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275" b="0">
                <a:solidFill>
                  <a:srgbClr val="D8DEE3"/>
                </a:solidFill>
                <a:latin typeface="DejaVu Sans"/>
                <a:ea typeface="DejaVu Sans"/>
                <a:cs typeface="DejaVu Sans"/>
              </a:defRPr>
            </a:pPr>
            <a:r>
              <a:rPr sz="1275" b="0">
                <a:solidFill>
                  <a:srgbClr val="D8DEE3"/>
                </a:solidFill>
                <a:latin typeface="DejaVu Sans"/>
                <a:ea typeface="DejaVu Sans"/>
                <a:cs typeface="DejaVu Sans"/>
              </a:rPr>
              <a:t>research question</a:t>
            </a:r>
          </a:p>
        </p:txBody>
      </p:sp>
      <p:sp>
        <p:nvSpPr>
          <p:cNvPr id="10" name="">
            <a:extLst xmlns:a="http://schemas.openxmlformats.org/drawingml/2006/main">
              <a:ext uri="{FF2B5EF4-FFF2-40B4-BE49-F238E27FC236}">
                <a16:creationId xmlns:a16="http://schemas.microsoft.com/office/drawing/2014/main" id="{D8C8BB3E-5D6A-4DC8-B4A3-E75ADA725DF4}"/>
              </a:ext>
            </a:extLst>
          </p:cNvPr>
          <p:cNvSpPr>
            <a:spLocks xmlns:a="http://schemas.openxmlformats.org/drawingml/2006/main" noGrp="1"/>
          </p:cNvSpPr>
          <p:nvPr/>
        </p:nvSpPr>
        <p:spPr>
          <a:xfrm xmlns:a="http://schemas.openxmlformats.org/drawingml/2006/main">
            <a:off x="876300" y="2943225"/>
            <a:ext cx="152400" cy="152400"/>
          </a:xfrm>
          <a:prstGeom xmlns:a="http://schemas.openxmlformats.org/drawingml/2006/main" prst="ellipse">
            <a:avLst/>
          </a:prstGeom>
          <a:solidFill xmlns:a="http://schemas.openxmlformats.org/drawingml/2006/main">
            <a:srgbClr val="39D7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2E3C931-FFE5-45E7-A4A8-555813555B31}"/>
              </a:ext>
            </a:extLst>
          </p:cNvPr>
          <p:cNvSpPr>
            <a:spLocks xmlns:a="http://schemas.openxmlformats.org/drawingml/2006/main" noGrp="1"/>
          </p:cNvSpPr>
          <p:nvPr/>
        </p:nvSpPr>
        <p:spPr>
          <a:xfrm xmlns:a="http://schemas.openxmlformats.org/drawingml/2006/main">
            <a:off x="1219200" y="2838450"/>
            <a:ext cx="1390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125" b="1">
                <a:solidFill>
                  <a:srgbClr val="39D7FF"/>
                </a:solidFill>
                <a:latin typeface="DejaVu Sans Mono"/>
                <a:ea typeface="DejaVu Sans Mono"/>
                <a:cs typeface="DejaVu Sans Mono"/>
              </a:defRPr>
            </a:pPr>
            <a:r>
              <a:rPr sz="1125" b="1">
                <a:solidFill>
                  <a:srgbClr val="39D7FF"/>
                </a:solidFill>
                <a:latin typeface="DejaVu Sans Mono"/>
                <a:ea typeface="DejaVu Sans Mono"/>
                <a:cs typeface="DejaVu Sans Mono"/>
              </a:rPr>
              <a:t>GROUND</a:t>
            </a:r>
          </a:p>
        </p:txBody>
      </p:sp>
      <p:sp>
        <p:nvSpPr>
          <p:cNvPr id="12" name="">
            <a:extLst xmlns:a="http://schemas.openxmlformats.org/drawingml/2006/main">
              <a:ext uri="{FF2B5EF4-FFF2-40B4-BE49-F238E27FC236}">
                <a16:creationId xmlns:a16="http://schemas.microsoft.com/office/drawing/2014/main" id="{A2747B49-7A5A-499D-8D0E-D416FA6FD39C}"/>
              </a:ext>
            </a:extLst>
          </p:cNvPr>
          <p:cNvSpPr>
            <a:spLocks xmlns:a="http://schemas.openxmlformats.org/drawingml/2006/main" noGrp="1"/>
          </p:cNvSpPr>
          <p:nvPr/>
        </p:nvSpPr>
        <p:spPr>
          <a:xfrm xmlns:a="http://schemas.openxmlformats.org/drawingml/2006/main">
            <a:off x="2609850" y="2838450"/>
            <a:ext cx="2724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275" b="0">
                <a:solidFill>
                  <a:srgbClr val="D8DEE3"/>
                </a:solidFill>
                <a:latin typeface="DejaVu Sans"/>
                <a:ea typeface="DejaVu Sans"/>
                <a:cs typeface="DejaVu Sans"/>
              </a:defRPr>
            </a:pPr>
            <a:r>
              <a:rPr sz="1275" b="0">
                <a:solidFill>
                  <a:srgbClr val="D8DEE3"/>
                </a:solidFill>
                <a:latin typeface="DejaVu Sans"/>
                <a:ea typeface="DejaVu Sans"/>
                <a:cs typeface="DejaVu Sans"/>
              </a:rPr>
              <a:t>literature + data</a:t>
            </a:r>
          </a:p>
        </p:txBody>
      </p:sp>
      <p:sp>
        <p:nvSpPr>
          <p:cNvPr id="13" name="">
            <a:extLst xmlns:a="http://schemas.openxmlformats.org/drawingml/2006/main">
              <a:ext uri="{FF2B5EF4-FFF2-40B4-BE49-F238E27FC236}">
                <a16:creationId xmlns:a16="http://schemas.microsoft.com/office/drawing/2014/main" id="{CCDE3F0B-19B2-4563-8016-F90EA21371B7}"/>
              </a:ext>
            </a:extLst>
          </p:cNvPr>
          <p:cNvSpPr>
            <a:spLocks xmlns:a="http://schemas.openxmlformats.org/drawingml/2006/main" noGrp="1"/>
          </p:cNvSpPr>
          <p:nvPr/>
        </p:nvSpPr>
        <p:spPr>
          <a:xfrm xmlns:a="http://schemas.openxmlformats.org/drawingml/2006/main">
            <a:off x="876300" y="3438525"/>
            <a:ext cx="152400" cy="152400"/>
          </a:xfrm>
          <a:prstGeom xmlns:a="http://schemas.openxmlformats.org/drawingml/2006/main" prst="ellipse">
            <a:avLst/>
          </a:prstGeom>
          <a:solidFill xmlns:a="http://schemas.openxmlformats.org/drawingml/2006/main">
            <a:srgbClr val="F26B3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958A271-1B70-4CB6-8583-70076FC8DE4D}"/>
              </a:ext>
            </a:extLst>
          </p:cNvPr>
          <p:cNvSpPr>
            <a:spLocks xmlns:a="http://schemas.openxmlformats.org/drawingml/2006/main" noGrp="1"/>
          </p:cNvSpPr>
          <p:nvPr/>
        </p:nvSpPr>
        <p:spPr>
          <a:xfrm xmlns:a="http://schemas.openxmlformats.org/drawingml/2006/main">
            <a:off x="1219200" y="3333750"/>
            <a:ext cx="1390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125" b="1">
                <a:solidFill>
                  <a:srgbClr val="F26B38"/>
                </a:solidFill>
                <a:latin typeface="DejaVu Sans Mono"/>
                <a:ea typeface="DejaVu Sans Mono"/>
                <a:cs typeface="DejaVu Sans Mono"/>
              </a:defRPr>
            </a:pPr>
            <a:r>
              <a:rPr sz="1125" b="1">
                <a:solidFill>
                  <a:srgbClr val="F26B38"/>
                </a:solidFill>
                <a:latin typeface="DejaVu Sans Mono"/>
                <a:ea typeface="DejaVu Sans Mono"/>
                <a:cs typeface="DejaVu Sans Mono"/>
              </a:rPr>
              <a:t>PREDICT</a:t>
            </a:r>
          </a:p>
        </p:txBody>
      </p:sp>
      <p:sp>
        <p:nvSpPr>
          <p:cNvPr id="15" name="">
            <a:extLst xmlns:a="http://schemas.openxmlformats.org/drawingml/2006/main">
              <a:ext uri="{FF2B5EF4-FFF2-40B4-BE49-F238E27FC236}">
                <a16:creationId xmlns:a16="http://schemas.microsoft.com/office/drawing/2014/main" id="{C0BE2987-1972-461D-8535-F83545831AF6}"/>
              </a:ext>
            </a:extLst>
          </p:cNvPr>
          <p:cNvSpPr>
            <a:spLocks xmlns:a="http://schemas.openxmlformats.org/drawingml/2006/main" noGrp="1"/>
          </p:cNvSpPr>
          <p:nvPr/>
        </p:nvSpPr>
        <p:spPr>
          <a:xfrm xmlns:a="http://schemas.openxmlformats.org/drawingml/2006/main">
            <a:off x="2609850" y="3333750"/>
            <a:ext cx="2724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275" b="0">
                <a:solidFill>
                  <a:srgbClr val="D8DEE3"/>
                </a:solidFill>
                <a:latin typeface="DejaVu Sans"/>
                <a:ea typeface="DejaVu Sans"/>
                <a:cs typeface="DejaVu Sans"/>
              </a:defRPr>
            </a:pPr>
            <a:r>
              <a:rPr sz="1275" b="0">
                <a:solidFill>
                  <a:srgbClr val="D8DEE3"/>
                </a:solidFill>
                <a:latin typeface="DejaVu Sans"/>
                <a:ea typeface="DejaVu Sans"/>
                <a:cs typeface="DejaVu Sans"/>
              </a:rPr>
              <a:t>competing hypotheses</a:t>
            </a:r>
          </a:p>
        </p:txBody>
      </p:sp>
      <p:sp>
        <p:nvSpPr>
          <p:cNvPr id="16" name="">
            <a:extLst xmlns:a="http://schemas.openxmlformats.org/drawingml/2006/main">
              <a:ext uri="{FF2B5EF4-FFF2-40B4-BE49-F238E27FC236}">
                <a16:creationId xmlns:a16="http://schemas.microsoft.com/office/drawing/2014/main" id="{2D8B2E96-FFE3-4A2B-8F89-4AD0230B855A}"/>
              </a:ext>
            </a:extLst>
          </p:cNvPr>
          <p:cNvSpPr>
            <a:spLocks xmlns:a="http://schemas.openxmlformats.org/drawingml/2006/main" noGrp="1"/>
          </p:cNvSpPr>
          <p:nvPr/>
        </p:nvSpPr>
        <p:spPr>
          <a:xfrm xmlns:a="http://schemas.openxmlformats.org/drawingml/2006/main">
            <a:off x="876300" y="3933825"/>
            <a:ext cx="152400" cy="152400"/>
          </a:xfrm>
          <a:prstGeom xmlns:a="http://schemas.openxmlformats.org/drawingml/2006/main" prst="ellipse">
            <a:avLst/>
          </a:prstGeom>
          <a:solidFill xmlns:a="http://schemas.openxmlformats.org/drawingml/2006/main">
            <a:srgbClr val="62D6A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A63533E-24F2-4594-A60E-2686B9636FF3}"/>
              </a:ext>
            </a:extLst>
          </p:cNvPr>
          <p:cNvSpPr>
            <a:spLocks xmlns:a="http://schemas.openxmlformats.org/drawingml/2006/main" noGrp="1"/>
          </p:cNvSpPr>
          <p:nvPr/>
        </p:nvSpPr>
        <p:spPr>
          <a:xfrm xmlns:a="http://schemas.openxmlformats.org/drawingml/2006/main">
            <a:off x="1219200" y="3829050"/>
            <a:ext cx="1390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125" b="1">
                <a:solidFill>
                  <a:srgbClr val="62D6A7"/>
                </a:solidFill>
                <a:latin typeface="DejaVu Sans Mono"/>
                <a:ea typeface="DejaVu Sans Mono"/>
                <a:cs typeface="DejaVu Sans Mono"/>
              </a:defRPr>
            </a:pPr>
            <a:r>
              <a:rPr sz="1125" b="1">
                <a:solidFill>
                  <a:srgbClr val="62D6A7"/>
                </a:solidFill>
                <a:latin typeface="DejaVu Sans Mono"/>
                <a:ea typeface="DejaVu Sans Mono"/>
                <a:cs typeface="DejaVu Sans Mono"/>
              </a:rPr>
              <a:t>MEASURE</a:t>
            </a:r>
          </a:p>
        </p:txBody>
      </p:sp>
      <p:sp>
        <p:nvSpPr>
          <p:cNvPr id="18" name="">
            <a:extLst xmlns:a="http://schemas.openxmlformats.org/drawingml/2006/main">
              <a:ext uri="{FF2B5EF4-FFF2-40B4-BE49-F238E27FC236}">
                <a16:creationId xmlns:a16="http://schemas.microsoft.com/office/drawing/2014/main" id="{A6740FFA-DE32-42A7-9826-CEB8CC6CF840}"/>
              </a:ext>
            </a:extLst>
          </p:cNvPr>
          <p:cNvSpPr>
            <a:spLocks xmlns:a="http://schemas.openxmlformats.org/drawingml/2006/main" noGrp="1"/>
          </p:cNvSpPr>
          <p:nvPr/>
        </p:nvSpPr>
        <p:spPr>
          <a:xfrm xmlns:a="http://schemas.openxmlformats.org/drawingml/2006/main">
            <a:off x="2609850" y="3829050"/>
            <a:ext cx="2724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275" b="0">
                <a:solidFill>
                  <a:srgbClr val="D8DEE3"/>
                </a:solidFill>
                <a:latin typeface="DejaVu Sans"/>
                <a:ea typeface="DejaVu Sans"/>
                <a:cs typeface="DejaVu Sans"/>
              </a:defRPr>
            </a:pPr>
            <a:r>
              <a:rPr sz="1275" b="0">
                <a:solidFill>
                  <a:srgbClr val="D8DEE3"/>
                </a:solidFill>
                <a:latin typeface="DejaVu Sans"/>
                <a:ea typeface="DejaVu Sans"/>
                <a:cs typeface="DejaVu Sans"/>
              </a:rPr>
              <a:t>experiment / simulation</a:t>
            </a:r>
          </a:p>
        </p:txBody>
      </p:sp>
      <p:sp>
        <p:nvSpPr>
          <p:cNvPr id="19" name="">
            <a:extLst xmlns:a="http://schemas.openxmlformats.org/drawingml/2006/main">
              <a:ext uri="{FF2B5EF4-FFF2-40B4-BE49-F238E27FC236}">
                <a16:creationId xmlns:a16="http://schemas.microsoft.com/office/drawing/2014/main" id="{692F3FDC-908E-421B-AE65-A9A7D8B6D1F5}"/>
              </a:ext>
            </a:extLst>
          </p:cNvPr>
          <p:cNvSpPr>
            <a:spLocks xmlns:a="http://schemas.openxmlformats.org/drawingml/2006/main" noGrp="1"/>
          </p:cNvSpPr>
          <p:nvPr/>
        </p:nvSpPr>
        <p:spPr>
          <a:xfrm xmlns:a="http://schemas.openxmlformats.org/drawingml/2006/main">
            <a:off x="876300" y="4429125"/>
            <a:ext cx="152400" cy="152400"/>
          </a:xfrm>
          <a:prstGeom xmlns:a="http://schemas.openxmlformats.org/drawingml/2006/main" prst="ellipse">
            <a:avLst/>
          </a:prstGeom>
          <a:solidFill xmlns:a="http://schemas.openxmlformats.org/drawingml/2006/main">
            <a:srgbClr val="FF6262"/>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BEE2D12-40B4-4CD8-87C4-85FC602C734D}"/>
              </a:ext>
            </a:extLst>
          </p:cNvPr>
          <p:cNvSpPr>
            <a:spLocks xmlns:a="http://schemas.openxmlformats.org/drawingml/2006/main" noGrp="1"/>
          </p:cNvSpPr>
          <p:nvPr/>
        </p:nvSpPr>
        <p:spPr>
          <a:xfrm xmlns:a="http://schemas.openxmlformats.org/drawingml/2006/main">
            <a:off x="1219200" y="4324350"/>
            <a:ext cx="1390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125" b="1">
                <a:solidFill>
                  <a:srgbClr val="FF6262"/>
                </a:solidFill>
                <a:latin typeface="DejaVu Sans Mono"/>
                <a:ea typeface="DejaVu Sans Mono"/>
                <a:cs typeface="DejaVu Sans Mono"/>
              </a:defRPr>
            </a:pPr>
            <a:r>
              <a:rPr sz="1125" b="1">
                <a:solidFill>
                  <a:srgbClr val="FF6262"/>
                </a:solidFill>
                <a:latin typeface="DejaVu Sans Mono"/>
                <a:ea typeface="DejaVu Sans Mono"/>
                <a:cs typeface="DejaVu Sans Mono"/>
              </a:rPr>
              <a:t>ATTACK</a:t>
            </a:r>
          </a:p>
        </p:txBody>
      </p:sp>
      <p:sp>
        <p:nvSpPr>
          <p:cNvPr id="21" name="">
            <a:extLst xmlns:a="http://schemas.openxmlformats.org/drawingml/2006/main">
              <a:ext uri="{FF2B5EF4-FFF2-40B4-BE49-F238E27FC236}">
                <a16:creationId xmlns:a16="http://schemas.microsoft.com/office/drawing/2014/main" id="{79FD60EE-BB1C-4993-8E41-A46EC274CE93}"/>
              </a:ext>
            </a:extLst>
          </p:cNvPr>
          <p:cNvSpPr>
            <a:spLocks xmlns:a="http://schemas.openxmlformats.org/drawingml/2006/main" noGrp="1"/>
          </p:cNvSpPr>
          <p:nvPr/>
        </p:nvSpPr>
        <p:spPr>
          <a:xfrm xmlns:a="http://schemas.openxmlformats.org/drawingml/2006/main">
            <a:off x="2609850" y="4324350"/>
            <a:ext cx="2724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275" b="0">
                <a:solidFill>
                  <a:srgbClr val="D8DEE3"/>
                </a:solidFill>
                <a:latin typeface="DejaVu Sans"/>
                <a:ea typeface="DejaVu Sans"/>
                <a:cs typeface="DejaVu Sans"/>
              </a:defRPr>
            </a:pPr>
            <a:r>
              <a:rPr sz="1275" b="0">
                <a:solidFill>
                  <a:srgbClr val="D8DEE3"/>
                </a:solidFill>
                <a:latin typeface="DejaVu Sans"/>
                <a:ea typeface="DejaVu Sans"/>
                <a:cs typeface="DejaVu Sans"/>
              </a:rPr>
              <a:t>peer critique + refutation</a:t>
            </a:r>
          </a:p>
        </p:txBody>
      </p:sp>
      <p:sp>
        <p:nvSpPr>
          <p:cNvPr id="22" name="">
            <a:extLst xmlns:a="http://schemas.openxmlformats.org/drawingml/2006/main">
              <a:ext uri="{FF2B5EF4-FFF2-40B4-BE49-F238E27FC236}">
                <a16:creationId xmlns:a16="http://schemas.microsoft.com/office/drawing/2014/main" id="{E31875CD-B89C-4A78-84E5-E929A29BEC6A}"/>
              </a:ext>
            </a:extLst>
          </p:cNvPr>
          <p:cNvSpPr>
            <a:spLocks xmlns:a="http://schemas.openxmlformats.org/drawingml/2006/main" noGrp="1"/>
          </p:cNvSpPr>
          <p:nvPr/>
        </p:nvSpPr>
        <p:spPr>
          <a:xfrm xmlns:a="http://schemas.openxmlformats.org/drawingml/2006/main">
            <a:off x="876300" y="4924425"/>
            <a:ext cx="152400" cy="152400"/>
          </a:xfrm>
          <a:prstGeom xmlns:a="http://schemas.openxmlformats.org/drawingml/2006/main" prst="ellipse">
            <a:avLst/>
          </a:prstGeom>
          <a:solidFill xmlns:a="http://schemas.openxmlformats.org/drawingml/2006/main">
            <a:srgbClr val="FFC85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825B255-9DBB-4087-AD62-B9CD0034D13C}"/>
              </a:ext>
            </a:extLst>
          </p:cNvPr>
          <p:cNvSpPr>
            <a:spLocks xmlns:a="http://schemas.openxmlformats.org/drawingml/2006/main" noGrp="1"/>
          </p:cNvSpPr>
          <p:nvPr/>
        </p:nvSpPr>
        <p:spPr>
          <a:xfrm xmlns:a="http://schemas.openxmlformats.org/drawingml/2006/main">
            <a:off x="1219200" y="4819650"/>
            <a:ext cx="1390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125" b="1">
                <a:solidFill>
                  <a:srgbClr val="FFC857"/>
                </a:solidFill>
                <a:latin typeface="DejaVu Sans Mono"/>
                <a:ea typeface="DejaVu Sans Mono"/>
                <a:cs typeface="DejaVu Sans Mono"/>
              </a:defRPr>
            </a:pPr>
            <a:r>
              <a:rPr sz="1125" b="1">
                <a:solidFill>
                  <a:srgbClr val="FFC857"/>
                </a:solidFill>
                <a:latin typeface="DejaVu Sans Mono"/>
                <a:ea typeface="DejaVu Sans Mono"/>
                <a:cs typeface="DejaVu Sans Mono"/>
              </a:rPr>
              <a:t>SYNTHESIZE</a:t>
            </a:r>
          </a:p>
        </p:txBody>
      </p:sp>
      <p:sp>
        <p:nvSpPr>
          <p:cNvPr id="24" name="">
            <a:extLst xmlns:a="http://schemas.openxmlformats.org/drawingml/2006/main">
              <a:ext uri="{FF2B5EF4-FFF2-40B4-BE49-F238E27FC236}">
                <a16:creationId xmlns:a16="http://schemas.microsoft.com/office/drawing/2014/main" id="{884DD1B4-949A-4DAC-B60E-2AC84E5095F7}"/>
              </a:ext>
            </a:extLst>
          </p:cNvPr>
          <p:cNvSpPr>
            <a:spLocks xmlns:a="http://schemas.openxmlformats.org/drawingml/2006/main" noGrp="1"/>
          </p:cNvSpPr>
          <p:nvPr/>
        </p:nvSpPr>
        <p:spPr>
          <a:xfrm xmlns:a="http://schemas.openxmlformats.org/drawingml/2006/main">
            <a:off x="2609850" y="4819650"/>
            <a:ext cx="2724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275" b="0">
                <a:solidFill>
                  <a:srgbClr val="D8DEE3"/>
                </a:solidFill>
                <a:latin typeface="DejaVu Sans"/>
                <a:ea typeface="DejaVu Sans"/>
                <a:cs typeface="DejaVu Sans"/>
              </a:defRPr>
            </a:pPr>
            <a:r>
              <a:rPr sz="1275" b="0">
                <a:solidFill>
                  <a:srgbClr val="D8DEE3"/>
                </a:solidFill>
                <a:latin typeface="DejaVu Sans"/>
                <a:ea typeface="DejaVu Sans"/>
                <a:cs typeface="DejaVu Sans"/>
              </a:rPr>
              <a:t>approved result</a:t>
            </a:r>
          </a:p>
        </p:txBody>
      </p:sp>
      <p:sp>
        <p:nvSpPr>
          <p:cNvPr id="25" name="">
            <a:extLst xmlns:a="http://schemas.openxmlformats.org/drawingml/2006/main">
              <a:ext uri="{FF2B5EF4-FFF2-40B4-BE49-F238E27FC236}">
                <a16:creationId xmlns:a16="http://schemas.microsoft.com/office/drawing/2014/main" id="{440EC55B-C0C7-4159-B04C-829EE21FFA3A}"/>
              </a:ext>
            </a:extLst>
          </p:cNvPr>
          <p:cNvSpPr>
            <a:spLocks xmlns:a="http://schemas.openxmlformats.org/drawingml/2006/main" noGrp="1"/>
          </p:cNvSpPr>
          <p:nvPr/>
        </p:nvSpPr>
        <p:spPr>
          <a:xfrm xmlns:a="http://schemas.openxmlformats.org/drawingml/2006/main">
            <a:off x="3695700" y="4591050"/>
            <a:ext cx="2419350" cy="1143000"/>
          </a:xfrm>
          <a:prstGeom xmlns:a="http://schemas.openxmlformats.org/drawingml/2006/main" prst="ellipse">
            <a:avLst/>
          </a:prstGeom>
          <a:solidFill xmlns:a="http://schemas.openxmlformats.org/drawingml/2006/main">
            <a:srgbClr val="0B1217">
              <a:alpha val="92000"/>
            </a:srgbClr>
          </a:solidFill>
          <a:ln xmlns:a="http://schemas.openxmlformats.org/drawingml/2006/main" w="14288">
            <a:solidFill>
              <a:srgbClr val="39D7FF"/>
            </a:solidFill>
            <a:prstDash val="solid"/>
          </a:ln>
        </p:spPr>
      </p:sp>
      <p:sp>
        <p:nvSpPr>
          <p:cNvPr id="26" name="">
            <a:extLst xmlns:a="http://schemas.openxmlformats.org/drawingml/2006/main">
              <a:ext uri="{FF2B5EF4-FFF2-40B4-BE49-F238E27FC236}">
                <a16:creationId xmlns:a16="http://schemas.microsoft.com/office/drawing/2014/main" id="{B5F75215-E3DD-4C7D-A187-71A2BDD84570}"/>
              </a:ext>
            </a:extLst>
          </p:cNvPr>
          <p:cNvSpPr>
            <a:spLocks xmlns:a="http://schemas.openxmlformats.org/drawingml/2006/main" noGrp="1"/>
          </p:cNvSpPr>
          <p:nvPr/>
        </p:nvSpPr>
        <p:spPr>
          <a:xfrm xmlns:a="http://schemas.openxmlformats.org/drawingml/2006/main">
            <a:off x="3905250" y="4838700"/>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5000"/>
              </a:lnSpc>
              <a:buNone/>
              <a:defRPr sz="1050" b="1">
                <a:solidFill>
                  <a:srgbClr val="39D7FF"/>
                </a:solidFill>
                <a:latin typeface="DejaVu Sans Mono"/>
                <a:ea typeface="DejaVu Sans Mono"/>
                <a:cs typeface="DejaVu Sans Mono"/>
              </a:defRPr>
            </a:pPr>
            <a:r>
              <a:rPr sz="1050" b="1">
                <a:solidFill>
                  <a:srgbClr val="39D7FF"/>
                </a:solidFill>
                <a:latin typeface="DejaVu Sans Mono"/>
                <a:ea typeface="DejaVu Sans Mono"/>
                <a:cs typeface="DejaVu Sans Mono"/>
              </a:rPr>
              <a:t>GENERATE  →  VALIDATE  →  CRITIQUE</a:t>
            </a:r>
          </a:p>
          <a:p xmlns:a="http://schemas.openxmlformats.org/drawingml/2006/main">
            <a:pPr algn="ctr">
              <a:lnSpc>
                <a:spcPct val="115000"/>
              </a:lnSpc>
              <a:buNone/>
              <a:defRPr sz="1050" b="1">
                <a:solidFill>
                  <a:srgbClr val="39D7FF"/>
                </a:solidFill>
                <a:latin typeface="DejaVu Sans Mono"/>
                <a:ea typeface="DejaVu Sans Mono"/>
                <a:cs typeface="DejaVu Sans Mono"/>
              </a:defRPr>
            </a:pPr>
            <a:r>
              <a:rPr sz="1050" b="1">
                <a:solidFill>
                  <a:srgbClr val="39D7FF"/>
                </a:solidFill>
                <a:latin typeface="DejaVu Sans Mono"/>
                <a:ea typeface="DejaVu Sans Mono"/>
                <a:cs typeface="DejaVu Sans Mono"/>
              </a:rPr>
              <a:t>REPAIR  →  APPROVE  →  PERSIST</a:t>
            </a:r>
          </a:p>
        </p:txBody>
      </p:sp>
      <p:sp>
        <p:nvSpPr>
          <p:cNvPr id="27" name="">
            <a:extLst xmlns:a="http://schemas.openxmlformats.org/drawingml/2006/main">
              <a:ext uri="{FF2B5EF4-FFF2-40B4-BE49-F238E27FC236}">
                <a16:creationId xmlns:a16="http://schemas.microsoft.com/office/drawing/2014/main" id="{5B1CDFFB-D926-4C11-A671-BE058D1A4F32}"/>
              </a:ext>
            </a:extLst>
          </p:cNvPr>
          <p:cNvSpPr>
            <a:spLocks xmlns:a="http://schemas.openxmlformats.org/drawingml/2006/main" noGrp="1"/>
          </p:cNvSpPr>
          <p:nvPr/>
        </p:nvSpPr>
        <p:spPr>
          <a:xfrm xmlns:a="http://schemas.openxmlformats.org/drawingml/2006/main">
            <a:off x="895350" y="581025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200" b="1">
                <a:solidFill>
                  <a:srgbClr val="F4F6F8"/>
                </a:solidFill>
                <a:latin typeface="DejaVu Sans Mono"/>
                <a:ea typeface="DejaVu Sans Mono"/>
                <a:cs typeface="DejaVu Sans Mono"/>
              </a:defRPr>
            </a:pPr>
            <a:r>
              <a:rPr sz="1200" b="1">
                <a:solidFill>
                  <a:srgbClr val="F4F6F8"/>
                </a:solidFill>
                <a:latin typeface="DejaVu Sans Mono"/>
                <a:ea typeface="DejaVu Sans Mono"/>
                <a:cs typeface="DejaVu Sans Mono"/>
              </a:rPr>
              <a:t>ONLY APPROVED OUTPUTS FLOW FORWARD</a:t>
            </a:r>
          </a:p>
        </p:txBody>
      </p:sp>
      <p:sp>
        <p:nvSpPr>
          <p:cNvPr id="28" name="">
            <a:extLst xmlns:a="http://schemas.openxmlformats.org/drawingml/2006/main">
              <a:ext uri="{FF2B5EF4-FFF2-40B4-BE49-F238E27FC236}">
                <a16:creationId xmlns:a16="http://schemas.microsoft.com/office/drawing/2014/main" id="{0864B18A-12E5-4167-A0EF-203BCB6BDEB4}"/>
              </a:ext>
            </a:extLst>
          </p:cNvPr>
          <p:cNvSpPr>
            <a:spLocks xmlns:a="http://schemas.openxmlformats.org/drawingml/2006/main" noGrp="1"/>
          </p:cNvSpPr>
          <p:nvPr/>
        </p:nvSpPr>
        <p:spPr>
          <a:xfrm xmlns:a="http://schemas.openxmlformats.org/drawingml/2006/main">
            <a:off x="0" y="6400800"/>
            <a:ext cx="12192000" cy="457200"/>
          </a:xfrm>
          <a:prstGeom xmlns:a="http://schemas.openxmlformats.org/drawingml/2006/main" prst="rect">
            <a:avLst/>
          </a:prstGeom>
          <a:solidFill xmlns:a="http://schemas.openxmlformats.org/drawingml/2006/main">
            <a:srgbClr val="07090C">
              <a:alpha val="76000"/>
            </a:srgbClr>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A87663B7-5C03-4CF8-A30B-FDE3C49DE2CF}"/>
              </a:ext>
            </a:extLst>
          </p:cNvPr>
          <p:cNvSpPr>
            <a:spLocks xmlns:a="http://schemas.openxmlformats.org/drawingml/2006/main" noGrp="1"/>
          </p:cNvSpPr>
          <p:nvPr/>
        </p:nvSpPr>
        <p:spPr>
          <a:xfrm xmlns:a="http://schemas.openxmlformats.org/drawingml/2006/main">
            <a:off x="609600" y="6553200"/>
            <a:ext cx="6858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MARS SOCIETY 2026  •  HARNESSED AGENTIC SCIENCE + ENGINEERING</a:t>
            </a:r>
          </a:p>
        </p:txBody>
      </p:sp>
      <p:sp>
        <p:nvSpPr>
          <p:cNvPr id="30" name="">
            <a:extLst xmlns:a="http://schemas.openxmlformats.org/drawingml/2006/main">
              <a:ext uri="{FF2B5EF4-FFF2-40B4-BE49-F238E27FC236}">
                <a16:creationId xmlns:a16="http://schemas.microsoft.com/office/drawing/2014/main" id="{4A4E1535-13BC-412B-9CA3-7A4E8848CB04}"/>
              </a:ext>
            </a:extLst>
          </p:cNvPr>
          <p:cNvSpPr>
            <a:spLocks xmlns:a="http://schemas.openxmlformats.org/drawingml/2006/main" noGrp="1"/>
          </p:cNvSpPr>
          <p:nvPr/>
        </p:nvSpPr>
        <p:spPr>
          <a:xfrm xmlns:a="http://schemas.openxmlformats.org/drawingml/2006/main">
            <a:off x="9525000" y="6553200"/>
            <a:ext cx="2057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BOB J MILLS     06</a:t>
            </a:r>
          </a:p>
        </p:txBody>
      </p:sp>
    </p:spTree>
    <p:extLst>
      <p:ext uri="{BB962C8B-B14F-4D97-AF65-F5344CB8AC3E}">
        <p14:creationId xmlns:p14="http://schemas.microsoft.com/office/powerpoint/2010/main" val="806866426"/>
      </p:ext>
    </p:extLst>
  </p:cSld>
</p:sld>
</file>

<file path=ppt/slides/slide7.xml><?xml version="1.0" encoding="utf-8"?>
<p:sld xmlns:p="http://schemas.openxmlformats.org/presentationml/2006/main">
  <p:cSld>
    <p:bg>
      <p:bgPr>
        <a:solidFill xmlns:a="http://schemas.openxmlformats.org/drawingml/2006/main">
          <a:srgbClr val="07090C"/>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12317F4E-8F3F-4EF4-9968-28208309E60E}"/>
              </a:ext>
            </a:extLst>
          </p:cNvPr>
          <p:cNvSpPr>
            <a:spLocks xmlns:a="http://schemas.openxmlformats.org/drawingml/2006/main" noGrp="1"/>
          </p:cNvSpPr>
          <p:nvPr/>
        </p:nvSpPr>
        <p:spPr>
          <a:xfrm xmlns:a="http://schemas.openxmlformats.org/drawingml/2006/main">
            <a:off x="609600" y="3429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975" b="1">
                <a:solidFill>
                  <a:srgbClr val="F26B38"/>
                </a:solidFill>
                <a:latin typeface="DejaVu Sans Mono"/>
                <a:ea typeface="DejaVu Sans Mono"/>
                <a:cs typeface="DejaVu Sans Mono"/>
              </a:defRPr>
            </a:pPr>
            <a:r>
              <a:rPr sz="975" b="1">
                <a:solidFill>
                  <a:srgbClr val="F26B38"/>
                </a:solidFill>
                <a:latin typeface="DejaVu Sans Mono"/>
                <a:ea typeface="DejaVu Sans Mono"/>
                <a:cs typeface="DejaVu Sans Mono"/>
              </a:rPr>
              <a:t>07  /  EVIDENCE CONTROL</a:t>
            </a:r>
          </a:p>
        </p:txBody>
      </p:sp>
      <p:sp>
        <p:nvSpPr>
          <p:cNvPr id="2" name="">
            <a:extLst xmlns:a="http://schemas.openxmlformats.org/drawingml/2006/main">
              <a:ext uri="{FF2B5EF4-FFF2-40B4-BE49-F238E27FC236}">
                <a16:creationId xmlns:a16="http://schemas.microsoft.com/office/drawing/2014/main" id="{9EE2D892-829A-47FC-BCE4-DF166B638960}"/>
              </a:ext>
            </a:extLst>
          </p:cNvPr>
          <p:cNvSpPr>
            <a:spLocks xmlns:a="http://schemas.openxmlformats.org/drawingml/2006/main" noGrp="1"/>
          </p:cNvSpPr>
          <p:nvPr/>
        </p:nvSpPr>
        <p:spPr>
          <a:xfrm xmlns:a="http://schemas.openxmlformats.org/drawingml/2006/main">
            <a:off x="609600" y="6477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2625" b="1">
                <a:solidFill>
                  <a:srgbClr val="F4F6F8"/>
                </a:solidFill>
                <a:latin typeface="DejaVu Sans"/>
                <a:ea typeface="DejaVu Sans"/>
                <a:cs typeface="DejaVu Sans"/>
              </a:defRPr>
            </a:pPr>
            <a:r>
              <a:rPr sz="2625" b="1">
                <a:solidFill>
                  <a:srgbClr val="F4F6F8"/>
                </a:solidFill>
                <a:latin typeface="DejaVu Sans"/>
                <a:ea typeface="DejaVu Sans"/>
                <a:cs typeface="DejaVu Sans"/>
              </a:rPr>
              <a:t>Every claim carries epistemic status</a:t>
            </a:r>
          </a:p>
        </p:txBody>
      </p:sp>
      <p:sp>
        <p:nvSpPr>
          <p:cNvPr id="3" name="">
            <a:extLst xmlns:a="http://schemas.openxmlformats.org/drawingml/2006/main">
              <a:ext uri="{FF2B5EF4-FFF2-40B4-BE49-F238E27FC236}">
                <a16:creationId xmlns:a16="http://schemas.microsoft.com/office/drawing/2014/main" id="{E49F922B-9E55-421B-92C3-64B900CAF120}"/>
              </a:ext>
            </a:extLst>
          </p:cNvPr>
          <p:cNvSpPr>
            <a:spLocks xmlns:a="http://schemas.openxmlformats.org/drawingml/2006/main" noGrp="1"/>
          </p:cNvSpPr>
          <p:nvPr/>
        </p:nvSpPr>
        <p:spPr>
          <a:xfrm xmlns:a="http://schemas.openxmlformats.org/drawingml/2006/main">
            <a:off x="628650" y="12382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425" b="0">
                <a:solidFill>
                  <a:srgbClr val="8D99A3"/>
                </a:solidFill>
                <a:latin typeface="DejaVu Sans"/>
                <a:ea typeface="DejaVu Sans"/>
                <a:cs typeface="DejaVu Sans"/>
              </a:defRPr>
            </a:pPr>
            <a:r>
              <a:rPr sz="1425" b="0">
                <a:solidFill>
                  <a:srgbClr val="8D99A3"/>
                </a:solidFill>
                <a:latin typeface="DejaVu Sans"/>
                <a:ea typeface="DejaVu Sans"/>
                <a:cs typeface="DejaVu Sans"/>
              </a:rPr>
              <a:t>The harness prevents a plausible sentence—or a clean simulation—from silently becoming a physical fact.</a:t>
            </a:r>
          </a:p>
        </p:txBody>
      </p:sp>
      <p:sp>
        <p:nvSpPr>
          <p:cNvPr id="4" name="">
            <a:extLst xmlns:a="http://schemas.openxmlformats.org/drawingml/2006/main">
              <a:ext uri="{FF2B5EF4-FFF2-40B4-BE49-F238E27FC236}">
                <a16:creationId xmlns:a16="http://schemas.microsoft.com/office/drawing/2014/main" id="{4A3065EC-EE98-4D90-B269-5091AD4E767F}"/>
              </a:ext>
            </a:extLst>
          </p:cNvPr>
          <p:cNvSpPr>
            <a:spLocks xmlns:a="http://schemas.openxmlformats.org/drawingml/2006/main" noGrp="1"/>
          </p:cNvSpPr>
          <p:nvPr/>
        </p:nvSpPr>
        <p:spPr>
          <a:xfrm xmlns:a="http://schemas.openxmlformats.org/drawingml/2006/main">
            <a:off x="609600" y="1676400"/>
            <a:ext cx="10972800" cy="0"/>
          </a:xfrm>
          <a:prstGeom xmlns:a="http://schemas.openxmlformats.org/drawingml/2006/main" prst="line">
            <a:avLst/>
          </a:prstGeom>
          <a:noFill xmlns:a="http://schemas.openxmlformats.org/drawingml/2006/main"/>
          <a:ln xmlns:a="http://schemas.openxmlformats.org/drawingml/2006/main" w="9525">
            <a:solidFill>
              <a:srgbClr val="35414B"/>
            </a:solidFill>
            <a:prstDash val="solid"/>
          </a:ln>
        </p:spPr>
      </p:sp>
      <p:sp>
        <p:nvSpPr>
          <p:cNvPr id="5" name="">
            <a:extLst xmlns:a="http://schemas.openxmlformats.org/drawingml/2006/main">
              <a:ext uri="{FF2B5EF4-FFF2-40B4-BE49-F238E27FC236}">
                <a16:creationId xmlns:a16="http://schemas.microsoft.com/office/drawing/2014/main" id="{42D9F9A6-3336-441B-B5E5-145BB4E4B9BB}"/>
              </a:ext>
            </a:extLst>
          </p:cNvPr>
          <p:cNvSpPr>
            <a:spLocks xmlns:a="http://schemas.openxmlformats.org/drawingml/2006/main" noGrp="1"/>
          </p:cNvSpPr>
          <p:nvPr/>
        </p:nvSpPr>
        <p:spPr>
          <a:xfrm xmlns:a="http://schemas.openxmlformats.org/drawingml/2006/main">
            <a:off x="723900" y="2038350"/>
            <a:ext cx="95250" cy="628650"/>
          </a:xfrm>
          <a:prstGeom xmlns:a="http://schemas.openxmlformats.org/drawingml/2006/main" prst="rect">
            <a:avLst/>
          </a:prstGeom>
          <a:solidFill xmlns:a="http://schemas.openxmlformats.org/drawingml/2006/main">
            <a:srgbClr val="39D7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F60BDE0-F8D5-478E-925C-1F1098AB735A}"/>
              </a:ext>
            </a:extLst>
          </p:cNvPr>
          <p:cNvSpPr>
            <a:spLocks xmlns:a="http://schemas.openxmlformats.org/drawingml/2006/main" noGrp="1"/>
          </p:cNvSpPr>
          <p:nvPr/>
        </p:nvSpPr>
        <p:spPr>
          <a:xfrm xmlns:a="http://schemas.openxmlformats.org/drawingml/2006/main">
            <a:off x="1028700" y="20574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350" b="1">
                <a:solidFill>
                  <a:srgbClr val="39D7FF"/>
                </a:solidFill>
                <a:latin typeface="DejaVu Sans Mono"/>
                <a:ea typeface="DejaVu Sans Mono"/>
                <a:cs typeface="DejaVu Sans Mono"/>
              </a:defRPr>
            </a:pPr>
            <a:r>
              <a:rPr sz="1350" b="1">
                <a:solidFill>
                  <a:srgbClr val="39D7FF"/>
                </a:solidFill>
                <a:latin typeface="DejaVu Sans Mono"/>
                <a:ea typeface="DejaVu Sans Mono"/>
                <a:cs typeface="DejaVu Sans Mono"/>
              </a:rPr>
              <a:t>LITERATURE</a:t>
            </a:r>
          </a:p>
        </p:txBody>
      </p:sp>
      <p:sp>
        <p:nvSpPr>
          <p:cNvPr id="7" name="">
            <a:extLst xmlns:a="http://schemas.openxmlformats.org/drawingml/2006/main">
              <a:ext uri="{FF2B5EF4-FFF2-40B4-BE49-F238E27FC236}">
                <a16:creationId xmlns:a16="http://schemas.microsoft.com/office/drawing/2014/main" id="{8B5D18F5-0E5D-4809-AD6C-01B21BA13EB1}"/>
              </a:ext>
            </a:extLst>
          </p:cNvPr>
          <p:cNvSpPr>
            <a:spLocks xmlns:a="http://schemas.openxmlformats.org/drawingml/2006/main" noGrp="1"/>
          </p:cNvSpPr>
          <p:nvPr/>
        </p:nvSpPr>
        <p:spPr>
          <a:xfrm xmlns:a="http://schemas.openxmlformats.org/drawingml/2006/main">
            <a:off x="2781300" y="20574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350" b="0">
                <a:solidFill>
                  <a:srgbClr val="D8DEE3"/>
                </a:solidFill>
                <a:latin typeface="DejaVu Sans"/>
                <a:ea typeface="DejaVu Sans"/>
                <a:cs typeface="DejaVu Sans"/>
              </a:defRPr>
            </a:pPr>
            <a:r>
              <a:rPr sz="1350" b="0">
                <a:solidFill>
                  <a:srgbClr val="D8DEE3"/>
                </a:solidFill>
                <a:latin typeface="DejaVu Sans"/>
                <a:ea typeface="DejaVu Sans"/>
                <a:cs typeface="DejaVu Sans"/>
              </a:rPr>
              <a:t>what has been reported</a:t>
            </a:r>
          </a:p>
        </p:txBody>
      </p:sp>
      <p:sp>
        <p:nvSpPr>
          <p:cNvPr id="8" name="">
            <a:extLst xmlns:a="http://schemas.openxmlformats.org/drawingml/2006/main">
              <a:ext uri="{FF2B5EF4-FFF2-40B4-BE49-F238E27FC236}">
                <a16:creationId xmlns:a16="http://schemas.microsoft.com/office/drawing/2014/main" id="{CCFFBFA2-2AD7-4A2F-9EE3-2CBA0383AFD3}"/>
              </a:ext>
            </a:extLst>
          </p:cNvPr>
          <p:cNvSpPr>
            <a:spLocks xmlns:a="http://schemas.openxmlformats.org/drawingml/2006/main" noGrp="1"/>
          </p:cNvSpPr>
          <p:nvPr/>
        </p:nvSpPr>
        <p:spPr>
          <a:xfrm xmlns:a="http://schemas.openxmlformats.org/drawingml/2006/main">
            <a:off x="5753100" y="2333625"/>
            <a:ext cx="2209800" cy="0"/>
          </a:xfrm>
          <a:prstGeom xmlns:a="http://schemas.openxmlformats.org/drawingml/2006/main" prst="line">
            <a:avLst/>
          </a:prstGeom>
          <a:noFill xmlns:a="http://schemas.openxmlformats.org/drawingml/2006/main"/>
          <a:ln xmlns:a="http://schemas.openxmlformats.org/drawingml/2006/main" w="19050">
            <a:solidFill>
              <a:srgbClr val="39D7FF"/>
            </a:solidFill>
            <a:prstDash val="dash"/>
          </a:ln>
        </p:spPr>
      </p:sp>
      <p:sp>
        <p:nvSpPr>
          <p:cNvPr id="9" name="">
            <a:extLst xmlns:a="http://schemas.openxmlformats.org/drawingml/2006/main">
              <a:ext uri="{FF2B5EF4-FFF2-40B4-BE49-F238E27FC236}">
                <a16:creationId xmlns:a16="http://schemas.microsoft.com/office/drawing/2014/main" id="{35E19615-C6CE-4B0F-A11F-A6FAA5AB2664}"/>
              </a:ext>
            </a:extLst>
          </p:cNvPr>
          <p:cNvSpPr>
            <a:spLocks xmlns:a="http://schemas.openxmlformats.org/drawingml/2006/main" noGrp="1"/>
          </p:cNvSpPr>
          <p:nvPr/>
        </p:nvSpPr>
        <p:spPr>
          <a:xfrm xmlns:a="http://schemas.openxmlformats.org/drawingml/2006/main">
            <a:off x="8096250" y="2114550"/>
            <a:ext cx="2247900" cy="400050"/>
          </a:xfrm>
          <a:prstGeom xmlns:a="http://schemas.openxmlformats.org/drawingml/2006/main" prst="roundRect">
            <a:avLst>
              <a:gd name="adj" fmla="val 21429"/>
            </a:avLst>
          </a:prstGeom>
          <a:solidFill xmlns:a="http://schemas.openxmlformats.org/drawingml/2006/main">
            <a:srgbClr val="11171C"/>
          </a:solidFill>
          <a:ln xmlns:a="http://schemas.openxmlformats.org/drawingml/2006/main" w="9525">
            <a:solidFill>
              <a:srgbClr val="39D7FF">
                <a:alpha val="55000"/>
              </a:srgbClr>
            </a:solidFill>
            <a:prstDash val="solid"/>
          </a:ln>
        </p:spPr>
        <p:txBody>
          <a:bodyPr xmlns:a="http://schemas.openxmlformats.org/drawingml/2006/main" wrap="square" lIns="47625" tIns="19050" rIns="47625" bIns="19050" anchor="ctr">
            <a:noAutofit/>
          </a:bodyPr>
          <a:lstStyle xmlns:a="http://schemas.openxmlformats.org/drawingml/2006/main"/>
          <a:p xmlns:a="http://schemas.openxmlformats.org/drawingml/2006/main">
            <a:pPr algn="ctr">
              <a:lnSpc>
                <a:spcPct val="95000"/>
              </a:lnSpc>
              <a:buNone/>
              <a:defRPr sz="975" b="1">
                <a:solidFill>
                  <a:srgbClr val="39D7FF"/>
                </a:solidFill>
                <a:latin typeface="DejaVu Sans Mono"/>
                <a:ea typeface="DejaVu Sans Mono"/>
                <a:cs typeface="DejaVu Sans Mono"/>
              </a:defRPr>
            </a:pPr>
            <a:r>
              <a:rPr sz="975" b="1">
                <a:solidFill>
                  <a:srgbClr val="39D7FF"/>
                </a:solidFill>
                <a:latin typeface="DejaVu Sans Mono"/>
                <a:ea typeface="DejaVu Sans Mono"/>
                <a:cs typeface="DejaVu Sans Mono"/>
              </a:rPr>
              <a:t>SOURCE + SCOPE</a:t>
            </a:r>
          </a:p>
        </p:txBody>
      </p:sp>
      <p:sp>
        <p:nvSpPr>
          <p:cNvPr id="10" name="">
            <a:extLst xmlns:a="http://schemas.openxmlformats.org/drawingml/2006/main">
              <a:ext uri="{FF2B5EF4-FFF2-40B4-BE49-F238E27FC236}">
                <a16:creationId xmlns:a16="http://schemas.microsoft.com/office/drawing/2014/main" id="{F8101D30-EC68-44A8-8EA8-33A69499033C}"/>
              </a:ext>
            </a:extLst>
          </p:cNvPr>
          <p:cNvSpPr>
            <a:spLocks xmlns:a="http://schemas.openxmlformats.org/drawingml/2006/main" noGrp="1"/>
          </p:cNvSpPr>
          <p:nvPr/>
        </p:nvSpPr>
        <p:spPr>
          <a:xfrm xmlns:a="http://schemas.openxmlformats.org/drawingml/2006/main">
            <a:off x="723900" y="2933700"/>
            <a:ext cx="95250" cy="628650"/>
          </a:xfrm>
          <a:prstGeom xmlns:a="http://schemas.openxmlformats.org/drawingml/2006/main" prst="rect">
            <a:avLst/>
          </a:prstGeom>
          <a:solidFill xmlns:a="http://schemas.openxmlformats.org/drawingml/2006/main">
            <a:srgbClr val="F26B3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253550E-72E0-4071-A081-45CCBEB0A0E6}"/>
              </a:ext>
            </a:extLst>
          </p:cNvPr>
          <p:cNvSpPr>
            <a:spLocks xmlns:a="http://schemas.openxmlformats.org/drawingml/2006/main" noGrp="1"/>
          </p:cNvSpPr>
          <p:nvPr/>
        </p:nvSpPr>
        <p:spPr>
          <a:xfrm xmlns:a="http://schemas.openxmlformats.org/drawingml/2006/main">
            <a:off x="1028700" y="29527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350" b="1">
                <a:solidFill>
                  <a:srgbClr val="F26B38"/>
                </a:solidFill>
                <a:latin typeface="DejaVu Sans Mono"/>
                <a:ea typeface="DejaVu Sans Mono"/>
                <a:cs typeface="DejaVu Sans Mono"/>
              </a:defRPr>
            </a:pPr>
            <a:r>
              <a:rPr sz="1350" b="1">
                <a:solidFill>
                  <a:srgbClr val="F26B38"/>
                </a:solidFill>
                <a:latin typeface="DejaVu Sans Mono"/>
                <a:ea typeface="DejaVu Sans Mono"/>
                <a:cs typeface="DejaVu Sans Mono"/>
              </a:rPr>
              <a:t>MODELED</a:t>
            </a:r>
          </a:p>
        </p:txBody>
      </p:sp>
      <p:sp>
        <p:nvSpPr>
          <p:cNvPr id="12" name="">
            <a:extLst xmlns:a="http://schemas.openxmlformats.org/drawingml/2006/main">
              <a:ext uri="{FF2B5EF4-FFF2-40B4-BE49-F238E27FC236}">
                <a16:creationId xmlns:a16="http://schemas.microsoft.com/office/drawing/2014/main" id="{063B6008-EEDC-4C86-AE2A-2BDA6756A7C9}"/>
              </a:ext>
            </a:extLst>
          </p:cNvPr>
          <p:cNvSpPr>
            <a:spLocks xmlns:a="http://schemas.openxmlformats.org/drawingml/2006/main" noGrp="1"/>
          </p:cNvSpPr>
          <p:nvPr/>
        </p:nvSpPr>
        <p:spPr>
          <a:xfrm xmlns:a="http://schemas.openxmlformats.org/drawingml/2006/main">
            <a:off x="2781300" y="29527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350" b="0">
                <a:solidFill>
                  <a:srgbClr val="D8DEE3"/>
                </a:solidFill>
                <a:latin typeface="DejaVu Sans"/>
                <a:ea typeface="DejaVu Sans"/>
                <a:cs typeface="DejaVu Sans"/>
              </a:defRPr>
            </a:pPr>
            <a:r>
              <a:rPr sz="1350" b="0">
                <a:solidFill>
                  <a:srgbClr val="D8DEE3"/>
                </a:solidFill>
                <a:latin typeface="DejaVu Sans"/>
                <a:ea typeface="DejaVu Sans"/>
                <a:cs typeface="DejaVu Sans"/>
              </a:rPr>
              <a:t>what the equations predict</a:t>
            </a:r>
          </a:p>
        </p:txBody>
      </p:sp>
      <p:sp>
        <p:nvSpPr>
          <p:cNvPr id="13" name="">
            <a:extLst xmlns:a="http://schemas.openxmlformats.org/drawingml/2006/main">
              <a:ext uri="{FF2B5EF4-FFF2-40B4-BE49-F238E27FC236}">
                <a16:creationId xmlns:a16="http://schemas.microsoft.com/office/drawing/2014/main" id="{3305D130-C634-471D-88AD-4CE02FF9704E}"/>
              </a:ext>
            </a:extLst>
          </p:cNvPr>
          <p:cNvSpPr>
            <a:spLocks xmlns:a="http://schemas.openxmlformats.org/drawingml/2006/main" noGrp="1"/>
          </p:cNvSpPr>
          <p:nvPr/>
        </p:nvSpPr>
        <p:spPr>
          <a:xfrm xmlns:a="http://schemas.openxmlformats.org/drawingml/2006/main">
            <a:off x="5753100" y="3228975"/>
            <a:ext cx="2209800" cy="0"/>
          </a:xfrm>
          <a:prstGeom xmlns:a="http://schemas.openxmlformats.org/drawingml/2006/main" prst="line">
            <a:avLst/>
          </a:prstGeom>
          <a:noFill xmlns:a="http://schemas.openxmlformats.org/drawingml/2006/main"/>
          <a:ln xmlns:a="http://schemas.openxmlformats.org/drawingml/2006/main" w="19050">
            <a:solidFill>
              <a:srgbClr val="F26B38"/>
            </a:solidFill>
            <a:prstDash val="dash"/>
          </a:ln>
        </p:spPr>
      </p:sp>
      <p:sp>
        <p:nvSpPr>
          <p:cNvPr id="14" name="">
            <a:extLst xmlns:a="http://schemas.openxmlformats.org/drawingml/2006/main">
              <a:ext uri="{FF2B5EF4-FFF2-40B4-BE49-F238E27FC236}">
                <a16:creationId xmlns:a16="http://schemas.microsoft.com/office/drawing/2014/main" id="{CAAA87BF-46C5-4AD1-A9DB-FAF3CC65A6A0}"/>
              </a:ext>
            </a:extLst>
          </p:cNvPr>
          <p:cNvSpPr>
            <a:spLocks xmlns:a="http://schemas.openxmlformats.org/drawingml/2006/main" noGrp="1"/>
          </p:cNvSpPr>
          <p:nvPr/>
        </p:nvSpPr>
        <p:spPr>
          <a:xfrm xmlns:a="http://schemas.openxmlformats.org/drawingml/2006/main">
            <a:off x="8096250" y="3009900"/>
            <a:ext cx="2247900" cy="400050"/>
          </a:xfrm>
          <a:prstGeom xmlns:a="http://schemas.openxmlformats.org/drawingml/2006/main" prst="roundRect">
            <a:avLst>
              <a:gd name="adj" fmla="val 21429"/>
            </a:avLst>
          </a:prstGeom>
          <a:solidFill xmlns:a="http://schemas.openxmlformats.org/drawingml/2006/main">
            <a:srgbClr val="11171C"/>
          </a:solidFill>
          <a:ln xmlns:a="http://schemas.openxmlformats.org/drawingml/2006/main" w="9525">
            <a:solidFill>
              <a:srgbClr val="F26B38">
                <a:alpha val="55000"/>
              </a:srgbClr>
            </a:solidFill>
            <a:prstDash val="solid"/>
          </a:ln>
        </p:spPr>
        <p:txBody>
          <a:bodyPr xmlns:a="http://schemas.openxmlformats.org/drawingml/2006/main" wrap="square" lIns="47625" tIns="19050" rIns="47625" bIns="19050" anchor="ctr">
            <a:noAutofit/>
          </a:bodyPr>
          <a:lstStyle xmlns:a="http://schemas.openxmlformats.org/drawingml/2006/main"/>
          <a:p xmlns:a="http://schemas.openxmlformats.org/drawingml/2006/main">
            <a:pPr algn="ctr">
              <a:lnSpc>
                <a:spcPct val="95000"/>
              </a:lnSpc>
              <a:buNone/>
              <a:defRPr sz="975" b="1">
                <a:solidFill>
                  <a:srgbClr val="F26B38"/>
                </a:solidFill>
                <a:latin typeface="DejaVu Sans Mono"/>
                <a:ea typeface="DejaVu Sans Mono"/>
                <a:cs typeface="DejaVu Sans Mono"/>
              </a:defRPr>
            </a:pPr>
            <a:r>
              <a:rPr sz="975" b="1">
                <a:solidFill>
                  <a:srgbClr val="F26B38"/>
                </a:solidFill>
                <a:latin typeface="DejaVu Sans Mono"/>
                <a:ea typeface="DejaVu Sans Mono"/>
                <a:cs typeface="DejaVu Sans Mono"/>
              </a:rPr>
              <a:t>ASSUMPTIONS + BOUNDS</a:t>
            </a:r>
          </a:p>
        </p:txBody>
      </p:sp>
      <p:sp>
        <p:nvSpPr>
          <p:cNvPr id="15" name="">
            <a:extLst xmlns:a="http://schemas.openxmlformats.org/drawingml/2006/main">
              <a:ext uri="{FF2B5EF4-FFF2-40B4-BE49-F238E27FC236}">
                <a16:creationId xmlns:a16="http://schemas.microsoft.com/office/drawing/2014/main" id="{442ADB95-8130-4A17-B920-027293C6DEBD}"/>
              </a:ext>
            </a:extLst>
          </p:cNvPr>
          <p:cNvSpPr>
            <a:spLocks xmlns:a="http://schemas.openxmlformats.org/drawingml/2006/main" noGrp="1"/>
          </p:cNvSpPr>
          <p:nvPr/>
        </p:nvSpPr>
        <p:spPr>
          <a:xfrm xmlns:a="http://schemas.openxmlformats.org/drawingml/2006/main">
            <a:off x="723900" y="3829050"/>
            <a:ext cx="95250" cy="628650"/>
          </a:xfrm>
          <a:prstGeom xmlns:a="http://schemas.openxmlformats.org/drawingml/2006/main" prst="rect">
            <a:avLst/>
          </a:prstGeom>
          <a:solidFill xmlns:a="http://schemas.openxmlformats.org/drawingml/2006/main">
            <a:srgbClr val="62D6A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CFF1617-6338-4C3A-8137-DA4E51AB95B6}"/>
              </a:ext>
            </a:extLst>
          </p:cNvPr>
          <p:cNvSpPr>
            <a:spLocks xmlns:a="http://schemas.openxmlformats.org/drawingml/2006/main" noGrp="1"/>
          </p:cNvSpPr>
          <p:nvPr/>
        </p:nvSpPr>
        <p:spPr>
          <a:xfrm xmlns:a="http://schemas.openxmlformats.org/drawingml/2006/main">
            <a:off x="1028700" y="38481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350" b="1">
                <a:solidFill>
                  <a:srgbClr val="62D6A7"/>
                </a:solidFill>
                <a:latin typeface="DejaVu Sans Mono"/>
                <a:ea typeface="DejaVu Sans Mono"/>
                <a:cs typeface="DejaVu Sans Mono"/>
              </a:defRPr>
            </a:pPr>
            <a:r>
              <a:rPr sz="1350" b="1">
                <a:solidFill>
                  <a:srgbClr val="62D6A7"/>
                </a:solidFill>
                <a:latin typeface="DejaVu Sans Mono"/>
                <a:ea typeface="DejaVu Sans Mono"/>
                <a:cs typeface="DejaVu Sans Mono"/>
              </a:rPr>
              <a:t>EMPIRICAL</a:t>
            </a:r>
          </a:p>
        </p:txBody>
      </p:sp>
      <p:sp>
        <p:nvSpPr>
          <p:cNvPr id="17" name="">
            <a:extLst xmlns:a="http://schemas.openxmlformats.org/drawingml/2006/main">
              <a:ext uri="{FF2B5EF4-FFF2-40B4-BE49-F238E27FC236}">
                <a16:creationId xmlns:a16="http://schemas.microsoft.com/office/drawing/2014/main" id="{F584D2DD-4697-453F-BC67-2A39C87A0428}"/>
              </a:ext>
            </a:extLst>
          </p:cNvPr>
          <p:cNvSpPr>
            <a:spLocks xmlns:a="http://schemas.openxmlformats.org/drawingml/2006/main" noGrp="1"/>
          </p:cNvSpPr>
          <p:nvPr/>
        </p:nvSpPr>
        <p:spPr>
          <a:xfrm xmlns:a="http://schemas.openxmlformats.org/drawingml/2006/main">
            <a:off x="2781300" y="38481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350" b="0">
                <a:solidFill>
                  <a:srgbClr val="D8DEE3"/>
                </a:solidFill>
                <a:latin typeface="DejaVu Sans"/>
                <a:ea typeface="DejaVu Sans"/>
                <a:cs typeface="DejaVu Sans"/>
              </a:defRPr>
            </a:pPr>
            <a:r>
              <a:rPr sz="1350" b="0">
                <a:solidFill>
                  <a:srgbClr val="D8DEE3"/>
                </a:solidFill>
                <a:latin typeface="DejaVu Sans"/>
                <a:ea typeface="DejaVu Sans"/>
                <a:cs typeface="DejaVu Sans"/>
              </a:rPr>
              <a:t>what was physically measured</a:t>
            </a:r>
          </a:p>
        </p:txBody>
      </p:sp>
      <p:sp>
        <p:nvSpPr>
          <p:cNvPr id="18" name="">
            <a:extLst xmlns:a="http://schemas.openxmlformats.org/drawingml/2006/main">
              <a:ext uri="{FF2B5EF4-FFF2-40B4-BE49-F238E27FC236}">
                <a16:creationId xmlns:a16="http://schemas.microsoft.com/office/drawing/2014/main" id="{98FFF35C-69CC-495C-BF0C-0768903B77C7}"/>
              </a:ext>
            </a:extLst>
          </p:cNvPr>
          <p:cNvSpPr>
            <a:spLocks xmlns:a="http://schemas.openxmlformats.org/drawingml/2006/main" noGrp="1"/>
          </p:cNvSpPr>
          <p:nvPr/>
        </p:nvSpPr>
        <p:spPr>
          <a:xfrm xmlns:a="http://schemas.openxmlformats.org/drawingml/2006/main">
            <a:off x="5753100" y="4124325"/>
            <a:ext cx="2209800" cy="0"/>
          </a:xfrm>
          <a:prstGeom xmlns:a="http://schemas.openxmlformats.org/drawingml/2006/main" prst="line">
            <a:avLst/>
          </a:prstGeom>
          <a:noFill xmlns:a="http://schemas.openxmlformats.org/drawingml/2006/main"/>
          <a:ln xmlns:a="http://schemas.openxmlformats.org/drawingml/2006/main" w="19050">
            <a:solidFill>
              <a:srgbClr val="62D6A7"/>
            </a:solidFill>
            <a:prstDash val="dash"/>
          </a:ln>
        </p:spPr>
      </p:sp>
      <p:sp>
        <p:nvSpPr>
          <p:cNvPr id="19" name="">
            <a:extLst xmlns:a="http://schemas.openxmlformats.org/drawingml/2006/main">
              <a:ext uri="{FF2B5EF4-FFF2-40B4-BE49-F238E27FC236}">
                <a16:creationId xmlns:a16="http://schemas.microsoft.com/office/drawing/2014/main" id="{F6BF9276-117A-4239-BAF8-AE626CA603DB}"/>
              </a:ext>
            </a:extLst>
          </p:cNvPr>
          <p:cNvSpPr>
            <a:spLocks xmlns:a="http://schemas.openxmlformats.org/drawingml/2006/main" noGrp="1"/>
          </p:cNvSpPr>
          <p:nvPr/>
        </p:nvSpPr>
        <p:spPr>
          <a:xfrm xmlns:a="http://schemas.openxmlformats.org/drawingml/2006/main">
            <a:off x="8096250" y="3905250"/>
            <a:ext cx="2247900" cy="400050"/>
          </a:xfrm>
          <a:prstGeom xmlns:a="http://schemas.openxmlformats.org/drawingml/2006/main" prst="roundRect">
            <a:avLst>
              <a:gd name="adj" fmla="val 21429"/>
            </a:avLst>
          </a:prstGeom>
          <a:solidFill xmlns:a="http://schemas.openxmlformats.org/drawingml/2006/main">
            <a:srgbClr val="11171C"/>
          </a:solidFill>
          <a:ln xmlns:a="http://schemas.openxmlformats.org/drawingml/2006/main" w="9525">
            <a:solidFill>
              <a:srgbClr val="62D6A7">
                <a:alpha val="55000"/>
              </a:srgbClr>
            </a:solidFill>
            <a:prstDash val="solid"/>
          </a:ln>
        </p:spPr>
        <p:txBody>
          <a:bodyPr xmlns:a="http://schemas.openxmlformats.org/drawingml/2006/main" wrap="square" lIns="47625" tIns="19050" rIns="47625" bIns="19050" anchor="ctr">
            <a:noAutofit/>
          </a:bodyPr>
          <a:lstStyle xmlns:a="http://schemas.openxmlformats.org/drawingml/2006/main"/>
          <a:p xmlns:a="http://schemas.openxmlformats.org/drawingml/2006/main">
            <a:pPr algn="ctr">
              <a:lnSpc>
                <a:spcPct val="95000"/>
              </a:lnSpc>
              <a:buNone/>
              <a:defRPr sz="975" b="1">
                <a:solidFill>
                  <a:srgbClr val="62D6A7"/>
                </a:solidFill>
                <a:latin typeface="DejaVu Sans Mono"/>
                <a:ea typeface="DejaVu Sans Mono"/>
                <a:cs typeface="DejaVu Sans Mono"/>
              </a:defRPr>
            </a:pPr>
            <a:r>
              <a:rPr sz="975" b="1">
                <a:solidFill>
                  <a:srgbClr val="62D6A7"/>
                </a:solidFill>
                <a:latin typeface="DejaVu Sans Mono"/>
                <a:ea typeface="DejaVu Sans Mono"/>
                <a:cs typeface="DejaVu Sans Mono"/>
              </a:rPr>
              <a:t>METHOD + UNCERTAINTY</a:t>
            </a:r>
          </a:p>
        </p:txBody>
      </p:sp>
      <p:sp>
        <p:nvSpPr>
          <p:cNvPr id="20" name="">
            <a:extLst xmlns:a="http://schemas.openxmlformats.org/drawingml/2006/main">
              <a:ext uri="{FF2B5EF4-FFF2-40B4-BE49-F238E27FC236}">
                <a16:creationId xmlns:a16="http://schemas.microsoft.com/office/drawing/2014/main" id="{52BE18D6-23AA-4626-9C7E-12F9140254BB}"/>
              </a:ext>
            </a:extLst>
          </p:cNvPr>
          <p:cNvSpPr>
            <a:spLocks xmlns:a="http://schemas.openxmlformats.org/drawingml/2006/main" noGrp="1"/>
          </p:cNvSpPr>
          <p:nvPr/>
        </p:nvSpPr>
        <p:spPr>
          <a:xfrm xmlns:a="http://schemas.openxmlformats.org/drawingml/2006/main">
            <a:off x="723900" y="4724400"/>
            <a:ext cx="95250" cy="628650"/>
          </a:xfrm>
          <a:prstGeom xmlns:a="http://schemas.openxmlformats.org/drawingml/2006/main" prst="rect">
            <a:avLst/>
          </a:prstGeom>
          <a:solidFill xmlns:a="http://schemas.openxmlformats.org/drawingml/2006/main">
            <a:srgbClr val="FFC85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C698577-3E22-4E85-A917-8E63FC54A85B}"/>
              </a:ext>
            </a:extLst>
          </p:cNvPr>
          <p:cNvSpPr>
            <a:spLocks xmlns:a="http://schemas.openxmlformats.org/drawingml/2006/main" noGrp="1"/>
          </p:cNvSpPr>
          <p:nvPr/>
        </p:nvSpPr>
        <p:spPr>
          <a:xfrm xmlns:a="http://schemas.openxmlformats.org/drawingml/2006/main">
            <a:off x="1028700" y="47434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350" b="1">
                <a:solidFill>
                  <a:srgbClr val="FFC857"/>
                </a:solidFill>
                <a:latin typeface="DejaVu Sans Mono"/>
                <a:ea typeface="DejaVu Sans Mono"/>
                <a:cs typeface="DejaVu Sans Mono"/>
              </a:defRPr>
            </a:pPr>
            <a:r>
              <a:rPr sz="1350" b="1">
                <a:solidFill>
                  <a:srgbClr val="FFC857"/>
                </a:solidFill>
                <a:latin typeface="DejaVu Sans Mono"/>
                <a:ea typeface="DejaVu Sans Mono"/>
                <a:cs typeface="DejaVu Sans Mono"/>
              </a:rPr>
              <a:t>OPEN</a:t>
            </a:r>
          </a:p>
        </p:txBody>
      </p:sp>
      <p:sp>
        <p:nvSpPr>
          <p:cNvPr id="22" name="">
            <a:extLst xmlns:a="http://schemas.openxmlformats.org/drawingml/2006/main">
              <a:ext uri="{FF2B5EF4-FFF2-40B4-BE49-F238E27FC236}">
                <a16:creationId xmlns:a16="http://schemas.microsoft.com/office/drawing/2014/main" id="{753BF1D2-EB5C-407D-9B40-3EBF8082ACD3}"/>
              </a:ext>
            </a:extLst>
          </p:cNvPr>
          <p:cNvSpPr>
            <a:spLocks xmlns:a="http://schemas.openxmlformats.org/drawingml/2006/main" noGrp="1"/>
          </p:cNvSpPr>
          <p:nvPr/>
        </p:nvSpPr>
        <p:spPr>
          <a:xfrm xmlns:a="http://schemas.openxmlformats.org/drawingml/2006/main">
            <a:off x="2781300" y="47434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350" b="0">
                <a:solidFill>
                  <a:srgbClr val="D8DEE3"/>
                </a:solidFill>
                <a:latin typeface="DejaVu Sans"/>
                <a:ea typeface="DejaVu Sans"/>
                <a:cs typeface="DejaVu Sans"/>
              </a:defRPr>
            </a:pPr>
            <a:r>
              <a:rPr sz="1350" b="0">
                <a:solidFill>
                  <a:srgbClr val="D8DEE3"/>
                </a:solidFill>
                <a:latin typeface="DejaVu Sans"/>
                <a:ea typeface="DejaVu Sans"/>
                <a:cs typeface="DejaVu Sans"/>
              </a:rPr>
              <a:t>what remains unresolved</a:t>
            </a:r>
          </a:p>
        </p:txBody>
      </p:sp>
      <p:sp>
        <p:nvSpPr>
          <p:cNvPr id="23" name="">
            <a:extLst xmlns:a="http://schemas.openxmlformats.org/drawingml/2006/main">
              <a:ext uri="{FF2B5EF4-FFF2-40B4-BE49-F238E27FC236}">
                <a16:creationId xmlns:a16="http://schemas.microsoft.com/office/drawing/2014/main" id="{8AAB9E71-776C-49F6-8237-86AE9258FC47}"/>
              </a:ext>
            </a:extLst>
          </p:cNvPr>
          <p:cNvSpPr>
            <a:spLocks xmlns:a="http://schemas.openxmlformats.org/drawingml/2006/main" noGrp="1"/>
          </p:cNvSpPr>
          <p:nvPr/>
        </p:nvSpPr>
        <p:spPr>
          <a:xfrm xmlns:a="http://schemas.openxmlformats.org/drawingml/2006/main">
            <a:off x="5753100" y="5019675"/>
            <a:ext cx="2209800" cy="0"/>
          </a:xfrm>
          <a:prstGeom xmlns:a="http://schemas.openxmlformats.org/drawingml/2006/main" prst="line">
            <a:avLst/>
          </a:prstGeom>
          <a:noFill xmlns:a="http://schemas.openxmlformats.org/drawingml/2006/main"/>
          <a:ln xmlns:a="http://schemas.openxmlformats.org/drawingml/2006/main" w="19050">
            <a:solidFill>
              <a:srgbClr val="FFC857"/>
            </a:solidFill>
            <a:prstDash val="dash"/>
          </a:ln>
        </p:spPr>
      </p:sp>
      <p:sp>
        <p:nvSpPr>
          <p:cNvPr id="24" name="">
            <a:extLst xmlns:a="http://schemas.openxmlformats.org/drawingml/2006/main">
              <a:ext uri="{FF2B5EF4-FFF2-40B4-BE49-F238E27FC236}">
                <a16:creationId xmlns:a16="http://schemas.microsoft.com/office/drawing/2014/main" id="{382458DC-FF59-419C-B1DD-06B91D02EDF3}"/>
              </a:ext>
            </a:extLst>
          </p:cNvPr>
          <p:cNvSpPr>
            <a:spLocks xmlns:a="http://schemas.openxmlformats.org/drawingml/2006/main" noGrp="1"/>
          </p:cNvSpPr>
          <p:nvPr/>
        </p:nvSpPr>
        <p:spPr>
          <a:xfrm xmlns:a="http://schemas.openxmlformats.org/drawingml/2006/main">
            <a:off x="8096250" y="4800600"/>
            <a:ext cx="2247900" cy="400050"/>
          </a:xfrm>
          <a:prstGeom xmlns:a="http://schemas.openxmlformats.org/drawingml/2006/main" prst="roundRect">
            <a:avLst>
              <a:gd name="adj" fmla="val 21429"/>
            </a:avLst>
          </a:prstGeom>
          <a:solidFill xmlns:a="http://schemas.openxmlformats.org/drawingml/2006/main">
            <a:srgbClr val="11171C"/>
          </a:solidFill>
          <a:ln xmlns:a="http://schemas.openxmlformats.org/drawingml/2006/main" w="9525">
            <a:solidFill>
              <a:srgbClr val="FFC857">
                <a:alpha val="55000"/>
              </a:srgbClr>
            </a:solidFill>
            <a:prstDash val="solid"/>
          </a:ln>
        </p:spPr>
        <p:txBody>
          <a:bodyPr xmlns:a="http://schemas.openxmlformats.org/drawingml/2006/main" wrap="square" lIns="47625" tIns="19050" rIns="47625" bIns="19050" anchor="ctr">
            <a:noAutofit/>
          </a:bodyPr>
          <a:lstStyle xmlns:a="http://schemas.openxmlformats.org/drawingml/2006/main"/>
          <a:p xmlns:a="http://schemas.openxmlformats.org/drawingml/2006/main">
            <a:pPr algn="ctr">
              <a:lnSpc>
                <a:spcPct val="95000"/>
              </a:lnSpc>
              <a:buNone/>
              <a:defRPr sz="975" b="1">
                <a:solidFill>
                  <a:srgbClr val="FFC857"/>
                </a:solidFill>
                <a:latin typeface="DejaVu Sans Mono"/>
                <a:ea typeface="DejaVu Sans Mono"/>
                <a:cs typeface="DejaVu Sans Mono"/>
              </a:defRPr>
            </a:pPr>
            <a:r>
              <a:rPr sz="975" b="1">
                <a:solidFill>
                  <a:srgbClr val="FFC857"/>
                </a:solidFill>
                <a:latin typeface="DejaVu Sans Mono"/>
                <a:ea typeface="DejaVu Sans Mono"/>
                <a:cs typeface="DejaVu Sans Mono"/>
              </a:rPr>
              <a:t>QUESTION + DISPOSITION</a:t>
            </a:r>
          </a:p>
        </p:txBody>
      </p:sp>
      <p:sp>
        <p:nvSpPr>
          <p:cNvPr id="25" name="">
            <a:extLst xmlns:a="http://schemas.openxmlformats.org/drawingml/2006/main">
              <a:ext uri="{FF2B5EF4-FFF2-40B4-BE49-F238E27FC236}">
                <a16:creationId xmlns:a16="http://schemas.microsoft.com/office/drawing/2014/main" id="{0F199B9E-DF93-460E-A038-205E99ADDAD0}"/>
              </a:ext>
            </a:extLst>
          </p:cNvPr>
          <p:cNvSpPr>
            <a:spLocks xmlns:a="http://schemas.openxmlformats.org/drawingml/2006/main" noGrp="1"/>
          </p:cNvSpPr>
          <p:nvPr/>
        </p:nvSpPr>
        <p:spPr>
          <a:xfrm xmlns:a="http://schemas.openxmlformats.org/drawingml/2006/main">
            <a:off x="10477500" y="2038350"/>
            <a:ext cx="57150" cy="3314700"/>
          </a:xfrm>
          <a:prstGeom xmlns:a="http://schemas.openxmlformats.org/drawingml/2006/main" prst="rect">
            <a:avLst/>
          </a:prstGeom>
          <a:solidFill xmlns:a="http://schemas.openxmlformats.org/drawingml/2006/main">
            <a:srgbClr val="FF6262"/>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6475EE2-AE08-4C53-94D2-BDBE08CEAD71}"/>
              </a:ext>
            </a:extLst>
          </p:cNvPr>
          <p:cNvSpPr>
            <a:spLocks xmlns:a="http://schemas.openxmlformats.org/drawingml/2006/main" noGrp="1"/>
          </p:cNvSpPr>
          <p:nvPr/>
        </p:nvSpPr>
        <p:spPr>
          <a:xfrm xmlns:a="http://schemas.openxmlformats.org/drawingml/2006/main">
            <a:off x="10687050" y="3219450"/>
            <a:ext cx="8953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1125" b="1">
                <a:solidFill>
                  <a:srgbClr val="FF6262"/>
                </a:solidFill>
                <a:latin typeface="DejaVu Sans Mono"/>
                <a:ea typeface="DejaVu Sans Mono"/>
                <a:cs typeface="DejaVu Sans Mono"/>
              </a:defRPr>
            </a:pPr>
            <a:r>
              <a:rPr sz="1125" b="1">
                <a:solidFill>
                  <a:srgbClr val="FF6262"/>
                </a:solidFill>
                <a:latin typeface="DejaVu Sans Mono"/>
                <a:ea typeface="DejaVu Sans Mono"/>
                <a:cs typeface="DejaVu Sans Mono"/>
              </a:rPr>
              <a:t>NO SILENT</a:t>
            </a:r>
          </a:p>
          <a:p xmlns:a="http://schemas.openxmlformats.org/drawingml/2006/main">
            <a:pPr algn="ctr">
              <a:lnSpc>
                <a:spcPct val="95000"/>
              </a:lnSpc>
              <a:buNone/>
              <a:defRPr sz="1125" b="1">
                <a:solidFill>
                  <a:srgbClr val="FF6262"/>
                </a:solidFill>
                <a:latin typeface="DejaVu Sans Mono"/>
                <a:ea typeface="DejaVu Sans Mono"/>
                <a:cs typeface="DejaVu Sans Mono"/>
              </a:defRPr>
            </a:pPr>
            <a:r>
              <a:rPr sz="1125" b="1">
                <a:solidFill>
                  <a:srgbClr val="FF6262"/>
                </a:solidFill>
                <a:latin typeface="DejaVu Sans Mono"/>
                <a:ea typeface="DejaVu Sans Mono"/>
                <a:cs typeface="DejaVu Sans Mono"/>
              </a:rPr>
              <a:t>PROMOTION</a:t>
            </a:r>
          </a:p>
        </p:txBody>
      </p:sp>
      <p:sp>
        <p:nvSpPr>
          <p:cNvPr id="27" name="">
            <a:extLst xmlns:a="http://schemas.openxmlformats.org/drawingml/2006/main">
              <a:ext uri="{FF2B5EF4-FFF2-40B4-BE49-F238E27FC236}">
                <a16:creationId xmlns:a16="http://schemas.microsoft.com/office/drawing/2014/main" id="{7E0FE14F-80C9-4212-A556-F1CD484D8B19}"/>
              </a:ext>
            </a:extLst>
          </p:cNvPr>
          <p:cNvSpPr>
            <a:spLocks xmlns:a="http://schemas.openxmlformats.org/drawingml/2006/main" noGrp="1"/>
          </p:cNvSpPr>
          <p:nvPr/>
        </p:nvSpPr>
        <p:spPr>
          <a:xfrm xmlns:a="http://schemas.openxmlformats.org/drawingml/2006/main">
            <a:off x="4686300" y="5581650"/>
            <a:ext cx="2819400" cy="609600"/>
          </a:xfrm>
          <a:prstGeom xmlns:a="http://schemas.openxmlformats.org/drawingml/2006/main" prst="roundRect">
            <a:avLst>
              <a:gd name="adj" fmla="val 25000"/>
            </a:avLst>
          </a:prstGeom>
          <a:solidFill xmlns:a="http://schemas.openxmlformats.org/drawingml/2006/main">
            <a:srgbClr val="121A20"/>
          </a:solidFill>
          <a:ln xmlns:a="http://schemas.openxmlformats.org/drawingml/2006/main" w="14288">
            <a:solidFill>
              <a:srgbClr val="F4F6F8"/>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425" b="1">
                <a:solidFill>
                  <a:srgbClr val="F4F6F8"/>
                </a:solidFill>
                <a:latin typeface="DejaVu Sans"/>
                <a:ea typeface="DejaVu Sans"/>
                <a:cs typeface="DejaVu Sans"/>
              </a:defRPr>
            </a:pPr>
            <a:r>
              <a:rPr sz="1425" b="1">
                <a:solidFill>
                  <a:srgbClr val="F4F6F8"/>
                </a:solidFill>
                <a:latin typeface="DejaVu Sans"/>
                <a:ea typeface="DejaVu Sans"/>
                <a:cs typeface="DejaVu Sans"/>
              </a:rPr>
              <a:t>CLAIM</a:t>
            </a:r>
          </a:p>
          <a:p xmlns:a="http://schemas.openxmlformats.org/drawingml/2006/main">
            <a:pPr algn="ctr">
              <a:lnSpc>
                <a:spcPct val="90000"/>
              </a:lnSpc>
              <a:buNone/>
              <a:defRPr sz="1425" b="1">
                <a:solidFill>
                  <a:srgbClr val="F4F6F8"/>
                </a:solidFill>
                <a:latin typeface="DejaVu Sans"/>
                <a:ea typeface="DejaVu Sans"/>
                <a:cs typeface="DejaVu Sans"/>
              </a:defRPr>
            </a:pPr>
            <a:r>
              <a:rPr sz="1425" b="1">
                <a:solidFill>
                  <a:srgbClr val="F4F6F8"/>
                </a:solidFill>
                <a:latin typeface="DejaVu Sans"/>
                <a:ea typeface="DejaVu Sans"/>
                <a:cs typeface="DejaVu Sans"/>
              </a:rPr>
              <a:t>WITH STATUS</a:t>
            </a:r>
          </a:p>
        </p:txBody>
      </p:sp>
      <p:sp>
        <p:nvSpPr>
          <p:cNvPr id="28" name="">
            <a:extLst xmlns:a="http://schemas.openxmlformats.org/drawingml/2006/main">
              <a:ext uri="{FF2B5EF4-FFF2-40B4-BE49-F238E27FC236}">
                <a16:creationId xmlns:a16="http://schemas.microsoft.com/office/drawing/2014/main" id="{BD258EDA-091C-4813-8125-8BA5C3165993}"/>
              </a:ext>
            </a:extLst>
          </p:cNvPr>
          <p:cNvSpPr>
            <a:spLocks xmlns:a="http://schemas.openxmlformats.org/drawingml/2006/main" noGrp="1"/>
          </p:cNvSpPr>
          <p:nvPr/>
        </p:nvSpPr>
        <p:spPr>
          <a:xfrm xmlns:a="http://schemas.openxmlformats.org/drawingml/2006/main" rot="5400000">
            <a:off x="5753100" y="5314950"/>
            <a:ext cx="685800" cy="171450"/>
          </a:xfrm>
          <a:prstGeom xmlns:a="http://schemas.openxmlformats.org/drawingml/2006/main" prst="rightArrow">
            <a:avLst/>
          </a:prstGeom>
          <a:solidFill xmlns:a="http://schemas.openxmlformats.org/drawingml/2006/main">
            <a:srgbClr val="F4F6F8">
              <a:alpha val="70000"/>
            </a:srgbClr>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149C6E9F-FED4-4A2B-9292-2C9B605F31AE}"/>
              </a:ext>
            </a:extLst>
          </p:cNvPr>
          <p:cNvSpPr>
            <a:spLocks xmlns:a="http://schemas.openxmlformats.org/drawingml/2006/main" noGrp="1"/>
          </p:cNvSpPr>
          <p:nvPr/>
        </p:nvSpPr>
        <p:spPr>
          <a:xfrm xmlns:a="http://schemas.openxmlformats.org/drawingml/2006/main">
            <a:off x="1066800" y="5657850"/>
            <a:ext cx="3143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275" b="0">
                <a:solidFill>
                  <a:srgbClr val="8D99A3"/>
                </a:solidFill>
                <a:latin typeface="DejaVu Sans"/>
                <a:ea typeface="DejaVu Sans"/>
                <a:cs typeface="DejaVu Sans"/>
              </a:defRPr>
            </a:pPr>
            <a:r>
              <a:rPr sz="1275" b="0">
                <a:solidFill>
                  <a:srgbClr val="8D99A3"/>
                </a:solidFill>
                <a:latin typeface="DejaVu Sans"/>
                <a:ea typeface="DejaVu Sans"/>
                <a:cs typeface="DejaVu Sans"/>
              </a:rPr>
              <a:t>Literature informs models. Models guide tests. Tests may revise both. Open questions stay open.</a:t>
            </a:r>
          </a:p>
        </p:txBody>
      </p:sp>
      <p:sp>
        <p:nvSpPr>
          <p:cNvPr id="30" name="">
            <a:extLst xmlns:a="http://schemas.openxmlformats.org/drawingml/2006/main">
              <a:ext uri="{FF2B5EF4-FFF2-40B4-BE49-F238E27FC236}">
                <a16:creationId xmlns:a16="http://schemas.microsoft.com/office/drawing/2014/main" id="{ABF6942A-A7DD-4205-B421-87674F6D4726}"/>
              </a:ext>
            </a:extLst>
          </p:cNvPr>
          <p:cNvSpPr>
            <a:spLocks xmlns:a="http://schemas.openxmlformats.org/drawingml/2006/main" noGrp="1"/>
          </p:cNvSpPr>
          <p:nvPr/>
        </p:nvSpPr>
        <p:spPr>
          <a:xfrm xmlns:a="http://schemas.openxmlformats.org/drawingml/2006/main">
            <a:off x="0" y="6400800"/>
            <a:ext cx="12192000" cy="457200"/>
          </a:xfrm>
          <a:prstGeom xmlns:a="http://schemas.openxmlformats.org/drawingml/2006/main" prst="rect">
            <a:avLst/>
          </a:prstGeom>
          <a:solidFill xmlns:a="http://schemas.openxmlformats.org/drawingml/2006/main">
            <a:srgbClr val="07090C">
              <a:alpha val="76000"/>
            </a:srgbClr>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C6D35634-FA95-4773-81EB-C9BF3242208A}"/>
              </a:ext>
            </a:extLst>
          </p:cNvPr>
          <p:cNvSpPr>
            <a:spLocks xmlns:a="http://schemas.openxmlformats.org/drawingml/2006/main" noGrp="1"/>
          </p:cNvSpPr>
          <p:nvPr/>
        </p:nvSpPr>
        <p:spPr>
          <a:xfrm xmlns:a="http://schemas.openxmlformats.org/drawingml/2006/main">
            <a:off x="609600" y="6553200"/>
            <a:ext cx="6858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MARS SOCIETY 2026  •  HARNESSED AGENTIC SCIENCE + ENGINEERING</a:t>
            </a:r>
          </a:p>
        </p:txBody>
      </p:sp>
      <p:sp>
        <p:nvSpPr>
          <p:cNvPr id="32" name="">
            <a:extLst xmlns:a="http://schemas.openxmlformats.org/drawingml/2006/main">
              <a:ext uri="{FF2B5EF4-FFF2-40B4-BE49-F238E27FC236}">
                <a16:creationId xmlns:a16="http://schemas.microsoft.com/office/drawing/2014/main" id="{E4307685-14DD-45A3-AE49-CB4CCCF5B68A}"/>
              </a:ext>
            </a:extLst>
          </p:cNvPr>
          <p:cNvSpPr>
            <a:spLocks xmlns:a="http://schemas.openxmlformats.org/drawingml/2006/main" noGrp="1"/>
          </p:cNvSpPr>
          <p:nvPr/>
        </p:nvSpPr>
        <p:spPr>
          <a:xfrm xmlns:a="http://schemas.openxmlformats.org/drawingml/2006/main">
            <a:off x="9525000" y="6553200"/>
            <a:ext cx="2057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BOB J MILLS     07</a:t>
            </a:r>
          </a:p>
        </p:txBody>
      </p:sp>
    </p:spTree>
    <p:extLst>
      <p:ext uri="{BB962C8B-B14F-4D97-AF65-F5344CB8AC3E}">
        <p14:creationId xmlns:p14="http://schemas.microsoft.com/office/powerpoint/2010/main" val="313755682"/>
      </p:ext>
    </p:extLst>
  </p:cSld>
</p:sld>
</file>

<file path=ppt/slides/slide8.xml><?xml version="1.0" encoding="utf-8"?>
<p:sld xmlns:p="http://schemas.openxmlformats.org/presentationml/2006/main">
  <p:cSld>
    <p:bg>
      <p:bgPr>
        <a:solidFill xmlns:a="http://schemas.openxmlformats.org/drawingml/2006/main">
          <a:srgbClr val="07090C"/>
        </a:solidFill>
      </p:bgPr>
    </p:bg>
    <p:spTree>
      <p:nvGrpSpPr>
        <p:cNvPr id="1" name=""/>
        <p:cNvGrpSpPr/>
        <p:nvPr/>
      </p:nvGrpSpPr>
      <p:grpSpPr>
        <a:xfrm xmlns:a="http://schemas.openxmlformats.org/drawingml/2006/main"/>
      </p:grpSpPr>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55396fa14e8646f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44F14E2-51BA-42E5-A2D3-8C751CDC5309}"/>
              </a:ext>
            </a:extLst>
          </p:cNvPr>
          <p:cNvSpPr>
            <a:spLocks xmlns:a="http://schemas.openxmlformats.org/drawingml/2006/main" noGrp="1"/>
          </p:cNvSpPr>
          <p:nvPr/>
        </p:nvSpPr>
        <p:spPr>
          <a:xfrm xmlns:a="http://schemas.openxmlformats.org/drawingml/2006/main">
            <a:off x="0" y="0"/>
            <a:ext cx="7334250" cy="6858000"/>
          </a:xfrm>
          <a:prstGeom xmlns:a="http://schemas.openxmlformats.org/drawingml/2006/main" prst="rect">
            <a:avLst/>
          </a:prstGeom>
          <a:gradFill xmlns:a="http://schemas.openxmlformats.org/drawingml/2006/main">
            <a:gsLst>
              <a:gs pos="0">
                <a:srgbClr val="07090C"/>
              </a:gs>
              <a:gs pos="70000">
                <a:srgbClr val="07090C">
                  <a:alpha val="98000"/>
                </a:srgbClr>
              </a:gs>
              <a:gs pos="100000">
                <a:srgbClr val="07090C">
                  <a:alpha val="0"/>
                </a:srgbClr>
              </a:gs>
            </a:gsLst>
            <a:lin ang="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413A78B-FD98-46AB-A9E5-09D0F92E600A}"/>
              </a:ext>
            </a:extLst>
          </p:cNvPr>
          <p:cNvSpPr>
            <a:spLocks xmlns:a="http://schemas.openxmlformats.org/drawingml/2006/main" noGrp="1"/>
          </p:cNvSpPr>
          <p:nvPr/>
        </p:nvSpPr>
        <p:spPr>
          <a:xfrm xmlns:a="http://schemas.openxmlformats.org/drawingml/2006/main">
            <a:off x="609600" y="3429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975" b="1">
                <a:solidFill>
                  <a:srgbClr val="F26B38"/>
                </a:solidFill>
                <a:latin typeface="DejaVu Sans Mono"/>
                <a:ea typeface="DejaVu Sans Mono"/>
                <a:cs typeface="DejaVu Sans Mono"/>
              </a:defRPr>
            </a:pPr>
            <a:r>
              <a:rPr sz="975" b="1">
                <a:solidFill>
                  <a:srgbClr val="F26B38"/>
                </a:solidFill>
                <a:latin typeface="DejaVu Sans Mono"/>
                <a:ea typeface="DejaVu Sans Mono"/>
                <a:cs typeface="DejaVu Sans Mono"/>
              </a:rPr>
              <a:t>08  /  ENGINEERING HARNESS</a:t>
            </a:r>
          </a:p>
        </p:txBody>
      </p:sp>
      <p:sp>
        <p:nvSpPr>
          <p:cNvPr id="4" name="">
            <a:extLst xmlns:a="http://schemas.openxmlformats.org/drawingml/2006/main">
              <a:ext uri="{FF2B5EF4-FFF2-40B4-BE49-F238E27FC236}">
                <a16:creationId xmlns:a16="http://schemas.microsoft.com/office/drawing/2014/main" id="{5742B698-46FE-43CC-AB81-B57F29518A5B}"/>
              </a:ext>
            </a:extLst>
          </p:cNvPr>
          <p:cNvSpPr>
            <a:spLocks xmlns:a="http://schemas.openxmlformats.org/drawingml/2006/main" noGrp="1"/>
          </p:cNvSpPr>
          <p:nvPr/>
        </p:nvSpPr>
        <p:spPr>
          <a:xfrm xmlns:a="http://schemas.openxmlformats.org/drawingml/2006/main">
            <a:off x="609600" y="685800"/>
            <a:ext cx="6667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4000"/>
              </a:lnSpc>
              <a:buNone/>
              <a:defRPr sz="2325" b="1">
                <a:solidFill>
                  <a:srgbClr val="F4F6F8"/>
                </a:solidFill>
                <a:latin typeface="DejaVu Sans"/>
                <a:ea typeface="DejaVu Sans"/>
                <a:cs typeface="DejaVu Sans"/>
              </a:defRPr>
            </a:pPr>
            <a:r>
              <a:rPr sz="2325" b="1">
                <a:solidFill>
                  <a:srgbClr val="F4F6F8"/>
                </a:solidFill>
                <a:latin typeface="DejaVu Sans"/>
                <a:ea typeface="DejaVu Sans"/>
                <a:cs typeface="DejaVu Sans"/>
              </a:rPr>
              <a:t>Intelligent Engineer turns evidence into a controlled baseline</a:t>
            </a:r>
          </a:p>
        </p:txBody>
      </p:sp>
      <p:sp>
        <p:nvSpPr>
          <p:cNvPr id="5" name="">
            <a:extLst xmlns:a="http://schemas.openxmlformats.org/drawingml/2006/main">
              <a:ext uri="{FF2B5EF4-FFF2-40B4-BE49-F238E27FC236}">
                <a16:creationId xmlns:a16="http://schemas.microsoft.com/office/drawing/2014/main" id="{20D2043A-3973-4C9B-9A3A-0CCC64FEFAE4}"/>
              </a:ext>
            </a:extLst>
          </p:cNvPr>
          <p:cNvSpPr>
            <a:spLocks xmlns:a="http://schemas.openxmlformats.org/drawingml/2006/main" noGrp="1"/>
          </p:cNvSpPr>
          <p:nvPr/>
        </p:nvSpPr>
        <p:spPr>
          <a:xfrm xmlns:a="http://schemas.openxmlformats.org/drawingml/2006/main">
            <a:off x="628650" y="1543050"/>
            <a:ext cx="581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500" b="0">
                <a:solidFill>
                  <a:srgbClr val="D8DEE3"/>
                </a:solidFill>
                <a:latin typeface="DejaVu Sans"/>
                <a:ea typeface="DejaVu Sans"/>
                <a:cs typeface="DejaVu Sans"/>
              </a:defRPr>
            </a:pPr>
            <a:r>
              <a:rPr sz="1500" b="0">
                <a:solidFill>
                  <a:srgbClr val="D8DEE3"/>
                </a:solidFill>
                <a:latin typeface="DejaVu Sans"/>
                <a:ea typeface="DejaVu Sans"/>
                <a:cs typeface="DejaVu Sans"/>
              </a:rPr>
              <a:t>Drafts accelerate work. Phase gates authorize work.</a:t>
            </a:r>
          </a:p>
        </p:txBody>
      </p:sp>
      <p:sp>
        <p:nvSpPr>
          <p:cNvPr id="6" name="">
            <a:extLst xmlns:a="http://schemas.openxmlformats.org/drawingml/2006/main">
              <a:ext uri="{FF2B5EF4-FFF2-40B4-BE49-F238E27FC236}">
                <a16:creationId xmlns:a16="http://schemas.microsoft.com/office/drawing/2014/main" id="{F8C69C8A-58CB-4844-81E2-8BAD4ACE3041}"/>
              </a:ext>
            </a:extLst>
          </p:cNvPr>
          <p:cNvSpPr>
            <a:spLocks xmlns:a="http://schemas.openxmlformats.org/drawingml/2006/main" noGrp="1"/>
          </p:cNvSpPr>
          <p:nvPr/>
        </p:nvSpPr>
        <p:spPr>
          <a:xfrm xmlns:a="http://schemas.openxmlformats.org/drawingml/2006/main">
            <a:off x="895350" y="2552700"/>
            <a:ext cx="4972050" cy="38100"/>
          </a:xfrm>
          <a:prstGeom xmlns:a="http://schemas.openxmlformats.org/drawingml/2006/main" prst="rect">
            <a:avLst/>
          </a:prstGeom>
          <a:solidFill xmlns:a="http://schemas.openxmlformats.org/drawingml/2006/main">
            <a:srgbClr val="35414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BBABCC8-4989-4AC3-AE36-589FA7C2F9B1}"/>
              </a:ext>
            </a:extLst>
          </p:cNvPr>
          <p:cNvSpPr>
            <a:spLocks xmlns:a="http://schemas.openxmlformats.org/drawingml/2006/main" noGrp="1"/>
          </p:cNvSpPr>
          <p:nvPr/>
        </p:nvSpPr>
        <p:spPr>
          <a:xfrm xmlns:a="http://schemas.openxmlformats.org/drawingml/2006/main">
            <a:off x="895350" y="2457450"/>
            <a:ext cx="228600" cy="228600"/>
          </a:xfrm>
          <a:prstGeom xmlns:a="http://schemas.openxmlformats.org/drawingml/2006/main" prst="ellipse">
            <a:avLst/>
          </a:prstGeom>
          <a:solidFill xmlns:a="http://schemas.openxmlformats.org/drawingml/2006/main">
            <a:srgbClr val="39D7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1424A6B-7600-4D72-BBD0-3515B663117A}"/>
              </a:ext>
            </a:extLst>
          </p:cNvPr>
          <p:cNvSpPr>
            <a:spLocks xmlns:a="http://schemas.openxmlformats.org/drawingml/2006/main" noGrp="1"/>
          </p:cNvSpPr>
          <p:nvPr/>
        </p:nvSpPr>
        <p:spPr>
          <a:xfrm xmlns:a="http://schemas.openxmlformats.org/drawingml/2006/main">
            <a:off x="571500" y="2857500"/>
            <a:ext cx="895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975" b="1">
                <a:solidFill>
                  <a:srgbClr val="39D7FF"/>
                </a:solidFill>
                <a:latin typeface="DejaVu Sans Mono"/>
                <a:ea typeface="DejaVu Sans Mono"/>
                <a:cs typeface="DejaVu Sans Mono"/>
              </a:defRPr>
            </a:pPr>
            <a:r>
              <a:rPr sz="975" b="1">
                <a:solidFill>
                  <a:srgbClr val="39D7FF"/>
                </a:solidFill>
                <a:latin typeface="DejaVu Sans Mono"/>
                <a:ea typeface="DejaVu Sans Mono"/>
                <a:cs typeface="DejaVu Sans Mono"/>
              </a:rPr>
              <a:t>REQUIRE</a:t>
            </a:r>
          </a:p>
        </p:txBody>
      </p:sp>
      <p:sp>
        <p:nvSpPr>
          <p:cNvPr id="9" name="">
            <a:extLst xmlns:a="http://schemas.openxmlformats.org/drawingml/2006/main">
              <a:ext uri="{FF2B5EF4-FFF2-40B4-BE49-F238E27FC236}">
                <a16:creationId xmlns:a16="http://schemas.microsoft.com/office/drawing/2014/main" id="{1C314A3D-0989-4AE4-8996-B644BF572617}"/>
              </a:ext>
            </a:extLst>
          </p:cNvPr>
          <p:cNvSpPr>
            <a:spLocks xmlns:a="http://schemas.openxmlformats.org/drawingml/2006/main" noGrp="1"/>
          </p:cNvSpPr>
          <p:nvPr/>
        </p:nvSpPr>
        <p:spPr>
          <a:xfrm xmlns:a="http://schemas.openxmlformats.org/drawingml/2006/main">
            <a:off x="552450" y="3124200"/>
            <a:ext cx="9334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050" b="0">
                <a:solidFill>
                  <a:srgbClr val="8D99A3"/>
                </a:solidFill>
                <a:latin typeface="DejaVu Sans"/>
                <a:ea typeface="DejaVu Sans"/>
                <a:cs typeface="DejaVu Sans"/>
              </a:defRPr>
            </a:pPr>
            <a:r>
              <a:rPr sz="1050" b="0">
                <a:solidFill>
                  <a:srgbClr val="8D99A3"/>
                </a:solidFill>
                <a:latin typeface="DejaVu Sans"/>
                <a:ea typeface="DejaVu Sans"/>
                <a:cs typeface="DejaVu Sans"/>
              </a:rPr>
              <a:t>mission + constraints</a:t>
            </a:r>
          </a:p>
        </p:txBody>
      </p:sp>
      <p:sp>
        <p:nvSpPr>
          <p:cNvPr id="10" name="">
            <a:extLst xmlns:a="http://schemas.openxmlformats.org/drawingml/2006/main">
              <a:ext uri="{FF2B5EF4-FFF2-40B4-BE49-F238E27FC236}">
                <a16:creationId xmlns:a16="http://schemas.microsoft.com/office/drawing/2014/main" id="{2553C784-74FB-4186-98A7-435A07C839BF}"/>
              </a:ext>
            </a:extLst>
          </p:cNvPr>
          <p:cNvSpPr>
            <a:spLocks xmlns:a="http://schemas.openxmlformats.org/drawingml/2006/main" noGrp="1"/>
          </p:cNvSpPr>
          <p:nvPr/>
        </p:nvSpPr>
        <p:spPr>
          <a:xfrm xmlns:a="http://schemas.openxmlformats.org/drawingml/2006/main" rot="0">
            <a:off x="1181100" y="2495550"/>
            <a:ext cx="476250" cy="152400"/>
          </a:xfrm>
          <a:prstGeom xmlns:a="http://schemas.openxmlformats.org/drawingml/2006/main" prst="rightArrow">
            <a:avLst/>
          </a:prstGeom>
          <a:solidFill xmlns:a="http://schemas.openxmlformats.org/drawingml/2006/main">
            <a:srgbClr val="39D7FF">
              <a:alpha val="55000"/>
            </a:srgbClr>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0E5096E-8CE5-4E06-B275-AC8ACED94C24}"/>
              </a:ext>
            </a:extLst>
          </p:cNvPr>
          <p:cNvSpPr>
            <a:spLocks xmlns:a="http://schemas.openxmlformats.org/drawingml/2006/main" noGrp="1"/>
          </p:cNvSpPr>
          <p:nvPr/>
        </p:nvSpPr>
        <p:spPr>
          <a:xfrm xmlns:a="http://schemas.openxmlformats.org/drawingml/2006/main">
            <a:off x="1866900" y="2457450"/>
            <a:ext cx="228600" cy="228600"/>
          </a:xfrm>
          <a:prstGeom xmlns:a="http://schemas.openxmlformats.org/drawingml/2006/main" prst="ellipse">
            <a:avLst/>
          </a:prstGeom>
          <a:solidFill xmlns:a="http://schemas.openxmlformats.org/drawingml/2006/main">
            <a:srgbClr val="39D7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9CE5EFC-56AB-42FB-B05A-61DC38CEBD5B}"/>
              </a:ext>
            </a:extLst>
          </p:cNvPr>
          <p:cNvSpPr>
            <a:spLocks xmlns:a="http://schemas.openxmlformats.org/drawingml/2006/main" noGrp="1"/>
          </p:cNvSpPr>
          <p:nvPr/>
        </p:nvSpPr>
        <p:spPr>
          <a:xfrm xmlns:a="http://schemas.openxmlformats.org/drawingml/2006/main">
            <a:off x="1543050" y="2857500"/>
            <a:ext cx="895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975" b="1">
                <a:solidFill>
                  <a:srgbClr val="39D7FF"/>
                </a:solidFill>
                <a:latin typeface="DejaVu Sans Mono"/>
                <a:ea typeface="DejaVu Sans Mono"/>
                <a:cs typeface="DejaVu Sans Mono"/>
              </a:defRPr>
            </a:pPr>
            <a:r>
              <a:rPr sz="975" b="1">
                <a:solidFill>
                  <a:srgbClr val="39D7FF"/>
                </a:solidFill>
                <a:latin typeface="DejaVu Sans Mono"/>
                <a:ea typeface="DejaVu Sans Mono"/>
                <a:cs typeface="DejaVu Sans Mono"/>
              </a:rPr>
              <a:t>TRADE</a:t>
            </a:r>
          </a:p>
        </p:txBody>
      </p:sp>
      <p:sp>
        <p:nvSpPr>
          <p:cNvPr id="13" name="">
            <a:extLst xmlns:a="http://schemas.openxmlformats.org/drawingml/2006/main">
              <a:ext uri="{FF2B5EF4-FFF2-40B4-BE49-F238E27FC236}">
                <a16:creationId xmlns:a16="http://schemas.microsoft.com/office/drawing/2014/main" id="{3225E171-F916-49B3-A553-55CB49506385}"/>
              </a:ext>
            </a:extLst>
          </p:cNvPr>
          <p:cNvSpPr>
            <a:spLocks xmlns:a="http://schemas.openxmlformats.org/drawingml/2006/main" noGrp="1"/>
          </p:cNvSpPr>
          <p:nvPr/>
        </p:nvSpPr>
        <p:spPr>
          <a:xfrm xmlns:a="http://schemas.openxmlformats.org/drawingml/2006/main">
            <a:off x="1524000" y="3124200"/>
            <a:ext cx="9334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050" b="0">
                <a:solidFill>
                  <a:srgbClr val="8D99A3"/>
                </a:solidFill>
                <a:latin typeface="DejaVu Sans"/>
                <a:ea typeface="DejaVu Sans"/>
                <a:cs typeface="DejaVu Sans"/>
              </a:defRPr>
            </a:pPr>
            <a:r>
              <a:rPr sz="1050" b="0">
                <a:solidFill>
                  <a:srgbClr val="8D99A3"/>
                </a:solidFill>
                <a:latin typeface="DejaVu Sans"/>
                <a:ea typeface="DejaVu Sans"/>
                <a:cs typeface="DejaVu Sans"/>
              </a:rPr>
              <a:t>architecture + margins</a:t>
            </a:r>
          </a:p>
        </p:txBody>
      </p:sp>
      <p:sp>
        <p:nvSpPr>
          <p:cNvPr id="14" name="">
            <a:extLst xmlns:a="http://schemas.openxmlformats.org/drawingml/2006/main">
              <a:ext uri="{FF2B5EF4-FFF2-40B4-BE49-F238E27FC236}">
                <a16:creationId xmlns:a16="http://schemas.microsoft.com/office/drawing/2014/main" id="{631255F7-2693-47D3-9CDC-696BDE43C49E}"/>
              </a:ext>
            </a:extLst>
          </p:cNvPr>
          <p:cNvSpPr>
            <a:spLocks xmlns:a="http://schemas.openxmlformats.org/drawingml/2006/main" noGrp="1"/>
          </p:cNvSpPr>
          <p:nvPr/>
        </p:nvSpPr>
        <p:spPr>
          <a:xfrm xmlns:a="http://schemas.openxmlformats.org/drawingml/2006/main" rot="0">
            <a:off x="2152650" y="2495550"/>
            <a:ext cx="476250" cy="152400"/>
          </a:xfrm>
          <a:prstGeom xmlns:a="http://schemas.openxmlformats.org/drawingml/2006/main" prst="rightArrow">
            <a:avLst/>
          </a:prstGeom>
          <a:solidFill xmlns:a="http://schemas.openxmlformats.org/drawingml/2006/main">
            <a:srgbClr val="39D7FF">
              <a:alpha val="55000"/>
            </a:srgbClr>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2D8F99B-668D-4040-B5A4-73E5F439494B}"/>
              </a:ext>
            </a:extLst>
          </p:cNvPr>
          <p:cNvSpPr>
            <a:spLocks xmlns:a="http://schemas.openxmlformats.org/drawingml/2006/main" noGrp="1"/>
          </p:cNvSpPr>
          <p:nvPr/>
        </p:nvSpPr>
        <p:spPr>
          <a:xfrm xmlns:a="http://schemas.openxmlformats.org/drawingml/2006/main">
            <a:off x="2838450" y="2457450"/>
            <a:ext cx="228600" cy="228600"/>
          </a:xfrm>
          <a:prstGeom xmlns:a="http://schemas.openxmlformats.org/drawingml/2006/main" prst="ellipse">
            <a:avLst/>
          </a:prstGeom>
          <a:solidFill xmlns:a="http://schemas.openxmlformats.org/drawingml/2006/main">
            <a:srgbClr val="F26B3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BC8F3C4-6C57-4501-BAF4-BB3A8FF13727}"/>
              </a:ext>
            </a:extLst>
          </p:cNvPr>
          <p:cNvSpPr>
            <a:spLocks xmlns:a="http://schemas.openxmlformats.org/drawingml/2006/main" noGrp="1"/>
          </p:cNvSpPr>
          <p:nvPr/>
        </p:nvSpPr>
        <p:spPr>
          <a:xfrm xmlns:a="http://schemas.openxmlformats.org/drawingml/2006/main">
            <a:off x="2514600" y="2857500"/>
            <a:ext cx="895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975" b="1">
                <a:solidFill>
                  <a:srgbClr val="F26B38"/>
                </a:solidFill>
                <a:latin typeface="DejaVu Sans Mono"/>
                <a:ea typeface="DejaVu Sans Mono"/>
                <a:cs typeface="DejaVu Sans Mono"/>
              </a:defRPr>
            </a:pPr>
            <a:r>
              <a:rPr sz="975" b="1">
                <a:solidFill>
                  <a:srgbClr val="F26B38"/>
                </a:solidFill>
                <a:latin typeface="DejaVu Sans Mono"/>
                <a:ea typeface="DejaVu Sans Mono"/>
                <a:cs typeface="DejaVu Sans Mono"/>
              </a:rPr>
              <a:t>DESIGN</a:t>
            </a:r>
          </a:p>
        </p:txBody>
      </p:sp>
      <p:sp>
        <p:nvSpPr>
          <p:cNvPr id="17" name="">
            <a:extLst xmlns:a="http://schemas.openxmlformats.org/drawingml/2006/main">
              <a:ext uri="{FF2B5EF4-FFF2-40B4-BE49-F238E27FC236}">
                <a16:creationId xmlns:a16="http://schemas.microsoft.com/office/drawing/2014/main" id="{83498A43-764E-45E9-A535-9F31ED72A234}"/>
              </a:ext>
            </a:extLst>
          </p:cNvPr>
          <p:cNvSpPr>
            <a:spLocks xmlns:a="http://schemas.openxmlformats.org/drawingml/2006/main" noGrp="1"/>
          </p:cNvSpPr>
          <p:nvPr/>
        </p:nvSpPr>
        <p:spPr>
          <a:xfrm xmlns:a="http://schemas.openxmlformats.org/drawingml/2006/main">
            <a:off x="2495550" y="3124200"/>
            <a:ext cx="9334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050" b="0">
                <a:solidFill>
                  <a:srgbClr val="8D99A3"/>
                </a:solidFill>
                <a:latin typeface="DejaVu Sans"/>
                <a:ea typeface="DejaVu Sans"/>
                <a:cs typeface="DejaVu Sans"/>
              </a:defRPr>
            </a:pPr>
            <a:r>
              <a:rPr sz="1050" b="0">
                <a:solidFill>
                  <a:srgbClr val="8D99A3"/>
                </a:solidFill>
                <a:latin typeface="DejaVu Sans"/>
                <a:ea typeface="DejaVu Sans"/>
                <a:cs typeface="DejaVu Sans"/>
              </a:rPr>
              <a:t>PDR / CDR sprints</a:t>
            </a:r>
          </a:p>
        </p:txBody>
      </p:sp>
      <p:sp>
        <p:nvSpPr>
          <p:cNvPr id="18" name="">
            <a:extLst xmlns:a="http://schemas.openxmlformats.org/drawingml/2006/main">
              <a:ext uri="{FF2B5EF4-FFF2-40B4-BE49-F238E27FC236}">
                <a16:creationId xmlns:a16="http://schemas.microsoft.com/office/drawing/2014/main" id="{DF02E7D5-7640-45DA-B953-2CEF444C90AB}"/>
              </a:ext>
            </a:extLst>
          </p:cNvPr>
          <p:cNvSpPr>
            <a:spLocks xmlns:a="http://schemas.openxmlformats.org/drawingml/2006/main" noGrp="1"/>
          </p:cNvSpPr>
          <p:nvPr/>
        </p:nvSpPr>
        <p:spPr>
          <a:xfrm xmlns:a="http://schemas.openxmlformats.org/drawingml/2006/main" rot="0">
            <a:off x="3124200" y="2495550"/>
            <a:ext cx="476250" cy="152400"/>
          </a:xfrm>
          <a:prstGeom xmlns:a="http://schemas.openxmlformats.org/drawingml/2006/main" prst="rightArrow">
            <a:avLst/>
          </a:prstGeom>
          <a:solidFill xmlns:a="http://schemas.openxmlformats.org/drawingml/2006/main">
            <a:srgbClr val="F26B38">
              <a:alpha val="55000"/>
            </a:srgbClr>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A4713F4-419D-40A9-B7D2-E3CFB02D65DA}"/>
              </a:ext>
            </a:extLst>
          </p:cNvPr>
          <p:cNvSpPr>
            <a:spLocks xmlns:a="http://schemas.openxmlformats.org/drawingml/2006/main" noGrp="1"/>
          </p:cNvSpPr>
          <p:nvPr/>
        </p:nvSpPr>
        <p:spPr>
          <a:xfrm xmlns:a="http://schemas.openxmlformats.org/drawingml/2006/main">
            <a:off x="3810000" y="2457450"/>
            <a:ext cx="228600" cy="228600"/>
          </a:xfrm>
          <a:prstGeom xmlns:a="http://schemas.openxmlformats.org/drawingml/2006/main" prst="ellipse">
            <a:avLst/>
          </a:prstGeom>
          <a:solidFill xmlns:a="http://schemas.openxmlformats.org/drawingml/2006/main">
            <a:srgbClr val="F26B3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395837A-42F6-45A8-ADDB-1206572DD97E}"/>
              </a:ext>
            </a:extLst>
          </p:cNvPr>
          <p:cNvSpPr>
            <a:spLocks xmlns:a="http://schemas.openxmlformats.org/drawingml/2006/main" noGrp="1"/>
          </p:cNvSpPr>
          <p:nvPr/>
        </p:nvSpPr>
        <p:spPr>
          <a:xfrm xmlns:a="http://schemas.openxmlformats.org/drawingml/2006/main">
            <a:off x="3486150" y="2857500"/>
            <a:ext cx="895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975" b="1">
                <a:solidFill>
                  <a:srgbClr val="F26B38"/>
                </a:solidFill>
                <a:latin typeface="DejaVu Sans Mono"/>
                <a:ea typeface="DejaVu Sans Mono"/>
                <a:cs typeface="DejaVu Sans Mono"/>
              </a:defRPr>
            </a:pPr>
            <a:r>
              <a:rPr sz="975" b="1">
                <a:solidFill>
                  <a:srgbClr val="F26B38"/>
                </a:solidFill>
                <a:latin typeface="DejaVu Sans Mono"/>
                <a:ea typeface="DejaVu Sans Mono"/>
                <a:cs typeface="DejaVu Sans Mono"/>
              </a:rPr>
              <a:t>HARDEN</a:t>
            </a:r>
          </a:p>
        </p:txBody>
      </p:sp>
      <p:sp>
        <p:nvSpPr>
          <p:cNvPr id="21" name="">
            <a:extLst xmlns:a="http://schemas.openxmlformats.org/drawingml/2006/main">
              <a:ext uri="{FF2B5EF4-FFF2-40B4-BE49-F238E27FC236}">
                <a16:creationId xmlns:a16="http://schemas.microsoft.com/office/drawing/2014/main" id="{2B80CD9C-83FE-487D-9CD3-1886F8020877}"/>
              </a:ext>
            </a:extLst>
          </p:cNvPr>
          <p:cNvSpPr>
            <a:spLocks xmlns:a="http://schemas.openxmlformats.org/drawingml/2006/main" noGrp="1"/>
          </p:cNvSpPr>
          <p:nvPr/>
        </p:nvSpPr>
        <p:spPr>
          <a:xfrm xmlns:a="http://schemas.openxmlformats.org/drawingml/2006/main">
            <a:off x="3467100" y="3124200"/>
            <a:ext cx="9334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050" b="0">
                <a:solidFill>
                  <a:srgbClr val="8D99A3"/>
                </a:solidFill>
                <a:latin typeface="DejaVu Sans"/>
                <a:ea typeface="DejaVu Sans"/>
                <a:cs typeface="DejaVu Sans"/>
              </a:defRPr>
            </a:pPr>
            <a:r>
              <a:rPr sz="1050" b="0">
                <a:solidFill>
                  <a:srgbClr val="8D99A3"/>
                </a:solidFill>
                <a:latin typeface="DejaVu Sans"/>
                <a:ea typeface="DejaVu Sans"/>
                <a:cs typeface="DejaVu Sans"/>
              </a:rPr>
              <a:t>DFMA • FMEA • faults</a:t>
            </a:r>
          </a:p>
        </p:txBody>
      </p:sp>
      <p:sp>
        <p:nvSpPr>
          <p:cNvPr id="22" name="">
            <a:extLst xmlns:a="http://schemas.openxmlformats.org/drawingml/2006/main">
              <a:ext uri="{FF2B5EF4-FFF2-40B4-BE49-F238E27FC236}">
                <a16:creationId xmlns:a16="http://schemas.microsoft.com/office/drawing/2014/main" id="{9272C2C7-8C82-4FA6-A187-C6351203E3CC}"/>
              </a:ext>
            </a:extLst>
          </p:cNvPr>
          <p:cNvSpPr>
            <a:spLocks xmlns:a="http://schemas.openxmlformats.org/drawingml/2006/main" noGrp="1"/>
          </p:cNvSpPr>
          <p:nvPr/>
        </p:nvSpPr>
        <p:spPr>
          <a:xfrm xmlns:a="http://schemas.openxmlformats.org/drawingml/2006/main" rot="0">
            <a:off x="4095750" y="2495550"/>
            <a:ext cx="476250" cy="152400"/>
          </a:xfrm>
          <a:prstGeom xmlns:a="http://schemas.openxmlformats.org/drawingml/2006/main" prst="rightArrow">
            <a:avLst/>
          </a:prstGeom>
          <a:solidFill xmlns:a="http://schemas.openxmlformats.org/drawingml/2006/main">
            <a:srgbClr val="F26B38">
              <a:alpha val="55000"/>
            </a:srgbClr>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B3A527E-21BC-4ACF-952E-6F7784211C4E}"/>
              </a:ext>
            </a:extLst>
          </p:cNvPr>
          <p:cNvSpPr>
            <a:spLocks xmlns:a="http://schemas.openxmlformats.org/drawingml/2006/main" noGrp="1"/>
          </p:cNvSpPr>
          <p:nvPr/>
        </p:nvSpPr>
        <p:spPr>
          <a:xfrm xmlns:a="http://schemas.openxmlformats.org/drawingml/2006/main">
            <a:off x="4781550" y="2457450"/>
            <a:ext cx="228600" cy="228600"/>
          </a:xfrm>
          <a:prstGeom xmlns:a="http://schemas.openxmlformats.org/drawingml/2006/main" prst="ellipse">
            <a:avLst/>
          </a:prstGeom>
          <a:solidFill xmlns:a="http://schemas.openxmlformats.org/drawingml/2006/main">
            <a:srgbClr val="62D6A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23BD147-B326-427B-8B70-63EB1F7BE80A}"/>
              </a:ext>
            </a:extLst>
          </p:cNvPr>
          <p:cNvSpPr>
            <a:spLocks xmlns:a="http://schemas.openxmlformats.org/drawingml/2006/main" noGrp="1"/>
          </p:cNvSpPr>
          <p:nvPr/>
        </p:nvSpPr>
        <p:spPr>
          <a:xfrm xmlns:a="http://schemas.openxmlformats.org/drawingml/2006/main">
            <a:off x="4457700" y="2857500"/>
            <a:ext cx="895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975" b="1">
                <a:solidFill>
                  <a:srgbClr val="62D6A7"/>
                </a:solidFill>
                <a:latin typeface="DejaVu Sans Mono"/>
                <a:ea typeface="DejaVu Sans Mono"/>
                <a:cs typeface="DejaVu Sans Mono"/>
              </a:defRPr>
            </a:pPr>
            <a:r>
              <a:rPr sz="975" b="1">
                <a:solidFill>
                  <a:srgbClr val="62D6A7"/>
                </a:solidFill>
                <a:latin typeface="DejaVu Sans Mono"/>
                <a:ea typeface="DejaVu Sans Mono"/>
                <a:cs typeface="DejaVu Sans Mono"/>
              </a:rPr>
              <a:t>VERIFY</a:t>
            </a:r>
          </a:p>
        </p:txBody>
      </p:sp>
      <p:sp>
        <p:nvSpPr>
          <p:cNvPr id="25" name="">
            <a:extLst xmlns:a="http://schemas.openxmlformats.org/drawingml/2006/main">
              <a:ext uri="{FF2B5EF4-FFF2-40B4-BE49-F238E27FC236}">
                <a16:creationId xmlns:a16="http://schemas.microsoft.com/office/drawing/2014/main" id="{274201F0-BE97-4788-8774-C872056F47A8}"/>
              </a:ext>
            </a:extLst>
          </p:cNvPr>
          <p:cNvSpPr>
            <a:spLocks xmlns:a="http://schemas.openxmlformats.org/drawingml/2006/main" noGrp="1"/>
          </p:cNvSpPr>
          <p:nvPr/>
        </p:nvSpPr>
        <p:spPr>
          <a:xfrm xmlns:a="http://schemas.openxmlformats.org/drawingml/2006/main">
            <a:off x="4438650" y="3124200"/>
            <a:ext cx="9334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050" b="0">
                <a:solidFill>
                  <a:srgbClr val="8D99A3"/>
                </a:solidFill>
                <a:latin typeface="DejaVu Sans"/>
                <a:ea typeface="DejaVu Sans"/>
                <a:cs typeface="DejaVu Sans"/>
              </a:defRPr>
            </a:pPr>
            <a:r>
              <a:rPr sz="1050" b="0">
                <a:solidFill>
                  <a:srgbClr val="8D99A3"/>
                </a:solidFill>
                <a:latin typeface="DejaVu Sans"/>
                <a:ea typeface="DejaVu Sans"/>
                <a:cs typeface="DejaVu Sans"/>
              </a:rPr>
              <a:t>methods + acceptance</a:t>
            </a:r>
          </a:p>
        </p:txBody>
      </p:sp>
      <p:sp>
        <p:nvSpPr>
          <p:cNvPr id="26" name="">
            <a:extLst xmlns:a="http://schemas.openxmlformats.org/drawingml/2006/main">
              <a:ext uri="{FF2B5EF4-FFF2-40B4-BE49-F238E27FC236}">
                <a16:creationId xmlns:a16="http://schemas.microsoft.com/office/drawing/2014/main" id="{7FAF4F4D-206E-464A-9541-887E2E23EB12}"/>
              </a:ext>
            </a:extLst>
          </p:cNvPr>
          <p:cNvSpPr>
            <a:spLocks xmlns:a="http://schemas.openxmlformats.org/drawingml/2006/main" noGrp="1"/>
          </p:cNvSpPr>
          <p:nvPr/>
        </p:nvSpPr>
        <p:spPr>
          <a:xfrm xmlns:a="http://schemas.openxmlformats.org/drawingml/2006/main" rot="0">
            <a:off x="5067300" y="2495550"/>
            <a:ext cx="476250" cy="152400"/>
          </a:xfrm>
          <a:prstGeom xmlns:a="http://schemas.openxmlformats.org/drawingml/2006/main" prst="rightArrow">
            <a:avLst/>
          </a:prstGeom>
          <a:solidFill xmlns:a="http://schemas.openxmlformats.org/drawingml/2006/main">
            <a:srgbClr val="62D6A7">
              <a:alpha val="55000"/>
            </a:srgbClr>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CBE0F61-6DE7-41EC-AF60-5F7A2B8FAC8F}"/>
              </a:ext>
            </a:extLst>
          </p:cNvPr>
          <p:cNvSpPr>
            <a:spLocks xmlns:a="http://schemas.openxmlformats.org/drawingml/2006/main" noGrp="1"/>
          </p:cNvSpPr>
          <p:nvPr/>
        </p:nvSpPr>
        <p:spPr>
          <a:xfrm xmlns:a="http://schemas.openxmlformats.org/drawingml/2006/main">
            <a:off x="5753100" y="2457450"/>
            <a:ext cx="228600" cy="228600"/>
          </a:xfrm>
          <a:prstGeom xmlns:a="http://schemas.openxmlformats.org/drawingml/2006/main" prst="ellipse">
            <a:avLst/>
          </a:prstGeom>
          <a:solidFill xmlns:a="http://schemas.openxmlformats.org/drawingml/2006/main">
            <a:srgbClr val="FFC857"/>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160D0FB-B195-44A8-9AED-2CBA65C4A1F4}"/>
              </a:ext>
            </a:extLst>
          </p:cNvPr>
          <p:cNvSpPr>
            <a:spLocks xmlns:a="http://schemas.openxmlformats.org/drawingml/2006/main" noGrp="1"/>
          </p:cNvSpPr>
          <p:nvPr/>
        </p:nvSpPr>
        <p:spPr>
          <a:xfrm xmlns:a="http://schemas.openxmlformats.org/drawingml/2006/main">
            <a:off x="5429250" y="2857500"/>
            <a:ext cx="895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975" b="1">
                <a:solidFill>
                  <a:srgbClr val="FFC857"/>
                </a:solidFill>
                <a:latin typeface="DejaVu Sans Mono"/>
                <a:ea typeface="DejaVu Sans Mono"/>
                <a:cs typeface="DejaVu Sans Mono"/>
              </a:defRPr>
            </a:pPr>
            <a:r>
              <a:rPr sz="975" b="1">
                <a:solidFill>
                  <a:srgbClr val="FFC857"/>
                </a:solidFill>
                <a:latin typeface="DejaVu Sans Mono"/>
                <a:ea typeface="DejaVu Sans Mono"/>
                <a:cs typeface="DejaVu Sans Mono"/>
              </a:rPr>
              <a:t>RELEASE</a:t>
            </a:r>
          </a:p>
        </p:txBody>
      </p:sp>
      <p:sp>
        <p:nvSpPr>
          <p:cNvPr id="29" name="">
            <a:extLst xmlns:a="http://schemas.openxmlformats.org/drawingml/2006/main">
              <a:ext uri="{FF2B5EF4-FFF2-40B4-BE49-F238E27FC236}">
                <a16:creationId xmlns:a16="http://schemas.microsoft.com/office/drawing/2014/main" id="{A5D090B7-22FE-4B60-BC91-4BEC943322B5}"/>
              </a:ext>
            </a:extLst>
          </p:cNvPr>
          <p:cNvSpPr>
            <a:spLocks xmlns:a="http://schemas.openxmlformats.org/drawingml/2006/main" noGrp="1"/>
          </p:cNvSpPr>
          <p:nvPr/>
        </p:nvSpPr>
        <p:spPr>
          <a:xfrm xmlns:a="http://schemas.openxmlformats.org/drawingml/2006/main">
            <a:off x="5410200" y="3124200"/>
            <a:ext cx="9334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050" b="0">
                <a:solidFill>
                  <a:srgbClr val="8D99A3"/>
                </a:solidFill>
                <a:latin typeface="DejaVu Sans"/>
                <a:ea typeface="DejaVu Sans"/>
                <a:cs typeface="DejaVu Sans"/>
              </a:defRPr>
            </a:pPr>
            <a:r>
              <a:rPr sz="1050" b="0">
                <a:solidFill>
                  <a:srgbClr val="8D99A3"/>
                </a:solidFill>
                <a:latin typeface="DejaVu Sans"/>
                <a:ea typeface="DejaVu Sans"/>
                <a:cs typeface="DejaVu Sans"/>
              </a:rPr>
              <a:t>locked baseline</a:t>
            </a:r>
          </a:p>
        </p:txBody>
      </p:sp>
      <p:sp>
        <p:nvSpPr>
          <p:cNvPr id="30" name="">
            <a:extLst xmlns:a="http://schemas.openxmlformats.org/drawingml/2006/main">
              <a:ext uri="{FF2B5EF4-FFF2-40B4-BE49-F238E27FC236}">
                <a16:creationId xmlns:a16="http://schemas.microsoft.com/office/drawing/2014/main" id="{82E6344B-DC6B-4B78-A165-9ACD93EC640A}"/>
              </a:ext>
            </a:extLst>
          </p:cNvPr>
          <p:cNvSpPr>
            <a:spLocks xmlns:a="http://schemas.openxmlformats.org/drawingml/2006/main" noGrp="1"/>
          </p:cNvSpPr>
          <p:nvPr/>
        </p:nvSpPr>
        <p:spPr>
          <a:xfrm xmlns:a="http://schemas.openxmlformats.org/drawingml/2006/main">
            <a:off x="1466850" y="4171950"/>
            <a:ext cx="3867150" cy="590550"/>
          </a:xfrm>
          <a:prstGeom xmlns:a="http://schemas.openxmlformats.org/drawingml/2006/main" prst="roundRect">
            <a:avLst>
              <a:gd name="adj" fmla="val 25806"/>
            </a:avLst>
          </a:prstGeom>
          <a:solidFill xmlns:a="http://schemas.openxmlformats.org/drawingml/2006/main">
            <a:srgbClr val="17140F"/>
          </a:solidFill>
          <a:ln xmlns:a="http://schemas.openxmlformats.org/drawingml/2006/main" w="14288">
            <a:solidFill>
              <a:srgbClr val="FFC857"/>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500" b="1">
                <a:solidFill>
                  <a:srgbClr val="FFC857"/>
                </a:solidFill>
                <a:latin typeface="DejaVu Sans Mono"/>
                <a:ea typeface="DejaVu Sans Mono"/>
                <a:cs typeface="DejaVu Sans Mono"/>
              </a:defRPr>
            </a:pPr>
            <a:r>
              <a:rPr sz="1500" b="1">
                <a:solidFill>
                  <a:srgbClr val="FFC857"/>
                </a:solidFill>
                <a:latin typeface="DejaVu Sans Mono"/>
                <a:ea typeface="DejaVu Sans Mono"/>
                <a:cs typeface="DejaVu Sans Mono"/>
              </a:rPr>
              <a:t>LOCKED BASELINE</a:t>
            </a:r>
          </a:p>
        </p:txBody>
      </p:sp>
      <p:sp>
        <p:nvSpPr>
          <p:cNvPr id="31" name="">
            <a:extLst xmlns:a="http://schemas.openxmlformats.org/drawingml/2006/main">
              <a:ext uri="{FF2B5EF4-FFF2-40B4-BE49-F238E27FC236}">
                <a16:creationId xmlns:a16="http://schemas.microsoft.com/office/drawing/2014/main" id="{23C967CD-2CD0-4EEB-B08A-DEE5633E26A8}"/>
              </a:ext>
            </a:extLst>
          </p:cNvPr>
          <p:cNvSpPr>
            <a:spLocks xmlns:a="http://schemas.openxmlformats.org/drawingml/2006/main" noGrp="1"/>
          </p:cNvSpPr>
          <p:nvPr/>
        </p:nvSpPr>
        <p:spPr>
          <a:xfrm xmlns:a="http://schemas.openxmlformats.org/drawingml/2006/main">
            <a:off x="1200150" y="5029200"/>
            <a:ext cx="4495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1350" b="1">
                <a:solidFill>
                  <a:srgbClr val="F4F6F8"/>
                </a:solidFill>
                <a:latin typeface="DejaVu Sans"/>
                <a:ea typeface="DejaVu Sans"/>
                <a:cs typeface="DejaVu Sans"/>
              </a:defRPr>
            </a:pPr>
            <a:r>
              <a:rPr sz="1350" b="1">
                <a:solidFill>
                  <a:srgbClr val="F4F6F8"/>
                </a:solidFill>
                <a:latin typeface="DejaVu Sans"/>
                <a:ea typeface="DejaVu Sans"/>
                <a:cs typeface="DejaVu Sans"/>
              </a:rPr>
              <a:t>Only reviewed phase outputs become authorized inputs downstream.</a:t>
            </a:r>
          </a:p>
        </p:txBody>
      </p:sp>
      <p:sp>
        <p:nvSpPr>
          <p:cNvPr id="32" name="">
            <a:extLst xmlns:a="http://schemas.openxmlformats.org/drawingml/2006/main">
              <a:ext uri="{FF2B5EF4-FFF2-40B4-BE49-F238E27FC236}">
                <a16:creationId xmlns:a16="http://schemas.microsoft.com/office/drawing/2014/main" id="{F3C6B7E5-1614-4A93-830B-A99E8754EF16}"/>
              </a:ext>
            </a:extLst>
          </p:cNvPr>
          <p:cNvSpPr>
            <a:spLocks xmlns:a="http://schemas.openxmlformats.org/drawingml/2006/main" noGrp="1"/>
          </p:cNvSpPr>
          <p:nvPr/>
        </p:nvSpPr>
        <p:spPr>
          <a:xfrm xmlns:a="http://schemas.openxmlformats.org/drawingml/2006/main">
            <a:off x="0" y="6400800"/>
            <a:ext cx="12192000" cy="457200"/>
          </a:xfrm>
          <a:prstGeom xmlns:a="http://schemas.openxmlformats.org/drawingml/2006/main" prst="rect">
            <a:avLst/>
          </a:prstGeom>
          <a:solidFill xmlns:a="http://schemas.openxmlformats.org/drawingml/2006/main">
            <a:srgbClr val="07090C">
              <a:alpha val="76000"/>
            </a:srgbClr>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9F8F202D-C6B4-4795-98AA-7F8FB1E841F6}"/>
              </a:ext>
            </a:extLst>
          </p:cNvPr>
          <p:cNvSpPr>
            <a:spLocks xmlns:a="http://schemas.openxmlformats.org/drawingml/2006/main" noGrp="1"/>
          </p:cNvSpPr>
          <p:nvPr/>
        </p:nvSpPr>
        <p:spPr>
          <a:xfrm xmlns:a="http://schemas.openxmlformats.org/drawingml/2006/main">
            <a:off x="609600" y="6553200"/>
            <a:ext cx="6858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MARS SOCIETY 2026  •  HARNESSED AGENTIC SCIENCE + ENGINEERING</a:t>
            </a:r>
          </a:p>
        </p:txBody>
      </p:sp>
      <p:sp>
        <p:nvSpPr>
          <p:cNvPr id="34" name="">
            <a:extLst xmlns:a="http://schemas.openxmlformats.org/drawingml/2006/main">
              <a:ext uri="{FF2B5EF4-FFF2-40B4-BE49-F238E27FC236}">
                <a16:creationId xmlns:a16="http://schemas.microsoft.com/office/drawing/2014/main" id="{BCF2775D-A133-4E65-9D2B-7E5DEB8800AF}"/>
              </a:ext>
            </a:extLst>
          </p:cNvPr>
          <p:cNvSpPr>
            <a:spLocks xmlns:a="http://schemas.openxmlformats.org/drawingml/2006/main" noGrp="1"/>
          </p:cNvSpPr>
          <p:nvPr/>
        </p:nvSpPr>
        <p:spPr>
          <a:xfrm xmlns:a="http://schemas.openxmlformats.org/drawingml/2006/main">
            <a:off x="9525000" y="6553200"/>
            <a:ext cx="2057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BOB J MILLS     08</a:t>
            </a:r>
          </a:p>
        </p:txBody>
      </p:sp>
    </p:spTree>
    <p:extLst>
      <p:ext uri="{BB962C8B-B14F-4D97-AF65-F5344CB8AC3E}">
        <p14:creationId xmlns:p14="http://schemas.microsoft.com/office/powerpoint/2010/main" val="2112936637"/>
      </p:ext>
    </p:extLst>
  </p:cSld>
</p:sld>
</file>

<file path=ppt/slides/slide9.xml><?xml version="1.0" encoding="utf-8"?>
<p:sld xmlns:p="http://schemas.openxmlformats.org/presentationml/2006/main">
  <p:cSld>
    <p:bg>
      <p:bgPr>
        <a:solidFill xmlns:a="http://schemas.openxmlformats.org/drawingml/2006/main">
          <a:srgbClr val="07090C"/>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DEBAB9EB-389B-4B9F-A2FF-50B4E83828D6}"/>
              </a:ext>
            </a:extLst>
          </p:cNvPr>
          <p:cNvSpPr>
            <a:spLocks xmlns:a="http://schemas.openxmlformats.org/drawingml/2006/main" noGrp="1"/>
          </p:cNvSpPr>
          <p:nvPr/>
        </p:nvSpPr>
        <p:spPr>
          <a:xfrm xmlns:a="http://schemas.openxmlformats.org/drawingml/2006/main">
            <a:off x="609600" y="3429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975" b="1">
                <a:solidFill>
                  <a:srgbClr val="F26B38"/>
                </a:solidFill>
                <a:latin typeface="DejaVu Sans Mono"/>
                <a:ea typeface="DejaVu Sans Mono"/>
                <a:cs typeface="DejaVu Sans Mono"/>
              </a:defRPr>
            </a:pPr>
            <a:r>
              <a:rPr sz="975" b="1">
                <a:solidFill>
                  <a:srgbClr val="F26B38"/>
                </a:solidFill>
                <a:latin typeface="DejaVu Sans Mono"/>
                <a:ea typeface="DejaVu Sans Mono"/>
                <a:cs typeface="DejaVu Sans Mono"/>
              </a:rPr>
              <a:t>09  /  DIGITAL THREAD</a:t>
            </a:r>
          </a:p>
        </p:txBody>
      </p:sp>
      <p:sp>
        <p:nvSpPr>
          <p:cNvPr id="2" name="">
            <a:extLst xmlns:a="http://schemas.openxmlformats.org/drawingml/2006/main">
              <a:ext uri="{FF2B5EF4-FFF2-40B4-BE49-F238E27FC236}">
                <a16:creationId xmlns:a16="http://schemas.microsoft.com/office/drawing/2014/main" id="{82E36457-5F90-4AE7-8126-5948870C8167}"/>
              </a:ext>
            </a:extLst>
          </p:cNvPr>
          <p:cNvSpPr>
            <a:spLocks xmlns:a="http://schemas.openxmlformats.org/drawingml/2006/main" noGrp="1"/>
          </p:cNvSpPr>
          <p:nvPr/>
        </p:nvSpPr>
        <p:spPr>
          <a:xfrm xmlns:a="http://schemas.openxmlformats.org/drawingml/2006/main">
            <a:off x="609600" y="6477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2625" b="1">
                <a:solidFill>
                  <a:srgbClr val="F4F6F8"/>
                </a:solidFill>
                <a:latin typeface="DejaVu Sans"/>
                <a:ea typeface="DejaVu Sans"/>
                <a:cs typeface="DejaVu Sans"/>
              </a:defRPr>
            </a:pPr>
            <a:r>
              <a:rPr sz="2625" b="1">
                <a:solidFill>
                  <a:srgbClr val="F4F6F8"/>
                </a:solidFill>
                <a:latin typeface="DejaVu Sans"/>
                <a:ea typeface="DejaVu Sans"/>
                <a:cs typeface="DejaVu Sans"/>
              </a:rPr>
              <a:t>The handoff is structured—not conversational</a:t>
            </a:r>
          </a:p>
        </p:txBody>
      </p:sp>
      <p:sp>
        <p:nvSpPr>
          <p:cNvPr id="3" name="">
            <a:extLst xmlns:a="http://schemas.openxmlformats.org/drawingml/2006/main">
              <a:ext uri="{FF2B5EF4-FFF2-40B4-BE49-F238E27FC236}">
                <a16:creationId xmlns:a16="http://schemas.microsoft.com/office/drawing/2014/main" id="{A44E6C34-B20A-42F1-B701-CD765AD9CB9C}"/>
              </a:ext>
            </a:extLst>
          </p:cNvPr>
          <p:cNvSpPr>
            <a:spLocks xmlns:a="http://schemas.openxmlformats.org/drawingml/2006/main" noGrp="1"/>
          </p:cNvSpPr>
          <p:nvPr/>
        </p:nvSpPr>
        <p:spPr>
          <a:xfrm xmlns:a="http://schemas.openxmlformats.org/drawingml/2006/main">
            <a:off x="628650" y="12382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425" b="0">
                <a:solidFill>
                  <a:srgbClr val="8D99A3"/>
                </a:solidFill>
                <a:latin typeface="DejaVu Sans"/>
                <a:ea typeface="DejaVu Sans"/>
                <a:cs typeface="DejaVu Sans"/>
              </a:defRPr>
            </a:pPr>
            <a:r>
              <a:rPr sz="1425" b="0">
                <a:solidFill>
                  <a:srgbClr val="8D99A3"/>
                </a:solidFill>
                <a:latin typeface="DejaVu Sans"/>
                <a:ea typeface="DejaVu Sans"/>
                <a:cs typeface="DejaVu Sans"/>
              </a:rPr>
              <a:t>Engineering inherits equations, bounds, provenance and tests together, so changed evidence can reopen the right decisions.</a:t>
            </a:r>
          </a:p>
        </p:txBody>
      </p:sp>
      <p:sp>
        <p:nvSpPr>
          <p:cNvPr id="4" name="">
            <a:extLst xmlns:a="http://schemas.openxmlformats.org/drawingml/2006/main">
              <a:ext uri="{FF2B5EF4-FFF2-40B4-BE49-F238E27FC236}">
                <a16:creationId xmlns:a16="http://schemas.microsoft.com/office/drawing/2014/main" id="{A4A192B9-26B2-4CF3-BBC2-49BB02F57F80}"/>
              </a:ext>
            </a:extLst>
          </p:cNvPr>
          <p:cNvSpPr>
            <a:spLocks xmlns:a="http://schemas.openxmlformats.org/drawingml/2006/main" noGrp="1"/>
          </p:cNvSpPr>
          <p:nvPr/>
        </p:nvSpPr>
        <p:spPr>
          <a:xfrm xmlns:a="http://schemas.openxmlformats.org/drawingml/2006/main">
            <a:off x="609600" y="1676400"/>
            <a:ext cx="10972800" cy="0"/>
          </a:xfrm>
          <a:prstGeom xmlns:a="http://schemas.openxmlformats.org/drawingml/2006/main" prst="line">
            <a:avLst/>
          </a:prstGeom>
          <a:noFill xmlns:a="http://schemas.openxmlformats.org/drawingml/2006/main"/>
          <a:ln xmlns:a="http://schemas.openxmlformats.org/drawingml/2006/main" w="9525">
            <a:solidFill>
              <a:srgbClr val="35414B"/>
            </a:solidFill>
            <a:prstDash val="solid"/>
          </a:ln>
        </p:spPr>
      </p:sp>
      <p:sp>
        <p:nvSpPr>
          <p:cNvPr id="5" name="">
            <a:extLst xmlns:a="http://schemas.openxmlformats.org/drawingml/2006/main">
              <a:ext uri="{FF2B5EF4-FFF2-40B4-BE49-F238E27FC236}">
                <a16:creationId xmlns:a16="http://schemas.microsoft.com/office/drawing/2014/main" id="{548EDA53-E72D-4901-838C-1926E499B45C}"/>
              </a:ext>
            </a:extLst>
          </p:cNvPr>
          <p:cNvSpPr>
            <a:spLocks xmlns:a="http://schemas.openxmlformats.org/drawingml/2006/main" noGrp="1"/>
          </p:cNvSpPr>
          <p:nvPr/>
        </p:nvSpPr>
        <p:spPr>
          <a:xfrm xmlns:a="http://schemas.openxmlformats.org/drawingml/2006/main">
            <a:off x="723900" y="2000250"/>
            <a:ext cx="2133600" cy="419100"/>
          </a:xfrm>
          <a:prstGeom xmlns:a="http://schemas.openxmlformats.org/drawingml/2006/main" prst="roundRect">
            <a:avLst>
              <a:gd name="adj" fmla="val 36364"/>
            </a:avLst>
          </a:prstGeom>
          <a:solidFill xmlns:a="http://schemas.openxmlformats.org/drawingml/2006/main">
            <a:srgbClr val="11171C"/>
          </a:solidFill>
          <a:ln xmlns:a="http://schemas.openxmlformats.org/drawingml/2006/main" w="14288">
            <a:solidFill>
              <a:srgbClr val="39D7FF"/>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050" b="1">
                <a:solidFill>
                  <a:srgbClr val="39D7FF"/>
                </a:solidFill>
                <a:latin typeface="DejaVu Sans Mono"/>
                <a:ea typeface="DejaVu Sans Mono"/>
                <a:cs typeface="DejaVu Sans Mono"/>
              </a:defRPr>
            </a:pPr>
            <a:r>
              <a:rPr sz="1050" b="1">
                <a:solidFill>
                  <a:srgbClr val="39D7FF"/>
                </a:solidFill>
                <a:latin typeface="DejaVu Sans Mono"/>
                <a:ea typeface="DejaVu Sans Mono"/>
                <a:cs typeface="DejaVu Sans Mono"/>
              </a:rPr>
              <a:t>EQUATIONS</a:t>
            </a:r>
          </a:p>
        </p:txBody>
      </p:sp>
      <p:sp>
        <p:nvSpPr>
          <p:cNvPr id="6" name="">
            <a:extLst xmlns:a="http://schemas.openxmlformats.org/drawingml/2006/main">
              <a:ext uri="{FF2B5EF4-FFF2-40B4-BE49-F238E27FC236}">
                <a16:creationId xmlns:a16="http://schemas.microsoft.com/office/drawing/2014/main" id="{B4F63093-3FBB-470A-961E-6113353B04AF}"/>
              </a:ext>
            </a:extLst>
          </p:cNvPr>
          <p:cNvSpPr>
            <a:spLocks xmlns:a="http://schemas.openxmlformats.org/drawingml/2006/main" noGrp="1"/>
          </p:cNvSpPr>
          <p:nvPr/>
        </p:nvSpPr>
        <p:spPr>
          <a:xfrm xmlns:a="http://schemas.openxmlformats.org/drawingml/2006/main" rot="0">
            <a:off x="2990850" y="2124075"/>
            <a:ext cx="1104900" cy="152400"/>
          </a:xfrm>
          <a:prstGeom xmlns:a="http://schemas.openxmlformats.org/drawingml/2006/main" prst="rightArrow">
            <a:avLst/>
          </a:prstGeom>
          <a:solidFill xmlns:a="http://schemas.openxmlformats.org/drawingml/2006/main">
            <a:srgbClr val="39D7FF">
              <a:alpha val="60000"/>
            </a:srgbClr>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72CD3BF-61A1-4131-9D13-01248036B085}"/>
              </a:ext>
            </a:extLst>
          </p:cNvPr>
          <p:cNvSpPr>
            <a:spLocks xmlns:a="http://schemas.openxmlformats.org/drawingml/2006/main" noGrp="1"/>
          </p:cNvSpPr>
          <p:nvPr/>
        </p:nvSpPr>
        <p:spPr>
          <a:xfrm xmlns:a="http://schemas.openxmlformats.org/drawingml/2006/main">
            <a:off x="723900" y="2609850"/>
            <a:ext cx="2133600" cy="419100"/>
          </a:xfrm>
          <a:prstGeom xmlns:a="http://schemas.openxmlformats.org/drawingml/2006/main" prst="roundRect">
            <a:avLst>
              <a:gd name="adj" fmla="val 36364"/>
            </a:avLst>
          </a:prstGeom>
          <a:solidFill xmlns:a="http://schemas.openxmlformats.org/drawingml/2006/main">
            <a:srgbClr val="11171C"/>
          </a:solidFill>
          <a:ln xmlns:a="http://schemas.openxmlformats.org/drawingml/2006/main" w="14288">
            <a:solidFill>
              <a:srgbClr val="39D7FF"/>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050" b="1">
                <a:solidFill>
                  <a:srgbClr val="39D7FF"/>
                </a:solidFill>
                <a:latin typeface="DejaVu Sans Mono"/>
                <a:ea typeface="DejaVu Sans Mono"/>
                <a:cs typeface="DejaVu Sans Mono"/>
              </a:defRPr>
            </a:pPr>
            <a:r>
              <a:rPr sz="1050" b="1">
                <a:solidFill>
                  <a:srgbClr val="39D7FF"/>
                </a:solidFill>
                <a:latin typeface="DejaVu Sans Mono"/>
                <a:ea typeface="DejaVu Sans Mono"/>
                <a:cs typeface="DejaVu Sans Mono"/>
              </a:rPr>
              <a:t>DISTRIBUTIONS</a:t>
            </a:r>
          </a:p>
        </p:txBody>
      </p:sp>
      <p:sp>
        <p:nvSpPr>
          <p:cNvPr id="8" name="">
            <a:extLst xmlns:a="http://schemas.openxmlformats.org/drawingml/2006/main">
              <a:ext uri="{FF2B5EF4-FFF2-40B4-BE49-F238E27FC236}">
                <a16:creationId xmlns:a16="http://schemas.microsoft.com/office/drawing/2014/main" id="{1EEED3AE-2B33-4D86-96BA-94070F71C2B6}"/>
              </a:ext>
            </a:extLst>
          </p:cNvPr>
          <p:cNvSpPr>
            <a:spLocks xmlns:a="http://schemas.openxmlformats.org/drawingml/2006/main" noGrp="1"/>
          </p:cNvSpPr>
          <p:nvPr/>
        </p:nvSpPr>
        <p:spPr>
          <a:xfrm xmlns:a="http://schemas.openxmlformats.org/drawingml/2006/main" rot="0">
            <a:off x="2990850" y="2733675"/>
            <a:ext cx="1276350" cy="152400"/>
          </a:xfrm>
          <a:prstGeom xmlns:a="http://schemas.openxmlformats.org/drawingml/2006/main" prst="rightArrow">
            <a:avLst/>
          </a:prstGeom>
          <a:solidFill xmlns:a="http://schemas.openxmlformats.org/drawingml/2006/main">
            <a:srgbClr val="39D7FF">
              <a:alpha val="60000"/>
            </a:srgbClr>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1C32321-196C-4E95-9FDB-59D5F8A5D629}"/>
              </a:ext>
            </a:extLst>
          </p:cNvPr>
          <p:cNvSpPr>
            <a:spLocks xmlns:a="http://schemas.openxmlformats.org/drawingml/2006/main" noGrp="1"/>
          </p:cNvSpPr>
          <p:nvPr/>
        </p:nvSpPr>
        <p:spPr>
          <a:xfrm xmlns:a="http://schemas.openxmlformats.org/drawingml/2006/main">
            <a:off x="723900" y="3219450"/>
            <a:ext cx="2133600" cy="419100"/>
          </a:xfrm>
          <a:prstGeom xmlns:a="http://schemas.openxmlformats.org/drawingml/2006/main" prst="roundRect">
            <a:avLst>
              <a:gd name="adj" fmla="val 36364"/>
            </a:avLst>
          </a:prstGeom>
          <a:solidFill xmlns:a="http://schemas.openxmlformats.org/drawingml/2006/main">
            <a:srgbClr val="11171C"/>
          </a:solidFill>
          <a:ln xmlns:a="http://schemas.openxmlformats.org/drawingml/2006/main" w="14288">
            <a:solidFill>
              <a:srgbClr val="F26B38"/>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050" b="1">
                <a:solidFill>
                  <a:srgbClr val="F26B38"/>
                </a:solidFill>
                <a:latin typeface="DejaVu Sans Mono"/>
                <a:ea typeface="DejaVu Sans Mono"/>
                <a:cs typeface="DejaVu Sans Mono"/>
              </a:defRPr>
            </a:pPr>
            <a:r>
              <a:rPr sz="1050" b="1">
                <a:solidFill>
                  <a:srgbClr val="F26B38"/>
                </a:solidFill>
                <a:latin typeface="DejaVu Sans Mono"/>
                <a:ea typeface="DejaVu Sans Mono"/>
                <a:cs typeface="DejaVu Sans Mono"/>
              </a:rPr>
              <a:t>ENVELOPES</a:t>
            </a:r>
          </a:p>
        </p:txBody>
      </p:sp>
      <p:sp>
        <p:nvSpPr>
          <p:cNvPr id="10" name="">
            <a:extLst xmlns:a="http://schemas.openxmlformats.org/drawingml/2006/main">
              <a:ext uri="{FF2B5EF4-FFF2-40B4-BE49-F238E27FC236}">
                <a16:creationId xmlns:a16="http://schemas.microsoft.com/office/drawing/2014/main" id="{2A6253A5-FD10-4E16-8F6D-A97B7F4AC8E7}"/>
              </a:ext>
            </a:extLst>
          </p:cNvPr>
          <p:cNvSpPr>
            <a:spLocks xmlns:a="http://schemas.openxmlformats.org/drawingml/2006/main" noGrp="1"/>
          </p:cNvSpPr>
          <p:nvPr/>
        </p:nvSpPr>
        <p:spPr>
          <a:xfrm xmlns:a="http://schemas.openxmlformats.org/drawingml/2006/main" rot="0">
            <a:off x="2990850" y="3343275"/>
            <a:ext cx="1447800" cy="152400"/>
          </a:xfrm>
          <a:prstGeom xmlns:a="http://schemas.openxmlformats.org/drawingml/2006/main" prst="rightArrow">
            <a:avLst/>
          </a:prstGeom>
          <a:solidFill xmlns:a="http://schemas.openxmlformats.org/drawingml/2006/main">
            <a:srgbClr val="F26B38">
              <a:alpha val="60000"/>
            </a:srgbClr>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4B2A5B8-D953-47B2-92E2-AB214FAED412}"/>
              </a:ext>
            </a:extLst>
          </p:cNvPr>
          <p:cNvSpPr>
            <a:spLocks xmlns:a="http://schemas.openxmlformats.org/drawingml/2006/main" noGrp="1"/>
          </p:cNvSpPr>
          <p:nvPr/>
        </p:nvSpPr>
        <p:spPr>
          <a:xfrm xmlns:a="http://schemas.openxmlformats.org/drawingml/2006/main">
            <a:off x="723900" y="3829050"/>
            <a:ext cx="2133600" cy="419100"/>
          </a:xfrm>
          <a:prstGeom xmlns:a="http://schemas.openxmlformats.org/drawingml/2006/main" prst="roundRect">
            <a:avLst>
              <a:gd name="adj" fmla="val 36364"/>
            </a:avLst>
          </a:prstGeom>
          <a:solidFill xmlns:a="http://schemas.openxmlformats.org/drawingml/2006/main">
            <a:srgbClr val="11171C"/>
          </a:solidFill>
          <a:ln xmlns:a="http://schemas.openxmlformats.org/drawingml/2006/main" w="14288">
            <a:solidFill>
              <a:srgbClr val="FFC857"/>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050" b="1">
                <a:solidFill>
                  <a:srgbClr val="FFC857"/>
                </a:solidFill>
                <a:latin typeface="DejaVu Sans Mono"/>
                <a:ea typeface="DejaVu Sans Mono"/>
                <a:cs typeface="DejaVu Sans Mono"/>
              </a:defRPr>
            </a:pPr>
            <a:r>
              <a:rPr sz="1050" b="1">
                <a:solidFill>
                  <a:srgbClr val="FFC857"/>
                </a:solidFill>
                <a:latin typeface="DejaVu Sans Mono"/>
                <a:ea typeface="DejaVu Sans Mono"/>
                <a:cs typeface="DejaVu Sans Mono"/>
              </a:rPr>
              <a:t>ASSUMPTIONS</a:t>
            </a:r>
          </a:p>
        </p:txBody>
      </p:sp>
      <p:sp>
        <p:nvSpPr>
          <p:cNvPr id="12" name="">
            <a:extLst xmlns:a="http://schemas.openxmlformats.org/drawingml/2006/main">
              <a:ext uri="{FF2B5EF4-FFF2-40B4-BE49-F238E27FC236}">
                <a16:creationId xmlns:a16="http://schemas.microsoft.com/office/drawing/2014/main" id="{DD976BB9-9C51-417B-8645-1017B6BE3552}"/>
              </a:ext>
            </a:extLst>
          </p:cNvPr>
          <p:cNvSpPr>
            <a:spLocks xmlns:a="http://schemas.openxmlformats.org/drawingml/2006/main" noGrp="1"/>
          </p:cNvSpPr>
          <p:nvPr/>
        </p:nvSpPr>
        <p:spPr>
          <a:xfrm xmlns:a="http://schemas.openxmlformats.org/drawingml/2006/main" rot="0">
            <a:off x="2990850" y="3952875"/>
            <a:ext cx="1619250" cy="152400"/>
          </a:xfrm>
          <a:prstGeom xmlns:a="http://schemas.openxmlformats.org/drawingml/2006/main" prst="rightArrow">
            <a:avLst/>
          </a:prstGeom>
          <a:solidFill xmlns:a="http://schemas.openxmlformats.org/drawingml/2006/main">
            <a:srgbClr val="FFC857">
              <a:alpha val="60000"/>
            </a:srgbClr>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B26605A-C5DA-40B1-8121-A279085899CD}"/>
              </a:ext>
            </a:extLst>
          </p:cNvPr>
          <p:cNvSpPr>
            <a:spLocks xmlns:a="http://schemas.openxmlformats.org/drawingml/2006/main" noGrp="1"/>
          </p:cNvSpPr>
          <p:nvPr/>
        </p:nvSpPr>
        <p:spPr>
          <a:xfrm xmlns:a="http://schemas.openxmlformats.org/drawingml/2006/main">
            <a:off x="723900" y="4438650"/>
            <a:ext cx="2133600" cy="419100"/>
          </a:xfrm>
          <a:prstGeom xmlns:a="http://schemas.openxmlformats.org/drawingml/2006/main" prst="roundRect">
            <a:avLst>
              <a:gd name="adj" fmla="val 36364"/>
            </a:avLst>
          </a:prstGeom>
          <a:solidFill xmlns:a="http://schemas.openxmlformats.org/drawingml/2006/main">
            <a:srgbClr val="11171C"/>
          </a:solidFill>
          <a:ln xmlns:a="http://schemas.openxmlformats.org/drawingml/2006/main" w="14288">
            <a:solidFill>
              <a:srgbClr val="62D6A7"/>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050" b="1">
                <a:solidFill>
                  <a:srgbClr val="62D6A7"/>
                </a:solidFill>
                <a:latin typeface="DejaVu Sans Mono"/>
                <a:ea typeface="DejaVu Sans Mono"/>
                <a:cs typeface="DejaVu Sans Mono"/>
              </a:defRPr>
            </a:pPr>
            <a:r>
              <a:rPr sz="1050" b="1">
                <a:solidFill>
                  <a:srgbClr val="62D6A7"/>
                </a:solidFill>
                <a:latin typeface="DejaVu Sans Mono"/>
                <a:ea typeface="DejaVu Sans Mono"/>
                <a:cs typeface="DejaVu Sans Mono"/>
              </a:rPr>
              <a:t>PROVENANCE</a:t>
            </a:r>
          </a:p>
        </p:txBody>
      </p:sp>
      <p:sp>
        <p:nvSpPr>
          <p:cNvPr id="14" name="">
            <a:extLst xmlns:a="http://schemas.openxmlformats.org/drawingml/2006/main">
              <a:ext uri="{FF2B5EF4-FFF2-40B4-BE49-F238E27FC236}">
                <a16:creationId xmlns:a16="http://schemas.microsoft.com/office/drawing/2014/main" id="{10449FC9-0FE4-4285-802B-27DD6D7A1174}"/>
              </a:ext>
            </a:extLst>
          </p:cNvPr>
          <p:cNvSpPr>
            <a:spLocks xmlns:a="http://schemas.openxmlformats.org/drawingml/2006/main" noGrp="1"/>
          </p:cNvSpPr>
          <p:nvPr/>
        </p:nvSpPr>
        <p:spPr>
          <a:xfrm xmlns:a="http://schemas.openxmlformats.org/drawingml/2006/main" rot="0">
            <a:off x="2990850" y="4562475"/>
            <a:ext cx="1790700" cy="152400"/>
          </a:xfrm>
          <a:prstGeom xmlns:a="http://schemas.openxmlformats.org/drawingml/2006/main" prst="rightArrow">
            <a:avLst/>
          </a:prstGeom>
          <a:solidFill xmlns:a="http://schemas.openxmlformats.org/drawingml/2006/main">
            <a:srgbClr val="62D6A7">
              <a:alpha val="60000"/>
            </a:srgbClr>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35293C8-D6E3-4EAE-82F0-5F857B11F893}"/>
              </a:ext>
            </a:extLst>
          </p:cNvPr>
          <p:cNvSpPr>
            <a:spLocks xmlns:a="http://schemas.openxmlformats.org/drawingml/2006/main" noGrp="1"/>
          </p:cNvSpPr>
          <p:nvPr/>
        </p:nvSpPr>
        <p:spPr>
          <a:xfrm xmlns:a="http://schemas.openxmlformats.org/drawingml/2006/main">
            <a:off x="723900" y="5048250"/>
            <a:ext cx="2133600" cy="419100"/>
          </a:xfrm>
          <a:prstGeom xmlns:a="http://schemas.openxmlformats.org/drawingml/2006/main" prst="roundRect">
            <a:avLst>
              <a:gd name="adj" fmla="val 36364"/>
            </a:avLst>
          </a:prstGeom>
          <a:solidFill xmlns:a="http://schemas.openxmlformats.org/drawingml/2006/main">
            <a:srgbClr val="11171C"/>
          </a:solidFill>
          <a:ln xmlns:a="http://schemas.openxmlformats.org/drawingml/2006/main" w="14288">
            <a:solidFill>
              <a:srgbClr val="FF6262"/>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050" b="1">
                <a:solidFill>
                  <a:srgbClr val="FF6262"/>
                </a:solidFill>
                <a:latin typeface="DejaVu Sans Mono"/>
                <a:ea typeface="DejaVu Sans Mono"/>
                <a:cs typeface="DejaVu Sans Mono"/>
              </a:defRPr>
            </a:pPr>
            <a:r>
              <a:rPr sz="1050" b="1">
                <a:solidFill>
                  <a:srgbClr val="FF6262"/>
                </a:solidFill>
                <a:latin typeface="DejaVu Sans Mono"/>
                <a:ea typeface="DejaVu Sans Mono"/>
                <a:cs typeface="DejaVu Sans Mono"/>
              </a:rPr>
              <a:t>REQUIRED TESTS</a:t>
            </a:r>
          </a:p>
        </p:txBody>
      </p:sp>
      <p:sp>
        <p:nvSpPr>
          <p:cNvPr id="16" name="">
            <a:extLst xmlns:a="http://schemas.openxmlformats.org/drawingml/2006/main">
              <a:ext uri="{FF2B5EF4-FFF2-40B4-BE49-F238E27FC236}">
                <a16:creationId xmlns:a16="http://schemas.microsoft.com/office/drawing/2014/main" id="{38CFD358-A039-49D4-8236-C629823E4BD7}"/>
              </a:ext>
            </a:extLst>
          </p:cNvPr>
          <p:cNvSpPr>
            <a:spLocks xmlns:a="http://schemas.openxmlformats.org/drawingml/2006/main" noGrp="1"/>
          </p:cNvSpPr>
          <p:nvPr/>
        </p:nvSpPr>
        <p:spPr>
          <a:xfrm xmlns:a="http://schemas.openxmlformats.org/drawingml/2006/main" rot="0">
            <a:off x="2990850" y="5172075"/>
            <a:ext cx="1962150" cy="152400"/>
          </a:xfrm>
          <a:prstGeom xmlns:a="http://schemas.openxmlformats.org/drawingml/2006/main" prst="rightArrow">
            <a:avLst/>
          </a:prstGeom>
          <a:solidFill xmlns:a="http://schemas.openxmlformats.org/drawingml/2006/main">
            <a:srgbClr val="FF6262">
              <a:alpha val="60000"/>
            </a:srgbClr>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5D54286-F464-4AE6-AB8C-B9241045DD05}"/>
              </a:ext>
            </a:extLst>
          </p:cNvPr>
          <p:cNvSpPr>
            <a:spLocks xmlns:a="http://schemas.openxmlformats.org/drawingml/2006/main" noGrp="1"/>
          </p:cNvSpPr>
          <p:nvPr/>
        </p:nvSpPr>
        <p:spPr>
          <a:xfrm xmlns:a="http://schemas.openxmlformats.org/drawingml/2006/main">
            <a:off x="4514850" y="2057400"/>
            <a:ext cx="3105150" cy="3429000"/>
          </a:xfrm>
          <a:prstGeom xmlns:a="http://schemas.openxmlformats.org/drawingml/2006/main" prst="roundRect">
            <a:avLst>
              <a:gd name="adj" fmla="val 7362"/>
            </a:avLst>
          </a:prstGeom>
          <a:gradFill xmlns:a="http://schemas.openxmlformats.org/drawingml/2006/main">
            <a:gsLst>
              <a:gs pos="0">
                <a:srgbClr val="15232B"/>
              </a:gs>
              <a:gs pos="100000">
                <a:srgbClr val="0D1216"/>
              </a:gs>
            </a:gsLst>
            <a:lin ang="8100000"/>
          </a:gradFill>
          <a:ln xmlns:a="http://schemas.openxmlformats.org/drawingml/2006/main" w="14288">
            <a:solidFill>
              <a:srgbClr val="F4F6F8"/>
            </a:solidFill>
            <a:prstDash val="solid"/>
          </a:ln>
        </p:spPr>
      </p:sp>
      <p:sp>
        <p:nvSpPr>
          <p:cNvPr id="18" name="">
            <a:extLst xmlns:a="http://schemas.openxmlformats.org/drawingml/2006/main">
              <a:ext uri="{FF2B5EF4-FFF2-40B4-BE49-F238E27FC236}">
                <a16:creationId xmlns:a16="http://schemas.microsoft.com/office/drawing/2014/main" id="{27F04D59-44B3-4562-B2F6-89164082B36C}"/>
              </a:ext>
            </a:extLst>
          </p:cNvPr>
          <p:cNvSpPr>
            <a:spLocks xmlns:a="http://schemas.openxmlformats.org/drawingml/2006/main" noGrp="1"/>
          </p:cNvSpPr>
          <p:nvPr/>
        </p:nvSpPr>
        <p:spPr>
          <a:xfrm xmlns:a="http://schemas.openxmlformats.org/drawingml/2006/main">
            <a:off x="4953000" y="2647950"/>
            <a:ext cx="2247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0000"/>
              </a:lnSpc>
              <a:buNone/>
              <a:defRPr sz="2250" b="1">
                <a:solidFill>
                  <a:srgbClr val="F4F6F8"/>
                </a:solidFill>
                <a:latin typeface="DejaVu Sans"/>
                <a:ea typeface="DejaVu Sans"/>
                <a:cs typeface="DejaVu Sans"/>
              </a:defRPr>
            </a:pPr>
            <a:r>
              <a:rPr sz="2250" b="1">
                <a:solidFill>
                  <a:srgbClr val="F4F6F8"/>
                </a:solidFill>
                <a:latin typeface="DejaVu Sans"/>
                <a:ea typeface="DejaVu Sans"/>
                <a:cs typeface="DejaVu Sans"/>
              </a:rPr>
              <a:t>ENGINEERING</a:t>
            </a:r>
          </a:p>
          <a:p xmlns:a="http://schemas.openxmlformats.org/drawingml/2006/main">
            <a:pPr algn="ctr">
              <a:lnSpc>
                <a:spcPct val="90000"/>
              </a:lnSpc>
              <a:buNone/>
              <a:defRPr sz="2250" b="1">
                <a:solidFill>
                  <a:srgbClr val="F4F6F8"/>
                </a:solidFill>
                <a:latin typeface="DejaVu Sans"/>
                <a:ea typeface="DejaVu Sans"/>
                <a:cs typeface="DejaVu Sans"/>
              </a:defRPr>
            </a:pPr>
            <a:r>
              <a:rPr sz="2250" b="1">
                <a:solidFill>
                  <a:srgbClr val="F4F6F8"/>
                </a:solidFill>
                <a:latin typeface="DejaVu Sans"/>
                <a:ea typeface="DejaVu Sans"/>
                <a:cs typeface="DejaVu Sans"/>
              </a:rPr>
              <a:t>EVIDENCE</a:t>
            </a:r>
          </a:p>
          <a:p xmlns:a="http://schemas.openxmlformats.org/drawingml/2006/main">
            <a:pPr algn="ctr">
              <a:lnSpc>
                <a:spcPct val="90000"/>
              </a:lnSpc>
              <a:buNone/>
              <a:defRPr sz="2250" b="1">
                <a:solidFill>
                  <a:srgbClr val="F4F6F8"/>
                </a:solidFill>
                <a:latin typeface="DejaVu Sans"/>
                <a:ea typeface="DejaVu Sans"/>
                <a:cs typeface="DejaVu Sans"/>
              </a:defRPr>
            </a:pPr>
            <a:r>
              <a:rPr sz="2250" b="1">
                <a:solidFill>
                  <a:srgbClr val="F4F6F8"/>
                </a:solidFill>
                <a:latin typeface="DejaVu Sans"/>
                <a:ea typeface="DejaVu Sans"/>
                <a:cs typeface="DejaVu Sans"/>
              </a:rPr>
              <a:t>PACKAGE</a:t>
            </a:r>
          </a:p>
        </p:txBody>
      </p:sp>
      <p:sp>
        <p:nvSpPr>
          <p:cNvPr id="19" name="">
            <a:extLst xmlns:a="http://schemas.openxmlformats.org/drawingml/2006/main">
              <a:ext uri="{FF2B5EF4-FFF2-40B4-BE49-F238E27FC236}">
                <a16:creationId xmlns:a16="http://schemas.microsoft.com/office/drawing/2014/main" id="{DFD0A2EE-BB57-462A-A25A-D2C09D4CAD43}"/>
              </a:ext>
            </a:extLst>
          </p:cNvPr>
          <p:cNvSpPr>
            <a:spLocks xmlns:a="http://schemas.openxmlformats.org/drawingml/2006/main" noGrp="1"/>
          </p:cNvSpPr>
          <p:nvPr/>
        </p:nvSpPr>
        <p:spPr>
          <a:xfrm xmlns:a="http://schemas.openxmlformats.org/drawingml/2006/main">
            <a:off x="5010150" y="4095750"/>
            <a:ext cx="2114550" cy="361950"/>
          </a:xfrm>
          <a:prstGeom xmlns:a="http://schemas.openxmlformats.org/drawingml/2006/main" prst="roundRect">
            <a:avLst>
              <a:gd name="adj" fmla="val 23684"/>
            </a:avLst>
          </a:prstGeom>
          <a:solidFill xmlns:a="http://schemas.openxmlformats.org/drawingml/2006/main">
            <a:srgbClr val="0D151A"/>
          </a:solidFill>
          <a:ln xmlns:a="http://schemas.openxmlformats.org/drawingml/2006/main" w="9525">
            <a:solidFill>
              <a:srgbClr val="39D7FF">
                <a:alpha val="55000"/>
              </a:srgbClr>
            </a:solidFill>
            <a:prstDash val="solid"/>
          </a:ln>
        </p:spPr>
        <p:txBody>
          <a:bodyPr xmlns:a="http://schemas.openxmlformats.org/drawingml/2006/main" wrap="square" lIns="47625" tIns="19050" rIns="47625" bIns="19050" anchor="ctr">
            <a:noAutofit/>
          </a:bodyPr>
          <a:lstStyle xmlns:a="http://schemas.openxmlformats.org/drawingml/2006/main"/>
          <a:p xmlns:a="http://schemas.openxmlformats.org/drawingml/2006/main">
            <a:pPr algn="ctr">
              <a:lnSpc>
                <a:spcPct val="95000"/>
              </a:lnSpc>
              <a:buNone/>
              <a:defRPr sz="975" b="1">
                <a:solidFill>
                  <a:srgbClr val="39D7FF"/>
                </a:solidFill>
                <a:latin typeface="DejaVu Sans Mono"/>
                <a:ea typeface="DejaVu Sans Mono"/>
                <a:cs typeface="DejaVu Sans Mono"/>
              </a:defRPr>
            </a:pPr>
            <a:r>
              <a:rPr sz="975" b="1">
                <a:solidFill>
                  <a:srgbClr val="39D7FF"/>
                </a:solidFill>
                <a:latin typeface="DejaVu Sans Mono"/>
                <a:ea typeface="DejaVu Sans Mono"/>
                <a:cs typeface="DejaVu Sans Mono"/>
              </a:rPr>
              <a:t>MACHINE-READABLE LINKS</a:t>
            </a:r>
          </a:p>
        </p:txBody>
      </p:sp>
      <p:sp>
        <p:nvSpPr>
          <p:cNvPr id="20" name="">
            <a:extLst xmlns:a="http://schemas.openxmlformats.org/drawingml/2006/main">
              <a:ext uri="{FF2B5EF4-FFF2-40B4-BE49-F238E27FC236}">
                <a16:creationId xmlns:a16="http://schemas.microsoft.com/office/drawing/2014/main" id="{147BAAF6-3C5C-4B15-B1C1-2AB90ECE60FE}"/>
              </a:ext>
            </a:extLst>
          </p:cNvPr>
          <p:cNvSpPr>
            <a:spLocks xmlns:a="http://schemas.openxmlformats.org/drawingml/2006/main" noGrp="1"/>
          </p:cNvSpPr>
          <p:nvPr/>
        </p:nvSpPr>
        <p:spPr>
          <a:xfrm xmlns:a="http://schemas.openxmlformats.org/drawingml/2006/main">
            <a:off x="4933950" y="4667250"/>
            <a:ext cx="2266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1125" b="0">
                <a:solidFill>
                  <a:srgbClr val="8D99A3"/>
                </a:solidFill>
                <a:latin typeface="DejaVu Sans Mono"/>
                <a:ea typeface="DejaVu Sans Mono"/>
                <a:cs typeface="DejaVu Sans Mono"/>
              </a:defRPr>
            </a:pPr>
            <a:r>
              <a:rPr sz="1125" b="0">
                <a:solidFill>
                  <a:srgbClr val="8D99A3"/>
                </a:solidFill>
                <a:latin typeface="DejaVu Sans Mono"/>
                <a:ea typeface="DejaVu Sans Mono"/>
                <a:cs typeface="DejaVu Sans Mono"/>
              </a:rPr>
              <a:t>source → claim → parameter → requirement → test → status</a:t>
            </a:r>
          </a:p>
        </p:txBody>
      </p:sp>
      <p:sp>
        <p:nvSpPr>
          <p:cNvPr id="21" name="">
            <a:extLst xmlns:a="http://schemas.openxmlformats.org/drawingml/2006/main">
              <a:ext uri="{FF2B5EF4-FFF2-40B4-BE49-F238E27FC236}">
                <a16:creationId xmlns:a16="http://schemas.microsoft.com/office/drawing/2014/main" id="{6776D910-FB53-485C-B03B-28044DA4C2BE}"/>
              </a:ext>
            </a:extLst>
          </p:cNvPr>
          <p:cNvSpPr>
            <a:spLocks xmlns:a="http://schemas.openxmlformats.org/drawingml/2006/main" noGrp="1"/>
          </p:cNvSpPr>
          <p:nvPr/>
        </p:nvSpPr>
        <p:spPr>
          <a:xfrm xmlns:a="http://schemas.openxmlformats.org/drawingml/2006/main" rot="0">
            <a:off x="7658100" y="2362200"/>
            <a:ext cx="1200150" cy="171450"/>
          </a:xfrm>
          <a:prstGeom xmlns:a="http://schemas.openxmlformats.org/drawingml/2006/main" prst="rightArrow">
            <a:avLst/>
          </a:prstGeom>
          <a:solidFill xmlns:a="http://schemas.openxmlformats.org/drawingml/2006/main">
            <a:srgbClr val="F26B38">
              <a:alpha val="60000"/>
            </a:srgbClr>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31846DA-D988-49DB-80E6-9BD798FA2110}"/>
              </a:ext>
            </a:extLst>
          </p:cNvPr>
          <p:cNvSpPr>
            <a:spLocks xmlns:a="http://schemas.openxmlformats.org/drawingml/2006/main" noGrp="1"/>
          </p:cNvSpPr>
          <p:nvPr/>
        </p:nvSpPr>
        <p:spPr>
          <a:xfrm xmlns:a="http://schemas.openxmlformats.org/drawingml/2006/main">
            <a:off x="8972550" y="2209800"/>
            <a:ext cx="2362200" cy="495300"/>
          </a:xfrm>
          <a:prstGeom xmlns:a="http://schemas.openxmlformats.org/drawingml/2006/main" prst="roundRect">
            <a:avLst>
              <a:gd name="adj" fmla="val 30769"/>
            </a:avLst>
          </a:prstGeom>
          <a:solidFill xmlns:a="http://schemas.openxmlformats.org/drawingml/2006/main">
            <a:srgbClr val="11171C"/>
          </a:solidFill>
          <a:ln xmlns:a="http://schemas.openxmlformats.org/drawingml/2006/main" w="14288">
            <a:solidFill>
              <a:srgbClr val="F26B38"/>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200" b="1">
                <a:solidFill>
                  <a:srgbClr val="F26B38"/>
                </a:solidFill>
                <a:latin typeface="DejaVu Sans Mono"/>
                <a:ea typeface="DejaVu Sans Mono"/>
                <a:cs typeface="DejaVu Sans Mono"/>
              </a:defRPr>
            </a:pPr>
            <a:r>
              <a:rPr sz="1200" b="1">
                <a:solidFill>
                  <a:srgbClr val="F26B38"/>
                </a:solidFill>
                <a:latin typeface="DejaVu Sans Mono"/>
                <a:ea typeface="DejaVu Sans Mono"/>
                <a:cs typeface="DejaVu Sans Mono"/>
              </a:rPr>
              <a:t>REQUIREMENTS</a:t>
            </a:r>
          </a:p>
        </p:txBody>
      </p:sp>
      <p:sp>
        <p:nvSpPr>
          <p:cNvPr id="23" name="">
            <a:extLst xmlns:a="http://schemas.openxmlformats.org/drawingml/2006/main">
              <a:ext uri="{FF2B5EF4-FFF2-40B4-BE49-F238E27FC236}">
                <a16:creationId xmlns:a16="http://schemas.microsoft.com/office/drawing/2014/main" id="{563C4383-89EF-4D26-9F62-19C8C292AC91}"/>
              </a:ext>
            </a:extLst>
          </p:cNvPr>
          <p:cNvSpPr>
            <a:spLocks xmlns:a="http://schemas.openxmlformats.org/drawingml/2006/main" noGrp="1"/>
          </p:cNvSpPr>
          <p:nvPr/>
        </p:nvSpPr>
        <p:spPr>
          <a:xfrm xmlns:a="http://schemas.openxmlformats.org/drawingml/2006/main" rot="0">
            <a:off x="7658100" y="3200400"/>
            <a:ext cx="1200150" cy="171450"/>
          </a:xfrm>
          <a:prstGeom xmlns:a="http://schemas.openxmlformats.org/drawingml/2006/main" prst="rightArrow">
            <a:avLst/>
          </a:prstGeom>
          <a:solidFill xmlns:a="http://schemas.openxmlformats.org/drawingml/2006/main">
            <a:srgbClr val="F26B38">
              <a:alpha val="60000"/>
            </a:srgbClr>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CE08517-7F94-42E0-921D-3AC1E8F8C26C}"/>
              </a:ext>
            </a:extLst>
          </p:cNvPr>
          <p:cNvSpPr>
            <a:spLocks xmlns:a="http://schemas.openxmlformats.org/drawingml/2006/main" noGrp="1"/>
          </p:cNvSpPr>
          <p:nvPr/>
        </p:nvSpPr>
        <p:spPr>
          <a:xfrm xmlns:a="http://schemas.openxmlformats.org/drawingml/2006/main">
            <a:off x="8972550" y="3048000"/>
            <a:ext cx="2362200" cy="495300"/>
          </a:xfrm>
          <a:prstGeom xmlns:a="http://schemas.openxmlformats.org/drawingml/2006/main" prst="roundRect">
            <a:avLst>
              <a:gd name="adj" fmla="val 30769"/>
            </a:avLst>
          </a:prstGeom>
          <a:solidFill xmlns:a="http://schemas.openxmlformats.org/drawingml/2006/main">
            <a:srgbClr val="11171C"/>
          </a:solidFill>
          <a:ln xmlns:a="http://schemas.openxmlformats.org/drawingml/2006/main" w="14288">
            <a:solidFill>
              <a:srgbClr val="F26B38"/>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200" b="1">
                <a:solidFill>
                  <a:srgbClr val="F26B38"/>
                </a:solidFill>
                <a:latin typeface="DejaVu Sans Mono"/>
                <a:ea typeface="DejaVu Sans Mono"/>
                <a:cs typeface="DejaVu Sans Mono"/>
              </a:defRPr>
            </a:pPr>
            <a:r>
              <a:rPr sz="1200" b="1">
                <a:solidFill>
                  <a:srgbClr val="F26B38"/>
                </a:solidFill>
                <a:latin typeface="DejaVu Sans Mono"/>
                <a:ea typeface="DejaVu Sans Mono"/>
                <a:cs typeface="DejaVu Sans Mono"/>
              </a:rPr>
              <a:t>TRADE STUDIES</a:t>
            </a:r>
          </a:p>
        </p:txBody>
      </p:sp>
      <p:sp>
        <p:nvSpPr>
          <p:cNvPr id="25" name="">
            <a:extLst xmlns:a="http://schemas.openxmlformats.org/drawingml/2006/main">
              <a:ext uri="{FF2B5EF4-FFF2-40B4-BE49-F238E27FC236}">
                <a16:creationId xmlns:a16="http://schemas.microsoft.com/office/drawing/2014/main" id="{DA6B36AB-C326-42DB-A255-4CDFB8BBCB99}"/>
              </a:ext>
            </a:extLst>
          </p:cNvPr>
          <p:cNvSpPr>
            <a:spLocks xmlns:a="http://schemas.openxmlformats.org/drawingml/2006/main" noGrp="1"/>
          </p:cNvSpPr>
          <p:nvPr/>
        </p:nvSpPr>
        <p:spPr>
          <a:xfrm xmlns:a="http://schemas.openxmlformats.org/drawingml/2006/main" rot="0">
            <a:off x="7658100" y="4038600"/>
            <a:ext cx="1200150" cy="171450"/>
          </a:xfrm>
          <a:prstGeom xmlns:a="http://schemas.openxmlformats.org/drawingml/2006/main" prst="rightArrow">
            <a:avLst/>
          </a:prstGeom>
          <a:solidFill xmlns:a="http://schemas.openxmlformats.org/drawingml/2006/main">
            <a:srgbClr val="62D6A7">
              <a:alpha val="60000"/>
            </a:srgbClr>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287D2D9-9F19-4ED4-BF08-3F6E906CBA33}"/>
              </a:ext>
            </a:extLst>
          </p:cNvPr>
          <p:cNvSpPr>
            <a:spLocks xmlns:a="http://schemas.openxmlformats.org/drawingml/2006/main" noGrp="1"/>
          </p:cNvSpPr>
          <p:nvPr/>
        </p:nvSpPr>
        <p:spPr>
          <a:xfrm xmlns:a="http://schemas.openxmlformats.org/drawingml/2006/main">
            <a:off x="8972550" y="3886200"/>
            <a:ext cx="2362200" cy="495300"/>
          </a:xfrm>
          <a:prstGeom xmlns:a="http://schemas.openxmlformats.org/drawingml/2006/main" prst="roundRect">
            <a:avLst>
              <a:gd name="adj" fmla="val 30769"/>
            </a:avLst>
          </a:prstGeom>
          <a:solidFill xmlns:a="http://schemas.openxmlformats.org/drawingml/2006/main">
            <a:srgbClr val="11171C"/>
          </a:solidFill>
          <a:ln xmlns:a="http://schemas.openxmlformats.org/drawingml/2006/main" w="14288">
            <a:solidFill>
              <a:srgbClr val="62D6A7"/>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200" b="1">
                <a:solidFill>
                  <a:srgbClr val="62D6A7"/>
                </a:solidFill>
                <a:latin typeface="DejaVu Sans Mono"/>
                <a:ea typeface="DejaVu Sans Mono"/>
                <a:cs typeface="DejaVu Sans Mono"/>
              </a:defRPr>
            </a:pPr>
            <a:r>
              <a:rPr sz="1200" b="1">
                <a:solidFill>
                  <a:srgbClr val="62D6A7"/>
                </a:solidFill>
                <a:latin typeface="DejaVu Sans Mono"/>
                <a:ea typeface="DejaVu Sans Mono"/>
                <a:cs typeface="DejaVu Sans Mono"/>
              </a:rPr>
              <a:t>V&amp;V MATRIX</a:t>
            </a:r>
          </a:p>
        </p:txBody>
      </p:sp>
      <p:sp>
        <p:nvSpPr>
          <p:cNvPr id="27" name="">
            <a:extLst xmlns:a="http://schemas.openxmlformats.org/drawingml/2006/main">
              <a:ext uri="{FF2B5EF4-FFF2-40B4-BE49-F238E27FC236}">
                <a16:creationId xmlns:a16="http://schemas.microsoft.com/office/drawing/2014/main" id="{DFA4CB58-B4E3-46AC-99FA-C1D729707B0A}"/>
              </a:ext>
            </a:extLst>
          </p:cNvPr>
          <p:cNvSpPr>
            <a:spLocks xmlns:a="http://schemas.openxmlformats.org/drawingml/2006/main" noGrp="1"/>
          </p:cNvSpPr>
          <p:nvPr/>
        </p:nvSpPr>
        <p:spPr>
          <a:xfrm xmlns:a="http://schemas.openxmlformats.org/drawingml/2006/main" rot="0">
            <a:off x="7658100" y="4876800"/>
            <a:ext cx="1200150" cy="171450"/>
          </a:xfrm>
          <a:prstGeom xmlns:a="http://schemas.openxmlformats.org/drawingml/2006/main" prst="rightArrow">
            <a:avLst/>
          </a:prstGeom>
          <a:solidFill xmlns:a="http://schemas.openxmlformats.org/drawingml/2006/main">
            <a:srgbClr val="FFC857">
              <a:alpha val="60000"/>
            </a:srgbClr>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98D9C05-C38D-47D4-8DC6-E9B1EF317579}"/>
              </a:ext>
            </a:extLst>
          </p:cNvPr>
          <p:cNvSpPr>
            <a:spLocks xmlns:a="http://schemas.openxmlformats.org/drawingml/2006/main" noGrp="1"/>
          </p:cNvSpPr>
          <p:nvPr/>
        </p:nvSpPr>
        <p:spPr>
          <a:xfrm xmlns:a="http://schemas.openxmlformats.org/drawingml/2006/main">
            <a:off x="8972550" y="4724400"/>
            <a:ext cx="2362200" cy="495300"/>
          </a:xfrm>
          <a:prstGeom xmlns:a="http://schemas.openxmlformats.org/drawingml/2006/main" prst="roundRect">
            <a:avLst>
              <a:gd name="adj" fmla="val 30769"/>
            </a:avLst>
          </a:prstGeom>
          <a:solidFill xmlns:a="http://schemas.openxmlformats.org/drawingml/2006/main">
            <a:srgbClr val="11171C"/>
          </a:solidFill>
          <a:ln xmlns:a="http://schemas.openxmlformats.org/drawingml/2006/main" w="14288">
            <a:solidFill>
              <a:srgbClr val="FFC857"/>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200" b="1">
                <a:solidFill>
                  <a:srgbClr val="FFC857"/>
                </a:solidFill>
                <a:latin typeface="DejaVu Sans Mono"/>
                <a:ea typeface="DejaVu Sans Mono"/>
                <a:cs typeface="DejaVu Sans Mono"/>
              </a:defRPr>
            </a:pPr>
            <a:r>
              <a:rPr sz="1200" b="1">
                <a:solidFill>
                  <a:srgbClr val="FFC857"/>
                </a:solidFill>
                <a:latin typeface="DejaVu Sans Mono"/>
                <a:ea typeface="DejaVu Sans Mono"/>
                <a:cs typeface="DejaVu Sans Mono"/>
              </a:rPr>
              <a:t>OPEN ISSUES</a:t>
            </a:r>
          </a:p>
        </p:txBody>
      </p:sp>
      <p:sp>
        <p:nvSpPr>
          <p:cNvPr id="29" name="">
            <a:extLst xmlns:a="http://schemas.openxmlformats.org/drawingml/2006/main">
              <a:ext uri="{FF2B5EF4-FFF2-40B4-BE49-F238E27FC236}">
                <a16:creationId xmlns:a16="http://schemas.microsoft.com/office/drawing/2014/main" id="{4824375C-5B93-4E72-AA06-2D82ADE5044E}"/>
              </a:ext>
            </a:extLst>
          </p:cNvPr>
          <p:cNvSpPr>
            <a:spLocks xmlns:a="http://schemas.openxmlformats.org/drawingml/2006/main" noGrp="1"/>
          </p:cNvSpPr>
          <p:nvPr/>
        </p:nvSpPr>
        <p:spPr>
          <a:xfrm xmlns:a="http://schemas.openxmlformats.org/drawingml/2006/main">
            <a:off x="7620000" y="5638800"/>
            <a:ext cx="371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95000"/>
              </a:lnSpc>
              <a:buNone/>
              <a:defRPr sz="1350" b="1">
                <a:solidFill>
                  <a:srgbClr val="F4F6F8"/>
                </a:solidFill>
                <a:latin typeface="DejaVu Sans"/>
                <a:ea typeface="DejaVu Sans"/>
                <a:cs typeface="DejaVu Sans"/>
              </a:defRPr>
            </a:pPr>
            <a:r>
              <a:rPr sz="1350" b="1">
                <a:solidFill>
                  <a:srgbClr val="F4F6F8"/>
                </a:solidFill>
                <a:latin typeface="DejaVu Sans"/>
                <a:ea typeface="DejaVu Sans"/>
                <a:cs typeface="DejaVu Sans"/>
              </a:rPr>
              <a:t>A changed parameter triggers focused rework—not a search through old chat.</a:t>
            </a:r>
          </a:p>
        </p:txBody>
      </p:sp>
      <p:sp>
        <p:nvSpPr>
          <p:cNvPr id="30" name="">
            <a:extLst xmlns:a="http://schemas.openxmlformats.org/drawingml/2006/main">
              <a:ext uri="{FF2B5EF4-FFF2-40B4-BE49-F238E27FC236}">
                <a16:creationId xmlns:a16="http://schemas.microsoft.com/office/drawing/2014/main" id="{9ED67B93-AE1A-4BF1-8325-80FF09F5E95C}"/>
              </a:ext>
            </a:extLst>
          </p:cNvPr>
          <p:cNvSpPr>
            <a:spLocks xmlns:a="http://schemas.openxmlformats.org/drawingml/2006/main" noGrp="1"/>
          </p:cNvSpPr>
          <p:nvPr/>
        </p:nvSpPr>
        <p:spPr>
          <a:xfrm xmlns:a="http://schemas.openxmlformats.org/drawingml/2006/main">
            <a:off x="0" y="6400800"/>
            <a:ext cx="12192000" cy="457200"/>
          </a:xfrm>
          <a:prstGeom xmlns:a="http://schemas.openxmlformats.org/drawingml/2006/main" prst="rect">
            <a:avLst/>
          </a:prstGeom>
          <a:solidFill xmlns:a="http://schemas.openxmlformats.org/drawingml/2006/main">
            <a:srgbClr val="07090C">
              <a:alpha val="76000"/>
            </a:srgbClr>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42146B0B-8947-42A9-82B5-72CA166196ED}"/>
              </a:ext>
            </a:extLst>
          </p:cNvPr>
          <p:cNvSpPr>
            <a:spLocks xmlns:a="http://schemas.openxmlformats.org/drawingml/2006/main" noGrp="1"/>
          </p:cNvSpPr>
          <p:nvPr/>
        </p:nvSpPr>
        <p:spPr>
          <a:xfrm xmlns:a="http://schemas.openxmlformats.org/drawingml/2006/main">
            <a:off x="609600" y="6553200"/>
            <a:ext cx="6858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MARS SOCIETY 2026  •  HARNESSED AGENTIC SCIENCE + ENGINEERING</a:t>
            </a:r>
          </a:p>
        </p:txBody>
      </p:sp>
      <p:sp>
        <p:nvSpPr>
          <p:cNvPr id="32" name="">
            <a:extLst xmlns:a="http://schemas.openxmlformats.org/drawingml/2006/main">
              <a:ext uri="{FF2B5EF4-FFF2-40B4-BE49-F238E27FC236}">
                <a16:creationId xmlns:a16="http://schemas.microsoft.com/office/drawing/2014/main" id="{FE3649CC-CE69-4D1E-B51E-F666352B825A}"/>
              </a:ext>
            </a:extLst>
          </p:cNvPr>
          <p:cNvSpPr>
            <a:spLocks xmlns:a="http://schemas.openxmlformats.org/drawingml/2006/main" noGrp="1"/>
          </p:cNvSpPr>
          <p:nvPr/>
        </p:nvSpPr>
        <p:spPr>
          <a:xfrm xmlns:a="http://schemas.openxmlformats.org/drawingml/2006/main">
            <a:off x="9525000" y="6553200"/>
            <a:ext cx="2057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BOB J MILLS     09</a:t>
            </a:r>
          </a:p>
        </p:txBody>
      </p:sp>
    </p:spTree>
    <p:extLst>
      <p:ext uri="{BB962C8B-B14F-4D97-AF65-F5344CB8AC3E}">
        <p14:creationId xmlns:p14="http://schemas.microsoft.com/office/powerpoint/2010/main" val="214921414"/>
      </p:ext>
    </p:extLst>
  </p:cSld>
</p:sld>
</file>

<file path=ppt/slides/slide10.xml><?xml version="1.0" encoding="utf-8"?>
<p:sld xmlns:p="http://schemas.openxmlformats.org/presentationml/2006/main">
  <p:cSld>
    <p:bg>
      <p:bgPr>
        <a:solidFill xmlns:a="http://schemas.openxmlformats.org/drawingml/2006/main">
          <a:srgbClr val="07090C"/>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4125C123-F0C3-4C9D-9C7E-6A26242CE6F9}"/>
              </a:ext>
            </a:extLst>
          </p:cNvPr>
          <p:cNvSpPr>
            <a:spLocks xmlns:a="http://schemas.openxmlformats.org/drawingml/2006/main" noGrp="1"/>
          </p:cNvSpPr>
          <p:nvPr/>
        </p:nvSpPr>
        <p:spPr>
          <a:xfrm xmlns:a="http://schemas.openxmlformats.org/drawingml/2006/main">
            <a:off x="609600" y="3429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975" b="1">
                <a:solidFill>
                  <a:srgbClr val="F26B38"/>
                </a:solidFill>
                <a:latin typeface="DejaVu Sans Mono"/>
                <a:ea typeface="DejaVu Sans Mono"/>
                <a:cs typeface="DejaVu Sans Mono"/>
              </a:defRPr>
            </a:pPr>
            <a:r>
              <a:rPr sz="975" b="1">
                <a:solidFill>
                  <a:srgbClr val="F26B38"/>
                </a:solidFill>
                <a:latin typeface="DejaVu Sans Mono"/>
                <a:ea typeface="DejaVu Sans Mono"/>
                <a:cs typeface="DejaVu Sans Mono"/>
              </a:rPr>
              <a:t>10  /  COMPLETION LOOP</a:t>
            </a:r>
          </a:p>
        </p:txBody>
      </p:sp>
      <p:sp>
        <p:nvSpPr>
          <p:cNvPr id="2" name="">
            <a:extLst xmlns:a="http://schemas.openxmlformats.org/drawingml/2006/main">
              <a:ext uri="{FF2B5EF4-FFF2-40B4-BE49-F238E27FC236}">
                <a16:creationId xmlns:a16="http://schemas.microsoft.com/office/drawing/2014/main" id="{C498E2FA-EA05-4E28-BF1B-8FC20676E710}"/>
              </a:ext>
            </a:extLst>
          </p:cNvPr>
          <p:cNvSpPr>
            <a:spLocks xmlns:a="http://schemas.openxmlformats.org/drawingml/2006/main" noGrp="1"/>
          </p:cNvSpPr>
          <p:nvPr/>
        </p:nvSpPr>
        <p:spPr>
          <a:xfrm xmlns:a="http://schemas.openxmlformats.org/drawingml/2006/main">
            <a:off x="609600" y="6477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2325" b="1">
                <a:solidFill>
                  <a:srgbClr val="F4F6F8"/>
                </a:solidFill>
                <a:latin typeface="DejaVu Sans"/>
                <a:ea typeface="DejaVu Sans"/>
                <a:cs typeface="DejaVu Sans"/>
              </a:defRPr>
            </a:pPr>
            <a:r>
              <a:rPr sz="2325" b="1">
                <a:solidFill>
                  <a:srgbClr val="F4F6F8"/>
                </a:solidFill>
                <a:latin typeface="DejaVu Sans"/>
                <a:ea typeface="DejaVu Sans"/>
                <a:cs typeface="DejaVu Sans"/>
              </a:rPr>
              <a:t>The fastest path to completion includes a return to research</a:t>
            </a:r>
          </a:p>
        </p:txBody>
      </p:sp>
      <p:sp>
        <p:nvSpPr>
          <p:cNvPr id="3" name="">
            <a:extLst xmlns:a="http://schemas.openxmlformats.org/drawingml/2006/main">
              <a:ext uri="{FF2B5EF4-FFF2-40B4-BE49-F238E27FC236}">
                <a16:creationId xmlns:a16="http://schemas.microsoft.com/office/drawing/2014/main" id="{AA53DFE9-9D5D-4660-B7AD-BFA5C5D129D0}"/>
              </a:ext>
            </a:extLst>
          </p:cNvPr>
          <p:cNvSpPr>
            <a:spLocks xmlns:a="http://schemas.openxmlformats.org/drawingml/2006/main" noGrp="1"/>
          </p:cNvSpPr>
          <p:nvPr/>
        </p:nvSpPr>
        <p:spPr>
          <a:xfrm xmlns:a="http://schemas.openxmlformats.org/drawingml/2006/main">
            <a:off x="628650" y="12382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425" b="0">
                <a:solidFill>
                  <a:srgbClr val="8D99A3"/>
                </a:solidFill>
                <a:latin typeface="DejaVu Sans"/>
                <a:ea typeface="DejaVu Sans"/>
                <a:cs typeface="DejaVu Sans"/>
              </a:defRPr>
            </a:pPr>
            <a:r>
              <a:rPr sz="1425" b="0">
                <a:solidFill>
                  <a:srgbClr val="8D99A3"/>
                </a:solidFill>
                <a:latin typeface="DejaVu Sans"/>
                <a:ea typeface="DejaVu Sans"/>
                <a:cs typeface="DejaVu Sans"/>
              </a:rPr>
              <a:t>Agents accelerate the issue → research request → evidence return → baseline update cycle instead of hiding uncertainty.</a:t>
            </a:r>
          </a:p>
        </p:txBody>
      </p:sp>
      <p:sp>
        <p:nvSpPr>
          <p:cNvPr id="4" name="">
            <a:extLst xmlns:a="http://schemas.openxmlformats.org/drawingml/2006/main">
              <a:ext uri="{FF2B5EF4-FFF2-40B4-BE49-F238E27FC236}">
                <a16:creationId xmlns:a16="http://schemas.microsoft.com/office/drawing/2014/main" id="{6AE7E7A8-1418-4015-BBBB-4A117EFA0646}"/>
              </a:ext>
            </a:extLst>
          </p:cNvPr>
          <p:cNvSpPr>
            <a:spLocks xmlns:a="http://schemas.openxmlformats.org/drawingml/2006/main" noGrp="1"/>
          </p:cNvSpPr>
          <p:nvPr/>
        </p:nvSpPr>
        <p:spPr>
          <a:xfrm xmlns:a="http://schemas.openxmlformats.org/drawingml/2006/main">
            <a:off x="609600" y="1676400"/>
            <a:ext cx="10972800" cy="0"/>
          </a:xfrm>
          <a:prstGeom xmlns:a="http://schemas.openxmlformats.org/drawingml/2006/main" prst="line">
            <a:avLst/>
          </a:prstGeom>
          <a:noFill xmlns:a="http://schemas.openxmlformats.org/drawingml/2006/main"/>
          <a:ln xmlns:a="http://schemas.openxmlformats.org/drawingml/2006/main" w="9525">
            <a:solidFill>
              <a:srgbClr val="35414B"/>
            </a:solidFill>
            <a:prstDash val="solid"/>
          </a:ln>
        </p:spPr>
      </p:sp>
      <p:sp>
        <p:nvSpPr>
          <p:cNvPr id="5" name="">
            <a:extLst xmlns:a="http://schemas.openxmlformats.org/drawingml/2006/main">
              <a:ext uri="{FF2B5EF4-FFF2-40B4-BE49-F238E27FC236}">
                <a16:creationId xmlns:a16="http://schemas.microsoft.com/office/drawing/2014/main" id="{5A15124C-DB3F-4EF7-BADF-923F0F92961C}"/>
              </a:ext>
            </a:extLst>
          </p:cNvPr>
          <p:cNvSpPr>
            <a:spLocks xmlns:a="http://schemas.openxmlformats.org/drawingml/2006/main" noGrp="1"/>
          </p:cNvSpPr>
          <p:nvPr/>
        </p:nvSpPr>
        <p:spPr>
          <a:xfrm xmlns:a="http://schemas.openxmlformats.org/drawingml/2006/main">
            <a:off x="4095750" y="2095500"/>
            <a:ext cx="4000500" cy="3771900"/>
          </a:xfrm>
          <a:prstGeom xmlns:a="http://schemas.openxmlformats.org/drawingml/2006/main" prst="ellipse">
            <a:avLst/>
          </a:prstGeom>
          <a:noFill xmlns:a="http://schemas.openxmlformats.org/drawingml/2006/main"/>
          <a:ln xmlns:a="http://schemas.openxmlformats.org/drawingml/2006/main" w="19050">
            <a:solidFill>
              <a:srgbClr val="35414B"/>
            </a:solidFill>
            <a:prstDash val="dash"/>
          </a:ln>
        </p:spPr>
      </p:sp>
      <p:sp>
        <p:nvSpPr>
          <p:cNvPr id="6" name="">
            <a:extLst xmlns:a="http://schemas.openxmlformats.org/drawingml/2006/main">
              <a:ext uri="{FF2B5EF4-FFF2-40B4-BE49-F238E27FC236}">
                <a16:creationId xmlns:a16="http://schemas.microsoft.com/office/drawing/2014/main" id="{8ADD1A19-18DE-4440-BCD1-D1A4E2BB26BC}"/>
              </a:ext>
            </a:extLst>
          </p:cNvPr>
          <p:cNvSpPr>
            <a:spLocks xmlns:a="http://schemas.openxmlformats.org/drawingml/2006/main" noGrp="1"/>
          </p:cNvSpPr>
          <p:nvPr/>
        </p:nvSpPr>
        <p:spPr>
          <a:xfrm xmlns:a="http://schemas.openxmlformats.org/drawingml/2006/main">
            <a:off x="5619750" y="2581275"/>
            <a:ext cx="2057400" cy="0"/>
          </a:xfrm>
          <a:prstGeom xmlns:a="http://schemas.openxmlformats.org/drawingml/2006/main" prst="line">
            <a:avLst/>
          </a:prstGeom>
          <a:noFill xmlns:a="http://schemas.openxmlformats.org/drawingml/2006/main"/>
          <a:ln xmlns:a="http://schemas.openxmlformats.org/drawingml/2006/main" w="47625">
            <a:solidFill>
              <a:srgbClr val="39D7FF"/>
            </a:solidFill>
            <a:prstDash val="solid"/>
          </a:ln>
        </p:spPr>
      </p:sp>
      <p:sp>
        <p:nvSpPr>
          <p:cNvPr id="7" name="">
            <a:extLst xmlns:a="http://schemas.openxmlformats.org/drawingml/2006/main">
              <a:ext uri="{FF2B5EF4-FFF2-40B4-BE49-F238E27FC236}">
                <a16:creationId xmlns:a16="http://schemas.microsoft.com/office/drawing/2014/main" id="{FE0578C0-4A98-467C-859B-EE54F05CB795}"/>
              </a:ext>
            </a:extLst>
          </p:cNvPr>
          <p:cNvSpPr>
            <a:spLocks xmlns:a="http://schemas.openxmlformats.org/drawingml/2006/main" noGrp="1"/>
          </p:cNvSpPr>
          <p:nvPr/>
        </p:nvSpPr>
        <p:spPr>
          <a:xfrm xmlns:a="http://schemas.openxmlformats.org/drawingml/2006/main">
            <a:off x="7677150" y="2581275"/>
            <a:ext cx="0" cy="209550"/>
          </a:xfrm>
          <a:prstGeom xmlns:a="http://schemas.openxmlformats.org/drawingml/2006/main" prst="line">
            <a:avLst/>
          </a:prstGeom>
          <a:noFill xmlns:a="http://schemas.openxmlformats.org/drawingml/2006/main"/>
          <a:ln xmlns:a="http://schemas.openxmlformats.org/drawingml/2006/main" w="47625">
            <a:solidFill>
              <a:srgbClr val="39D7FF"/>
            </a:solidFill>
            <a:prstDash val="solid"/>
          </a:ln>
        </p:spPr>
      </p:sp>
      <p:sp>
        <p:nvSpPr>
          <p:cNvPr id="8" name="">
            <a:extLst xmlns:a="http://schemas.openxmlformats.org/drawingml/2006/main">
              <a:ext uri="{FF2B5EF4-FFF2-40B4-BE49-F238E27FC236}">
                <a16:creationId xmlns:a16="http://schemas.microsoft.com/office/drawing/2014/main" id="{8F4090D3-5BA3-4FC3-A0A6-3E22273B229A}"/>
              </a:ext>
            </a:extLst>
          </p:cNvPr>
          <p:cNvSpPr>
            <a:spLocks xmlns:a="http://schemas.openxmlformats.org/drawingml/2006/main" noGrp="1"/>
          </p:cNvSpPr>
          <p:nvPr/>
        </p:nvSpPr>
        <p:spPr>
          <a:xfrm xmlns:a="http://schemas.openxmlformats.org/drawingml/2006/main">
            <a:off x="7677150" y="2790825"/>
            <a:ext cx="800100" cy="0"/>
          </a:xfrm>
          <a:prstGeom xmlns:a="http://schemas.openxmlformats.org/drawingml/2006/main" prst="line">
            <a:avLst/>
          </a:prstGeom>
          <a:noFill xmlns:a="http://schemas.openxmlformats.org/drawingml/2006/main"/>
          <a:ln xmlns:a="http://schemas.openxmlformats.org/drawingml/2006/main" w="47625">
            <a:solidFill>
              <a:srgbClr val="F26B38"/>
            </a:solidFill>
            <a:prstDash val="solid"/>
          </a:ln>
        </p:spPr>
      </p:sp>
      <p:sp>
        <p:nvSpPr>
          <p:cNvPr id="9" name="">
            <a:extLst xmlns:a="http://schemas.openxmlformats.org/drawingml/2006/main">
              <a:ext uri="{FF2B5EF4-FFF2-40B4-BE49-F238E27FC236}">
                <a16:creationId xmlns:a16="http://schemas.microsoft.com/office/drawing/2014/main" id="{BB08F41F-37F2-49F8-9F09-DD2D2A6BC6E3}"/>
              </a:ext>
            </a:extLst>
          </p:cNvPr>
          <p:cNvSpPr>
            <a:spLocks xmlns:a="http://schemas.openxmlformats.org/drawingml/2006/main" noGrp="1"/>
          </p:cNvSpPr>
          <p:nvPr/>
        </p:nvSpPr>
        <p:spPr>
          <a:xfrm xmlns:a="http://schemas.openxmlformats.org/drawingml/2006/main">
            <a:off x="8477250" y="2790825"/>
            <a:ext cx="0" cy="1524000"/>
          </a:xfrm>
          <a:prstGeom xmlns:a="http://schemas.openxmlformats.org/drawingml/2006/main" prst="line">
            <a:avLst/>
          </a:prstGeom>
          <a:noFill xmlns:a="http://schemas.openxmlformats.org/drawingml/2006/main"/>
          <a:ln xmlns:a="http://schemas.openxmlformats.org/drawingml/2006/main" w="47625">
            <a:solidFill>
              <a:srgbClr val="F26B38"/>
            </a:solidFill>
            <a:prstDash val="solid"/>
          </a:ln>
        </p:spPr>
      </p:sp>
      <p:sp>
        <p:nvSpPr>
          <p:cNvPr id="10" name="">
            <a:extLst xmlns:a="http://schemas.openxmlformats.org/drawingml/2006/main">
              <a:ext uri="{FF2B5EF4-FFF2-40B4-BE49-F238E27FC236}">
                <a16:creationId xmlns:a16="http://schemas.microsoft.com/office/drawing/2014/main" id="{F0BC5DC6-89B2-4583-A89B-20EC9BB42227}"/>
              </a:ext>
            </a:extLst>
          </p:cNvPr>
          <p:cNvSpPr>
            <a:spLocks xmlns:a="http://schemas.openxmlformats.org/drawingml/2006/main" noGrp="1"/>
          </p:cNvSpPr>
          <p:nvPr/>
        </p:nvSpPr>
        <p:spPr>
          <a:xfrm xmlns:a="http://schemas.openxmlformats.org/drawingml/2006/main">
            <a:off x="7372350" y="4314825"/>
            <a:ext cx="1104900" cy="0"/>
          </a:xfrm>
          <a:prstGeom xmlns:a="http://schemas.openxmlformats.org/drawingml/2006/main" prst="line">
            <a:avLst/>
          </a:prstGeom>
          <a:noFill xmlns:a="http://schemas.openxmlformats.org/drawingml/2006/main"/>
          <a:ln xmlns:a="http://schemas.openxmlformats.org/drawingml/2006/main" w="47625">
            <a:solidFill>
              <a:srgbClr val="FF6262"/>
            </a:solidFill>
            <a:prstDash val="solid"/>
          </a:ln>
        </p:spPr>
      </p:sp>
      <p:sp>
        <p:nvSpPr>
          <p:cNvPr id="11" name="">
            <a:extLst xmlns:a="http://schemas.openxmlformats.org/drawingml/2006/main">
              <a:ext uri="{FF2B5EF4-FFF2-40B4-BE49-F238E27FC236}">
                <a16:creationId xmlns:a16="http://schemas.microsoft.com/office/drawing/2014/main" id="{BF8E2BF2-E756-45A8-A67B-FED95B2C7258}"/>
              </a:ext>
            </a:extLst>
          </p:cNvPr>
          <p:cNvSpPr>
            <a:spLocks xmlns:a="http://schemas.openxmlformats.org/drawingml/2006/main" noGrp="1"/>
          </p:cNvSpPr>
          <p:nvPr/>
        </p:nvSpPr>
        <p:spPr>
          <a:xfrm xmlns:a="http://schemas.openxmlformats.org/drawingml/2006/main">
            <a:off x="7372350" y="4314825"/>
            <a:ext cx="0" cy="1352550"/>
          </a:xfrm>
          <a:prstGeom xmlns:a="http://schemas.openxmlformats.org/drawingml/2006/main" prst="line">
            <a:avLst/>
          </a:prstGeom>
          <a:noFill xmlns:a="http://schemas.openxmlformats.org/drawingml/2006/main"/>
          <a:ln xmlns:a="http://schemas.openxmlformats.org/drawingml/2006/main" w="47625">
            <a:solidFill>
              <a:srgbClr val="FF6262"/>
            </a:solidFill>
            <a:prstDash val="solid"/>
          </a:ln>
        </p:spPr>
      </p:sp>
      <p:sp>
        <p:nvSpPr>
          <p:cNvPr id="12" name="">
            <a:extLst xmlns:a="http://schemas.openxmlformats.org/drawingml/2006/main">
              <a:ext uri="{FF2B5EF4-FFF2-40B4-BE49-F238E27FC236}">
                <a16:creationId xmlns:a16="http://schemas.microsoft.com/office/drawing/2014/main" id="{F6D2C345-6FF7-4420-9C9F-B29411BE985A}"/>
              </a:ext>
            </a:extLst>
          </p:cNvPr>
          <p:cNvSpPr>
            <a:spLocks xmlns:a="http://schemas.openxmlformats.org/drawingml/2006/main" noGrp="1"/>
          </p:cNvSpPr>
          <p:nvPr/>
        </p:nvSpPr>
        <p:spPr>
          <a:xfrm xmlns:a="http://schemas.openxmlformats.org/drawingml/2006/main">
            <a:off x="5295900" y="5667375"/>
            <a:ext cx="2076450" cy="0"/>
          </a:xfrm>
          <a:prstGeom xmlns:a="http://schemas.openxmlformats.org/drawingml/2006/main" prst="line">
            <a:avLst/>
          </a:prstGeom>
          <a:noFill xmlns:a="http://schemas.openxmlformats.org/drawingml/2006/main"/>
          <a:ln xmlns:a="http://schemas.openxmlformats.org/drawingml/2006/main" w="47625">
            <a:solidFill>
              <a:srgbClr val="FFC857"/>
            </a:solidFill>
            <a:prstDash val="solid"/>
          </a:ln>
        </p:spPr>
      </p:sp>
      <p:sp>
        <p:nvSpPr>
          <p:cNvPr id="13" name="">
            <a:extLst xmlns:a="http://schemas.openxmlformats.org/drawingml/2006/main">
              <a:ext uri="{FF2B5EF4-FFF2-40B4-BE49-F238E27FC236}">
                <a16:creationId xmlns:a16="http://schemas.microsoft.com/office/drawing/2014/main" id="{252B482C-616F-4C95-91A9-53C1E98B07BB}"/>
              </a:ext>
            </a:extLst>
          </p:cNvPr>
          <p:cNvSpPr>
            <a:spLocks xmlns:a="http://schemas.openxmlformats.org/drawingml/2006/main" noGrp="1"/>
          </p:cNvSpPr>
          <p:nvPr/>
        </p:nvSpPr>
        <p:spPr>
          <a:xfrm xmlns:a="http://schemas.openxmlformats.org/drawingml/2006/main">
            <a:off x="5295900" y="5591175"/>
            <a:ext cx="0" cy="76200"/>
          </a:xfrm>
          <a:prstGeom xmlns:a="http://schemas.openxmlformats.org/drawingml/2006/main" prst="line">
            <a:avLst/>
          </a:prstGeom>
          <a:noFill xmlns:a="http://schemas.openxmlformats.org/drawingml/2006/main"/>
          <a:ln xmlns:a="http://schemas.openxmlformats.org/drawingml/2006/main" w="47625">
            <a:solidFill>
              <a:srgbClr val="FFC857"/>
            </a:solidFill>
            <a:prstDash val="solid"/>
          </a:ln>
        </p:spPr>
      </p:sp>
      <p:sp>
        <p:nvSpPr>
          <p:cNvPr id="14" name="">
            <a:extLst xmlns:a="http://schemas.openxmlformats.org/drawingml/2006/main">
              <a:ext uri="{FF2B5EF4-FFF2-40B4-BE49-F238E27FC236}">
                <a16:creationId xmlns:a16="http://schemas.microsoft.com/office/drawing/2014/main" id="{7BFB57A2-8F00-4924-84B7-2AB811D3CE57}"/>
              </a:ext>
            </a:extLst>
          </p:cNvPr>
          <p:cNvSpPr>
            <a:spLocks xmlns:a="http://schemas.openxmlformats.org/drawingml/2006/main" noGrp="1"/>
          </p:cNvSpPr>
          <p:nvPr/>
        </p:nvSpPr>
        <p:spPr>
          <a:xfrm xmlns:a="http://schemas.openxmlformats.org/drawingml/2006/main">
            <a:off x="4248150" y="5591175"/>
            <a:ext cx="1047750" cy="0"/>
          </a:xfrm>
          <a:prstGeom xmlns:a="http://schemas.openxmlformats.org/drawingml/2006/main" prst="line">
            <a:avLst/>
          </a:prstGeom>
          <a:noFill xmlns:a="http://schemas.openxmlformats.org/drawingml/2006/main"/>
          <a:ln xmlns:a="http://schemas.openxmlformats.org/drawingml/2006/main" w="47625">
            <a:solidFill>
              <a:srgbClr val="62D6A7"/>
            </a:solidFill>
            <a:prstDash val="solid"/>
          </a:ln>
        </p:spPr>
      </p:sp>
      <p:sp>
        <p:nvSpPr>
          <p:cNvPr id="15" name="">
            <a:extLst xmlns:a="http://schemas.openxmlformats.org/drawingml/2006/main">
              <a:ext uri="{FF2B5EF4-FFF2-40B4-BE49-F238E27FC236}">
                <a16:creationId xmlns:a16="http://schemas.microsoft.com/office/drawing/2014/main" id="{92EDD940-BD8A-40BB-88C7-B2FCF35F2CA0}"/>
              </a:ext>
            </a:extLst>
          </p:cNvPr>
          <p:cNvSpPr>
            <a:spLocks xmlns:a="http://schemas.openxmlformats.org/drawingml/2006/main" noGrp="1"/>
          </p:cNvSpPr>
          <p:nvPr/>
        </p:nvSpPr>
        <p:spPr>
          <a:xfrm xmlns:a="http://schemas.openxmlformats.org/drawingml/2006/main">
            <a:off x="4248150" y="4086225"/>
            <a:ext cx="0" cy="1504950"/>
          </a:xfrm>
          <a:prstGeom xmlns:a="http://schemas.openxmlformats.org/drawingml/2006/main" prst="line">
            <a:avLst/>
          </a:prstGeom>
          <a:noFill xmlns:a="http://schemas.openxmlformats.org/drawingml/2006/main"/>
          <a:ln xmlns:a="http://schemas.openxmlformats.org/drawingml/2006/main" w="47625">
            <a:solidFill>
              <a:srgbClr val="62D6A7"/>
            </a:solidFill>
            <a:prstDash val="solid"/>
          </a:ln>
        </p:spPr>
      </p:sp>
      <p:sp>
        <p:nvSpPr>
          <p:cNvPr id="16" name="">
            <a:extLst xmlns:a="http://schemas.openxmlformats.org/drawingml/2006/main">
              <a:ext uri="{FF2B5EF4-FFF2-40B4-BE49-F238E27FC236}">
                <a16:creationId xmlns:a16="http://schemas.microsoft.com/office/drawing/2014/main" id="{F96CA0D5-7F70-4737-BA8B-47F79714D503}"/>
              </a:ext>
            </a:extLst>
          </p:cNvPr>
          <p:cNvSpPr>
            <a:spLocks xmlns:a="http://schemas.openxmlformats.org/drawingml/2006/main" noGrp="1"/>
          </p:cNvSpPr>
          <p:nvPr/>
        </p:nvSpPr>
        <p:spPr>
          <a:xfrm xmlns:a="http://schemas.openxmlformats.org/drawingml/2006/main">
            <a:off x="4248150" y="4086225"/>
            <a:ext cx="1371600" cy="0"/>
          </a:xfrm>
          <a:prstGeom xmlns:a="http://schemas.openxmlformats.org/drawingml/2006/main" prst="line">
            <a:avLst/>
          </a:prstGeom>
          <a:noFill xmlns:a="http://schemas.openxmlformats.org/drawingml/2006/main"/>
          <a:ln xmlns:a="http://schemas.openxmlformats.org/drawingml/2006/main" w="47625">
            <a:solidFill>
              <a:srgbClr val="39D7FF"/>
            </a:solidFill>
            <a:prstDash val="solid"/>
          </a:ln>
        </p:spPr>
      </p:sp>
      <p:sp>
        <p:nvSpPr>
          <p:cNvPr id="17" name="">
            <a:extLst xmlns:a="http://schemas.openxmlformats.org/drawingml/2006/main">
              <a:ext uri="{FF2B5EF4-FFF2-40B4-BE49-F238E27FC236}">
                <a16:creationId xmlns:a16="http://schemas.microsoft.com/office/drawing/2014/main" id="{8758A6EF-3E18-4909-BB77-01F624697FEB}"/>
              </a:ext>
            </a:extLst>
          </p:cNvPr>
          <p:cNvSpPr>
            <a:spLocks xmlns:a="http://schemas.openxmlformats.org/drawingml/2006/main" noGrp="1"/>
          </p:cNvSpPr>
          <p:nvPr/>
        </p:nvSpPr>
        <p:spPr>
          <a:xfrm xmlns:a="http://schemas.openxmlformats.org/drawingml/2006/main">
            <a:off x="5619750" y="2581275"/>
            <a:ext cx="0" cy="1504950"/>
          </a:xfrm>
          <a:prstGeom xmlns:a="http://schemas.openxmlformats.org/drawingml/2006/main" prst="line">
            <a:avLst/>
          </a:prstGeom>
          <a:noFill xmlns:a="http://schemas.openxmlformats.org/drawingml/2006/main"/>
          <a:ln xmlns:a="http://schemas.openxmlformats.org/drawingml/2006/main" w="47625">
            <a:solidFill>
              <a:srgbClr val="39D7FF"/>
            </a:solidFill>
            <a:prstDash val="solid"/>
          </a:ln>
        </p:spPr>
      </p:sp>
      <p:sp>
        <p:nvSpPr>
          <p:cNvPr id="18" name="">
            <a:extLst xmlns:a="http://schemas.openxmlformats.org/drawingml/2006/main">
              <a:ext uri="{FF2B5EF4-FFF2-40B4-BE49-F238E27FC236}">
                <a16:creationId xmlns:a16="http://schemas.microsoft.com/office/drawing/2014/main" id="{D2AF2417-49EE-45D8-B76F-9977AB032AD0}"/>
              </a:ext>
            </a:extLst>
          </p:cNvPr>
          <p:cNvSpPr>
            <a:spLocks xmlns:a="http://schemas.openxmlformats.org/drawingml/2006/main" noGrp="1"/>
          </p:cNvSpPr>
          <p:nvPr/>
        </p:nvSpPr>
        <p:spPr>
          <a:xfrm xmlns:a="http://schemas.openxmlformats.org/drawingml/2006/main">
            <a:off x="4953000" y="2133600"/>
            <a:ext cx="1333500" cy="895350"/>
          </a:xfrm>
          <a:prstGeom xmlns:a="http://schemas.openxmlformats.org/drawingml/2006/main" prst="roundRect">
            <a:avLst>
              <a:gd name="adj" fmla="val 19149"/>
            </a:avLst>
          </a:prstGeom>
          <a:solidFill xmlns:a="http://schemas.openxmlformats.org/drawingml/2006/main">
            <a:srgbClr val="11171C"/>
          </a:solidFill>
          <a:ln xmlns:a="http://schemas.openxmlformats.org/drawingml/2006/main" w="14288">
            <a:solidFill>
              <a:srgbClr val="39D7FF"/>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125" b="1">
                <a:solidFill>
                  <a:srgbClr val="F4F6F8"/>
                </a:solidFill>
                <a:latin typeface="DejaVu Sans"/>
                <a:ea typeface="DejaVu Sans"/>
                <a:cs typeface="DejaVu Sans"/>
              </a:defRPr>
            </a:pPr>
            <a:r>
              <a:rPr sz="1125" b="1">
                <a:solidFill>
                  <a:srgbClr val="F4F6F8"/>
                </a:solidFill>
                <a:latin typeface="DejaVu Sans"/>
                <a:ea typeface="DejaVu Sans"/>
                <a:cs typeface="DejaVu Sans"/>
              </a:rPr>
              <a:t>APPROVED</a:t>
            </a:r>
          </a:p>
          <a:p xmlns:a="http://schemas.openxmlformats.org/drawingml/2006/main">
            <a:pPr algn="ctr">
              <a:lnSpc>
                <a:spcPct val="90000"/>
              </a:lnSpc>
              <a:buNone/>
              <a:defRPr sz="1125" b="1">
                <a:solidFill>
                  <a:srgbClr val="F4F6F8"/>
                </a:solidFill>
                <a:latin typeface="DejaVu Sans"/>
                <a:ea typeface="DejaVu Sans"/>
                <a:cs typeface="DejaVu Sans"/>
              </a:defRPr>
            </a:pPr>
            <a:r>
              <a:rPr sz="1125" b="1">
                <a:solidFill>
                  <a:srgbClr val="F4F6F8"/>
                </a:solidFill>
                <a:latin typeface="DejaVu Sans"/>
                <a:ea typeface="DejaVu Sans"/>
                <a:cs typeface="DejaVu Sans"/>
              </a:rPr>
              <a:t>EVIDENCE</a:t>
            </a:r>
          </a:p>
        </p:txBody>
      </p:sp>
      <p:sp>
        <p:nvSpPr>
          <p:cNvPr id="19" name="">
            <a:extLst xmlns:a="http://schemas.openxmlformats.org/drawingml/2006/main">
              <a:ext uri="{FF2B5EF4-FFF2-40B4-BE49-F238E27FC236}">
                <a16:creationId xmlns:a16="http://schemas.microsoft.com/office/drawing/2014/main" id="{59248DB1-9D46-4713-BA60-875DBBF0A58B}"/>
              </a:ext>
            </a:extLst>
          </p:cNvPr>
          <p:cNvSpPr>
            <a:spLocks xmlns:a="http://schemas.openxmlformats.org/drawingml/2006/main" noGrp="1"/>
          </p:cNvSpPr>
          <p:nvPr/>
        </p:nvSpPr>
        <p:spPr>
          <a:xfrm xmlns:a="http://schemas.openxmlformats.org/drawingml/2006/main">
            <a:off x="4981575" y="2162175"/>
            <a:ext cx="266700" cy="266700"/>
          </a:xfrm>
          <a:prstGeom xmlns:a="http://schemas.openxmlformats.org/drawingml/2006/main" prst="ellipse">
            <a:avLst/>
          </a:prstGeom>
          <a:solidFill xmlns:a="http://schemas.openxmlformats.org/drawingml/2006/main">
            <a:srgbClr val="39D7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4764C73-193E-4B12-AEDE-0DDC2D83D8EC}"/>
              </a:ext>
            </a:extLst>
          </p:cNvPr>
          <p:cNvSpPr>
            <a:spLocks xmlns:a="http://schemas.openxmlformats.org/drawingml/2006/main" noGrp="1"/>
          </p:cNvSpPr>
          <p:nvPr/>
        </p:nvSpPr>
        <p:spPr>
          <a:xfrm xmlns:a="http://schemas.openxmlformats.org/drawingml/2006/main">
            <a:off x="5029200" y="220980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5000"/>
              </a:lnSpc>
              <a:buNone/>
              <a:defRPr sz="900" b="1">
                <a:solidFill>
                  <a:srgbClr val="07090C"/>
                </a:solidFill>
                <a:latin typeface="DejaVu Sans Mono"/>
                <a:ea typeface="DejaVu Sans Mono"/>
                <a:cs typeface="DejaVu Sans Mono"/>
              </a:defRPr>
            </a:pPr>
            <a:r>
              <a:rPr sz="900" b="1">
                <a:solidFill>
                  <a:srgbClr val="07090C"/>
                </a:solidFill>
                <a:latin typeface="DejaVu Sans Mono"/>
                <a:ea typeface="DejaVu Sans Mono"/>
                <a:cs typeface="DejaVu Sans Mono"/>
              </a:rPr>
              <a:t>1</a:t>
            </a:r>
          </a:p>
        </p:txBody>
      </p:sp>
      <p:sp>
        <p:nvSpPr>
          <p:cNvPr id="21" name="">
            <a:extLst xmlns:a="http://schemas.openxmlformats.org/drawingml/2006/main">
              <a:ext uri="{FF2B5EF4-FFF2-40B4-BE49-F238E27FC236}">
                <a16:creationId xmlns:a16="http://schemas.microsoft.com/office/drawing/2014/main" id="{95F1D345-4ECA-4650-89B0-1542F553363E}"/>
              </a:ext>
            </a:extLst>
          </p:cNvPr>
          <p:cNvSpPr>
            <a:spLocks xmlns:a="http://schemas.openxmlformats.org/drawingml/2006/main" noGrp="1"/>
          </p:cNvSpPr>
          <p:nvPr/>
        </p:nvSpPr>
        <p:spPr>
          <a:xfrm xmlns:a="http://schemas.openxmlformats.org/drawingml/2006/main">
            <a:off x="7010400" y="2343150"/>
            <a:ext cx="1333500" cy="895350"/>
          </a:xfrm>
          <a:prstGeom xmlns:a="http://schemas.openxmlformats.org/drawingml/2006/main" prst="roundRect">
            <a:avLst>
              <a:gd name="adj" fmla="val 19149"/>
            </a:avLst>
          </a:prstGeom>
          <a:solidFill xmlns:a="http://schemas.openxmlformats.org/drawingml/2006/main">
            <a:srgbClr val="11171C"/>
          </a:solidFill>
          <a:ln xmlns:a="http://schemas.openxmlformats.org/drawingml/2006/main" w="14288">
            <a:solidFill>
              <a:srgbClr val="F26B38"/>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125" b="1">
                <a:solidFill>
                  <a:srgbClr val="F4F6F8"/>
                </a:solidFill>
                <a:latin typeface="DejaVu Sans"/>
                <a:ea typeface="DejaVu Sans"/>
                <a:cs typeface="DejaVu Sans"/>
              </a:defRPr>
            </a:pPr>
            <a:r>
              <a:rPr sz="1125" b="1">
                <a:solidFill>
                  <a:srgbClr val="F4F6F8"/>
                </a:solidFill>
                <a:latin typeface="DejaVu Sans"/>
                <a:ea typeface="DejaVu Sans"/>
                <a:cs typeface="DejaVu Sans"/>
              </a:rPr>
              <a:t>REQUIREMENTS</a:t>
            </a:r>
          </a:p>
          <a:p xmlns:a="http://schemas.openxmlformats.org/drawingml/2006/main">
            <a:pPr algn="ctr">
              <a:lnSpc>
                <a:spcPct val="90000"/>
              </a:lnSpc>
              <a:buNone/>
              <a:defRPr sz="1125" b="1">
                <a:solidFill>
                  <a:srgbClr val="F4F6F8"/>
                </a:solidFill>
                <a:latin typeface="DejaVu Sans"/>
                <a:ea typeface="DejaVu Sans"/>
                <a:cs typeface="DejaVu Sans"/>
              </a:defRPr>
            </a:pPr>
            <a:r>
              <a:rPr sz="1125" b="1">
                <a:solidFill>
                  <a:srgbClr val="F4F6F8"/>
                </a:solidFill>
                <a:latin typeface="DejaVu Sans"/>
                <a:ea typeface="DejaVu Sans"/>
                <a:cs typeface="DejaVu Sans"/>
              </a:rPr>
              <a:t>+ TRADES</a:t>
            </a:r>
          </a:p>
        </p:txBody>
      </p:sp>
      <p:sp>
        <p:nvSpPr>
          <p:cNvPr id="22" name="">
            <a:extLst xmlns:a="http://schemas.openxmlformats.org/drawingml/2006/main">
              <a:ext uri="{FF2B5EF4-FFF2-40B4-BE49-F238E27FC236}">
                <a16:creationId xmlns:a16="http://schemas.microsoft.com/office/drawing/2014/main" id="{0F6BEC3F-62CD-4EC8-8E02-7D13E707E453}"/>
              </a:ext>
            </a:extLst>
          </p:cNvPr>
          <p:cNvSpPr>
            <a:spLocks xmlns:a="http://schemas.openxmlformats.org/drawingml/2006/main" noGrp="1"/>
          </p:cNvSpPr>
          <p:nvPr/>
        </p:nvSpPr>
        <p:spPr>
          <a:xfrm xmlns:a="http://schemas.openxmlformats.org/drawingml/2006/main">
            <a:off x="7038975" y="2371725"/>
            <a:ext cx="266700" cy="266700"/>
          </a:xfrm>
          <a:prstGeom xmlns:a="http://schemas.openxmlformats.org/drawingml/2006/main" prst="ellipse">
            <a:avLst/>
          </a:prstGeom>
          <a:solidFill xmlns:a="http://schemas.openxmlformats.org/drawingml/2006/main">
            <a:srgbClr val="F26B3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11067C9-235F-4DA3-B38D-568ED9B99405}"/>
              </a:ext>
            </a:extLst>
          </p:cNvPr>
          <p:cNvSpPr>
            <a:spLocks xmlns:a="http://schemas.openxmlformats.org/drawingml/2006/main" noGrp="1"/>
          </p:cNvSpPr>
          <p:nvPr/>
        </p:nvSpPr>
        <p:spPr>
          <a:xfrm xmlns:a="http://schemas.openxmlformats.org/drawingml/2006/main">
            <a:off x="7086600" y="24193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5000"/>
              </a:lnSpc>
              <a:buNone/>
              <a:defRPr sz="900" b="1">
                <a:solidFill>
                  <a:srgbClr val="07090C"/>
                </a:solidFill>
                <a:latin typeface="DejaVu Sans Mono"/>
                <a:ea typeface="DejaVu Sans Mono"/>
                <a:cs typeface="DejaVu Sans Mono"/>
              </a:defRPr>
            </a:pPr>
            <a:r>
              <a:rPr sz="900" b="1">
                <a:solidFill>
                  <a:srgbClr val="07090C"/>
                </a:solidFill>
                <a:latin typeface="DejaVu Sans Mono"/>
                <a:ea typeface="DejaVu Sans Mono"/>
                <a:cs typeface="DejaVu Sans Mono"/>
              </a:rPr>
              <a:t>2</a:t>
            </a:r>
          </a:p>
        </p:txBody>
      </p:sp>
      <p:sp>
        <p:nvSpPr>
          <p:cNvPr id="24" name="">
            <a:extLst xmlns:a="http://schemas.openxmlformats.org/drawingml/2006/main">
              <a:ext uri="{FF2B5EF4-FFF2-40B4-BE49-F238E27FC236}">
                <a16:creationId xmlns:a16="http://schemas.microsoft.com/office/drawing/2014/main" id="{EFB074C3-58AA-40F4-BF6F-4AAC71B2D14F}"/>
              </a:ext>
            </a:extLst>
          </p:cNvPr>
          <p:cNvSpPr>
            <a:spLocks xmlns:a="http://schemas.openxmlformats.org/drawingml/2006/main" noGrp="1"/>
          </p:cNvSpPr>
          <p:nvPr/>
        </p:nvSpPr>
        <p:spPr>
          <a:xfrm xmlns:a="http://schemas.openxmlformats.org/drawingml/2006/main">
            <a:off x="7810500" y="3867150"/>
            <a:ext cx="1333500" cy="895350"/>
          </a:xfrm>
          <a:prstGeom xmlns:a="http://schemas.openxmlformats.org/drawingml/2006/main" prst="roundRect">
            <a:avLst>
              <a:gd name="adj" fmla="val 19149"/>
            </a:avLst>
          </a:prstGeom>
          <a:solidFill xmlns:a="http://schemas.openxmlformats.org/drawingml/2006/main">
            <a:srgbClr val="11171C"/>
          </a:solidFill>
          <a:ln xmlns:a="http://schemas.openxmlformats.org/drawingml/2006/main" w="14288">
            <a:solidFill>
              <a:srgbClr val="FF6262"/>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125" b="1">
                <a:solidFill>
                  <a:srgbClr val="F4F6F8"/>
                </a:solidFill>
                <a:latin typeface="DejaVu Sans"/>
                <a:ea typeface="DejaVu Sans"/>
                <a:cs typeface="DejaVu Sans"/>
              </a:defRPr>
            </a:pPr>
            <a:r>
              <a:rPr sz="1125" b="1">
                <a:solidFill>
                  <a:srgbClr val="F4F6F8"/>
                </a:solidFill>
                <a:latin typeface="DejaVu Sans"/>
                <a:ea typeface="DejaVu Sans"/>
                <a:cs typeface="DejaVu Sans"/>
              </a:rPr>
              <a:t>DESIGN ISSUE</a:t>
            </a:r>
          </a:p>
          <a:p xmlns:a="http://schemas.openxmlformats.org/drawingml/2006/main">
            <a:pPr algn="ctr">
              <a:lnSpc>
                <a:spcPct val="90000"/>
              </a:lnSpc>
              <a:buNone/>
              <a:defRPr sz="1125" b="1">
                <a:solidFill>
                  <a:srgbClr val="F4F6F8"/>
                </a:solidFill>
                <a:latin typeface="DejaVu Sans"/>
                <a:ea typeface="DejaVu Sans"/>
                <a:cs typeface="DejaVu Sans"/>
              </a:defRPr>
            </a:pPr>
            <a:r>
              <a:rPr sz="1125" b="1">
                <a:solidFill>
                  <a:srgbClr val="F4F6F8"/>
                </a:solidFill>
                <a:latin typeface="DejaVu Sans"/>
                <a:ea typeface="DejaVu Sans"/>
                <a:cs typeface="DejaVu Sans"/>
              </a:rPr>
              <a:t>SURFACED</a:t>
            </a:r>
          </a:p>
        </p:txBody>
      </p:sp>
      <p:sp>
        <p:nvSpPr>
          <p:cNvPr id="25" name="">
            <a:extLst xmlns:a="http://schemas.openxmlformats.org/drawingml/2006/main">
              <a:ext uri="{FF2B5EF4-FFF2-40B4-BE49-F238E27FC236}">
                <a16:creationId xmlns:a16="http://schemas.microsoft.com/office/drawing/2014/main" id="{2411BE7B-95CE-4463-AD29-78B073D9FA30}"/>
              </a:ext>
            </a:extLst>
          </p:cNvPr>
          <p:cNvSpPr>
            <a:spLocks xmlns:a="http://schemas.openxmlformats.org/drawingml/2006/main" noGrp="1"/>
          </p:cNvSpPr>
          <p:nvPr/>
        </p:nvSpPr>
        <p:spPr>
          <a:xfrm xmlns:a="http://schemas.openxmlformats.org/drawingml/2006/main">
            <a:off x="7839075" y="3895725"/>
            <a:ext cx="266700" cy="266700"/>
          </a:xfrm>
          <a:prstGeom xmlns:a="http://schemas.openxmlformats.org/drawingml/2006/main" prst="ellipse">
            <a:avLst/>
          </a:prstGeom>
          <a:solidFill xmlns:a="http://schemas.openxmlformats.org/drawingml/2006/main">
            <a:srgbClr val="FF6262"/>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EAA2F19-5E81-42CB-BF53-6713B41531CC}"/>
              </a:ext>
            </a:extLst>
          </p:cNvPr>
          <p:cNvSpPr>
            <a:spLocks xmlns:a="http://schemas.openxmlformats.org/drawingml/2006/main" noGrp="1"/>
          </p:cNvSpPr>
          <p:nvPr/>
        </p:nvSpPr>
        <p:spPr>
          <a:xfrm xmlns:a="http://schemas.openxmlformats.org/drawingml/2006/main">
            <a:off x="7886700" y="39433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5000"/>
              </a:lnSpc>
              <a:buNone/>
              <a:defRPr sz="900" b="1">
                <a:solidFill>
                  <a:srgbClr val="07090C"/>
                </a:solidFill>
                <a:latin typeface="DejaVu Sans Mono"/>
                <a:ea typeface="DejaVu Sans Mono"/>
                <a:cs typeface="DejaVu Sans Mono"/>
              </a:defRPr>
            </a:pPr>
            <a:r>
              <a:rPr sz="900" b="1">
                <a:solidFill>
                  <a:srgbClr val="07090C"/>
                </a:solidFill>
                <a:latin typeface="DejaVu Sans Mono"/>
                <a:ea typeface="DejaVu Sans Mono"/>
                <a:cs typeface="DejaVu Sans Mono"/>
              </a:rPr>
              <a:t>3</a:t>
            </a:r>
          </a:p>
        </p:txBody>
      </p:sp>
      <p:sp>
        <p:nvSpPr>
          <p:cNvPr id="27" name="">
            <a:extLst xmlns:a="http://schemas.openxmlformats.org/drawingml/2006/main">
              <a:ext uri="{FF2B5EF4-FFF2-40B4-BE49-F238E27FC236}">
                <a16:creationId xmlns:a16="http://schemas.microsoft.com/office/drawing/2014/main" id="{A4A3321A-799F-4D15-9CFE-8973FC4D00E3}"/>
              </a:ext>
            </a:extLst>
          </p:cNvPr>
          <p:cNvSpPr>
            <a:spLocks xmlns:a="http://schemas.openxmlformats.org/drawingml/2006/main" noGrp="1"/>
          </p:cNvSpPr>
          <p:nvPr/>
        </p:nvSpPr>
        <p:spPr>
          <a:xfrm xmlns:a="http://schemas.openxmlformats.org/drawingml/2006/main">
            <a:off x="6705600" y="5219700"/>
            <a:ext cx="1333500" cy="895350"/>
          </a:xfrm>
          <a:prstGeom xmlns:a="http://schemas.openxmlformats.org/drawingml/2006/main" prst="roundRect">
            <a:avLst>
              <a:gd name="adj" fmla="val 19149"/>
            </a:avLst>
          </a:prstGeom>
          <a:solidFill xmlns:a="http://schemas.openxmlformats.org/drawingml/2006/main">
            <a:srgbClr val="11171C"/>
          </a:solidFill>
          <a:ln xmlns:a="http://schemas.openxmlformats.org/drawingml/2006/main" w="14288">
            <a:solidFill>
              <a:srgbClr val="FFC857"/>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125" b="1">
                <a:solidFill>
                  <a:srgbClr val="F4F6F8"/>
                </a:solidFill>
                <a:latin typeface="DejaVu Sans"/>
                <a:ea typeface="DejaVu Sans"/>
                <a:cs typeface="DejaVu Sans"/>
              </a:defRPr>
            </a:pPr>
            <a:r>
              <a:rPr sz="1125" b="1">
                <a:solidFill>
                  <a:srgbClr val="F4F6F8"/>
                </a:solidFill>
                <a:latin typeface="DejaVu Sans"/>
                <a:ea typeface="DejaVu Sans"/>
                <a:cs typeface="DejaVu Sans"/>
              </a:rPr>
              <a:t>RESEARCH</a:t>
            </a:r>
          </a:p>
          <a:p xmlns:a="http://schemas.openxmlformats.org/drawingml/2006/main">
            <a:pPr algn="ctr">
              <a:lnSpc>
                <a:spcPct val="90000"/>
              </a:lnSpc>
              <a:buNone/>
              <a:defRPr sz="1125" b="1">
                <a:solidFill>
                  <a:srgbClr val="F4F6F8"/>
                </a:solidFill>
                <a:latin typeface="DejaVu Sans"/>
                <a:ea typeface="DejaVu Sans"/>
                <a:cs typeface="DejaVu Sans"/>
              </a:defRPr>
            </a:pPr>
            <a:r>
              <a:rPr sz="1125" b="1">
                <a:solidFill>
                  <a:srgbClr val="F4F6F8"/>
                </a:solidFill>
                <a:latin typeface="DejaVu Sans"/>
                <a:ea typeface="DejaVu Sans"/>
                <a:cs typeface="DejaVu Sans"/>
              </a:rPr>
              <a:t>REQUEST</a:t>
            </a:r>
          </a:p>
        </p:txBody>
      </p:sp>
      <p:sp>
        <p:nvSpPr>
          <p:cNvPr id="28" name="">
            <a:extLst xmlns:a="http://schemas.openxmlformats.org/drawingml/2006/main">
              <a:ext uri="{FF2B5EF4-FFF2-40B4-BE49-F238E27FC236}">
                <a16:creationId xmlns:a16="http://schemas.microsoft.com/office/drawing/2014/main" id="{BFDE5269-BB40-492D-805D-F3DD05DDF060}"/>
              </a:ext>
            </a:extLst>
          </p:cNvPr>
          <p:cNvSpPr>
            <a:spLocks xmlns:a="http://schemas.openxmlformats.org/drawingml/2006/main" noGrp="1"/>
          </p:cNvSpPr>
          <p:nvPr/>
        </p:nvSpPr>
        <p:spPr>
          <a:xfrm xmlns:a="http://schemas.openxmlformats.org/drawingml/2006/main">
            <a:off x="6734175" y="5248275"/>
            <a:ext cx="266700" cy="266700"/>
          </a:xfrm>
          <a:prstGeom xmlns:a="http://schemas.openxmlformats.org/drawingml/2006/main" prst="ellipse">
            <a:avLst/>
          </a:prstGeom>
          <a:solidFill xmlns:a="http://schemas.openxmlformats.org/drawingml/2006/main">
            <a:srgbClr val="FFC857"/>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C2AF934-986E-4AEF-B7A1-31AD83AE560F}"/>
              </a:ext>
            </a:extLst>
          </p:cNvPr>
          <p:cNvSpPr>
            <a:spLocks xmlns:a="http://schemas.openxmlformats.org/drawingml/2006/main" noGrp="1"/>
          </p:cNvSpPr>
          <p:nvPr/>
        </p:nvSpPr>
        <p:spPr>
          <a:xfrm xmlns:a="http://schemas.openxmlformats.org/drawingml/2006/main">
            <a:off x="6781800" y="529590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5000"/>
              </a:lnSpc>
              <a:buNone/>
              <a:defRPr sz="900" b="1">
                <a:solidFill>
                  <a:srgbClr val="07090C"/>
                </a:solidFill>
                <a:latin typeface="DejaVu Sans Mono"/>
                <a:ea typeface="DejaVu Sans Mono"/>
                <a:cs typeface="DejaVu Sans Mono"/>
              </a:defRPr>
            </a:pPr>
            <a:r>
              <a:rPr sz="900" b="1">
                <a:solidFill>
                  <a:srgbClr val="07090C"/>
                </a:solidFill>
                <a:latin typeface="DejaVu Sans Mono"/>
                <a:ea typeface="DejaVu Sans Mono"/>
                <a:cs typeface="DejaVu Sans Mono"/>
              </a:rPr>
              <a:t>4</a:t>
            </a:r>
          </a:p>
        </p:txBody>
      </p:sp>
      <p:sp>
        <p:nvSpPr>
          <p:cNvPr id="30" name="">
            <a:extLst xmlns:a="http://schemas.openxmlformats.org/drawingml/2006/main">
              <a:ext uri="{FF2B5EF4-FFF2-40B4-BE49-F238E27FC236}">
                <a16:creationId xmlns:a16="http://schemas.microsoft.com/office/drawing/2014/main" id="{1AACCFC5-F4A4-4B4F-9364-81A9CF477BE0}"/>
              </a:ext>
            </a:extLst>
          </p:cNvPr>
          <p:cNvSpPr>
            <a:spLocks xmlns:a="http://schemas.openxmlformats.org/drawingml/2006/main" noGrp="1"/>
          </p:cNvSpPr>
          <p:nvPr/>
        </p:nvSpPr>
        <p:spPr>
          <a:xfrm xmlns:a="http://schemas.openxmlformats.org/drawingml/2006/main">
            <a:off x="4629150" y="5143500"/>
            <a:ext cx="1333500" cy="895350"/>
          </a:xfrm>
          <a:prstGeom xmlns:a="http://schemas.openxmlformats.org/drawingml/2006/main" prst="roundRect">
            <a:avLst>
              <a:gd name="adj" fmla="val 19149"/>
            </a:avLst>
          </a:prstGeom>
          <a:solidFill xmlns:a="http://schemas.openxmlformats.org/drawingml/2006/main">
            <a:srgbClr val="11171C"/>
          </a:solidFill>
          <a:ln xmlns:a="http://schemas.openxmlformats.org/drawingml/2006/main" w="14288">
            <a:solidFill>
              <a:srgbClr val="62D6A7"/>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125" b="1">
                <a:solidFill>
                  <a:srgbClr val="F4F6F8"/>
                </a:solidFill>
                <a:latin typeface="DejaVu Sans"/>
                <a:ea typeface="DejaVu Sans"/>
                <a:cs typeface="DejaVu Sans"/>
              </a:defRPr>
            </a:pPr>
            <a:r>
              <a:rPr sz="1125" b="1">
                <a:solidFill>
                  <a:srgbClr val="F4F6F8"/>
                </a:solidFill>
                <a:latin typeface="DejaVu Sans"/>
                <a:ea typeface="DejaVu Sans"/>
                <a:cs typeface="DejaVu Sans"/>
              </a:rPr>
              <a:t>TARGETED</a:t>
            </a:r>
          </a:p>
          <a:p xmlns:a="http://schemas.openxmlformats.org/drawingml/2006/main">
            <a:pPr algn="ctr">
              <a:lnSpc>
                <a:spcPct val="90000"/>
              </a:lnSpc>
              <a:buNone/>
              <a:defRPr sz="1125" b="1">
                <a:solidFill>
                  <a:srgbClr val="F4F6F8"/>
                </a:solidFill>
                <a:latin typeface="DejaVu Sans"/>
                <a:ea typeface="DejaVu Sans"/>
                <a:cs typeface="DejaVu Sans"/>
              </a:defRPr>
            </a:pPr>
            <a:r>
              <a:rPr sz="1125" b="1">
                <a:solidFill>
                  <a:srgbClr val="F4F6F8"/>
                </a:solidFill>
                <a:latin typeface="DejaVu Sans"/>
                <a:ea typeface="DejaVu Sans"/>
                <a:cs typeface="DejaVu Sans"/>
              </a:rPr>
              <a:t>EVIDENCE</a:t>
            </a:r>
          </a:p>
        </p:txBody>
      </p:sp>
      <p:sp>
        <p:nvSpPr>
          <p:cNvPr id="31" name="">
            <a:extLst xmlns:a="http://schemas.openxmlformats.org/drawingml/2006/main">
              <a:ext uri="{FF2B5EF4-FFF2-40B4-BE49-F238E27FC236}">
                <a16:creationId xmlns:a16="http://schemas.microsoft.com/office/drawing/2014/main" id="{3A732017-E673-4D44-919C-0DC404F1167C}"/>
              </a:ext>
            </a:extLst>
          </p:cNvPr>
          <p:cNvSpPr>
            <a:spLocks xmlns:a="http://schemas.openxmlformats.org/drawingml/2006/main" noGrp="1"/>
          </p:cNvSpPr>
          <p:nvPr/>
        </p:nvSpPr>
        <p:spPr>
          <a:xfrm xmlns:a="http://schemas.openxmlformats.org/drawingml/2006/main">
            <a:off x="4657725" y="5172075"/>
            <a:ext cx="266700" cy="266700"/>
          </a:xfrm>
          <a:prstGeom xmlns:a="http://schemas.openxmlformats.org/drawingml/2006/main" prst="ellipse">
            <a:avLst/>
          </a:prstGeom>
          <a:solidFill xmlns:a="http://schemas.openxmlformats.org/drawingml/2006/main">
            <a:srgbClr val="62D6A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F98B7C4-E392-46B4-8C5A-DF0974874130}"/>
              </a:ext>
            </a:extLst>
          </p:cNvPr>
          <p:cNvSpPr>
            <a:spLocks xmlns:a="http://schemas.openxmlformats.org/drawingml/2006/main" noGrp="1"/>
          </p:cNvSpPr>
          <p:nvPr/>
        </p:nvSpPr>
        <p:spPr>
          <a:xfrm xmlns:a="http://schemas.openxmlformats.org/drawingml/2006/main">
            <a:off x="4705350" y="521970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5000"/>
              </a:lnSpc>
              <a:buNone/>
              <a:defRPr sz="900" b="1">
                <a:solidFill>
                  <a:srgbClr val="07090C"/>
                </a:solidFill>
                <a:latin typeface="DejaVu Sans Mono"/>
                <a:ea typeface="DejaVu Sans Mono"/>
                <a:cs typeface="DejaVu Sans Mono"/>
              </a:defRPr>
            </a:pPr>
            <a:r>
              <a:rPr sz="900" b="1">
                <a:solidFill>
                  <a:srgbClr val="07090C"/>
                </a:solidFill>
                <a:latin typeface="DejaVu Sans Mono"/>
                <a:ea typeface="DejaVu Sans Mono"/>
                <a:cs typeface="DejaVu Sans Mono"/>
              </a:rPr>
              <a:t>5</a:t>
            </a:r>
          </a:p>
        </p:txBody>
      </p:sp>
      <p:sp>
        <p:nvSpPr>
          <p:cNvPr id="33" name="">
            <a:extLst xmlns:a="http://schemas.openxmlformats.org/drawingml/2006/main">
              <a:ext uri="{FF2B5EF4-FFF2-40B4-BE49-F238E27FC236}">
                <a16:creationId xmlns:a16="http://schemas.microsoft.com/office/drawing/2014/main" id="{E249D150-BABA-4E74-BBCB-6D23DC846D0E}"/>
              </a:ext>
            </a:extLst>
          </p:cNvPr>
          <p:cNvSpPr>
            <a:spLocks xmlns:a="http://schemas.openxmlformats.org/drawingml/2006/main" noGrp="1"/>
          </p:cNvSpPr>
          <p:nvPr/>
        </p:nvSpPr>
        <p:spPr>
          <a:xfrm xmlns:a="http://schemas.openxmlformats.org/drawingml/2006/main">
            <a:off x="3581400" y="3638550"/>
            <a:ext cx="1333500" cy="895350"/>
          </a:xfrm>
          <a:prstGeom xmlns:a="http://schemas.openxmlformats.org/drawingml/2006/main" prst="roundRect">
            <a:avLst>
              <a:gd name="adj" fmla="val 19149"/>
            </a:avLst>
          </a:prstGeom>
          <a:solidFill xmlns:a="http://schemas.openxmlformats.org/drawingml/2006/main">
            <a:srgbClr val="11171C"/>
          </a:solidFill>
          <a:ln xmlns:a="http://schemas.openxmlformats.org/drawingml/2006/main" w="14288">
            <a:solidFill>
              <a:srgbClr val="39D7FF"/>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125" b="1">
                <a:solidFill>
                  <a:srgbClr val="F4F6F8"/>
                </a:solidFill>
                <a:latin typeface="DejaVu Sans"/>
                <a:ea typeface="DejaVu Sans"/>
                <a:cs typeface="DejaVu Sans"/>
              </a:defRPr>
            </a:pPr>
            <a:r>
              <a:rPr sz="1125" b="1">
                <a:solidFill>
                  <a:srgbClr val="F4F6F8"/>
                </a:solidFill>
                <a:latin typeface="DejaVu Sans"/>
                <a:ea typeface="DejaVu Sans"/>
                <a:cs typeface="DejaVu Sans"/>
              </a:rPr>
              <a:t>BASELINE UPDATE</a:t>
            </a:r>
          </a:p>
          <a:p xmlns:a="http://schemas.openxmlformats.org/drawingml/2006/main">
            <a:pPr algn="ctr">
              <a:lnSpc>
                <a:spcPct val="90000"/>
              </a:lnSpc>
              <a:buNone/>
              <a:defRPr sz="1125" b="1">
                <a:solidFill>
                  <a:srgbClr val="F4F6F8"/>
                </a:solidFill>
                <a:latin typeface="DejaVu Sans"/>
                <a:ea typeface="DejaVu Sans"/>
                <a:cs typeface="DejaVu Sans"/>
              </a:defRPr>
            </a:pPr>
            <a:r>
              <a:rPr sz="1125" b="1">
                <a:solidFill>
                  <a:srgbClr val="F4F6F8"/>
                </a:solidFill>
                <a:latin typeface="DejaVu Sans"/>
                <a:ea typeface="DejaVu Sans"/>
                <a:cs typeface="DejaVu Sans"/>
              </a:rPr>
              <a:t>+ CONTINUE</a:t>
            </a:r>
          </a:p>
        </p:txBody>
      </p:sp>
      <p:sp>
        <p:nvSpPr>
          <p:cNvPr id="34" name="">
            <a:extLst xmlns:a="http://schemas.openxmlformats.org/drawingml/2006/main">
              <a:ext uri="{FF2B5EF4-FFF2-40B4-BE49-F238E27FC236}">
                <a16:creationId xmlns:a16="http://schemas.microsoft.com/office/drawing/2014/main" id="{1EB7F439-7A83-4A13-8304-6F7B9D5DBC7A}"/>
              </a:ext>
            </a:extLst>
          </p:cNvPr>
          <p:cNvSpPr>
            <a:spLocks xmlns:a="http://schemas.openxmlformats.org/drawingml/2006/main" noGrp="1"/>
          </p:cNvSpPr>
          <p:nvPr/>
        </p:nvSpPr>
        <p:spPr>
          <a:xfrm xmlns:a="http://schemas.openxmlformats.org/drawingml/2006/main">
            <a:off x="3609975" y="3667125"/>
            <a:ext cx="266700" cy="266700"/>
          </a:xfrm>
          <a:prstGeom xmlns:a="http://schemas.openxmlformats.org/drawingml/2006/main" prst="ellipse">
            <a:avLst/>
          </a:prstGeom>
          <a:solidFill xmlns:a="http://schemas.openxmlformats.org/drawingml/2006/main">
            <a:srgbClr val="39D7FF"/>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5F875145-477E-4D27-8D8A-8EA4A458E8C3}"/>
              </a:ext>
            </a:extLst>
          </p:cNvPr>
          <p:cNvSpPr>
            <a:spLocks xmlns:a="http://schemas.openxmlformats.org/drawingml/2006/main" noGrp="1"/>
          </p:cNvSpPr>
          <p:nvPr/>
        </p:nvSpPr>
        <p:spPr>
          <a:xfrm xmlns:a="http://schemas.openxmlformats.org/drawingml/2006/main">
            <a:off x="3657600" y="37147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5000"/>
              </a:lnSpc>
              <a:buNone/>
              <a:defRPr sz="900" b="1">
                <a:solidFill>
                  <a:srgbClr val="07090C"/>
                </a:solidFill>
                <a:latin typeface="DejaVu Sans Mono"/>
                <a:ea typeface="DejaVu Sans Mono"/>
                <a:cs typeface="DejaVu Sans Mono"/>
              </a:defRPr>
            </a:pPr>
            <a:r>
              <a:rPr sz="900" b="1">
                <a:solidFill>
                  <a:srgbClr val="07090C"/>
                </a:solidFill>
                <a:latin typeface="DejaVu Sans Mono"/>
                <a:ea typeface="DejaVu Sans Mono"/>
                <a:cs typeface="DejaVu Sans Mono"/>
              </a:rPr>
              <a:t>6</a:t>
            </a:r>
          </a:p>
        </p:txBody>
      </p:sp>
      <p:sp>
        <p:nvSpPr>
          <p:cNvPr id="36" name="">
            <a:extLst xmlns:a="http://schemas.openxmlformats.org/drawingml/2006/main">
              <a:ext uri="{FF2B5EF4-FFF2-40B4-BE49-F238E27FC236}">
                <a16:creationId xmlns:a16="http://schemas.microsoft.com/office/drawing/2014/main" id="{1C63ACC4-8102-4BBD-A6D0-5C504127BAF8}"/>
              </a:ext>
            </a:extLst>
          </p:cNvPr>
          <p:cNvSpPr>
            <a:spLocks xmlns:a="http://schemas.openxmlformats.org/drawingml/2006/main" noGrp="1"/>
          </p:cNvSpPr>
          <p:nvPr/>
        </p:nvSpPr>
        <p:spPr>
          <a:xfrm xmlns:a="http://schemas.openxmlformats.org/drawingml/2006/main">
            <a:off x="4895850" y="3200400"/>
            <a:ext cx="2400300" cy="1562100"/>
          </a:xfrm>
          <a:prstGeom xmlns:a="http://schemas.openxmlformats.org/drawingml/2006/main" prst="ellipse">
            <a:avLst/>
          </a:prstGeom>
          <a:gradFill xmlns:a="http://schemas.openxmlformats.org/drawingml/2006/main">
            <a:gsLst>
              <a:gs pos="0">
                <a:srgbClr val="1B252C"/>
              </a:gs>
              <a:gs pos="100000">
                <a:srgbClr val="0A0E12"/>
              </a:gs>
            </a:gsLst>
            <a:path path="shape"/>
          </a:gradFill>
          <a:ln xmlns:a="http://schemas.openxmlformats.org/drawingml/2006/main" w="14288">
            <a:solidFill>
              <a:srgbClr val="F4F6F8"/>
            </a:solidFill>
            <a:prstDash val="solid"/>
          </a:ln>
        </p:spPr>
      </p:sp>
      <p:sp>
        <p:nvSpPr>
          <p:cNvPr id="37" name="">
            <a:extLst xmlns:a="http://schemas.openxmlformats.org/drawingml/2006/main">
              <a:ext uri="{FF2B5EF4-FFF2-40B4-BE49-F238E27FC236}">
                <a16:creationId xmlns:a16="http://schemas.microsoft.com/office/drawing/2014/main" id="{A270C06A-B927-4218-8127-B589045193D5}"/>
              </a:ext>
            </a:extLst>
          </p:cNvPr>
          <p:cNvSpPr>
            <a:spLocks xmlns:a="http://schemas.openxmlformats.org/drawingml/2006/main" noGrp="1"/>
          </p:cNvSpPr>
          <p:nvPr/>
        </p:nvSpPr>
        <p:spPr>
          <a:xfrm xmlns:a="http://schemas.openxmlformats.org/drawingml/2006/main">
            <a:off x="5105400" y="360045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0000"/>
              </a:lnSpc>
              <a:buNone/>
              <a:defRPr sz="1800" b="1">
                <a:solidFill>
                  <a:srgbClr val="F4F6F8"/>
                </a:solidFill>
                <a:latin typeface="DejaVu Sans"/>
                <a:ea typeface="DejaVu Sans"/>
                <a:cs typeface="DejaVu Sans"/>
              </a:defRPr>
            </a:pPr>
            <a:r>
              <a:rPr sz="1800" b="1">
                <a:solidFill>
                  <a:srgbClr val="F4F6F8"/>
                </a:solidFill>
                <a:latin typeface="DejaVu Sans"/>
                <a:ea typeface="DejaVu Sans"/>
                <a:cs typeface="DejaVu Sans"/>
              </a:rPr>
              <a:t>ENGINEERING</a:t>
            </a:r>
          </a:p>
          <a:p xmlns:a="http://schemas.openxmlformats.org/drawingml/2006/main">
            <a:pPr algn="ctr">
              <a:lnSpc>
                <a:spcPct val="90000"/>
              </a:lnSpc>
              <a:buNone/>
              <a:defRPr sz="1800" b="1">
                <a:solidFill>
                  <a:srgbClr val="F4F6F8"/>
                </a:solidFill>
                <a:latin typeface="DejaVu Sans"/>
                <a:ea typeface="DejaVu Sans"/>
                <a:cs typeface="DejaVu Sans"/>
              </a:defRPr>
            </a:pPr>
            <a:r>
              <a:rPr sz="1800" b="1">
                <a:solidFill>
                  <a:srgbClr val="F4F6F8"/>
                </a:solidFill>
                <a:latin typeface="DejaVu Sans"/>
                <a:ea typeface="DejaVu Sans"/>
                <a:cs typeface="DejaVu Sans"/>
              </a:rPr>
              <a:t>TO COMPLETION</a:t>
            </a:r>
          </a:p>
        </p:txBody>
      </p:sp>
      <p:sp>
        <p:nvSpPr>
          <p:cNvPr id="38" name="">
            <a:extLst xmlns:a="http://schemas.openxmlformats.org/drawingml/2006/main">
              <a:ext uri="{FF2B5EF4-FFF2-40B4-BE49-F238E27FC236}">
                <a16:creationId xmlns:a16="http://schemas.microsoft.com/office/drawing/2014/main" id="{7A14EDB7-1BAC-4539-A174-08EDDDADF1D4}"/>
              </a:ext>
            </a:extLst>
          </p:cNvPr>
          <p:cNvSpPr>
            <a:spLocks xmlns:a="http://schemas.openxmlformats.org/drawingml/2006/main" noGrp="1"/>
          </p:cNvSpPr>
          <p:nvPr/>
        </p:nvSpPr>
        <p:spPr>
          <a:xfrm xmlns:a="http://schemas.openxmlformats.org/drawingml/2006/main">
            <a:off x="742950" y="2381250"/>
            <a:ext cx="2190750" cy="400050"/>
          </a:xfrm>
          <a:prstGeom xmlns:a="http://schemas.openxmlformats.org/drawingml/2006/main" prst="roundRect">
            <a:avLst>
              <a:gd name="adj" fmla="val 21429"/>
            </a:avLst>
          </a:prstGeom>
          <a:solidFill xmlns:a="http://schemas.openxmlformats.org/drawingml/2006/main">
            <a:srgbClr val="1A0F11"/>
          </a:solidFill>
          <a:ln xmlns:a="http://schemas.openxmlformats.org/drawingml/2006/main" w="9525">
            <a:solidFill>
              <a:srgbClr val="FF6262">
                <a:alpha val="55000"/>
              </a:srgbClr>
            </a:solidFill>
            <a:prstDash val="solid"/>
          </a:ln>
        </p:spPr>
        <p:txBody>
          <a:bodyPr xmlns:a="http://schemas.openxmlformats.org/drawingml/2006/main" wrap="square" lIns="47625" tIns="19050" rIns="47625" bIns="19050" anchor="ctr">
            <a:noAutofit/>
          </a:bodyPr>
          <a:lstStyle xmlns:a="http://schemas.openxmlformats.org/drawingml/2006/main"/>
          <a:p xmlns:a="http://schemas.openxmlformats.org/drawingml/2006/main">
            <a:pPr algn="ctr">
              <a:lnSpc>
                <a:spcPct val="95000"/>
              </a:lnSpc>
              <a:buNone/>
              <a:defRPr sz="975" b="1">
                <a:solidFill>
                  <a:srgbClr val="FF6262"/>
                </a:solidFill>
                <a:latin typeface="DejaVu Sans Mono"/>
                <a:ea typeface="DejaVu Sans Mono"/>
                <a:cs typeface="DejaVu Sans Mono"/>
              </a:defRPr>
            </a:pPr>
            <a:r>
              <a:rPr sz="975" b="1">
                <a:solidFill>
                  <a:srgbClr val="FF6262"/>
                </a:solidFill>
                <a:latin typeface="DejaVu Sans Mono"/>
                <a:ea typeface="DejaVu Sans Mono"/>
                <a:cs typeface="DejaVu Sans Mono"/>
              </a:rPr>
              <a:t>NO FAKE CERTAINTY</a:t>
            </a:r>
          </a:p>
        </p:txBody>
      </p:sp>
      <p:sp>
        <p:nvSpPr>
          <p:cNvPr id="39" name="">
            <a:extLst xmlns:a="http://schemas.openxmlformats.org/drawingml/2006/main">
              <a:ext uri="{FF2B5EF4-FFF2-40B4-BE49-F238E27FC236}">
                <a16:creationId xmlns:a16="http://schemas.microsoft.com/office/drawing/2014/main" id="{5E1FAE89-6629-4A1B-9CEA-18843072E69D}"/>
              </a:ext>
            </a:extLst>
          </p:cNvPr>
          <p:cNvSpPr>
            <a:spLocks xmlns:a="http://schemas.openxmlformats.org/drawingml/2006/main" noGrp="1"/>
          </p:cNvSpPr>
          <p:nvPr/>
        </p:nvSpPr>
        <p:spPr>
          <a:xfrm xmlns:a="http://schemas.openxmlformats.org/drawingml/2006/main">
            <a:off x="742950" y="3048000"/>
            <a:ext cx="2381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425" b="0">
                <a:solidFill>
                  <a:srgbClr val="D8DEE3"/>
                </a:solidFill>
                <a:latin typeface="DejaVu Sans"/>
                <a:ea typeface="DejaVu Sans"/>
                <a:cs typeface="DejaVu Sans"/>
              </a:defRPr>
            </a:pPr>
            <a:r>
              <a:rPr sz="1425" b="0">
                <a:solidFill>
                  <a:srgbClr val="D8DEE3"/>
                </a:solidFill>
                <a:latin typeface="DejaVu Sans"/>
                <a:ea typeface="DejaVu Sans"/>
                <a:cs typeface="DejaVu Sans"/>
              </a:rPr>
              <a:t>Verification, manufacturing and operations can reopen any earlier node.</a:t>
            </a:r>
          </a:p>
        </p:txBody>
      </p:sp>
      <p:sp>
        <p:nvSpPr>
          <p:cNvPr id="40" name="">
            <a:extLst xmlns:a="http://schemas.openxmlformats.org/drawingml/2006/main">
              <a:ext uri="{FF2B5EF4-FFF2-40B4-BE49-F238E27FC236}">
                <a16:creationId xmlns:a16="http://schemas.microsoft.com/office/drawing/2014/main" id="{998DC478-9E5E-4038-B9CD-E594F5A39917}"/>
              </a:ext>
            </a:extLst>
          </p:cNvPr>
          <p:cNvSpPr>
            <a:spLocks xmlns:a="http://schemas.openxmlformats.org/drawingml/2006/main" noGrp="1"/>
          </p:cNvSpPr>
          <p:nvPr/>
        </p:nvSpPr>
        <p:spPr>
          <a:xfrm xmlns:a="http://schemas.openxmlformats.org/drawingml/2006/main">
            <a:off x="8572500" y="5581650"/>
            <a:ext cx="2838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95000"/>
              </a:lnSpc>
              <a:buNone/>
              <a:defRPr sz="1125" b="1">
                <a:solidFill>
                  <a:srgbClr val="F26B38"/>
                </a:solidFill>
                <a:latin typeface="DejaVu Sans Mono"/>
                <a:ea typeface="DejaVu Sans Mono"/>
                <a:cs typeface="DejaVu Sans Mono"/>
              </a:defRPr>
            </a:pPr>
            <a:r>
              <a:rPr sz="1125" b="1">
                <a:solidFill>
                  <a:srgbClr val="F26B38"/>
                </a:solidFill>
                <a:latin typeface="DejaVu Sans Mono"/>
                <a:ea typeface="DejaVu Sans Mono"/>
                <a:cs typeface="DejaVu Sans Mono"/>
              </a:rPr>
              <a:t>THE RETURN PATH IS A FEATURE</a:t>
            </a:r>
          </a:p>
        </p:txBody>
      </p:sp>
      <p:sp>
        <p:nvSpPr>
          <p:cNvPr id="41" name="">
            <a:extLst xmlns:a="http://schemas.openxmlformats.org/drawingml/2006/main">
              <a:ext uri="{FF2B5EF4-FFF2-40B4-BE49-F238E27FC236}">
                <a16:creationId xmlns:a16="http://schemas.microsoft.com/office/drawing/2014/main" id="{D5440BE0-5F0E-4EF9-B3D5-358DDAD9691B}"/>
              </a:ext>
            </a:extLst>
          </p:cNvPr>
          <p:cNvSpPr>
            <a:spLocks xmlns:a="http://schemas.openxmlformats.org/drawingml/2006/main" noGrp="1"/>
          </p:cNvSpPr>
          <p:nvPr/>
        </p:nvSpPr>
        <p:spPr>
          <a:xfrm xmlns:a="http://schemas.openxmlformats.org/drawingml/2006/main">
            <a:off x="0" y="6400800"/>
            <a:ext cx="12192000" cy="457200"/>
          </a:xfrm>
          <a:prstGeom xmlns:a="http://schemas.openxmlformats.org/drawingml/2006/main" prst="rect">
            <a:avLst/>
          </a:prstGeom>
          <a:solidFill xmlns:a="http://schemas.openxmlformats.org/drawingml/2006/main">
            <a:srgbClr val="07090C">
              <a:alpha val="76000"/>
            </a:srgbClr>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D0A567DD-8564-4CB6-A799-E485ABF67052}"/>
              </a:ext>
            </a:extLst>
          </p:cNvPr>
          <p:cNvSpPr>
            <a:spLocks xmlns:a="http://schemas.openxmlformats.org/drawingml/2006/main" noGrp="1"/>
          </p:cNvSpPr>
          <p:nvPr/>
        </p:nvSpPr>
        <p:spPr>
          <a:xfrm xmlns:a="http://schemas.openxmlformats.org/drawingml/2006/main">
            <a:off x="609600" y="6553200"/>
            <a:ext cx="6858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MARS SOCIETY 2026  •  HARNESSED AGENTIC SCIENCE + ENGINEERING</a:t>
            </a:r>
          </a:p>
        </p:txBody>
      </p:sp>
      <p:sp>
        <p:nvSpPr>
          <p:cNvPr id="43" name="">
            <a:extLst xmlns:a="http://schemas.openxmlformats.org/drawingml/2006/main">
              <a:ext uri="{FF2B5EF4-FFF2-40B4-BE49-F238E27FC236}">
                <a16:creationId xmlns:a16="http://schemas.microsoft.com/office/drawing/2014/main" id="{95F63C3C-F7CD-43F7-ACFA-D6C18C3BDD16}"/>
              </a:ext>
            </a:extLst>
          </p:cNvPr>
          <p:cNvSpPr>
            <a:spLocks xmlns:a="http://schemas.openxmlformats.org/drawingml/2006/main" noGrp="1"/>
          </p:cNvSpPr>
          <p:nvPr/>
        </p:nvSpPr>
        <p:spPr>
          <a:xfrm xmlns:a="http://schemas.openxmlformats.org/drawingml/2006/main">
            <a:off x="9525000" y="6553200"/>
            <a:ext cx="2057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BOB J MILLS     10</a:t>
            </a:r>
          </a:p>
        </p:txBody>
      </p:sp>
    </p:spTree>
    <p:extLst>
      <p:ext uri="{BB962C8B-B14F-4D97-AF65-F5344CB8AC3E}">
        <p14:creationId xmlns:p14="http://schemas.microsoft.com/office/powerpoint/2010/main" val="1284996730"/>
      </p:ext>
    </p:extLst>
  </p:cSld>
</p:sld>
</file>

<file path=ppt/slides/slide11.xml><?xml version="1.0" encoding="utf-8"?>
<p:sld xmlns:p="http://schemas.openxmlformats.org/presentationml/2006/main">
  <p:cSld>
    <p:bg>
      <p:bgPr>
        <a:solidFill xmlns:a="http://schemas.openxmlformats.org/drawingml/2006/main">
          <a:srgbClr val="07090C"/>
        </a:solidFill>
      </p:bgPr>
    </p:bg>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EA7F7C61-B38D-488C-98FF-503F92D98FBA}"/>
              </a:ext>
            </a:extLst>
          </p:cNvPr>
          <p:cNvSpPr>
            <a:spLocks xmlns:a="http://schemas.openxmlformats.org/drawingml/2006/main" noGrp="1"/>
          </p:cNvSpPr>
          <p:nvPr/>
        </p:nvSpPr>
        <p:spPr>
          <a:xfrm xmlns:a="http://schemas.openxmlformats.org/drawingml/2006/main">
            <a:off x="609600" y="3429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975" b="1">
                <a:solidFill>
                  <a:srgbClr val="F26B38"/>
                </a:solidFill>
                <a:latin typeface="DejaVu Sans Mono"/>
                <a:ea typeface="DejaVu Sans Mono"/>
                <a:cs typeface="DejaVu Sans Mono"/>
              </a:defRPr>
            </a:pPr>
            <a:r>
              <a:rPr sz="975" b="1">
                <a:solidFill>
                  <a:srgbClr val="F26B38"/>
                </a:solidFill>
                <a:latin typeface="DejaVu Sans Mono"/>
                <a:ea typeface="DejaVu Sans Mono"/>
                <a:cs typeface="DejaVu Sans Mono"/>
              </a:rPr>
              <a:t>11  /  AGENTIC ACCELERATION</a:t>
            </a:r>
          </a:p>
        </p:txBody>
      </p:sp>
      <p:sp>
        <p:nvSpPr>
          <p:cNvPr id="2" name="">
            <a:extLst xmlns:a="http://schemas.openxmlformats.org/drawingml/2006/main">
              <a:ext uri="{FF2B5EF4-FFF2-40B4-BE49-F238E27FC236}">
                <a16:creationId xmlns:a16="http://schemas.microsoft.com/office/drawing/2014/main" id="{15C259EE-8862-4C93-8B1E-D484FB038FE9}"/>
              </a:ext>
            </a:extLst>
          </p:cNvPr>
          <p:cNvSpPr>
            <a:spLocks xmlns:a="http://schemas.openxmlformats.org/drawingml/2006/main" noGrp="1"/>
          </p:cNvSpPr>
          <p:nvPr/>
        </p:nvSpPr>
        <p:spPr>
          <a:xfrm xmlns:a="http://schemas.openxmlformats.org/drawingml/2006/main">
            <a:off x="609600" y="6477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2325" b="1">
                <a:solidFill>
                  <a:srgbClr val="F4F6F8"/>
                </a:solidFill>
                <a:latin typeface="DejaVu Sans"/>
                <a:ea typeface="DejaVu Sans"/>
                <a:cs typeface="DejaVu Sans"/>
              </a:defRPr>
            </a:pPr>
            <a:r>
              <a:rPr sz="2325" b="1">
                <a:solidFill>
                  <a:srgbClr val="F4F6F8"/>
                </a:solidFill>
                <a:latin typeface="DejaVu Sans"/>
                <a:ea typeface="DejaVu Sans"/>
                <a:cs typeface="DejaVu Sans"/>
              </a:rPr>
              <a:t>Parallel work shortens waiting; gates preserve truth</a:t>
            </a:r>
          </a:p>
        </p:txBody>
      </p:sp>
      <p:sp>
        <p:nvSpPr>
          <p:cNvPr id="3" name="">
            <a:extLst xmlns:a="http://schemas.openxmlformats.org/drawingml/2006/main">
              <a:ext uri="{FF2B5EF4-FFF2-40B4-BE49-F238E27FC236}">
                <a16:creationId xmlns:a16="http://schemas.microsoft.com/office/drawing/2014/main" id="{839FD45F-69C3-482E-9913-B9769CA39F0B}"/>
              </a:ext>
            </a:extLst>
          </p:cNvPr>
          <p:cNvSpPr>
            <a:spLocks xmlns:a="http://schemas.openxmlformats.org/drawingml/2006/main" noGrp="1"/>
          </p:cNvSpPr>
          <p:nvPr/>
        </p:nvSpPr>
        <p:spPr>
          <a:xfrm xmlns:a="http://schemas.openxmlformats.org/drawingml/2006/main">
            <a:off x="628650" y="12382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425" b="0">
                <a:solidFill>
                  <a:srgbClr val="8D99A3"/>
                </a:solidFill>
                <a:latin typeface="DejaVu Sans"/>
                <a:ea typeface="DejaVu Sans"/>
                <a:cs typeface="DejaVu Sans"/>
              </a:defRPr>
            </a:pPr>
            <a:r>
              <a:rPr sz="1425" b="0">
                <a:solidFill>
                  <a:srgbClr val="8D99A3"/>
                </a:solidFill>
                <a:latin typeface="DejaVu Sans"/>
                <a:ea typeface="DejaVu Sans"/>
                <a:cs typeface="DejaVu Sans"/>
              </a:rPr>
              <a:t>The harness coordinates independent searches, analyses and critiques—then merges only reviewed work.</a:t>
            </a:r>
          </a:p>
        </p:txBody>
      </p:sp>
      <p:sp>
        <p:nvSpPr>
          <p:cNvPr id="4" name="">
            <a:extLst xmlns:a="http://schemas.openxmlformats.org/drawingml/2006/main">
              <a:ext uri="{FF2B5EF4-FFF2-40B4-BE49-F238E27FC236}">
                <a16:creationId xmlns:a16="http://schemas.microsoft.com/office/drawing/2014/main" id="{1522A33B-098A-4B9B-B8FC-DA01CBB090C1}"/>
              </a:ext>
            </a:extLst>
          </p:cNvPr>
          <p:cNvSpPr>
            <a:spLocks xmlns:a="http://schemas.openxmlformats.org/drawingml/2006/main" noGrp="1"/>
          </p:cNvSpPr>
          <p:nvPr/>
        </p:nvSpPr>
        <p:spPr>
          <a:xfrm xmlns:a="http://schemas.openxmlformats.org/drawingml/2006/main">
            <a:off x="609600" y="1676400"/>
            <a:ext cx="10972800" cy="0"/>
          </a:xfrm>
          <a:prstGeom xmlns:a="http://schemas.openxmlformats.org/drawingml/2006/main" prst="line">
            <a:avLst/>
          </a:prstGeom>
          <a:noFill xmlns:a="http://schemas.openxmlformats.org/drawingml/2006/main"/>
          <a:ln xmlns:a="http://schemas.openxmlformats.org/drawingml/2006/main" w="9525">
            <a:solidFill>
              <a:srgbClr val="35414B"/>
            </a:solidFill>
            <a:prstDash val="solid"/>
          </a:ln>
        </p:spPr>
      </p:sp>
      <p:sp>
        <p:nvSpPr>
          <p:cNvPr id="5" name="">
            <a:extLst xmlns:a="http://schemas.openxmlformats.org/drawingml/2006/main">
              <a:ext uri="{FF2B5EF4-FFF2-40B4-BE49-F238E27FC236}">
                <a16:creationId xmlns:a16="http://schemas.microsoft.com/office/drawing/2014/main" id="{00AFCEC8-0553-42B1-BAC9-9C1CDBE1B2FA}"/>
              </a:ext>
            </a:extLst>
          </p:cNvPr>
          <p:cNvSpPr>
            <a:spLocks xmlns:a="http://schemas.openxmlformats.org/drawingml/2006/main" noGrp="1"/>
          </p:cNvSpPr>
          <p:nvPr/>
        </p:nvSpPr>
        <p:spPr>
          <a:xfrm xmlns:a="http://schemas.openxmlformats.org/drawingml/2006/main">
            <a:off x="666750" y="3086100"/>
            <a:ext cx="1409700" cy="1143000"/>
          </a:xfrm>
          <a:prstGeom xmlns:a="http://schemas.openxmlformats.org/drawingml/2006/main" prst="roundRect">
            <a:avLst>
              <a:gd name="adj" fmla="val 13333"/>
            </a:avLst>
          </a:prstGeom>
          <a:solidFill xmlns:a="http://schemas.openxmlformats.org/drawingml/2006/main">
            <a:srgbClr val="11171C"/>
          </a:solidFill>
          <a:ln xmlns:a="http://schemas.openxmlformats.org/drawingml/2006/main" w="14288">
            <a:solidFill>
              <a:srgbClr val="F4F6F8"/>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200" b="1">
                <a:solidFill>
                  <a:srgbClr val="F4F6F8"/>
                </a:solidFill>
                <a:latin typeface="DejaVu Sans"/>
                <a:ea typeface="DejaVu Sans"/>
                <a:cs typeface="DejaVu Sans"/>
              </a:defRPr>
            </a:pPr>
            <a:r>
              <a:rPr sz="1200" b="1">
                <a:solidFill>
                  <a:srgbClr val="F4F6F8"/>
                </a:solidFill>
                <a:latin typeface="DejaVu Sans"/>
                <a:ea typeface="DejaVu Sans"/>
                <a:cs typeface="DejaVu Sans"/>
              </a:rPr>
              <a:t>MISSION</a:t>
            </a:r>
          </a:p>
          <a:p xmlns:a="http://schemas.openxmlformats.org/drawingml/2006/main">
            <a:pPr algn="ctr">
              <a:lnSpc>
                <a:spcPct val="90000"/>
              </a:lnSpc>
              <a:buNone/>
              <a:defRPr sz="1200" b="1">
                <a:solidFill>
                  <a:srgbClr val="F4F6F8"/>
                </a:solidFill>
                <a:latin typeface="DejaVu Sans"/>
                <a:ea typeface="DejaVu Sans"/>
                <a:cs typeface="DejaVu Sans"/>
              </a:defRPr>
            </a:pPr>
            <a:r>
              <a:rPr sz="1200" b="1">
                <a:solidFill>
                  <a:srgbClr val="F4F6F8"/>
                </a:solidFill>
                <a:latin typeface="DejaVu Sans"/>
                <a:ea typeface="DejaVu Sans"/>
                <a:cs typeface="DejaVu Sans"/>
              </a:rPr>
              <a:t>QUESTION</a:t>
            </a:r>
          </a:p>
        </p:txBody>
      </p:sp>
      <p:sp>
        <p:nvSpPr>
          <p:cNvPr id="6" name="">
            <a:extLst xmlns:a="http://schemas.openxmlformats.org/drawingml/2006/main">
              <a:ext uri="{FF2B5EF4-FFF2-40B4-BE49-F238E27FC236}">
                <a16:creationId xmlns:a16="http://schemas.microsoft.com/office/drawing/2014/main" id="{D4255A62-315C-46CC-87D2-2D4878926EED}"/>
              </a:ext>
            </a:extLst>
          </p:cNvPr>
          <p:cNvSpPr>
            <a:spLocks xmlns:a="http://schemas.openxmlformats.org/drawingml/2006/main" noGrp="1"/>
          </p:cNvSpPr>
          <p:nvPr/>
        </p:nvSpPr>
        <p:spPr>
          <a:xfrm xmlns:a="http://schemas.openxmlformats.org/drawingml/2006/main" rot="0">
            <a:off x="2133600" y="2324100"/>
            <a:ext cx="723900" cy="171450"/>
          </a:xfrm>
          <a:prstGeom xmlns:a="http://schemas.openxmlformats.org/drawingml/2006/main" prst="rightArrow">
            <a:avLst/>
          </a:prstGeom>
          <a:solidFill xmlns:a="http://schemas.openxmlformats.org/drawingml/2006/main">
            <a:srgbClr val="39D7FF">
              <a:alpha val="65000"/>
            </a:srgbClr>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9C2D083-2295-4B43-9D1C-E3FEEAFA9A5F}"/>
              </a:ext>
            </a:extLst>
          </p:cNvPr>
          <p:cNvSpPr>
            <a:spLocks xmlns:a="http://schemas.openxmlformats.org/drawingml/2006/main" noGrp="1"/>
          </p:cNvSpPr>
          <p:nvPr/>
        </p:nvSpPr>
        <p:spPr>
          <a:xfrm xmlns:a="http://schemas.openxmlformats.org/drawingml/2006/main">
            <a:off x="2971800" y="2076450"/>
            <a:ext cx="4762500" cy="647700"/>
          </a:xfrm>
          <a:prstGeom xmlns:a="http://schemas.openxmlformats.org/drawingml/2006/main" prst="roundRect">
            <a:avLst>
              <a:gd name="adj" fmla="val 20588"/>
            </a:avLst>
          </a:prstGeom>
          <a:solidFill xmlns:a="http://schemas.openxmlformats.org/drawingml/2006/main">
            <a:srgbClr val="10161B"/>
          </a:solidFill>
          <a:ln xmlns:a="http://schemas.openxmlformats.org/drawingml/2006/main" w="11430">
            <a:solidFill>
              <a:srgbClr val="39D7FF"/>
            </a:solidFill>
            <a:prstDash val="solid"/>
          </a:ln>
        </p:spPr>
      </p:sp>
      <p:sp>
        <p:nvSpPr>
          <p:cNvPr id="8" name="">
            <a:extLst xmlns:a="http://schemas.openxmlformats.org/drawingml/2006/main">
              <a:ext uri="{FF2B5EF4-FFF2-40B4-BE49-F238E27FC236}">
                <a16:creationId xmlns:a16="http://schemas.microsoft.com/office/drawing/2014/main" id="{FA96D190-D136-49F2-B0BA-8295004896FB}"/>
              </a:ext>
            </a:extLst>
          </p:cNvPr>
          <p:cNvSpPr>
            <a:spLocks xmlns:a="http://schemas.openxmlformats.org/drawingml/2006/main" noGrp="1"/>
          </p:cNvSpPr>
          <p:nvPr/>
        </p:nvSpPr>
        <p:spPr>
          <a:xfrm xmlns:a="http://schemas.openxmlformats.org/drawingml/2006/main">
            <a:off x="3181350" y="2181225"/>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200" b="1">
                <a:solidFill>
                  <a:srgbClr val="39D7FF"/>
                </a:solidFill>
                <a:latin typeface="DejaVu Sans Mono"/>
                <a:ea typeface="DejaVu Sans Mono"/>
                <a:cs typeface="DejaVu Sans Mono"/>
              </a:defRPr>
            </a:pPr>
            <a:r>
              <a:rPr sz="1200" b="1">
                <a:solidFill>
                  <a:srgbClr val="39D7FF"/>
                </a:solidFill>
                <a:latin typeface="DejaVu Sans Mono"/>
                <a:ea typeface="DejaVu Sans Mono"/>
                <a:cs typeface="DejaVu Sans Mono"/>
              </a:rPr>
              <a:t>EVIDENCE SEARCH</a:t>
            </a:r>
          </a:p>
        </p:txBody>
      </p:sp>
      <p:sp>
        <p:nvSpPr>
          <p:cNvPr id="9" name="">
            <a:extLst xmlns:a="http://schemas.openxmlformats.org/drawingml/2006/main">
              <a:ext uri="{FF2B5EF4-FFF2-40B4-BE49-F238E27FC236}">
                <a16:creationId xmlns:a16="http://schemas.microsoft.com/office/drawing/2014/main" id="{C2D5CDE7-996A-436E-8300-B0B7C2E7AD10}"/>
              </a:ext>
            </a:extLst>
          </p:cNvPr>
          <p:cNvSpPr>
            <a:spLocks xmlns:a="http://schemas.openxmlformats.org/drawingml/2006/main" noGrp="1"/>
          </p:cNvSpPr>
          <p:nvPr/>
        </p:nvSpPr>
        <p:spPr>
          <a:xfrm xmlns:a="http://schemas.openxmlformats.org/drawingml/2006/main">
            <a:off x="5391150" y="2181225"/>
            <a:ext cx="213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95000"/>
              </a:lnSpc>
              <a:buNone/>
              <a:defRPr sz="1200" b="0">
                <a:solidFill>
                  <a:srgbClr val="D8DEE3"/>
                </a:solidFill>
                <a:latin typeface="DejaVu Sans"/>
                <a:ea typeface="DejaVu Sans"/>
                <a:cs typeface="DejaVu Sans"/>
              </a:defRPr>
            </a:pPr>
            <a:r>
              <a:rPr sz="1200" b="0">
                <a:solidFill>
                  <a:srgbClr val="D8DEE3"/>
                </a:solidFill>
                <a:latin typeface="DejaVu Sans"/>
                <a:ea typeface="DejaVu Sans"/>
                <a:cs typeface="DejaVu Sans"/>
              </a:rPr>
              <a:t>sources • conflicts • gaps</a:t>
            </a:r>
          </a:p>
        </p:txBody>
      </p:sp>
      <p:sp>
        <p:nvSpPr>
          <p:cNvPr id="10" name="">
            <a:extLst xmlns:a="http://schemas.openxmlformats.org/drawingml/2006/main">
              <a:ext uri="{FF2B5EF4-FFF2-40B4-BE49-F238E27FC236}">
                <a16:creationId xmlns:a16="http://schemas.microsoft.com/office/drawing/2014/main" id="{CC7661DC-FAC9-4B5F-BE19-44687729CCF3}"/>
              </a:ext>
            </a:extLst>
          </p:cNvPr>
          <p:cNvSpPr>
            <a:spLocks xmlns:a="http://schemas.openxmlformats.org/drawingml/2006/main" noGrp="1"/>
          </p:cNvSpPr>
          <p:nvPr/>
        </p:nvSpPr>
        <p:spPr>
          <a:xfrm xmlns:a="http://schemas.openxmlformats.org/drawingml/2006/main">
            <a:off x="3472815" y="2533650"/>
            <a:ext cx="723900" cy="47625"/>
          </a:xfrm>
          <a:prstGeom xmlns:a="http://schemas.openxmlformats.org/drawingml/2006/main" prst="rect">
            <a:avLst/>
          </a:prstGeom>
          <a:solidFill xmlns:a="http://schemas.openxmlformats.org/drawingml/2006/main">
            <a:srgbClr val="39D7FF">
              <a:alpha val="50000"/>
            </a:srgbClr>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7A47871-9CF2-4D49-BC10-8DDA81A0D5D0}"/>
              </a:ext>
            </a:extLst>
          </p:cNvPr>
          <p:cNvSpPr>
            <a:spLocks xmlns:a="http://schemas.openxmlformats.org/drawingml/2006/main" noGrp="1"/>
          </p:cNvSpPr>
          <p:nvPr/>
        </p:nvSpPr>
        <p:spPr>
          <a:xfrm xmlns:a="http://schemas.openxmlformats.org/drawingml/2006/main">
            <a:off x="4175760" y="2533650"/>
            <a:ext cx="723900" cy="47625"/>
          </a:xfrm>
          <a:prstGeom xmlns:a="http://schemas.openxmlformats.org/drawingml/2006/main" prst="rect">
            <a:avLst/>
          </a:prstGeom>
          <a:solidFill xmlns:a="http://schemas.openxmlformats.org/drawingml/2006/main">
            <a:srgbClr val="39D7FF">
              <a:alpha val="60000"/>
            </a:srgbClr>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A872ACA-8F57-4D30-9928-4B2C135995BF}"/>
              </a:ext>
            </a:extLst>
          </p:cNvPr>
          <p:cNvSpPr>
            <a:spLocks xmlns:a="http://schemas.openxmlformats.org/drawingml/2006/main" noGrp="1"/>
          </p:cNvSpPr>
          <p:nvPr/>
        </p:nvSpPr>
        <p:spPr>
          <a:xfrm xmlns:a="http://schemas.openxmlformats.org/drawingml/2006/main">
            <a:off x="5034915" y="2533650"/>
            <a:ext cx="723900" cy="47625"/>
          </a:xfrm>
          <a:prstGeom xmlns:a="http://schemas.openxmlformats.org/drawingml/2006/main" prst="rect">
            <a:avLst/>
          </a:prstGeom>
          <a:solidFill xmlns:a="http://schemas.openxmlformats.org/drawingml/2006/main">
            <a:srgbClr val="39D7FF">
              <a:alpha val="70000"/>
            </a:srgbClr>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DC4DF97-7491-4DC5-9319-87549B3FA0B2}"/>
              </a:ext>
            </a:extLst>
          </p:cNvPr>
          <p:cNvSpPr>
            <a:spLocks xmlns:a="http://schemas.openxmlformats.org/drawingml/2006/main" noGrp="1"/>
          </p:cNvSpPr>
          <p:nvPr/>
        </p:nvSpPr>
        <p:spPr>
          <a:xfrm xmlns:a="http://schemas.openxmlformats.org/drawingml/2006/main">
            <a:off x="5894070" y="2533650"/>
            <a:ext cx="723900" cy="47625"/>
          </a:xfrm>
          <a:prstGeom xmlns:a="http://schemas.openxmlformats.org/drawingml/2006/main" prst="rect">
            <a:avLst/>
          </a:prstGeom>
          <a:solidFill xmlns:a="http://schemas.openxmlformats.org/drawingml/2006/main">
            <a:srgbClr val="39D7FF">
              <a:alpha val="80000"/>
            </a:srgbClr>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B5EF38A-FBD6-4E49-AF2C-897DAD92BF3F}"/>
              </a:ext>
            </a:extLst>
          </p:cNvPr>
          <p:cNvSpPr>
            <a:spLocks xmlns:a="http://schemas.openxmlformats.org/drawingml/2006/main" noGrp="1"/>
          </p:cNvSpPr>
          <p:nvPr/>
        </p:nvSpPr>
        <p:spPr>
          <a:xfrm xmlns:a="http://schemas.openxmlformats.org/drawingml/2006/main" rot="0">
            <a:off x="7829550" y="2324100"/>
            <a:ext cx="609600" cy="171450"/>
          </a:xfrm>
          <a:prstGeom xmlns:a="http://schemas.openxmlformats.org/drawingml/2006/main" prst="rightArrow">
            <a:avLst/>
          </a:prstGeom>
          <a:solidFill xmlns:a="http://schemas.openxmlformats.org/drawingml/2006/main">
            <a:srgbClr val="39D7FF">
              <a:alpha val="65000"/>
            </a:srgbClr>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79E014F-E21D-4D12-8A3B-264947157C99}"/>
              </a:ext>
            </a:extLst>
          </p:cNvPr>
          <p:cNvSpPr>
            <a:spLocks xmlns:a="http://schemas.openxmlformats.org/drawingml/2006/main" noGrp="1"/>
          </p:cNvSpPr>
          <p:nvPr/>
        </p:nvSpPr>
        <p:spPr>
          <a:xfrm xmlns:a="http://schemas.openxmlformats.org/drawingml/2006/main" rot="0">
            <a:off x="2133600" y="3200400"/>
            <a:ext cx="723900" cy="171450"/>
          </a:xfrm>
          <a:prstGeom xmlns:a="http://schemas.openxmlformats.org/drawingml/2006/main" prst="rightArrow">
            <a:avLst/>
          </a:prstGeom>
          <a:solidFill xmlns:a="http://schemas.openxmlformats.org/drawingml/2006/main">
            <a:srgbClr val="F26B38">
              <a:alpha val="65000"/>
            </a:srgbClr>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8C51056-23CA-4069-9A8E-FEC7CF500DF3}"/>
              </a:ext>
            </a:extLst>
          </p:cNvPr>
          <p:cNvSpPr>
            <a:spLocks xmlns:a="http://schemas.openxmlformats.org/drawingml/2006/main" noGrp="1"/>
          </p:cNvSpPr>
          <p:nvPr/>
        </p:nvSpPr>
        <p:spPr>
          <a:xfrm xmlns:a="http://schemas.openxmlformats.org/drawingml/2006/main">
            <a:off x="2971800" y="2952750"/>
            <a:ext cx="4762500" cy="647700"/>
          </a:xfrm>
          <a:prstGeom xmlns:a="http://schemas.openxmlformats.org/drawingml/2006/main" prst="roundRect">
            <a:avLst>
              <a:gd name="adj" fmla="val 20588"/>
            </a:avLst>
          </a:prstGeom>
          <a:solidFill xmlns:a="http://schemas.openxmlformats.org/drawingml/2006/main">
            <a:srgbClr val="10161B"/>
          </a:solidFill>
          <a:ln xmlns:a="http://schemas.openxmlformats.org/drawingml/2006/main" w="11430">
            <a:solidFill>
              <a:srgbClr val="F26B38"/>
            </a:solidFill>
            <a:prstDash val="solid"/>
          </a:ln>
        </p:spPr>
      </p:sp>
      <p:sp>
        <p:nvSpPr>
          <p:cNvPr id="17" name="">
            <a:extLst xmlns:a="http://schemas.openxmlformats.org/drawingml/2006/main">
              <a:ext uri="{FF2B5EF4-FFF2-40B4-BE49-F238E27FC236}">
                <a16:creationId xmlns:a16="http://schemas.microsoft.com/office/drawing/2014/main" id="{8EF77381-B5B3-4A2A-9A22-A1CADB211B15}"/>
              </a:ext>
            </a:extLst>
          </p:cNvPr>
          <p:cNvSpPr>
            <a:spLocks xmlns:a="http://schemas.openxmlformats.org/drawingml/2006/main" noGrp="1"/>
          </p:cNvSpPr>
          <p:nvPr/>
        </p:nvSpPr>
        <p:spPr>
          <a:xfrm xmlns:a="http://schemas.openxmlformats.org/drawingml/2006/main">
            <a:off x="3181350" y="3057525"/>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200" b="1">
                <a:solidFill>
                  <a:srgbClr val="F26B38"/>
                </a:solidFill>
                <a:latin typeface="DejaVu Sans Mono"/>
                <a:ea typeface="DejaVu Sans Mono"/>
                <a:cs typeface="DejaVu Sans Mono"/>
              </a:defRPr>
            </a:pPr>
            <a:r>
              <a:rPr sz="1200" b="1">
                <a:solidFill>
                  <a:srgbClr val="F26B38"/>
                </a:solidFill>
                <a:latin typeface="DejaVu Sans Mono"/>
                <a:ea typeface="DejaVu Sans Mono"/>
                <a:cs typeface="DejaVu Sans Mono"/>
              </a:rPr>
              <a:t>MODELS + TRADES</a:t>
            </a:r>
          </a:p>
        </p:txBody>
      </p:sp>
      <p:sp>
        <p:nvSpPr>
          <p:cNvPr id="18" name="">
            <a:extLst xmlns:a="http://schemas.openxmlformats.org/drawingml/2006/main">
              <a:ext uri="{FF2B5EF4-FFF2-40B4-BE49-F238E27FC236}">
                <a16:creationId xmlns:a16="http://schemas.microsoft.com/office/drawing/2014/main" id="{B2CF1BA1-A236-4154-8F0B-6FAB681D6531}"/>
              </a:ext>
            </a:extLst>
          </p:cNvPr>
          <p:cNvSpPr>
            <a:spLocks xmlns:a="http://schemas.openxmlformats.org/drawingml/2006/main" noGrp="1"/>
          </p:cNvSpPr>
          <p:nvPr/>
        </p:nvSpPr>
        <p:spPr>
          <a:xfrm xmlns:a="http://schemas.openxmlformats.org/drawingml/2006/main">
            <a:off x="5391150" y="3057525"/>
            <a:ext cx="213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95000"/>
              </a:lnSpc>
              <a:buNone/>
              <a:defRPr sz="1200" b="0">
                <a:solidFill>
                  <a:srgbClr val="D8DEE3"/>
                </a:solidFill>
                <a:latin typeface="DejaVu Sans"/>
                <a:ea typeface="DejaVu Sans"/>
                <a:cs typeface="DejaVu Sans"/>
              </a:defRPr>
            </a:pPr>
            <a:r>
              <a:rPr sz="1200" b="0">
                <a:solidFill>
                  <a:srgbClr val="D8DEE3"/>
                </a:solidFill>
                <a:latin typeface="DejaVu Sans"/>
                <a:ea typeface="DejaVu Sans"/>
                <a:cs typeface="DejaVu Sans"/>
              </a:rPr>
              <a:t>simulation • sensitivity</a:t>
            </a:r>
          </a:p>
        </p:txBody>
      </p:sp>
      <p:sp>
        <p:nvSpPr>
          <p:cNvPr id="19" name="">
            <a:extLst xmlns:a="http://schemas.openxmlformats.org/drawingml/2006/main">
              <a:ext uri="{FF2B5EF4-FFF2-40B4-BE49-F238E27FC236}">
                <a16:creationId xmlns:a16="http://schemas.microsoft.com/office/drawing/2014/main" id="{AF920994-F943-4F53-BAFB-8085A9BD5B2F}"/>
              </a:ext>
            </a:extLst>
          </p:cNvPr>
          <p:cNvSpPr>
            <a:spLocks xmlns:a="http://schemas.openxmlformats.org/drawingml/2006/main" noGrp="1"/>
          </p:cNvSpPr>
          <p:nvPr/>
        </p:nvSpPr>
        <p:spPr>
          <a:xfrm xmlns:a="http://schemas.openxmlformats.org/drawingml/2006/main">
            <a:off x="3472815" y="3409950"/>
            <a:ext cx="723900" cy="47625"/>
          </a:xfrm>
          <a:prstGeom xmlns:a="http://schemas.openxmlformats.org/drawingml/2006/main" prst="rect">
            <a:avLst/>
          </a:prstGeom>
          <a:solidFill xmlns:a="http://schemas.openxmlformats.org/drawingml/2006/main">
            <a:srgbClr val="F26B38">
              <a:alpha val="50000"/>
            </a:srgbClr>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936C13E-50F4-419D-B80F-1DC4AEEA6F1B}"/>
              </a:ext>
            </a:extLst>
          </p:cNvPr>
          <p:cNvSpPr>
            <a:spLocks xmlns:a="http://schemas.openxmlformats.org/drawingml/2006/main" noGrp="1"/>
          </p:cNvSpPr>
          <p:nvPr/>
        </p:nvSpPr>
        <p:spPr>
          <a:xfrm xmlns:a="http://schemas.openxmlformats.org/drawingml/2006/main">
            <a:off x="4175760" y="3409950"/>
            <a:ext cx="723900" cy="47625"/>
          </a:xfrm>
          <a:prstGeom xmlns:a="http://schemas.openxmlformats.org/drawingml/2006/main" prst="rect">
            <a:avLst/>
          </a:prstGeom>
          <a:solidFill xmlns:a="http://schemas.openxmlformats.org/drawingml/2006/main">
            <a:srgbClr val="F26B38">
              <a:alpha val="60000"/>
            </a:srgbClr>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218E7E1-C82E-4EFE-9919-186FA76C7FD9}"/>
              </a:ext>
            </a:extLst>
          </p:cNvPr>
          <p:cNvSpPr>
            <a:spLocks xmlns:a="http://schemas.openxmlformats.org/drawingml/2006/main" noGrp="1"/>
          </p:cNvSpPr>
          <p:nvPr/>
        </p:nvSpPr>
        <p:spPr>
          <a:xfrm xmlns:a="http://schemas.openxmlformats.org/drawingml/2006/main">
            <a:off x="5034915" y="3409950"/>
            <a:ext cx="723900" cy="47625"/>
          </a:xfrm>
          <a:prstGeom xmlns:a="http://schemas.openxmlformats.org/drawingml/2006/main" prst="rect">
            <a:avLst/>
          </a:prstGeom>
          <a:solidFill xmlns:a="http://schemas.openxmlformats.org/drawingml/2006/main">
            <a:srgbClr val="F26B38">
              <a:alpha val="70000"/>
            </a:srgbClr>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947DEA8-84DE-48BF-901D-C73648B3FF28}"/>
              </a:ext>
            </a:extLst>
          </p:cNvPr>
          <p:cNvSpPr>
            <a:spLocks xmlns:a="http://schemas.openxmlformats.org/drawingml/2006/main" noGrp="1"/>
          </p:cNvSpPr>
          <p:nvPr/>
        </p:nvSpPr>
        <p:spPr>
          <a:xfrm xmlns:a="http://schemas.openxmlformats.org/drawingml/2006/main">
            <a:off x="5894070" y="3409950"/>
            <a:ext cx="723900" cy="47625"/>
          </a:xfrm>
          <a:prstGeom xmlns:a="http://schemas.openxmlformats.org/drawingml/2006/main" prst="rect">
            <a:avLst/>
          </a:prstGeom>
          <a:solidFill xmlns:a="http://schemas.openxmlformats.org/drawingml/2006/main">
            <a:srgbClr val="F26B38">
              <a:alpha val="80000"/>
            </a:srgbClr>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C8762D6-64B9-4B30-99A1-91E912A3BB62}"/>
              </a:ext>
            </a:extLst>
          </p:cNvPr>
          <p:cNvSpPr>
            <a:spLocks xmlns:a="http://schemas.openxmlformats.org/drawingml/2006/main" noGrp="1"/>
          </p:cNvSpPr>
          <p:nvPr/>
        </p:nvSpPr>
        <p:spPr>
          <a:xfrm xmlns:a="http://schemas.openxmlformats.org/drawingml/2006/main" rot="0">
            <a:off x="7829550" y="3200400"/>
            <a:ext cx="609600" cy="171450"/>
          </a:xfrm>
          <a:prstGeom xmlns:a="http://schemas.openxmlformats.org/drawingml/2006/main" prst="rightArrow">
            <a:avLst/>
          </a:prstGeom>
          <a:solidFill xmlns:a="http://schemas.openxmlformats.org/drawingml/2006/main">
            <a:srgbClr val="F26B38">
              <a:alpha val="65000"/>
            </a:srgbClr>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BB80932-C874-4D33-8BEC-1589E2CB0585}"/>
              </a:ext>
            </a:extLst>
          </p:cNvPr>
          <p:cNvSpPr>
            <a:spLocks xmlns:a="http://schemas.openxmlformats.org/drawingml/2006/main" noGrp="1"/>
          </p:cNvSpPr>
          <p:nvPr/>
        </p:nvSpPr>
        <p:spPr>
          <a:xfrm xmlns:a="http://schemas.openxmlformats.org/drawingml/2006/main" rot="0">
            <a:off x="2133600" y="4076700"/>
            <a:ext cx="723900" cy="171450"/>
          </a:xfrm>
          <a:prstGeom xmlns:a="http://schemas.openxmlformats.org/drawingml/2006/main" prst="rightArrow">
            <a:avLst/>
          </a:prstGeom>
          <a:solidFill xmlns:a="http://schemas.openxmlformats.org/drawingml/2006/main">
            <a:srgbClr val="FF6262">
              <a:alpha val="65000"/>
            </a:srgbClr>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381C519-BCE7-4E43-971B-977C96FE6BD0}"/>
              </a:ext>
            </a:extLst>
          </p:cNvPr>
          <p:cNvSpPr>
            <a:spLocks xmlns:a="http://schemas.openxmlformats.org/drawingml/2006/main" noGrp="1"/>
          </p:cNvSpPr>
          <p:nvPr/>
        </p:nvSpPr>
        <p:spPr>
          <a:xfrm xmlns:a="http://schemas.openxmlformats.org/drawingml/2006/main">
            <a:off x="2971800" y="3829050"/>
            <a:ext cx="4762500" cy="647700"/>
          </a:xfrm>
          <a:prstGeom xmlns:a="http://schemas.openxmlformats.org/drawingml/2006/main" prst="roundRect">
            <a:avLst>
              <a:gd name="adj" fmla="val 20588"/>
            </a:avLst>
          </a:prstGeom>
          <a:solidFill xmlns:a="http://schemas.openxmlformats.org/drawingml/2006/main">
            <a:srgbClr val="10161B"/>
          </a:solidFill>
          <a:ln xmlns:a="http://schemas.openxmlformats.org/drawingml/2006/main" w="11430">
            <a:solidFill>
              <a:srgbClr val="FF6262"/>
            </a:solidFill>
            <a:prstDash val="solid"/>
          </a:ln>
        </p:spPr>
      </p:sp>
      <p:sp>
        <p:nvSpPr>
          <p:cNvPr id="26" name="">
            <a:extLst xmlns:a="http://schemas.openxmlformats.org/drawingml/2006/main">
              <a:ext uri="{FF2B5EF4-FFF2-40B4-BE49-F238E27FC236}">
                <a16:creationId xmlns:a16="http://schemas.microsoft.com/office/drawing/2014/main" id="{7BCEE4CB-6CA0-44B2-8722-4B309D141F33}"/>
              </a:ext>
            </a:extLst>
          </p:cNvPr>
          <p:cNvSpPr>
            <a:spLocks xmlns:a="http://schemas.openxmlformats.org/drawingml/2006/main" noGrp="1"/>
          </p:cNvSpPr>
          <p:nvPr/>
        </p:nvSpPr>
        <p:spPr>
          <a:xfrm xmlns:a="http://schemas.openxmlformats.org/drawingml/2006/main">
            <a:off x="3181350" y="3933825"/>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200" b="1">
                <a:solidFill>
                  <a:srgbClr val="FF6262"/>
                </a:solidFill>
                <a:latin typeface="DejaVu Sans Mono"/>
                <a:ea typeface="DejaVu Sans Mono"/>
                <a:cs typeface="DejaVu Sans Mono"/>
              </a:defRPr>
            </a:pPr>
            <a:r>
              <a:rPr sz="1200" b="1">
                <a:solidFill>
                  <a:srgbClr val="FF6262"/>
                </a:solidFill>
                <a:latin typeface="DejaVu Sans Mono"/>
                <a:ea typeface="DejaVu Sans Mono"/>
                <a:cs typeface="DejaVu Sans Mono"/>
              </a:rPr>
              <a:t>ADVERSARIAL ATTACK</a:t>
            </a:r>
          </a:p>
        </p:txBody>
      </p:sp>
      <p:sp>
        <p:nvSpPr>
          <p:cNvPr id="27" name="">
            <a:extLst xmlns:a="http://schemas.openxmlformats.org/drawingml/2006/main">
              <a:ext uri="{FF2B5EF4-FFF2-40B4-BE49-F238E27FC236}">
                <a16:creationId xmlns:a16="http://schemas.microsoft.com/office/drawing/2014/main" id="{0C8D4D52-7833-4C86-953B-4029BD0C14B1}"/>
              </a:ext>
            </a:extLst>
          </p:cNvPr>
          <p:cNvSpPr>
            <a:spLocks xmlns:a="http://schemas.openxmlformats.org/drawingml/2006/main" noGrp="1"/>
          </p:cNvSpPr>
          <p:nvPr/>
        </p:nvSpPr>
        <p:spPr>
          <a:xfrm xmlns:a="http://schemas.openxmlformats.org/drawingml/2006/main">
            <a:off x="5391150" y="3933825"/>
            <a:ext cx="213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95000"/>
              </a:lnSpc>
              <a:buNone/>
              <a:defRPr sz="1200" b="0">
                <a:solidFill>
                  <a:srgbClr val="D8DEE3"/>
                </a:solidFill>
                <a:latin typeface="DejaVu Sans"/>
                <a:ea typeface="DejaVu Sans"/>
                <a:cs typeface="DejaVu Sans"/>
              </a:defRPr>
            </a:pPr>
            <a:r>
              <a:rPr sz="1200" b="0">
                <a:solidFill>
                  <a:srgbClr val="D8DEE3"/>
                </a:solidFill>
                <a:latin typeface="DejaVu Sans"/>
                <a:ea typeface="DejaVu Sans"/>
                <a:cs typeface="DejaVu Sans"/>
              </a:rPr>
              <a:t>failure • counterexample</a:t>
            </a:r>
          </a:p>
        </p:txBody>
      </p:sp>
      <p:sp>
        <p:nvSpPr>
          <p:cNvPr id="28" name="">
            <a:extLst xmlns:a="http://schemas.openxmlformats.org/drawingml/2006/main">
              <a:ext uri="{FF2B5EF4-FFF2-40B4-BE49-F238E27FC236}">
                <a16:creationId xmlns:a16="http://schemas.microsoft.com/office/drawing/2014/main" id="{03085810-A1ED-4FD8-90CD-7403087362E3}"/>
              </a:ext>
            </a:extLst>
          </p:cNvPr>
          <p:cNvSpPr>
            <a:spLocks xmlns:a="http://schemas.openxmlformats.org/drawingml/2006/main" noGrp="1"/>
          </p:cNvSpPr>
          <p:nvPr/>
        </p:nvSpPr>
        <p:spPr>
          <a:xfrm xmlns:a="http://schemas.openxmlformats.org/drawingml/2006/main">
            <a:off x="3472815" y="4286250"/>
            <a:ext cx="723900" cy="47625"/>
          </a:xfrm>
          <a:prstGeom xmlns:a="http://schemas.openxmlformats.org/drawingml/2006/main" prst="rect">
            <a:avLst/>
          </a:prstGeom>
          <a:solidFill xmlns:a="http://schemas.openxmlformats.org/drawingml/2006/main">
            <a:srgbClr val="FF6262">
              <a:alpha val="50000"/>
            </a:srgbClr>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7DBE9187-E36C-41E4-89F3-6C4FD6CA03CB}"/>
              </a:ext>
            </a:extLst>
          </p:cNvPr>
          <p:cNvSpPr>
            <a:spLocks xmlns:a="http://schemas.openxmlformats.org/drawingml/2006/main" noGrp="1"/>
          </p:cNvSpPr>
          <p:nvPr/>
        </p:nvSpPr>
        <p:spPr>
          <a:xfrm xmlns:a="http://schemas.openxmlformats.org/drawingml/2006/main">
            <a:off x="4175760" y="4286250"/>
            <a:ext cx="723900" cy="47625"/>
          </a:xfrm>
          <a:prstGeom xmlns:a="http://schemas.openxmlformats.org/drawingml/2006/main" prst="rect">
            <a:avLst/>
          </a:prstGeom>
          <a:solidFill xmlns:a="http://schemas.openxmlformats.org/drawingml/2006/main">
            <a:srgbClr val="FF6262">
              <a:alpha val="60000"/>
            </a:srgbClr>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9A9FD2D5-8B96-47FD-93A7-E8EB5FEF187D}"/>
              </a:ext>
            </a:extLst>
          </p:cNvPr>
          <p:cNvSpPr>
            <a:spLocks xmlns:a="http://schemas.openxmlformats.org/drawingml/2006/main" noGrp="1"/>
          </p:cNvSpPr>
          <p:nvPr/>
        </p:nvSpPr>
        <p:spPr>
          <a:xfrm xmlns:a="http://schemas.openxmlformats.org/drawingml/2006/main">
            <a:off x="5034915" y="4286250"/>
            <a:ext cx="723900" cy="47625"/>
          </a:xfrm>
          <a:prstGeom xmlns:a="http://schemas.openxmlformats.org/drawingml/2006/main" prst="rect">
            <a:avLst/>
          </a:prstGeom>
          <a:solidFill xmlns:a="http://schemas.openxmlformats.org/drawingml/2006/main">
            <a:srgbClr val="FF6262">
              <a:alpha val="70000"/>
            </a:srgbClr>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6CCB4C30-E77D-4134-9B6C-69474E6791AF}"/>
              </a:ext>
            </a:extLst>
          </p:cNvPr>
          <p:cNvSpPr>
            <a:spLocks xmlns:a="http://schemas.openxmlformats.org/drawingml/2006/main" noGrp="1"/>
          </p:cNvSpPr>
          <p:nvPr/>
        </p:nvSpPr>
        <p:spPr>
          <a:xfrm xmlns:a="http://schemas.openxmlformats.org/drawingml/2006/main">
            <a:off x="5894070" y="4286250"/>
            <a:ext cx="723900" cy="47625"/>
          </a:xfrm>
          <a:prstGeom xmlns:a="http://schemas.openxmlformats.org/drawingml/2006/main" prst="rect">
            <a:avLst/>
          </a:prstGeom>
          <a:solidFill xmlns:a="http://schemas.openxmlformats.org/drawingml/2006/main">
            <a:srgbClr val="FF6262">
              <a:alpha val="80000"/>
            </a:srgbClr>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55AEEC0-547B-49B6-9F7F-7C8B180EE0B7}"/>
              </a:ext>
            </a:extLst>
          </p:cNvPr>
          <p:cNvSpPr>
            <a:spLocks xmlns:a="http://schemas.openxmlformats.org/drawingml/2006/main" noGrp="1"/>
          </p:cNvSpPr>
          <p:nvPr/>
        </p:nvSpPr>
        <p:spPr>
          <a:xfrm xmlns:a="http://schemas.openxmlformats.org/drawingml/2006/main" rot="0">
            <a:off x="7829550" y="4076700"/>
            <a:ext cx="609600" cy="171450"/>
          </a:xfrm>
          <a:prstGeom xmlns:a="http://schemas.openxmlformats.org/drawingml/2006/main" prst="rightArrow">
            <a:avLst/>
          </a:prstGeom>
          <a:solidFill xmlns:a="http://schemas.openxmlformats.org/drawingml/2006/main">
            <a:srgbClr val="FF6262">
              <a:alpha val="65000"/>
            </a:srgbClr>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5FCE1381-CDDB-45FC-89EF-CA8EBD28EEC6}"/>
              </a:ext>
            </a:extLst>
          </p:cNvPr>
          <p:cNvSpPr>
            <a:spLocks xmlns:a="http://schemas.openxmlformats.org/drawingml/2006/main" noGrp="1"/>
          </p:cNvSpPr>
          <p:nvPr/>
        </p:nvSpPr>
        <p:spPr>
          <a:xfrm xmlns:a="http://schemas.openxmlformats.org/drawingml/2006/main" rot="0">
            <a:off x="2133600" y="4953000"/>
            <a:ext cx="723900" cy="171450"/>
          </a:xfrm>
          <a:prstGeom xmlns:a="http://schemas.openxmlformats.org/drawingml/2006/main" prst="rightArrow">
            <a:avLst/>
          </a:prstGeom>
          <a:solidFill xmlns:a="http://schemas.openxmlformats.org/drawingml/2006/main">
            <a:srgbClr val="62D6A7">
              <a:alpha val="65000"/>
            </a:srgbClr>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F1C313FE-EF40-4D52-8035-420AC9BB15B5}"/>
              </a:ext>
            </a:extLst>
          </p:cNvPr>
          <p:cNvSpPr>
            <a:spLocks xmlns:a="http://schemas.openxmlformats.org/drawingml/2006/main" noGrp="1"/>
          </p:cNvSpPr>
          <p:nvPr/>
        </p:nvSpPr>
        <p:spPr>
          <a:xfrm xmlns:a="http://schemas.openxmlformats.org/drawingml/2006/main">
            <a:off x="2971800" y="4705350"/>
            <a:ext cx="4762500" cy="647700"/>
          </a:xfrm>
          <a:prstGeom xmlns:a="http://schemas.openxmlformats.org/drawingml/2006/main" prst="roundRect">
            <a:avLst>
              <a:gd name="adj" fmla="val 20588"/>
            </a:avLst>
          </a:prstGeom>
          <a:solidFill xmlns:a="http://schemas.openxmlformats.org/drawingml/2006/main">
            <a:srgbClr val="10161B"/>
          </a:solidFill>
          <a:ln xmlns:a="http://schemas.openxmlformats.org/drawingml/2006/main" w="11430">
            <a:solidFill>
              <a:srgbClr val="62D6A7"/>
            </a:solidFill>
            <a:prstDash val="solid"/>
          </a:ln>
        </p:spPr>
      </p:sp>
      <p:sp>
        <p:nvSpPr>
          <p:cNvPr id="35" name="">
            <a:extLst xmlns:a="http://schemas.openxmlformats.org/drawingml/2006/main">
              <a:ext uri="{FF2B5EF4-FFF2-40B4-BE49-F238E27FC236}">
                <a16:creationId xmlns:a16="http://schemas.microsoft.com/office/drawing/2014/main" id="{59B79144-CBA9-45EA-9BDF-7D1EE3A2DD3C}"/>
              </a:ext>
            </a:extLst>
          </p:cNvPr>
          <p:cNvSpPr>
            <a:spLocks xmlns:a="http://schemas.openxmlformats.org/drawingml/2006/main" noGrp="1"/>
          </p:cNvSpPr>
          <p:nvPr/>
        </p:nvSpPr>
        <p:spPr>
          <a:xfrm xmlns:a="http://schemas.openxmlformats.org/drawingml/2006/main">
            <a:off x="3181350" y="4810125"/>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200" b="1">
                <a:solidFill>
                  <a:srgbClr val="62D6A7"/>
                </a:solidFill>
                <a:latin typeface="DejaVu Sans Mono"/>
                <a:ea typeface="DejaVu Sans Mono"/>
                <a:cs typeface="DejaVu Sans Mono"/>
              </a:defRPr>
            </a:pPr>
            <a:r>
              <a:rPr sz="1200" b="1">
                <a:solidFill>
                  <a:srgbClr val="62D6A7"/>
                </a:solidFill>
                <a:latin typeface="DejaVu Sans Mono"/>
                <a:ea typeface="DejaVu Sans Mono"/>
                <a:cs typeface="DejaVu Sans Mono"/>
              </a:rPr>
              <a:t>ARTIFACT BUILD</a:t>
            </a:r>
          </a:p>
        </p:txBody>
      </p:sp>
      <p:sp>
        <p:nvSpPr>
          <p:cNvPr id="36" name="">
            <a:extLst xmlns:a="http://schemas.openxmlformats.org/drawingml/2006/main">
              <a:ext uri="{FF2B5EF4-FFF2-40B4-BE49-F238E27FC236}">
                <a16:creationId xmlns:a16="http://schemas.microsoft.com/office/drawing/2014/main" id="{F8087D1F-F324-4128-B7AD-8233B6D2F2D1}"/>
              </a:ext>
            </a:extLst>
          </p:cNvPr>
          <p:cNvSpPr>
            <a:spLocks xmlns:a="http://schemas.openxmlformats.org/drawingml/2006/main" noGrp="1"/>
          </p:cNvSpPr>
          <p:nvPr/>
        </p:nvSpPr>
        <p:spPr>
          <a:xfrm xmlns:a="http://schemas.openxmlformats.org/drawingml/2006/main">
            <a:off x="5391150" y="4810125"/>
            <a:ext cx="213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95000"/>
              </a:lnSpc>
              <a:buNone/>
              <a:defRPr sz="1200" b="0">
                <a:solidFill>
                  <a:srgbClr val="D8DEE3"/>
                </a:solidFill>
                <a:latin typeface="DejaVu Sans"/>
                <a:ea typeface="DejaVu Sans"/>
                <a:cs typeface="DejaVu Sans"/>
              </a:defRPr>
            </a:pPr>
            <a:r>
              <a:rPr sz="1200" b="0">
                <a:solidFill>
                  <a:srgbClr val="D8DEE3"/>
                </a:solidFill>
                <a:latin typeface="DejaVu Sans"/>
                <a:ea typeface="DejaVu Sans"/>
                <a:cs typeface="DejaVu Sans"/>
              </a:rPr>
              <a:t>trace • report • review pack</a:t>
            </a:r>
          </a:p>
        </p:txBody>
      </p:sp>
      <p:sp>
        <p:nvSpPr>
          <p:cNvPr id="37" name="">
            <a:extLst xmlns:a="http://schemas.openxmlformats.org/drawingml/2006/main">
              <a:ext uri="{FF2B5EF4-FFF2-40B4-BE49-F238E27FC236}">
                <a16:creationId xmlns:a16="http://schemas.microsoft.com/office/drawing/2014/main" id="{9CCE2E48-C89B-4147-931B-9075CB861D3B}"/>
              </a:ext>
            </a:extLst>
          </p:cNvPr>
          <p:cNvSpPr>
            <a:spLocks xmlns:a="http://schemas.openxmlformats.org/drawingml/2006/main" noGrp="1"/>
          </p:cNvSpPr>
          <p:nvPr/>
        </p:nvSpPr>
        <p:spPr>
          <a:xfrm xmlns:a="http://schemas.openxmlformats.org/drawingml/2006/main">
            <a:off x="3472815" y="5162550"/>
            <a:ext cx="723900" cy="47625"/>
          </a:xfrm>
          <a:prstGeom xmlns:a="http://schemas.openxmlformats.org/drawingml/2006/main" prst="rect">
            <a:avLst/>
          </a:prstGeom>
          <a:solidFill xmlns:a="http://schemas.openxmlformats.org/drawingml/2006/main">
            <a:srgbClr val="62D6A7">
              <a:alpha val="50000"/>
            </a:srgbClr>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D4B2B5EE-C393-410E-8FE5-8206633548FD}"/>
              </a:ext>
            </a:extLst>
          </p:cNvPr>
          <p:cNvSpPr>
            <a:spLocks xmlns:a="http://schemas.openxmlformats.org/drawingml/2006/main" noGrp="1"/>
          </p:cNvSpPr>
          <p:nvPr/>
        </p:nvSpPr>
        <p:spPr>
          <a:xfrm xmlns:a="http://schemas.openxmlformats.org/drawingml/2006/main">
            <a:off x="4175760" y="5162550"/>
            <a:ext cx="723900" cy="47625"/>
          </a:xfrm>
          <a:prstGeom xmlns:a="http://schemas.openxmlformats.org/drawingml/2006/main" prst="rect">
            <a:avLst/>
          </a:prstGeom>
          <a:solidFill xmlns:a="http://schemas.openxmlformats.org/drawingml/2006/main">
            <a:srgbClr val="62D6A7">
              <a:alpha val="60000"/>
            </a:srgbClr>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E7454A3A-338D-4A7C-A763-D5E1D26EFA28}"/>
              </a:ext>
            </a:extLst>
          </p:cNvPr>
          <p:cNvSpPr>
            <a:spLocks xmlns:a="http://schemas.openxmlformats.org/drawingml/2006/main" noGrp="1"/>
          </p:cNvSpPr>
          <p:nvPr/>
        </p:nvSpPr>
        <p:spPr>
          <a:xfrm xmlns:a="http://schemas.openxmlformats.org/drawingml/2006/main">
            <a:off x="5034915" y="5162550"/>
            <a:ext cx="723900" cy="47625"/>
          </a:xfrm>
          <a:prstGeom xmlns:a="http://schemas.openxmlformats.org/drawingml/2006/main" prst="rect">
            <a:avLst/>
          </a:prstGeom>
          <a:solidFill xmlns:a="http://schemas.openxmlformats.org/drawingml/2006/main">
            <a:srgbClr val="62D6A7">
              <a:alpha val="70000"/>
            </a:srgbClr>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C7B1E213-56A2-4047-83DD-4E47642343F1}"/>
              </a:ext>
            </a:extLst>
          </p:cNvPr>
          <p:cNvSpPr>
            <a:spLocks xmlns:a="http://schemas.openxmlformats.org/drawingml/2006/main" noGrp="1"/>
          </p:cNvSpPr>
          <p:nvPr/>
        </p:nvSpPr>
        <p:spPr>
          <a:xfrm xmlns:a="http://schemas.openxmlformats.org/drawingml/2006/main">
            <a:off x="5894070" y="5162550"/>
            <a:ext cx="723900" cy="47625"/>
          </a:xfrm>
          <a:prstGeom xmlns:a="http://schemas.openxmlformats.org/drawingml/2006/main" prst="rect">
            <a:avLst/>
          </a:prstGeom>
          <a:solidFill xmlns:a="http://schemas.openxmlformats.org/drawingml/2006/main">
            <a:srgbClr val="62D6A7">
              <a:alpha val="80000"/>
            </a:srgbClr>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DE3D3819-4CEB-43AC-B46C-931D9328B4D2}"/>
              </a:ext>
            </a:extLst>
          </p:cNvPr>
          <p:cNvSpPr>
            <a:spLocks xmlns:a="http://schemas.openxmlformats.org/drawingml/2006/main" noGrp="1"/>
          </p:cNvSpPr>
          <p:nvPr/>
        </p:nvSpPr>
        <p:spPr>
          <a:xfrm xmlns:a="http://schemas.openxmlformats.org/drawingml/2006/main" rot="0">
            <a:off x="7829550" y="4953000"/>
            <a:ext cx="609600" cy="171450"/>
          </a:xfrm>
          <a:prstGeom xmlns:a="http://schemas.openxmlformats.org/drawingml/2006/main" prst="rightArrow">
            <a:avLst/>
          </a:prstGeom>
          <a:solidFill xmlns:a="http://schemas.openxmlformats.org/drawingml/2006/main">
            <a:srgbClr val="62D6A7">
              <a:alpha val="65000"/>
            </a:srgbClr>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D7BF8DEF-A797-4C1D-817C-CE8911277863}"/>
              </a:ext>
            </a:extLst>
          </p:cNvPr>
          <p:cNvSpPr>
            <a:spLocks xmlns:a="http://schemas.openxmlformats.org/drawingml/2006/main" noGrp="1"/>
          </p:cNvSpPr>
          <p:nvPr/>
        </p:nvSpPr>
        <p:spPr>
          <a:xfrm xmlns:a="http://schemas.openxmlformats.org/drawingml/2006/main">
            <a:off x="8572500" y="2686050"/>
            <a:ext cx="1581150" cy="1924050"/>
          </a:xfrm>
          <a:prstGeom xmlns:a="http://schemas.openxmlformats.org/drawingml/2006/main" prst="roundRect">
            <a:avLst>
              <a:gd name="adj" fmla="val 9639"/>
            </a:avLst>
          </a:prstGeom>
          <a:solidFill xmlns:a="http://schemas.openxmlformats.org/drawingml/2006/main">
            <a:srgbClr val="161B20"/>
          </a:solidFill>
          <a:ln xmlns:a="http://schemas.openxmlformats.org/drawingml/2006/main" w="14288">
            <a:solidFill>
              <a:srgbClr val="FFC857"/>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200" b="1">
                <a:solidFill>
                  <a:srgbClr val="FFC857"/>
                </a:solidFill>
                <a:latin typeface="DejaVu Sans"/>
                <a:ea typeface="DejaVu Sans"/>
                <a:cs typeface="DejaVu Sans"/>
              </a:defRPr>
            </a:pPr>
            <a:r>
              <a:rPr sz="1200" b="1">
                <a:solidFill>
                  <a:srgbClr val="FFC857"/>
                </a:solidFill>
                <a:latin typeface="DejaVu Sans"/>
                <a:ea typeface="DejaVu Sans"/>
                <a:cs typeface="DejaVu Sans"/>
              </a:rPr>
              <a:t>VALIDATE</a:t>
            </a:r>
          </a:p>
          <a:p xmlns:a="http://schemas.openxmlformats.org/drawingml/2006/main">
            <a:pPr algn="ctr">
              <a:lnSpc>
                <a:spcPct val="90000"/>
              </a:lnSpc>
              <a:buNone/>
              <a:defRPr sz="1200" b="1">
                <a:solidFill>
                  <a:srgbClr val="FFC857"/>
                </a:solidFill>
                <a:latin typeface="DejaVu Sans"/>
                <a:ea typeface="DejaVu Sans"/>
                <a:cs typeface="DejaVu Sans"/>
              </a:defRPr>
            </a:pPr>
            <a:r>
              <a:rPr sz="1200" b="1">
                <a:solidFill>
                  <a:srgbClr val="FFC857"/>
                </a:solidFill>
                <a:latin typeface="DejaVu Sans"/>
                <a:ea typeface="DejaVu Sans"/>
                <a:cs typeface="DejaVu Sans"/>
              </a:rPr>
              <a:t>CRITIQUE</a:t>
            </a:r>
          </a:p>
          <a:p xmlns:a="http://schemas.openxmlformats.org/drawingml/2006/main">
            <a:pPr algn="ctr">
              <a:lnSpc>
                <a:spcPct val="90000"/>
              </a:lnSpc>
              <a:buNone/>
              <a:defRPr sz="1200" b="1">
                <a:solidFill>
                  <a:srgbClr val="FFC857"/>
                </a:solidFill>
                <a:latin typeface="DejaVu Sans"/>
                <a:ea typeface="DejaVu Sans"/>
                <a:cs typeface="DejaVu Sans"/>
              </a:defRPr>
            </a:pPr>
            <a:r>
              <a:rPr sz="1200" b="1">
                <a:solidFill>
                  <a:srgbClr val="FFC857"/>
                </a:solidFill>
                <a:latin typeface="DejaVu Sans"/>
                <a:ea typeface="DejaVu Sans"/>
                <a:cs typeface="DejaVu Sans"/>
              </a:rPr>
              <a:t>APPROVE</a:t>
            </a:r>
          </a:p>
        </p:txBody>
      </p:sp>
      <p:sp>
        <p:nvSpPr>
          <p:cNvPr id="43" name="">
            <a:extLst xmlns:a="http://schemas.openxmlformats.org/drawingml/2006/main">
              <a:ext uri="{FF2B5EF4-FFF2-40B4-BE49-F238E27FC236}">
                <a16:creationId xmlns:a16="http://schemas.microsoft.com/office/drawing/2014/main" id="{F9FF0E31-6686-4F86-9FAE-356CF9875CBC}"/>
              </a:ext>
            </a:extLst>
          </p:cNvPr>
          <p:cNvSpPr>
            <a:spLocks xmlns:a="http://schemas.openxmlformats.org/drawingml/2006/main" noGrp="1"/>
          </p:cNvSpPr>
          <p:nvPr/>
        </p:nvSpPr>
        <p:spPr>
          <a:xfrm xmlns:a="http://schemas.openxmlformats.org/drawingml/2006/main" rot="0">
            <a:off x="10229850" y="3495675"/>
            <a:ext cx="419100" cy="209550"/>
          </a:xfrm>
          <a:prstGeom xmlns:a="http://schemas.openxmlformats.org/drawingml/2006/main" prst="rightArrow">
            <a:avLst/>
          </a:prstGeom>
          <a:solidFill xmlns:a="http://schemas.openxmlformats.org/drawingml/2006/main">
            <a:srgbClr val="FFC857">
              <a:alpha val="75000"/>
            </a:srgbClr>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1E0447A7-F874-4DF8-A792-FC88DE4A067F}"/>
              </a:ext>
            </a:extLst>
          </p:cNvPr>
          <p:cNvSpPr>
            <a:spLocks xmlns:a="http://schemas.openxmlformats.org/drawingml/2006/main" noGrp="1"/>
          </p:cNvSpPr>
          <p:nvPr/>
        </p:nvSpPr>
        <p:spPr>
          <a:xfrm xmlns:a="http://schemas.openxmlformats.org/drawingml/2006/main">
            <a:off x="10706100" y="3143250"/>
            <a:ext cx="1104900" cy="1123950"/>
          </a:xfrm>
          <a:prstGeom xmlns:a="http://schemas.openxmlformats.org/drawingml/2006/main" prst="roundRect">
            <a:avLst>
              <a:gd name="adj" fmla="val 13793"/>
            </a:avLst>
          </a:prstGeom>
          <a:solidFill xmlns:a="http://schemas.openxmlformats.org/drawingml/2006/main">
            <a:srgbClr val="101A17"/>
          </a:solidFill>
          <a:ln xmlns:a="http://schemas.openxmlformats.org/drawingml/2006/main" w="14288">
            <a:solidFill>
              <a:srgbClr val="62D6A7"/>
            </a:solidFill>
            <a:prstDash val="solid"/>
          </a:ln>
        </p:spPr>
        <p:txBody>
          <a:bodyPr xmlns:a="http://schemas.openxmlformats.org/drawingml/2006/main" lIns="47625" tIns="76200" rIns="47625" bIns="76200" anchor="ctr">
            <a:noAutofit/>
          </a:bodyPr>
          <a:lstStyle xmlns:a="http://schemas.openxmlformats.org/drawingml/2006/main"/>
          <a:p xmlns:a="http://schemas.openxmlformats.org/drawingml/2006/main">
            <a:pPr algn="ctr">
              <a:lnSpc>
                <a:spcPct val="90000"/>
              </a:lnSpc>
              <a:buNone/>
              <a:defRPr sz="1050" b="1">
                <a:solidFill>
                  <a:srgbClr val="62D6A7"/>
                </a:solidFill>
                <a:latin typeface="DejaVu Sans"/>
                <a:ea typeface="DejaVu Sans"/>
                <a:cs typeface="DejaVu Sans"/>
              </a:defRPr>
            </a:pPr>
            <a:r>
              <a:rPr sz="1050" b="1">
                <a:solidFill>
                  <a:srgbClr val="62D6A7"/>
                </a:solidFill>
                <a:latin typeface="DejaVu Sans"/>
                <a:ea typeface="DejaVu Sans"/>
                <a:cs typeface="DejaVu Sans"/>
              </a:rPr>
              <a:t>ONE</a:t>
            </a:r>
          </a:p>
          <a:p xmlns:a="http://schemas.openxmlformats.org/drawingml/2006/main">
            <a:pPr algn="ctr">
              <a:lnSpc>
                <a:spcPct val="90000"/>
              </a:lnSpc>
              <a:buNone/>
              <a:defRPr sz="1050" b="1">
                <a:solidFill>
                  <a:srgbClr val="62D6A7"/>
                </a:solidFill>
                <a:latin typeface="DejaVu Sans"/>
                <a:ea typeface="DejaVu Sans"/>
                <a:cs typeface="DejaVu Sans"/>
              </a:defRPr>
            </a:pPr>
            <a:r>
              <a:rPr sz="1050" b="1">
                <a:solidFill>
                  <a:srgbClr val="62D6A7"/>
                </a:solidFill>
                <a:latin typeface="DejaVu Sans"/>
                <a:ea typeface="DejaVu Sans"/>
                <a:cs typeface="DejaVu Sans"/>
              </a:rPr>
              <a:t>REVIEWED</a:t>
            </a:r>
          </a:p>
          <a:p xmlns:a="http://schemas.openxmlformats.org/drawingml/2006/main">
            <a:pPr algn="ctr">
              <a:lnSpc>
                <a:spcPct val="90000"/>
              </a:lnSpc>
              <a:buNone/>
              <a:defRPr sz="1050" b="1">
                <a:solidFill>
                  <a:srgbClr val="62D6A7"/>
                </a:solidFill>
                <a:latin typeface="DejaVu Sans"/>
                <a:ea typeface="DejaVu Sans"/>
                <a:cs typeface="DejaVu Sans"/>
              </a:defRPr>
            </a:pPr>
            <a:r>
              <a:rPr sz="1050" b="1">
                <a:solidFill>
                  <a:srgbClr val="62D6A7"/>
                </a:solidFill>
                <a:latin typeface="DejaVu Sans"/>
                <a:ea typeface="DejaVu Sans"/>
                <a:cs typeface="DejaVu Sans"/>
              </a:rPr>
              <a:t>PACKAGE</a:t>
            </a:r>
          </a:p>
        </p:txBody>
      </p:sp>
      <p:sp>
        <p:nvSpPr>
          <p:cNvPr id="45" name="">
            <a:extLst xmlns:a="http://schemas.openxmlformats.org/drawingml/2006/main">
              <a:ext uri="{FF2B5EF4-FFF2-40B4-BE49-F238E27FC236}">
                <a16:creationId xmlns:a16="http://schemas.microsoft.com/office/drawing/2014/main" id="{E136AA2E-2C6C-4833-854C-E0054FBC783F}"/>
              </a:ext>
            </a:extLst>
          </p:cNvPr>
          <p:cNvSpPr>
            <a:spLocks xmlns:a="http://schemas.openxmlformats.org/drawingml/2006/main" noGrp="1"/>
          </p:cNvSpPr>
          <p:nvPr/>
        </p:nvSpPr>
        <p:spPr>
          <a:xfrm xmlns:a="http://schemas.openxmlformats.org/drawingml/2006/main">
            <a:off x="666750" y="5467350"/>
            <a:ext cx="9486900" cy="590550"/>
          </a:xfrm>
          <a:prstGeom xmlns:a="http://schemas.openxmlformats.org/drawingml/2006/main" prst="roundRect">
            <a:avLst>
              <a:gd name="adj" fmla="val 22581"/>
            </a:avLst>
          </a:prstGeom>
          <a:solidFill xmlns:a="http://schemas.openxmlformats.org/drawingml/2006/main">
            <a:srgbClr val="0D1216"/>
          </a:solidFill>
          <a:ln xmlns:a="http://schemas.openxmlformats.org/drawingml/2006/main" w="9525">
            <a:solidFill>
              <a:srgbClr val="35414B"/>
            </a:solidFill>
            <a:prstDash val="solid"/>
          </a:ln>
        </p:spPr>
      </p:sp>
      <p:sp>
        <p:nvSpPr>
          <p:cNvPr id="46" name="">
            <a:extLst xmlns:a="http://schemas.openxmlformats.org/drawingml/2006/main">
              <a:ext uri="{FF2B5EF4-FFF2-40B4-BE49-F238E27FC236}">
                <a16:creationId xmlns:a16="http://schemas.microsoft.com/office/drawing/2014/main" id="{9F252A4F-4A09-44FE-8DC7-0C38381C5829}"/>
              </a:ext>
            </a:extLst>
          </p:cNvPr>
          <p:cNvSpPr>
            <a:spLocks xmlns:a="http://schemas.openxmlformats.org/drawingml/2006/main" noGrp="1"/>
          </p:cNvSpPr>
          <p:nvPr/>
        </p:nvSpPr>
        <p:spPr>
          <a:xfrm xmlns:a="http://schemas.openxmlformats.org/drawingml/2006/main">
            <a:off x="876300" y="5619750"/>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975" b="1">
                <a:solidFill>
                  <a:srgbClr val="8D99A3"/>
                </a:solidFill>
                <a:latin typeface="DejaVu Sans Mono"/>
                <a:ea typeface="DejaVu Sans Mono"/>
                <a:cs typeface="DejaVu Sans Mono"/>
              </a:defRPr>
            </a:pPr>
            <a:r>
              <a:rPr sz="975" b="1">
                <a:solidFill>
                  <a:srgbClr val="8D99A3"/>
                </a:solidFill>
                <a:latin typeface="DejaVu Sans Mono"/>
                <a:ea typeface="DejaVu Sans Mono"/>
                <a:cs typeface="DejaVu Sans Mono"/>
              </a:rPr>
              <a:t>SEQUENTIAL</a:t>
            </a:r>
          </a:p>
        </p:txBody>
      </p:sp>
      <p:sp>
        <p:nvSpPr>
          <p:cNvPr id="47" name="">
            <a:extLst xmlns:a="http://schemas.openxmlformats.org/drawingml/2006/main">
              <a:ext uri="{FF2B5EF4-FFF2-40B4-BE49-F238E27FC236}">
                <a16:creationId xmlns:a16="http://schemas.microsoft.com/office/drawing/2014/main" id="{FC1F3D4C-316A-48CE-A708-064FB416CDBB}"/>
              </a:ext>
            </a:extLst>
          </p:cNvPr>
          <p:cNvSpPr>
            <a:spLocks xmlns:a="http://schemas.openxmlformats.org/drawingml/2006/main" noGrp="1"/>
          </p:cNvSpPr>
          <p:nvPr/>
        </p:nvSpPr>
        <p:spPr>
          <a:xfrm xmlns:a="http://schemas.openxmlformats.org/drawingml/2006/main">
            <a:off x="2133600" y="5619750"/>
            <a:ext cx="1047750" cy="152400"/>
          </a:xfrm>
          <a:prstGeom xmlns:a="http://schemas.openxmlformats.org/drawingml/2006/main" prst="rect">
            <a:avLst/>
          </a:prstGeom>
          <a:solidFill xmlns:a="http://schemas.openxmlformats.org/drawingml/2006/main">
            <a:srgbClr val="39D7FF"/>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36970CB5-E6BD-4D11-AF48-B07BC05A3C01}"/>
              </a:ext>
            </a:extLst>
          </p:cNvPr>
          <p:cNvSpPr>
            <a:spLocks xmlns:a="http://schemas.openxmlformats.org/drawingml/2006/main" noGrp="1"/>
          </p:cNvSpPr>
          <p:nvPr/>
        </p:nvSpPr>
        <p:spPr>
          <a:xfrm xmlns:a="http://schemas.openxmlformats.org/drawingml/2006/main">
            <a:off x="3257550" y="5619750"/>
            <a:ext cx="1047750" cy="152400"/>
          </a:xfrm>
          <a:prstGeom xmlns:a="http://schemas.openxmlformats.org/drawingml/2006/main" prst="rect">
            <a:avLst/>
          </a:prstGeom>
          <a:solidFill xmlns:a="http://schemas.openxmlformats.org/drawingml/2006/main">
            <a:srgbClr val="F26B38"/>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C74F52E4-D24F-45E2-AFDF-FE98B99B94EF}"/>
              </a:ext>
            </a:extLst>
          </p:cNvPr>
          <p:cNvSpPr>
            <a:spLocks xmlns:a="http://schemas.openxmlformats.org/drawingml/2006/main" noGrp="1"/>
          </p:cNvSpPr>
          <p:nvPr/>
        </p:nvSpPr>
        <p:spPr>
          <a:xfrm xmlns:a="http://schemas.openxmlformats.org/drawingml/2006/main">
            <a:off x="4381500" y="5619750"/>
            <a:ext cx="1047750" cy="152400"/>
          </a:xfrm>
          <a:prstGeom xmlns:a="http://schemas.openxmlformats.org/drawingml/2006/main" prst="rect">
            <a:avLst/>
          </a:prstGeom>
          <a:solidFill xmlns:a="http://schemas.openxmlformats.org/drawingml/2006/main">
            <a:srgbClr val="FF6262"/>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6102A3A1-CB4E-494E-B4C3-FBFF1B300873}"/>
              </a:ext>
            </a:extLst>
          </p:cNvPr>
          <p:cNvSpPr>
            <a:spLocks xmlns:a="http://schemas.openxmlformats.org/drawingml/2006/main" noGrp="1"/>
          </p:cNvSpPr>
          <p:nvPr/>
        </p:nvSpPr>
        <p:spPr>
          <a:xfrm xmlns:a="http://schemas.openxmlformats.org/drawingml/2006/main">
            <a:off x="5505450" y="5619750"/>
            <a:ext cx="1047750" cy="152400"/>
          </a:xfrm>
          <a:prstGeom xmlns:a="http://schemas.openxmlformats.org/drawingml/2006/main" prst="rect">
            <a:avLst/>
          </a:prstGeom>
          <a:solidFill xmlns:a="http://schemas.openxmlformats.org/drawingml/2006/main">
            <a:srgbClr val="62D6A7"/>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47C2EFA4-E3E5-4C0A-9460-B545DBE68AC6}"/>
              </a:ext>
            </a:extLst>
          </p:cNvPr>
          <p:cNvSpPr>
            <a:spLocks xmlns:a="http://schemas.openxmlformats.org/drawingml/2006/main" noGrp="1"/>
          </p:cNvSpPr>
          <p:nvPr/>
        </p:nvSpPr>
        <p:spPr>
          <a:xfrm xmlns:a="http://schemas.openxmlformats.org/drawingml/2006/main">
            <a:off x="6800850" y="5619750"/>
            <a:ext cx="876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975" b="1">
                <a:solidFill>
                  <a:srgbClr val="39D7FF"/>
                </a:solidFill>
                <a:latin typeface="DejaVu Sans Mono"/>
                <a:ea typeface="DejaVu Sans Mono"/>
                <a:cs typeface="DejaVu Sans Mono"/>
              </a:defRPr>
            </a:pPr>
            <a:r>
              <a:rPr sz="975" b="1">
                <a:solidFill>
                  <a:srgbClr val="39D7FF"/>
                </a:solidFill>
                <a:latin typeface="DejaVu Sans Mono"/>
                <a:ea typeface="DejaVu Sans Mono"/>
                <a:cs typeface="DejaVu Sans Mono"/>
              </a:rPr>
              <a:t>HARNESS</a:t>
            </a:r>
          </a:p>
        </p:txBody>
      </p:sp>
      <p:sp>
        <p:nvSpPr>
          <p:cNvPr id="52" name="">
            <a:extLst xmlns:a="http://schemas.openxmlformats.org/drawingml/2006/main">
              <a:ext uri="{FF2B5EF4-FFF2-40B4-BE49-F238E27FC236}">
                <a16:creationId xmlns:a16="http://schemas.microsoft.com/office/drawing/2014/main" id="{F7819F1E-0364-499C-8791-149E22C49833}"/>
              </a:ext>
            </a:extLst>
          </p:cNvPr>
          <p:cNvSpPr>
            <a:spLocks xmlns:a="http://schemas.openxmlformats.org/drawingml/2006/main" noGrp="1"/>
          </p:cNvSpPr>
          <p:nvPr/>
        </p:nvSpPr>
        <p:spPr>
          <a:xfrm xmlns:a="http://schemas.openxmlformats.org/drawingml/2006/main">
            <a:off x="7753350" y="5619750"/>
            <a:ext cx="1333500" cy="76200"/>
          </a:xfrm>
          <a:prstGeom xmlns:a="http://schemas.openxmlformats.org/drawingml/2006/main" prst="rect">
            <a:avLst/>
          </a:prstGeom>
          <a:solidFill xmlns:a="http://schemas.openxmlformats.org/drawingml/2006/main">
            <a:srgbClr val="39D7FF">
              <a:alpha val="80000"/>
            </a:srgbClr>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7FEEB8AC-30A3-48F6-AA07-53CD9F0B7007}"/>
              </a:ext>
            </a:extLst>
          </p:cNvPr>
          <p:cNvSpPr>
            <a:spLocks xmlns:a="http://schemas.openxmlformats.org/drawingml/2006/main" noGrp="1"/>
          </p:cNvSpPr>
          <p:nvPr/>
        </p:nvSpPr>
        <p:spPr>
          <a:xfrm xmlns:a="http://schemas.openxmlformats.org/drawingml/2006/main">
            <a:off x="8115300" y="5667375"/>
            <a:ext cx="1333500" cy="76200"/>
          </a:xfrm>
          <a:prstGeom xmlns:a="http://schemas.openxmlformats.org/drawingml/2006/main" prst="rect">
            <a:avLst/>
          </a:prstGeom>
          <a:solidFill xmlns:a="http://schemas.openxmlformats.org/drawingml/2006/main">
            <a:srgbClr val="F26B38">
              <a:alpha val="80000"/>
            </a:srgbClr>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59039007-D800-4DA6-803C-4601BD649AB9}"/>
              </a:ext>
            </a:extLst>
          </p:cNvPr>
          <p:cNvSpPr>
            <a:spLocks xmlns:a="http://schemas.openxmlformats.org/drawingml/2006/main" noGrp="1"/>
          </p:cNvSpPr>
          <p:nvPr/>
        </p:nvSpPr>
        <p:spPr>
          <a:xfrm xmlns:a="http://schemas.openxmlformats.org/drawingml/2006/main">
            <a:off x="8477250" y="5715000"/>
            <a:ext cx="1333500" cy="76200"/>
          </a:xfrm>
          <a:prstGeom xmlns:a="http://schemas.openxmlformats.org/drawingml/2006/main" prst="rect">
            <a:avLst/>
          </a:prstGeom>
          <a:solidFill xmlns:a="http://schemas.openxmlformats.org/drawingml/2006/main">
            <a:srgbClr val="FF6262">
              <a:alpha val="80000"/>
            </a:srgbClr>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CC934B13-6C21-48E8-8A33-E06F2563D4C9}"/>
              </a:ext>
            </a:extLst>
          </p:cNvPr>
          <p:cNvSpPr>
            <a:spLocks xmlns:a="http://schemas.openxmlformats.org/drawingml/2006/main" noGrp="1"/>
          </p:cNvSpPr>
          <p:nvPr/>
        </p:nvSpPr>
        <p:spPr>
          <a:xfrm xmlns:a="http://schemas.openxmlformats.org/drawingml/2006/main">
            <a:off x="8839200" y="5762625"/>
            <a:ext cx="1333500" cy="76200"/>
          </a:xfrm>
          <a:prstGeom xmlns:a="http://schemas.openxmlformats.org/drawingml/2006/main" prst="rect">
            <a:avLst/>
          </a:prstGeom>
          <a:solidFill xmlns:a="http://schemas.openxmlformats.org/drawingml/2006/main">
            <a:srgbClr val="62D6A7">
              <a:alpha val="80000"/>
            </a:srgbClr>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CED00886-3672-46A3-B205-0796EF987263}"/>
              </a:ext>
            </a:extLst>
          </p:cNvPr>
          <p:cNvSpPr>
            <a:spLocks xmlns:a="http://schemas.openxmlformats.org/drawingml/2006/main" noGrp="1"/>
          </p:cNvSpPr>
          <p:nvPr/>
        </p:nvSpPr>
        <p:spPr>
          <a:xfrm xmlns:a="http://schemas.openxmlformats.org/drawingml/2006/main">
            <a:off x="9010650" y="5781675"/>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95000"/>
              </a:lnSpc>
              <a:buNone/>
              <a:defRPr sz="900" b="1">
                <a:solidFill>
                  <a:srgbClr val="F4F6F8"/>
                </a:solidFill>
                <a:latin typeface="DejaVu Sans Mono"/>
                <a:ea typeface="DejaVu Sans Mono"/>
                <a:cs typeface="DejaVu Sans Mono"/>
              </a:defRPr>
            </a:pPr>
            <a:r>
              <a:rPr sz="900" b="1">
                <a:solidFill>
                  <a:srgbClr val="F4F6F8"/>
                </a:solidFill>
                <a:latin typeface="DejaVu Sans Mono"/>
                <a:ea typeface="DejaVu Sans Mono"/>
                <a:cs typeface="DejaVu Sans Mono"/>
              </a:rPr>
              <a:t>same evidence standard • less avoidable waiting</a:t>
            </a:r>
          </a:p>
        </p:txBody>
      </p:sp>
      <p:sp>
        <p:nvSpPr>
          <p:cNvPr id="57" name="">
            <a:extLst xmlns:a="http://schemas.openxmlformats.org/drawingml/2006/main">
              <a:ext uri="{FF2B5EF4-FFF2-40B4-BE49-F238E27FC236}">
                <a16:creationId xmlns:a16="http://schemas.microsoft.com/office/drawing/2014/main" id="{3FD116B8-389F-4F32-97D4-9D25BD6AD8A5}"/>
              </a:ext>
            </a:extLst>
          </p:cNvPr>
          <p:cNvSpPr>
            <a:spLocks xmlns:a="http://schemas.openxmlformats.org/drawingml/2006/main" noGrp="1"/>
          </p:cNvSpPr>
          <p:nvPr/>
        </p:nvSpPr>
        <p:spPr>
          <a:xfrm xmlns:a="http://schemas.openxmlformats.org/drawingml/2006/main">
            <a:off x="0" y="6400800"/>
            <a:ext cx="12192000" cy="457200"/>
          </a:xfrm>
          <a:prstGeom xmlns:a="http://schemas.openxmlformats.org/drawingml/2006/main" prst="rect">
            <a:avLst/>
          </a:prstGeom>
          <a:solidFill xmlns:a="http://schemas.openxmlformats.org/drawingml/2006/main">
            <a:srgbClr val="07090C">
              <a:alpha val="76000"/>
            </a:srgbClr>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C0911BC2-C87F-44D6-8961-0CA7C2A7EC16}"/>
              </a:ext>
            </a:extLst>
          </p:cNvPr>
          <p:cNvSpPr>
            <a:spLocks xmlns:a="http://schemas.openxmlformats.org/drawingml/2006/main" noGrp="1"/>
          </p:cNvSpPr>
          <p:nvPr/>
        </p:nvSpPr>
        <p:spPr>
          <a:xfrm xmlns:a="http://schemas.openxmlformats.org/drawingml/2006/main">
            <a:off x="609600" y="6553200"/>
            <a:ext cx="6858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MARS SOCIETY 2026  •  HARNESSED AGENTIC SCIENCE + ENGINEERING</a:t>
            </a:r>
          </a:p>
        </p:txBody>
      </p:sp>
      <p:sp>
        <p:nvSpPr>
          <p:cNvPr id="59" name="">
            <a:extLst xmlns:a="http://schemas.openxmlformats.org/drawingml/2006/main">
              <a:ext uri="{FF2B5EF4-FFF2-40B4-BE49-F238E27FC236}">
                <a16:creationId xmlns:a16="http://schemas.microsoft.com/office/drawing/2014/main" id="{6F8B85C5-6488-4F3E-B1B5-356745B4B62D}"/>
              </a:ext>
            </a:extLst>
          </p:cNvPr>
          <p:cNvSpPr>
            <a:spLocks xmlns:a="http://schemas.openxmlformats.org/drawingml/2006/main" noGrp="1"/>
          </p:cNvSpPr>
          <p:nvPr/>
        </p:nvSpPr>
        <p:spPr>
          <a:xfrm xmlns:a="http://schemas.openxmlformats.org/drawingml/2006/main">
            <a:off x="9525000" y="6553200"/>
            <a:ext cx="2057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BOB J MILLS     11</a:t>
            </a:r>
          </a:p>
        </p:txBody>
      </p:sp>
    </p:spTree>
    <p:extLst>
      <p:ext uri="{BB962C8B-B14F-4D97-AF65-F5344CB8AC3E}">
        <p14:creationId xmlns:p14="http://schemas.microsoft.com/office/powerpoint/2010/main" val="887281897"/>
      </p:ext>
    </p:extLst>
  </p:cSld>
</p:sld>
</file>

<file path=ppt/slides/slide12.xml><?xml version="1.0" encoding="utf-8"?>
<p:sld xmlns:p="http://schemas.openxmlformats.org/presentationml/2006/main">
  <p:cSld>
    <p:bg>
      <p:bgPr>
        <a:solidFill xmlns:a="http://schemas.openxmlformats.org/drawingml/2006/main">
          <a:srgbClr val="07090C"/>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8CB0722F-565D-45C6-A40B-EEC7B3416B90}"/>
              </a:ext>
            </a:extLst>
          </p:cNvPr>
          <p:cNvSpPr>
            <a:spLocks xmlns:a="http://schemas.openxmlformats.org/drawingml/2006/main" noGrp="1"/>
          </p:cNvSpPr>
          <p:nvPr/>
        </p:nvSpPr>
        <p:spPr>
          <a:xfrm xmlns:a="http://schemas.openxmlformats.org/drawingml/2006/main">
            <a:off x="609600" y="3429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975" b="1">
                <a:solidFill>
                  <a:srgbClr val="F26B38"/>
                </a:solidFill>
                <a:latin typeface="DejaVu Sans Mono"/>
                <a:ea typeface="DejaVu Sans Mono"/>
                <a:cs typeface="DejaVu Sans Mono"/>
              </a:defRPr>
            </a:pPr>
            <a:r>
              <a:rPr sz="975" b="1">
                <a:solidFill>
                  <a:srgbClr val="F26B38"/>
                </a:solidFill>
                <a:latin typeface="DejaVu Sans Mono"/>
                <a:ea typeface="DejaVu Sans Mono"/>
                <a:cs typeface="DejaVu Sans Mono"/>
              </a:rPr>
              <a:t>12  /  VERIFICATION</a:t>
            </a:r>
          </a:p>
        </p:txBody>
      </p:sp>
      <p:sp>
        <p:nvSpPr>
          <p:cNvPr id="2" name="">
            <a:extLst xmlns:a="http://schemas.openxmlformats.org/drawingml/2006/main">
              <a:ext uri="{FF2B5EF4-FFF2-40B4-BE49-F238E27FC236}">
                <a16:creationId xmlns:a16="http://schemas.microsoft.com/office/drawing/2014/main" id="{E6825FFB-CA17-4952-9EC0-BC32ABB3A5B4}"/>
              </a:ext>
            </a:extLst>
          </p:cNvPr>
          <p:cNvSpPr>
            <a:spLocks xmlns:a="http://schemas.openxmlformats.org/drawingml/2006/main" noGrp="1"/>
          </p:cNvSpPr>
          <p:nvPr/>
        </p:nvSpPr>
        <p:spPr>
          <a:xfrm xmlns:a="http://schemas.openxmlformats.org/drawingml/2006/main">
            <a:off x="609600" y="6477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2625" b="1">
                <a:solidFill>
                  <a:srgbClr val="F4F6F8"/>
                </a:solidFill>
                <a:latin typeface="DejaVu Sans"/>
                <a:ea typeface="DejaVu Sans"/>
                <a:cs typeface="DejaVu Sans"/>
              </a:defRPr>
            </a:pPr>
            <a:r>
              <a:rPr sz="2625" b="1">
                <a:solidFill>
                  <a:srgbClr val="F4F6F8"/>
                </a:solidFill>
                <a:latin typeface="DejaVu Sans"/>
                <a:ea typeface="DejaVu Sans"/>
                <a:cs typeface="DejaVu Sans"/>
              </a:rPr>
              <a:t>Verification starts at the first claim</a:t>
            </a:r>
          </a:p>
        </p:txBody>
      </p:sp>
      <p:sp>
        <p:nvSpPr>
          <p:cNvPr id="3" name="">
            <a:extLst xmlns:a="http://schemas.openxmlformats.org/drawingml/2006/main">
              <a:ext uri="{FF2B5EF4-FFF2-40B4-BE49-F238E27FC236}">
                <a16:creationId xmlns:a16="http://schemas.microsoft.com/office/drawing/2014/main" id="{1AB7E6DB-9BB0-4419-86CC-E0CD31BBBB2E}"/>
              </a:ext>
            </a:extLst>
          </p:cNvPr>
          <p:cNvSpPr>
            <a:spLocks xmlns:a="http://schemas.openxmlformats.org/drawingml/2006/main" noGrp="1"/>
          </p:cNvSpPr>
          <p:nvPr/>
        </p:nvSpPr>
        <p:spPr>
          <a:xfrm xmlns:a="http://schemas.openxmlformats.org/drawingml/2006/main">
            <a:off x="628650" y="12382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425" b="0">
                <a:solidFill>
                  <a:srgbClr val="8D99A3"/>
                </a:solidFill>
                <a:latin typeface="DejaVu Sans"/>
                <a:ea typeface="DejaVu Sans"/>
                <a:cs typeface="DejaVu Sans"/>
              </a:defRPr>
            </a:pPr>
            <a:r>
              <a:rPr sz="1425" b="0">
                <a:solidFill>
                  <a:srgbClr val="8D99A3"/>
                </a:solidFill>
                <a:latin typeface="DejaVu Sans"/>
                <a:ea typeface="DejaVu Sans"/>
                <a:cs typeface="DejaVu Sans"/>
              </a:rPr>
              <a:t>Agents maintain the links, expose breaks and launch focused rework before a review gate.</a:t>
            </a:r>
          </a:p>
        </p:txBody>
      </p:sp>
      <p:sp>
        <p:nvSpPr>
          <p:cNvPr id="4" name="">
            <a:extLst xmlns:a="http://schemas.openxmlformats.org/drawingml/2006/main">
              <a:ext uri="{FF2B5EF4-FFF2-40B4-BE49-F238E27FC236}">
                <a16:creationId xmlns:a16="http://schemas.microsoft.com/office/drawing/2014/main" id="{F42CC990-423D-47FC-B315-6FE603AD546C}"/>
              </a:ext>
            </a:extLst>
          </p:cNvPr>
          <p:cNvSpPr>
            <a:spLocks xmlns:a="http://schemas.openxmlformats.org/drawingml/2006/main" noGrp="1"/>
          </p:cNvSpPr>
          <p:nvPr/>
        </p:nvSpPr>
        <p:spPr>
          <a:xfrm xmlns:a="http://schemas.openxmlformats.org/drawingml/2006/main">
            <a:off x="609600" y="1676400"/>
            <a:ext cx="10972800" cy="0"/>
          </a:xfrm>
          <a:prstGeom xmlns:a="http://schemas.openxmlformats.org/drawingml/2006/main" prst="line">
            <a:avLst/>
          </a:prstGeom>
          <a:noFill xmlns:a="http://schemas.openxmlformats.org/drawingml/2006/main"/>
          <a:ln xmlns:a="http://schemas.openxmlformats.org/drawingml/2006/main" w="9525">
            <a:solidFill>
              <a:srgbClr val="35414B"/>
            </a:solidFill>
            <a:prstDash val="solid"/>
          </a:ln>
        </p:spPr>
      </p:sp>
      <p:sp>
        <p:nvSpPr>
          <p:cNvPr id="5" name="">
            <a:extLst xmlns:a="http://schemas.openxmlformats.org/drawingml/2006/main">
              <a:ext uri="{FF2B5EF4-FFF2-40B4-BE49-F238E27FC236}">
                <a16:creationId xmlns:a16="http://schemas.microsoft.com/office/drawing/2014/main" id="{71FCF1CD-6FF3-4858-9F08-B9B3237CAE95}"/>
              </a:ext>
            </a:extLst>
          </p:cNvPr>
          <p:cNvSpPr>
            <a:spLocks xmlns:a="http://schemas.openxmlformats.org/drawingml/2006/main" noGrp="1"/>
          </p:cNvSpPr>
          <p:nvPr/>
        </p:nvSpPr>
        <p:spPr>
          <a:xfrm xmlns:a="http://schemas.openxmlformats.org/drawingml/2006/main" rot="0">
            <a:off x="2266950" y="2724150"/>
            <a:ext cx="476250" cy="171450"/>
          </a:xfrm>
          <a:prstGeom xmlns:a="http://schemas.openxmlformats.org/drawingml/2006/main" prst="rightArrow">
            <a:avLst/>
          </a:prstGeom>
          <a:solidFill xmlns:a="http://schemas.openxmlformats.org/drawingml/2006/main">
            <a:srgbClr val="39D7FF">
              <a:alpha val="60000"/>
            </a:srgbClr>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6FBEC1F-E6A0-4FC5-8CAE-4BAEAEDEB963}"/>
              </a:ext>
            </a:extLst>
          </p:cNvPr>
          <p:cNvSpPr>
            <a:spLocks xmlns:a="http://schemas.openxmlformats.org/drawingml/2006/main" noGrp="1"/>
          </p:cNvSpPr>
          <p:nvPr/>
        </p:nvSpPr>
        <p:spPr>
          <a:xfrm xmlns:a="http://schemas.openxmlformats.org/drawingml/2006/main" rot="0">
            <a:off x="4152900" y="2724150"/>
            <a:ext cx="476250" cy="171450"/>
          </a:xfrm>
          <a:prstGeom xmlns:a="http://schemas.openxmlformats.org/drawingml/2006/main" prst="rightArrow">
            <a:avLst/>
          </a:prstGeom>
          <a:solidFill xmlns:a="http://schemas.openxmlformats.org/drawingml/2006/main">
            <a:srgbClr val="39D7FF">
              <a:alpha val="60000"/>
            </a:srgbClr>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2FD01D1-915B-46C7-9919-1463F2251704}"/>
              </a:ext>
            </a:extLst>
          </p:cNvPr>
          <p:cNvSpPr>
            <a:spLocks xmlns:a="http://schemas.openxmlformats.org/drawingml/2006/main" noGrp="1"/>
          </p:cNvSpPr>
          <p:nvPr/>
        </p:nvSpPr>
        <p:spPr>
          <a:xfrm xmlns:a="http://schemas.openxmlformats.org/drawingml/2006/main" rot="0">
            <a:off x="6038850" y="2724150"/>
            <a:ext cx="476250" cy="171450"/>
          </a:xfrm>
          <a:prstGeom xmlns:a="http://schemas.openxmlformats.org/drawingml/2006/main" prst="rightArrow">
            <a:avLst/>
          </a:prstGeom>
          <a:solidFill xmlns:a="http://schemas.openxmlformats.org/drawingml/2006/main">
            <a:srgbClr val="F26B38">
              <a:alpha val="60000"/>
            </a:srgbClr>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83F68F1-84C2-4966-B28B-9C1DC3918D8B}"/>
              </a:ext>
            </a:extLst>
          </p:cNvPr>
          <p:cNvSpPr>
            <a:spLocks xmlns:a="http://schemas.openxmlformats.org/drawingml/2006/main" noGrp="1"/>
          </p:cNvSpPr>
          <p:nvPr/>
        </p:nvSpPr>
        <p:spPr>
          <a:xfrm xmlns:a="http://schemas.openxmlformats.org/drawingml/2006/main" rot="0">
            <a:off x="7924800" y="2724150"/>
            <a:ext cx="476250" cy="171450"/>
          </a:xfrm>
          <a:prstGeom xmlns:a="http://schemas.openxmlformats.org/drawingml/2006/main" prst="rightArrow">
            <a:avLst/>
          </a:prstGeom>
          <a:solidFill xmlns:a="http://schemas.openxmlformats.org/drawingml/2006/main">
            <a:srgbClr val="62D6A7">
              <a:alpha val="60000"/>
            </a:srgbClr>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EA58EBC-348A-4208-9A51-4A642FFCCBA3}"/>
              </a:ext>
            </a:extLst>
          </p:cNvPr>
          <p:cNvSpPr>
            <a:spLocks xmlns:a="http://schemas.openxmlformats.org/drawingml/2006/main" noGrp="1"/>
          </p:cNvSpPr>
          <p:nvPr/>
        </p:nvSpPr>
        <p:spPr>
          <a:xfrm xmlns:a="http://schemas.openxmlformats.org/drawingml/2006/main" rot="0">
            <a:off x="9810750" y="2724150"/>
            <a:ext cx="476250" cy="171450"/>
          </a:xfrm>
          <a:prstGeom xmlns:a="http://schemas.openxmlformats.org/drawingml/2006/main" prst="rightArrow">
            <a:avLst/>
          </a:prstGeom>
          <a:solidFill xmlns:a="http://schemas.openxmlformats.org/drawingml/2006/main">
            <a:srgbClr val="62D6A7">
              <a:alpha val="60000"/>
            </a:srgbClr>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1C76504-AF32-4C9A-BC42-076FE178CC21}"/>
              </a:ext>
            </a:extLst>
          </p:cNvPr>
          <p:cNvSpPr>
            <a:spLocks xmlns:a="http://schemas.openxmlformats.org/drawingml/2006/main" noGrp="1"/>
          </p:cNvSpPr>
          <p:nvPr/>
        </p:nvSpPr>
        <p:spPr>
          <a:xfrm xmlns:a="http://schemas.openxmlformats.org/drawingml/2006/main">
            <a:off x="647700" y="2305050"/>
            <a:ext cx="1524000" cy="590550"/>
          </a:xfrm>
          <a:prstGeom xmlns:a="http://schemas.openxmlformats.org/drawingml/2006/main" prst="roundRect">
            <a:avLst>
              <a:gd name="adj" fmla="val 25806"/>
            </a:avLst>
          </a:prstGeom>
          <a:solidFill xmlns:a="http://schemas.openxmlformats.org/drawingml/2006/main">
            <a:srgbClr val="11171C"/>
          </a:solidFill>
          <a:ln xmlns:a="http://schemas.openxmlformats.org/drawingml/2006/main" w="14288">
            <a:solidFill>
              <a:srgbClr val="39D7FF"/>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125" b="1">
                <a:solidFill>
                  <a:srgbClr val="39D7FF"/>
                </a:solidFill>
                <a:latin typeface="DejaVu Sans Mono"/>
                <a:ea typeface="DejaVu Sans Mono"/>
                <a:cs typeface="DejaVu Sans Mono"/>
              </a:defRPr>
            </a:pPr>
            <a:r>
              <a:rPr sz="1125" b="1">
                <a:solidFill>
                  <a:srgbClr val="39D7FF"/>
                </a:solidFill>
                <a:latin typeface="DejaVu Sans Mono"/>
                <a:ea typeface="DejaVu Sans Mono"/>
                <a:cs typeface="DejaVu Sans Mono"/>
              </a:rPr>
              <a:t>CLAIM</a:t>
            </a:r>
          </a:p>
        </p:txBody>
      </p:sp>
      <p:sp>
        <p:nvSpPr>
          <p:cNvPr id="11" name="">
            <a:extLst xmlns:a="http://schemas.openxmlformats.org/drawingml/2006/main">
              <a:ext uri="{FF2B5EF4-FFF2-40B4-BE49-F238E27FC236}">
                <a16:creationId xmlns:a16="http://schemas.microsoft.com/office/drawing/2014/main" id="{7B9C7885-143E-47D8-9D4E-2A3D05622A35}"/>
              </a:ext>
            </a:extLst>
          </p:cNvPr>
          <p:cNvSpPr>
            <a:spLocks xmlns:a="http://schemas.openxmlformats.org/drawingml/2006/main" noGrp="1"/>
          </p:cNvSpPr>
          <p:nvPr/>
        </p:nvSpPr>
        <p:spPr>
          <a:xfrm xmlns:a="http://schemas.openxmlformats.org/drawingml/2006/main">
            <a:off x="647700" y="3048000"/>
            <a:ext cx="152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00" b="0">
                <a:solidFill>
                  <a:srgbClr val="D8DEE3"/>
                </a:solidFill>
                <a:latin typeface="DejaVu Sans"/>
                <a:ea typeface="DejaVu Sans"/>
                <a:cs typeface="DejaVu Sans"/>
              </a:defRPr>
            </a:pPr>
            <a:r>
              <a:rPr sz="1200" b="0">
                <a:solidFill>
                  <a:srgbClr val="D8DEE3"/>
                </a:solidFill>
                <a:latin typeface="DejaVu Sans"/>
                <a:ea typeface="DejaVu Sans"/>
                <a:cs typeface="DejaVu Sans"/>
              </a:rPr>
              <a:t>dust fouling dominates</a:t>
            </a:r>
          </a:p>
        </p:txBody>
      </p:sp>
      <p:sp>
        <p:nvSpPr>
          <p:cNvPr id="12" name="">
            <a:extLst xmlns:a="http://schemas.openxmlformats.org/drawingml/2006/main">
              <a:ext uri="{FF2B5EF4-FFF2-40B4-BE49-F238E27FC236}">
                <a16:creationId xmlns:a16="http://schemas.microsoft.com/office/drawing/2014/main" id="{455A714C-E0AD-46CC-8B99-70A94B8E4C9C}"/>
              </a:ext>
            </a:extLst>
          </p:cNvPr>
          <p:cNvSpPr>
            <a:spLocks xmlns:a="http://schemas.openxmlformats.org/drawingml/2006/main" noGrp="1"/>
          </p:cNvSpPr>
          <p:nvPr/>
        </p:nvSpPr>
        <p:spPr>
          <a:xfrm xmlns:a="http://schemas.openxmlformats.org/drawingml/2006/main">
            <a:off x="2533650" y="2305050"/>
            <a:ext cx="1524000" cy="590550"/>
          </a:xfrm>
          <a:prstGeom xmlns:a="http://schemas.openxmlformats.org/drawingml/2006/main" prst="roundRect">
            <a:avLst>
              <a:gd name="adj" fmla="val 25806"/>
            </a:avLst>
          </a:prstGeom>
          <a:solidFill xmlns:a="http://schemas.openxmlformats.org/drawingml/2006/main">
            <a:srgbClr val="11171C"/>
          </a:solidFill>
          <a:ln xmlns:a="http://schemas.openxmlformats.org/drawingml/2006/main" w="14288">
            <a:solidFill>
              <a:srgbClr val="39D7FF"/>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125" b="1">
                <a:solidFill>
                  <a:srgbClr val="39D7FF"/>
                </a:solidFill>
                <a:latin typeface="DejaVu Sans Mono"/>
                <a:ea typeface="DejaVu Sans Mono"/>
                <a:cs typeface="DejaVu Sans Mono"/>
              </a:defRPr>
            </a:pPr>
            <a:r>
              <a:rPr sz="1125" b="1">
                <a:solidFill>
                  <a:srgbClr val="39D7FF"/>
                </a:solidFill>
                <a:latin typeface="DejaVu Sans Mono"/>
                <a:ea typeface="DejaVu Sans Mono"/>
                <a:cs typeface="DejaVu Sans Mono"/>
              </a:rPr>
              <a:t>SOURCE</a:t>
            </a:r>
          </a:p>
        </p:txBody>
      </p:sp>
      <p:sp>
        <p:nvSpPr>
          <p:cNvPr id="13" name="">
            <a:extLst xmlns:a="http://schemas.openxmlformats.org/drawingml/2006/main">
              <a:ext uri="{FF2B5EF4-FFF2-40B4-BE49-F238E27FC236}">
                <a16:creationId xmlns:a16="http://schemas.microsoft.com/office/drawing/2014/main" id="{CD1D18E6-B3DF-4116-AAF4-BFCD7D11F8E3}"/>
              </a:ext>
            </a:extLst>
          </p:cNvPr>
          <p:cNvSpPr>
            <a:spLocks xmlns:a="http://schemas.openxmlformats.org/drawingml/2006/main" noGrp="1"/>
          </p:cNvSpPr>
          <p:nvPr/>
        </p:nvSpPr>
        <p:spPr>
          <a:xfrm xmlns:a="http://schemas.openxmlformats.org/drawingml/2006/main">
            <a:off x="2533650" y="3048000"/>
            <a:ext cx="152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00" b="0">
                <a:solidFill>
                  <a:srgbClr val="D8DEE3"/>
                </a:solidFill>
                <a:latin typeface="DejaVu Sans"/>
                <a:ea typeface="DejaVu Sans"/>
                <a:cs typeface="DejaVu Sans"/>
              </a:defRPr>
            </a:pPr>
            <a:r>
              <a:rPr sz="1200" b="0">
                <a:solidFill>
                  <a:srgbClr val="D8DEE3"/>
                </a:solidFill>
                <a:latin typeface="DejaVu Sans"/>
                <a:ea typeface="DejaVu Sans"/>
                <a:cs typeface="DejaVu Sans"/>
              </a:rPr>
              <a:t>literature + model</a:t>
            </a:r>
          </a:p>
        </p:txBody>
      </p:sp>
      <p:sp>
        <p:nvSpPr>
          <p:cNvPr id="14" name="">
            <a:extLst xmlns:a="http://schemas.openxmlformats.org/drawingml/2006/main">
              <a:ext uri="{FF2B5EF4-FFF2-40B4-BE49-F238E27FC236}">
                <a16:creationId xmlns:a16="http://schemas.microsoft.com/office/drawing/2014/main" id="{F52A1986-5E4D-42BE-966F-D47C9D1A1F40}"/>
              </a:ext>
            </a:extLst>
          </p:cNvPr>
          <p:cNvSpPr>
            <a:spLocks xmlns:a="http://schemas.openxmlformats.org/drawingml/2006/main" noGrp="1"/>
          </p:cNvSpPr>
          <p:nvPr/>
        </p:nvSpPr>
        <p:spPr>
          <a:xfrm xmlns:a="http://schemas.openxmlformats.org/drawingml/2006/main">
            <a:off x="4419600" y="2305050"/>
            <a:ext cx="1524000" cy="590550"/>
          </a:xfrm>
          <a:prstGeom xmlns:a="http://schemas.openxmlformats.org/drawingml/2006/main" prst="roundRect">
            <a:avLst>
              <a:gd name="adj" fmla="val 25806"/>
            </a:avLst>
          </a:prstGeom>
          <a:solidFill xmlns:a="http://schemas.openxmlformats.org/drawingml/2006/main">
            <a:srgbClr val="11171C"/>
          </a:solidFill>
          <a:ln xmlns:a="http://schemas.openxmlformats.org/drawingml/2006/main" w="14288">
            <a:solidFill>
              <a:srgbClr val="F26B38"/>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125" b="1">
                <a:solidFill>
                  <a:srgbClr val="F26B38"/>
                </a:solidFill>
                <a:latin typeface="DejaVu Sans Mono"/>
                <a:ea typeface="DejaVu Sans Mono"/>
                <a:cs typeface="DejaVu Sans Mono"/>
              </a:defRPr>
            </a:pPr>
            <a:r>
              <a:rPr sz="1125" b="1">
                <a:solidFill>
                  <a:srgbClr val="F26B38"/>
                </a:solidFill>
                <a:latin typeface="DejaVu Sans Mono"/>
                <a:ea typeface="DejaVu Sans Mono"/>
                <a:cs typeface="DejaVu Sans Mono"/>
              </a:rPr>
              <a:t>REQUIREMENT</a:t>
            </a:r>
          </a:p>
        </p:txBody>
      </p:sp>
      <p:sp>
        <p:nvSpPr>
          <p:cNvPr id="15" name="">
            <a:extLst xmlns:a="http://schemas.openxmlformats.org/drawingml/2006/main">
              <a:ext uri="{FF2B5EF4-FFF2-40B4-BE49-F238E27FC236}">
                <a16:creationId xmlns:a16="http://schemas.microsoft.com/office/drawing/2014/main" id="{7EEA1C57-E85F-46D9-BBEA-E09B02684A66}"/>
              </a:ext>
            </a:extLst>
          </p:cNvPr>
          <p:cNvSpPr>
            <a:spLocks xmlns:a="http://schemas.openxmlformats.org/drawingml/2006/main" noGrp="1"/>
          </p:cNvSpPr>
          <p:nvPr/>
        </p:nvSpPr>
        <p:spPr>
          <a:xfrm xmlns:a="http://schemas.openxmlformats.org/drawingml/2006/main">
            <a:off x="4419600" y="3048000"/>
            <a:ext cx="152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00" b="0">
                <a:solidFill>
                  <a:srgbClr val="D8DEE3"/>
                </a:solidFill>
                <a:latin typeface="DejaVu Sans"/>
                <a:ea typeface="DejaVu Sans"/>
                <a:cs typeface="DejaVu Sans"/>
              </a:defRPr>
            </a:pPr>
            <a:r>
              <a:rPr sz="1200" b="0">
                <a:solidFill>
                  <a:srgbClr val="D8DEE3"/>
                </a:solidFill>
                <a:latin typeface="DejaVu Sans"/>
                <a:ea typeface="DejaVu Sans"/>
                <a:cs typeface="DejaVu Sans"/>
              </a:rPr>
              <a:t>recover performance</a:t>
            </a:r>
          </a:p>
        </p:txBody>
      </p:sp>
      <p:sp>
        <p:nvSpPr>
          <p:cNvPr id="16" name="">
            <a:extLst xmlns:a="http://schemas.openxmlformats.org/drawingml/2006/main">
              <a:ext uri="{FF2B5EF4-FFF2-40B4-BE49-F238E27FC236}">
                <a16:creationId xmlns:a16="http://schemas.microsoft.com/office/drawing/2014/main" id="{1C226A1B-9CD6-4B0F-92B7-5A20D5EA24DD}"/>
              </a:ext>
            </a:extLst>
          </p:cNvPr>
          <p:cNvSpPr>
            <a:spLocks xmlns:a="http://schemas.openxmlformats.org/drawingml/2006/main" noGrp="1"/>
          </p:cNvSpPr>
          <p:nvPr/>
        </p:nvSpPr>
        <p:spPr>
          <a:xfrm xmlns:a="http://schemas.openxmlformats.org/drawingml/2006/main">
            <a:off x="6305550" y="2305050"/>
            <a:ext cx="1524000" cy="590550"/>
          </a:xfrm>
          <a:prstGeom xmlns:a="http://schemas.openxmlformats.org/drawingml/2006/main" prst="roundRect">
            <a:avLst>
              <a:gd name="adj" fmla="val 25806"/>
            </a:avLst>
          </a:prstGeom>
          <a:solidFill xmlns:a="http://schemas.openxmlformats.org/drawingml/2006/main">
            <a:srgbClr val="11171C"/>
          </a:solidFill>
          <a:ln xmlns:a="http://schemas.openxmlformats.org/drawingml/2006/main" w="14288">
            <a:solidFill>
              <a:srgbClr val="62D6A7"/>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125" b="1">
                <a:solidFill>
                  <a:srgbClr val="62D6A7"/>
                </a:solidFill>
                <a:latin typeface="DejaVu Sans Mono"/>
                <a:ea typeface="DejaVu Sans Mono"/>
                <a:cs typeface="DejaVu Sans Mono"/>
              </a:defRPr>
            </a:pPr>
            <a:r>
              <a:rPr sz="1125" b="1">
                <a:solidFill>
                  <a:srgbClr val="62D6A7"/>
                </a:solidFill>
                <a:latin typeface="DejaVu Sans Mono"/>
                <a:ea typeface="DejaVu Sans Mono"/>
                <a:cs typeface="DejaVu Sans Mono"/>
              </a:rPr>
              <a:t>METHOD</a:t>
            </a:r>
          </a:p>
        </p:txBody>
      </p:sp>
      <p:sp>
        <p:nvSpPr>
          <p:cNvPr id="17" name="">
            <a:extLst xmlns:a="http://schemas.openxmlformats.org/drawingml/2006/main">
              <a:ext uri="{FF2B5EF4-FFF2-40B4-BE49-F238E27FC236}">
                <a16:creationId xmlns:a16="http://schemas.microsoft.com/office/drawing/2014/main" id="{F5FE2369-0EB4-4C4C-B1B4-12AEEA838189}"/>
              </a:ext>
            </a:extLst>
          </p:cNvPr>
          <p:cNvSpPr>
            <a:spLocks xmlns:a="http://schemas.openxmlformats.org/drawingml/2006/main" noGrp="1"/>
          </p:cNvSpPr>
          <p:nvPr/>
        </p:nvSpPr>
        <p:spPr>
          <a:xfrm xmlns:a="http://schemas.openxmlformats.org/drawingml/2006/main">
            <a:off x="6305550" y="3048000"/>
            <a:ext cx="152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00" b="0">
                <a:solidFill>
                  <a:srgbClr val="D8DEE3"/>
                </a:solidFill>
                <a:latin typeface="DejaVu Sans"/>
                <a:ea typeface="DejaVu Sans"/>
                <a:cs typeface="DejaVu Sans"/>
              </a:defRPr>
            </a:pPr>
            <a:r>
              <a:rPr sz="1200" b="0">
                <a:solidFill>
                  <a:srgbClr val="D8DEE3"/>
                </a:solidFill>
                <a:latin typeface="DejaVu Sans"/>
                <a:ea typeface="DejaVu Sans"/>
                <a:cs typeface="DejaVu Sans"/>
              </a:rPr>
              <a:t>Mars dust chamber</a:t>
            </a:r>
          </a:p>
        </p:txBody>
      </p:sp>
      <p:sp>
        <p:nvSpPr>
          <p:cNvPr id="18" name="">
            <a:extLst xmlns:a="http://schemas.openxmlformats.org/drawingml/2006/main">
              <a:ext uri="{FF2B5EF4-FFF2-40B4-BE49-F238E27FC236}">
                <a16:creationId xmlns:a16="http://schemas.microsoft.com/office/drawing/2014/main" id="{B8BD195C-999C-4BED-A17E-6E7304B2E26E}"/>
              </a:ext>
            </a:extLst>
          </p:cNvPr>
          <p:cNvSpPr>
            <a:spLocks xmlns:a="http://schemas.openxmlformats.org/drawingml/2006/main" noGrp="1"/>
          </p:cNvSpPr>
          <p:nvPr/>
        </p:nvSpPr>
        <p:spPr>
          <a:xfrm xmlns:a="http://schemas.openxmlformats.org/drawingml/2006/main">
            <a:off x="8191500" y="2305050"/>
            <a:ext cx="1524000" cy="590550"/>
          </a:xfrm>
          <a:prstGeom xmlns:a="http://schemas.openxmlformats.org/drawingml/2006/main" prst="roundRect">
            <a:avLst>
              <a:gd name="adj" fmla="val 25806"/>
            </a:avLst>
          </a:prstGeom>
          <a:solidFill xmlns:a="http://schemas.openxmlformats.org/drawingml/2006/main">
            <a:srgbClr val="11171C"/>
          </a:solidFill>
          <a:ln xmlns:a="http://schemas.openxmlformats.org/drawingml/2006/main" w="14288">
            <a:solidFill>
              <a:srgbClr val="62D6A7"/>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125" b="1">
                <a:solidFill>
                  <a:srgbClr val="62D6A7"/>
                </a:solidFill>
                <a:latin typeface="DejaVu Sans Mono"/>
                <a:ea typeface="DejaVu Sans Mono"/>
                <a:cs typeface="DejaVu Sans Mono"/>
              </a:defRPr>
            </a:pPr>
            <a:r>
              <a:rPr sz="1125" b="1">
                <a:solidFill>
                  <a:srgbClr val="62D6A7"/>
                </a:solidFill>
                <a:latin typeface="DejaVu Sans Mono"/>
                <a:ea typeface="DejaVu Sans Mono"/>
                <a:cs typeface="DejaVu Sans Mono"/>
              </a:rPr>
              <a:t>RESULT</a:t>
            </a:r>
          </a:p>
        </p:txBody>
      </p:sp>
      <p:sp>
        <p:nvSpPr>
          <p:cNvPr id="19" name="">
            <a:extLst xmlns:a="http://schemas.openxmlformats.org/drawingml/2006/main">
              <a:ext uri="{FF2B5EF4-FFF2-40B4-BE49-F238E27FC236}">
                <a16:creationId xmlns:a16="http://schemas.microsoft.com/office/drawing/2014/main" id="{E04ECBE3-69BE-4C8A-B887-79CFAC8E2EEB}"/>
              </a:ext>
            </a:extLst>
          </p:cNvPr>
          <p:cNvSpPr>
            <a:spLocks xmlns:a="http://schemas.openxmlformats.org/drawingml/2006/main" noGrp="1"/>
          </p:cNvSpPr>
          <p:nvPr/>
        </p:nvSpPr>
        <p:spPr>
          <a:xfrm xmlns:a="http://schemas.openxmlformats.org/drawingml/2006/main">
            <a:off x="8191500" y="3048000"/>
            <a:ext cx="152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00" b="0">
                <a:solidFill>
                  <a:srgbClr val="D8DEE3"/>
                </a:solidFill>
                <a:latin typeface="DejaVu Sans"/>
                <a:ea typeface="DejaVu Sans"/>
                <a:cs typeface="DejaVu Sans"/>
              </a:defRPr>
            </a:pPr>
            <a:r>
              <a:rPr sz="1200" b="0">
                <a:solidFill>
                  <a:srgbClr val="D8DEE3"/>
                </a:solidFill>
                <a:latin typeface="DejaVu Sans"/>
                <a:ea typeface="DejaVu Sans"/>
                <a:cs typeface="DejaVu Sans"/>
              </a:rPr>
              <a:t>measured evidence</a:t>
            </a:r>
          </a:p>
        </p:txBody>
      </p:sp>
      <p:sp>
        <p:nvSpPr>
          <p:cNvPr id="20" name="">
            <a:extLst xmlns:a="http://schemas.openxmlformats.org/drawingml/2006/main">
              <a:ext uri="{FF2B5EF4-FFF2-40B4-BE49-F238E27FC236}">
                <a16:creationId xmlns:a16="http://schemas.microsoft.com/office/drawing/2014/main" id="{1A32E0DE-6CA1-476F-A95F-CD1FC0F79756}"/>
              </a:ext>
            </a:extLst>
          </p:cNvPr>
          <p:cNvSpPr>
            <a:spLocks xmlns:a="http://schemas.openxmlformats.org/drawingml/2006/main" noGrp="1"/>
          </p:cNvSpPr>
          <p:nvPr/>
        </p:nvSpPr>
        <p:spPr>
          <a:xfrm xmlns:a="http://schemas.openxmlformats.org/drawingml/2006/main">
            <a:off x="10077450" y="2305050"/>
            <a:ext cx="1524000" cy="590550"/>
          </a:xfrm>
          <a:prstGeom xmlns:a="http://schemas.openxmlformats.org/drawingml/2006/main" prst="roundRect">
            <a:avLst>
              <a:gd name="adj" fmla="val 25806"/>
            </a:avLst>
          </a:prstGeom>
          <a:solidFill xmlns:a="http://schemas.openxmlformats.org/drawingml/2006/main">
            <a:srgbClr val="11171C"/>
          </a:solidFill>
          <a:ln xmlns:a="http://schemas.openxmlformats.org/drawingml/2006/main" w="14288">
            <a:solidFill>
              <a:srgbClr val="FFC857"/>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125" b="1">
                <a:solidFill>
                  <a:srgbClr val="FFC857"/>
                </a:solidFill>
                <a:latin typeface="DejaVu Sans Mono"/>
                <a:ea typeface="DejaVu Sans Mono"/>
                <a:cs typeface="DejaVu Sans Mono"/>
              </a:defRPr>
            </a:pPr>
            <a:r>
              <a:rPr sz="1125" b="1">
                <a:solidFill>
                  <a:srgbClr val="FFC857"/>
                </a:solidFill>
                <a:latin typeface="DejaVu Sans Mono"/>
                <a:ea typeface="DejaVu Sans Mono"/>
                <a:cs typeface="DejaVu Sans Mono"/>
              </a:rPr>
              <a:t>STATUS</a:t>
            </a:r>
          </a:p>
        </p:txBody>
      </p:sp>
      <p:sp>
        <p:nvSpPr>
          <p:cNvPr id="21" name="">
            <a:extLst xmlns:a="http://schemas.openxmlformats.org/drawingml/2006/main">
              <a:ext uri="{FF2B5EF4-FFF2-40B4-BE49-F238E27FC236}">
                <a16:creationId xmlns:a16="http://schemas.microsoft.com/office/drawing/2014/main" id="{00F18078-4030-42AE-99AB-613027708856}"/>
              </a:ext>
            </a:extLst>
          </p:cNvPr>
          <p:cNvSpPr>
            <a:spLocks xmlns:a="http://schemas.openxmlformats.org/drawingml/2006/main" noGrp="1"/>
          </p:cNvSpPr>
          <p:nvPr/>
        </p:nvSpPr>
        <p:spPr>
          <a:xfrm xmlns:a="http://schemas.openxmlformats.org/drawingml/2006/main">
            <a:off x="10077450" y="3048000"/>
            <a:ext cx="152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00" b="0">
                <a:solidFill>
                  <a:srgbClr val="D8DEE3"/>
                </a:solidFill>
                <a:latin typeface="DejaVu Sans"/>
                <a:ea typeface="DejaVu Sans"/>
                <a:cs typeface="DejaVu Sans"/>
              </a:defRPr>
            </a:pPr>
            <a:r>
              <a:rPr sz="1200" b="0">
                <a:solidFill>
                  <a:srgbClr val="D8DEE3"/>
                </a:solidFill>
                <a:latin typeface="DejaVu Sans"/>
                <a:ea typeface="DejaVu Sans"/>
                <a:cs typeface="DejaVu Sans"/>
              </a:rPr>
              <a:t>open / accepted</a:t>
            </a:r>
          </a:p>
        </p:txBody>
      </p:sp>
      <p:sp>
        <p:nvSpPr>
          <p:cNvPr id="22" name="">
            <a:extLst xmlns:a="http://schemas.openxmlformats.org/drawingml/2006/main">
              <a:ext uri="{FF2B5EF4-FFF2-40B4-BE49-F238E27FC236}">
                <a16:creationId xmlns:a16="http://schemas.microsoft.com/office/drawing/2014/main" id="{5F207637-FC99-4E73-B8D4-B1591DBBDBED}"/>
              </a:ext>
            </a:extLst>
          </p:cNvPr>
          <p:cNvSpPr>
            <a:spLocks xmlns:a="http://schemas.openxmlformats.org/drawingml/2006/main" noGrp="1"/>
          </p:cNvSpPr>
          <p:nvPr/>
        </p:nvSpPr>
        <p:spPr>
          <a:xfrm xmlns:a="http://schemas.openxmlformats.org/drawingml/2006/main">
            <a:off x="6115050" y="2133600"/>
            <a:ext cx="47625" cy="1771650"/>
          </a:xfrm>
          <a:prstGeom xmlns:a="http://schemas.openxmlformats.org/drawingml/2006/main" prst="rect">
            <a:avLst/>
          </a:prstGeom>
          <a:solidFill xmlns:a="http://schemas.openxmlformats.org/drawingml/2006/main">
            <a:srgbClr val="FF6262"/>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E6D4F92-D8C3-40AC-926D-098CCDB12C3F}"/>
              </a:ext>
            </a:extLst>
          </p:cNvPr>
          <p:cNvSpPr>
            <a:spLocks xmlns:a="http://schemas.openxmlformats.org/drawingml/2006/main" noGrp="1"/>
          </p:cNvSpPr>
          <p:nvPr/>
        </p:nvSpPr>
        <p:spPr>
          <a:xfrm xmlns:a="http://schemas.openxmlformats.org/drawingml/2006/main">
            <a:off x="5334000" y="3943350"/>
            <a:ext cx="1619250" cy="381000"/>
          </a:xfrm>
          <a:prstGeom xmlns:a="http://schemas.openxmlformats.org/drawingml/2006/main" prst="roundRect">
            <a:avLst>
              <a:gd name="adj" fmla="val 22500"/>
            </a:avLst>
          </a:prstGeom>
          <a:solidFill xmlns:a="http://schemas.openxmlformats.org/drawingml/2006/main">
            <a:srgbClr val="1A0E11"/>
          </a:solidFill>
          <a:ln xmlns:a="http://schemas.openxmlformats.org/drawingml/2006/main" w="9525">
            <a:solidFill>
              <a:srgbClr val="FF6262">
                <a:alpha val="55000"/>
              </a:srgbClr>
            </a:solidFill>
            <a:prstDash val="solid"/>
          </a:ln>
        </p:spPr>
        <p:txBody>
          <a:bodyPr xmlns:a="http://schemas.openxmlformats.org/drawingml/2006/main" wrap="square" lIns="47625" tIns="19050" rIns="47625" bIns="19050" anchor="ctr">
            <a:noAutofit/>
          </a:bodyPr>
          <a:lstStyle xmlns:a="http://schemas.openxmlformats.org/drawingml/2006/main"/>
          <a:p xmlns:a="http://schemas.openxmlformats.org/drawingml/2006/main">
            <a:pPr algn="ctr">
              <a:lnSpc>
                <a:spcPct val="95000"/>
              </a:lnSpc>
              <a:buNone/>
              <a:defRPr sz="975" b="1">
                <a:solidFill>
                  <a:srgbClr val="FF6262"/>
                </a:solidFill>
                <a:latin typeface="DejaVu Sans Mono"/>
                <a:ea typeface="DejaVu Sans Mono"/>
                <a:cs typeface="DejaVu Sans Mono"/>
              </a:defRPr>
            </a:pPr>
            <a:r>
              <a:rPr sz="975" b="1">
                <a:solidFill>
                  <a:srgbClr val="FF6262"/>
                </a:solidFill>
                <a:latin typeface="DejaVu Sans Mono"/>
                <a:ea typeface="DejaVu Sans Mono"/>
                <a:cs typeface="DejaVu Sans Mono"/>
              </a:rPr>
              <a:t>BROKEN LINK → REWORK</a:t>
            </a:r>
          </a:p>
        </p:txBody>
      </p:sp>
      <p:sp>
        <p:nvSpPr>
          <p:cNvPr id="24" name="">
            <a:extLst xmlns:a="http://schemas.openxmlformats.org/drawingml/2006/main">
              <a:ext uri="{FF2B5EF4-FFF2-40B4-BE49-F238E27FC236}">
                <a16:creationId xmlns:a16="http://schemas.microsoft.com/office/drawing/2014/main" id="{38ECF846-3625-4DC7-B9CA-E2A01E205055}"/>
              </a:ext>
            </a:extLst>
          </p:cNvPr>
          <p:cNvSpPr>
            <a:spLocks xmlns:a="http://schemas.openxmlformats.org/drawingml/2006/main" noGrp="1"/>
          </p:cNvSpPr>
          <p:nvPr/>
        </p:nvSpPr>
        <p:spPr>
          <a:xfrm xmlns:a="http://schemas.openxmlformats.org/drawingml/2006/main">
            <a:off x="704850" y="4629150"/>
            <a:ext cx="421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800" b="1">
                <a:solidFill>
                  <a:srgbClr val="F4F6F8"/>
                </a:solidFill>
                <a:latin typeface="DejaVu Sans"/>
                <a:ea typeface="DejaVu Sans"/>
                <a:cs typeface="DejaVu Sans"/>
              </a:defRPr>
            </a:pPr>
            <a:r>
              <a:rPr sz="1800" b="1">
                <a:solidFill>
                  <a:srgbClr val="F4F6F8"/>
                </a:solidFill>
                <a:latin typeface="DejaVu Sans"/>
                <a:ea typeface="DejaVu Sans"/>
                <a:cs typeface="DejaVu Sans"/>
              </a:rPr>
              <a:t>Every uncertainty gets a disposition</a:t>
            </a:r>
          </a:p>
        </p:txBody>
      </p:sp>
      <p:sp>
        <p:nvSpPr>
          <p:cNvPr id="25" name="">
            <a:extLst xmlns:a="http://schemas.openxmlformats.org/drawingml/2006/main">
              <a:ext uri="{FF2B5EF4-FFF2-40B4-BE49-F238E27FC236}">
                <a16:creationId xmlns:a16="http://schemas.microsoft.com/office/drawing/2014/main" id="{0F528141-3FBF-4CCB-BCED-C78E16DEDA31}"/>
              </a:ext>
            </a:extLst>
          </p:cNvPr>
          <p:cNvSpPr>
            <a:spLocks xmlns:a="http://schemas.openxmlformats.org/drawingml/2006/main" noGrp="1"/>
          </p:cNvSpPr>
          <p:nvPr/>
        </p:nvSpPr>
        <p:spPr>
          <a:xfrm xmlns:a="http://schemas.openxmlformats.org/drawingml/2006/main">
            <a:off x="704850" y="5219700"/>
            <a:ext cx="2247900" cy="609600"/>
          </a:xfrm>
          <a:prstGeom xmlns:a="http://schemas.openxmlformats.org/drawingml/2006/main" prst="roundRect">
            <a:avLst>
              <a:gd name="adj" fmla="val 25000"/>
            </a:avLst>
          </a:prstGeom>
          <a:solidFill xmlns:a="http://schemas.openxmlformats.org/drawingml/2006/main">
            <a:srgbClr val="11171C"/>
          </a:solidFill>
          <a:ln xmlns:a="http://schemas.openxmlformats.org/drawingml/2006/main" w="14288">
            <a:solidFill>
              <a:srgbClr val="39D7FF"/>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275" b="1">
                <a:solidFill>
                  <a:srgbClr val="39D7FF"/>
                </a:solidFill>
                <a:latin typeface="DejaVu Sans Mono"/>
                <a:ea typeface="DejaVu Sans Mono"/>
                <a:cs typeface="DejaVu Sans Mono"/>
              </a:defRPr>
            </a:pPr>
            <a:r>
              <a:rPr sz="1275" b="1">
                <a:solidFill>
                  <a:srgbClr val="39D7FF"/>
                </a:solidFill>
                <a:latin typeface="DejaVu Sans Mono"/>
                <a:ea typeface="DejaVu Sans Mono"/>
                <a:cs typeface="DejaVu Sans Mono"/>
              </a:rPr>
              <a:t>ANALYZE</a:t>
            </a:r>
          </a:p>
        </p:txBody>
      </p:sp>
      <p:sp>
        <p:nvSpPr>
          <p:cNvPr id="26" name="">
            <a:extLst xmlns:a="http://schemas.openxmlformats.org/drawingml/2006/main">
              <a:ext uri="{FF2B5EF4-FFF2-40B4-BE49-F238E27FC236}">
                <a16:creationId xmlns:a16="http://schemas.microsoft.com/office/drawing/2014/main" id="{B945B6B8-F7C0-4D21-AF7D-79BCF741B608}"/>
              </a:ext>
            </a:extLst>
          </p:cNvPr>
          <p:cNvSpPr>
            <a:spLocks xmlns:a="http://schemas.openxmlformats.org/drawingml/2006/main" noGrp="1"/>
          </p:cNvSpPr>
          <p:nvPr/>
        </p:nvSpPr>
        <p:spPr>
          <a:xfrm xmlns:a="http://schemas.openxmlformats.org/drawingml/2006/main">
            <a:off x="3409950" y="5219700"/>
            <a:ext cx="2247900" cy="609600"/>
          </a:xfrm>
          <a:prstGeom xmlns:a="http://schemas.openxmlformats.org/drawingml/2006/main" prst="roundRect">
            <a:avLst>
              <a:gd name="adj" fmla="val 25000"/>
            </a:avLst>
          </a:prstGeom>
          <a:solidFill xmlns:a="http://schemas.openxmlformats.org/drawingml/2006/main">
            <a:srgbClr val="11171C"/>
          </a:solidFill>
          <a:ln xmlns:a="http://schemas.openxmlformats.org/drawingml/2006/main" w="14288">
            <a:solidFill>
              <a:srgbClr val="62D6A7"/>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275" b="1">
                <a:solidFill>
                  <a:srgbClr val="62D6A7"/>
                </a:solidFill>
                <a:latin typeface="DejaVu Sans Mono"/>
                <a:ea typeface="DejaVu Sans Mono"/>
                <a:cs typeface="DejaVu Sans Mono"/>
              </a:defRPr>
            </a:pPr>
            <a:r>
              <a:rPr sz="1275" b="1">
                <a:solidFill>
                  <a:srgbClr val="62D6A7"/>
                </a:solidFill>
                <a:latin typeface="DejaVu Sans Mono"/>
                <a:ea typeface="DejaVu Sans Mono"/>
                <a:cs typeface="DejaVu Sans Mono"/>
              </a:rPr>
              <a:t>TEST</a:t>
            </a:r>
          </a:p>
        </p:txBody>
      </p:sp>
      <p:sp>
        <p:nvSpPr>
          <p:cNvPr id="27" name="">
            <a:extLst xmlns:a="http://schemas.openxmlformats.org/drawingml/2006/main">
              <a:ext uri="{FF2B5EF4-FFF2-40B4-BE49-F238E27FC236}">
                <a16:creationId xmlns:a16="http://schemas.microsoft.com/office/drawing/2014/main" id="{3E84F133-8AC1-480C-8651-3E8714DA849B}"/>
              </a:ext>
            </a:extLst>
          </p:cNvPr>
          <p:cNvSpPr>
            <a:spLocks xmlns:a="http://schemas.openxmlformats.org/drawingml/2006/main" noGrp="1"/>
          </p:cNvSpPr>
          <p:nvPr/>
        </p:nvSpPr>
        <p:spPr>
          <a:xfrm xmlns:a="http://schemas.openxmlformats.org/drawingml/2006/main">
            <a:off x="6115050" y="5219700"/>
            <a:ext cx="2247900" cy="609600"/>
          </a:xfrm>
          <a:prstGeom xmlns:a="http://schemas.openxmlformats.org/drawingml/2006/main" prst="roundRect">
            <a:avLst>
              <a:gd name="adj" fmla="val 25000"/>
            </a:avLst>
          </a:prstGeom>
          <a:solidFill xmlns:a="http://schemas.openxmlformats.org/drawingml/2006/main">
            <a:srgbClr val="11171C"/>
          </a:solidFill>
          <a:ln xmlns:a="http://schemas.openxmlformats.org/drawingml/2006/main" w="14288">
            <a:solidFill>
              <a:srgbClr val="F26B38"/>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275" b="1">
                <a:solidFill>
                  <a:srgbClr val="F26B38"/>
                </a:solidFill>
                <a:latin typeface="DejaVu Sans Mono"/>
                <a:ea typeface="DejaVu Sans Mono"/>
                <a:cs typeface="DejaVu Sans Mono"/>
              </a:defRPr>
            </a:pPr>
            <a:r>
              <a:rPr sz="1275" b="1">
                <a:solidFill>
                  <a:srgbClr val="F26B38"/>
                </a:solidFill>
                <a:latin typeface="DejaVu Sans Mono"/>
                <a:ea typeface="DejaVu Sans Mono"/>
                <a:cs typeface="DejaVu Sans Mono"/>
              </a:rPr>
              <a:t>CONSTRAIN</a:t>
            </a:r>
          </a:p>
        </p:txBody>
      </p:sp>
      <p:sp>
        <p:nvSpPr>
          <p:cNvPr id="28" name="">
            <a:extLst xmlns:a="http://schemas.openxmlformats.org/drawingml/2006/main">
              <a:ext uri="{FF2B5EF4-FFF2-40B4-BE49-F238E27FC236}">
                <a16:creationId xmlns:a16="http://schemas.microsoft.com/office/drawing/2014/main" id="{CC22D0F1-0821-4C2A-90C5-CEF627FC4B41}"/>
              </a:ext>
            </a:extLst>
          </p:cNvPr>
          <p:cNvSpPr>
            <a:spLocks xmlns:a="http://schemas.openxmlformats.org/drawingml/2006/main" noGrp="1"/>
          </p:cNvSpPr>
          <p:nvPr/>
        </p:nvSpPr>
        <p:spPr>
          <a:xfrm xmlns:a="http://schemas.openxmlformats.org/drawingml/2006/main">
            <a:off x="8820150" y="5219700"/>
            <a:ext cx="2247900" cy="609600"/>
          </a:xfrm>
          <a:prstGeom xmlns:a="http://schemas.openxmlformats.org/drawingml/2006/main" prst="roundRect">
            <a:avLst>
              <a:gd name="adj" fmla="val 25000"/>
            </a:avLst>
          </a:prstGeom>
          <a:solidFill xmlns:a="http://schemas.openxmlformats.org/drawingml/2006/main">
            <a:srgbClr val="11171C"/>
          </a:solidFill>
          <a:ln xmlns:a="http://schemas.openxmlformats.org/drawingml/2006/main" w="14288">
            <a:solidFill>
              <a:srgbClr val="FFC857"/>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275" b="1">
                <a:solidFill>
                  <a:srgbClr val="FFC857"/>
                </a:solidFill>
                <a:latin typeface="DejaVu Sans Mono"/>
                <a:ea typeface="DejaVu Sans Mono"/>
                <a:cs typeface="DejaVu Sans Mono"/>
              </a:defRPr>
            </a:pPr>
            <a:r>
              <a:rPr sz="1275" b="1">
                <a:solidFill>
                  <a:srgbClr val="FFC857"/>
                </a:solidFill>
                <a:latin typeface="DejaVu Sans Mono"/>
                <a:ea typeface="DejaVu Sans Mono"/>
                <a:cs typeface="DejaVu Sans Mono"/>
              </a:rPr>
              <a:t>ACCEPT RISK</a:t>
            </a:r>
          </a:p>
        </p:txBody>
      </p:sp>
      <p:sp>
        <p:nvSpPr>
          <p:cNvPr id="29" name="">
            <a:extLst xmlns:a="http://schemas.openxmlformats.org/drawingml/2006/main">
              <a:ext uri="{FF2B5EF4-FFF2-40B4-BE49-F238E27FC236}">
                <a16:creationId xmlns:a16="http://schemas.microsoft.com/office/drawing/2014/main" id="{1A74D94A-DFCA-4584-BD2C-03D80738E72E}"/>
              </a:ext>
            </a:extLst>
          </p:cNvPr>
          <p:cNvSpPr>
            <a:spLocks xmlns:a="http://schemas.openxmlformats.org/drawingml/2006/main" noGrp="1"/>
          </p:cNvSpPr>
          <p:nvPr/>
        </p:nvSpPr>
        <p:spPr>
          <a:xfrm xmlns:a="http://schemas.openxmlformats.org/drawingml/2006/main">
            <a:off x="2647950" y="6038850"/>
            <a:ext cx="6896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1350" b="1">
                <a:solidFill>
                  <a:srgbClr val="F4F6F8"/>
                </a:solidFill>
                <a:latin typeface="DejaVu Sans"/>
                <a:ea typeface="DejaVu Sans"/>
                <a:cs typeface="DejaVu Sans"/>
              </a:defRPr>
            </a:pPr>
            <a:r>
              <a:rPr sz="1350" b="1">
                <a:solidFill>
                  <a:srgbClr val="F4F6F8"/>
                </a:solidFill>
                <a:latin typeface="DejaVu Sans"/>
                <a:ea typeface="DejaVu Sans"/>
                <a:cs typeface="DejaVu Sans"/>
              </a:rPr>
              <a:t>AI can assist verification. It cannot make missing physical evidence real.</a:t>
            </a:r>
          </a:p>
        </p:txBody>
      </p:sp>
      <p:sp>
        <p:nvSpPr>
          <p:cNvPr id="30" name="">
            <a:extLst xmlns:a="http://schemas.openxmlformats.org/drawingml/2006/main">
              <a:ext uri="{FF2B5EF4-FFF2-40B4-BE49-F238E27FC236}">
                <a16:creationId xmlns:a16="http://schemas.microsoft.com/office/drawing/2014/main" id="{EACD2F37-5085-4E9C-A343-FA438D30E96A}"/>
              </a:ext>
            </a:extLst>
          </p:cNvPr>
          <p:cNvSpPr>
            <a:spLocks xmlns:a="http://schemas.openxmlformats.org/drawingml/2006/main" noGrp="1"/>
          </p:cNvSpPr>
          <p:nvPr/>
        </p:nvSpPr>
        <p:spPr>
          <a:xfrm xmlns:a="http://schemas.openxmlformats.org/drawingml/2006/main">
            <a:off x="0" y="6400800"/>
            <a:ext cx="12192000" cy="457200"/>
          </a:xfrm>
          <a:prstGeom xmlns:a="http://schemas.openxmlformats.org/drawingml/2006/main" prst="rect">
            <a:avLst/>
          </a:prstGeom>
          <a:solidFill xmlns:a="http://schemas.openxmlformats.org/drawingml/2006/main">
            <a:srgbClr val="07090C">
              <a:alpha val="76000"/>
            </a:srgbClr>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CE29E089-96D7-427C-B044-CE4A61049D07}"/>
              </a:ext>
            </a:extLst>
          </p:cNvPr>
          <p:cNvSpPr>
            <a:spLocks xmlns:a="http://schemas.openxmlformats.org/drawingml/2006/main" noGrp="1"/>
          </p:cNvSpPr>
          <p:nvPr/>
        </p:nvSpPr>
        <p:spPr>
          <a:xfrm xmlns:a="http://schemas.openxmlformats.org/drawingml/2006/main">
            <a:off x="609600" y="6553200"/>
            <a:ext cx="6858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MARS SOCIETY 2026  •  HARNESSED AGENTIC SCIENCE + ENGINEERING</a:t>
            </a:r>
          </a:p>
        </p:txBody>
      </p:sp>
      <p:sp>
        <p:nvSpPr>
          <p:cNvPr id="32" name="">
            <a:extLst xmlns:a="http://schemas.openxmlformats.org/drawingml/2006/main">
              <a:ext uri="{FF2B5EF4-FFF2-40B4-BE49-F238E27FC236}">
                <a16:creationId xmlns:a16="http://schemas.microsoft.com/office/drawing/2014/main" id="{D4F29724-A265-47D8-BC6D-2ED3BAD79357}"/>
              </a:ext>
            </a:extLst>
          </p:cNvPr>
          <p:cNvSpPr>
            <a:spLocks xmlns:a="http://schemas.openxmlformats.org/drawingml/2006/main" noGrp="1"/>
          </p:cNvSpPr>
          <p:nvPr/>
        </p:nvSpPr>
        <p:spPr>
          <a:xfrm xmlns:a="http://schemas.openxmlformats.org/drawingml/2006/main">
            <a:off x="9525000" y="6553200"/>
            <a:ext cx="2057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BOB J MILLS     12</a:t>
            </a:r>
          </a:p>
        </p:txBody>
      </p:sp>
    </p:spTree>
    <p:extLst>
      <p:ext uri="{BB962C8B-B14F-4D97-AF65-F5344CB8AC3E}">
        <p14:creationId xmlns:p14="http://schemas.microsoft.com/office/powerpoint/2010/main" val="1681551927"/>
      </p:ext>
    </p:extLst>
  </p:cSld>
</p:sld>
</file>

<file path=ppt/slides/slide13.xml><?xml version="1.0" encoding="utf-8"?>
<p:sld xmlns:p="http://schemas.openxmlformats.org/presentationml/2006/main">
  <p:cSld>
    <p:bg>
      <p:bgPr>
        <a:solidFill xmlns:a="http://schemas.openxmlformats.org/drawingml/2006/main">
          <a:srgbClr val="07090C"/>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FC6BA27A-9F95-4242-92D8-037DE1D09916}"/>
              </a:ext>
            </a:extLst>
          </p:cNvPr>
          <p:cNvSpPr>
            <a:spLocks xmlns:a="http://schemas.openxmlformats.org/drawingml/2006/main" noGrp="1"/>
          </p:cNvSpPr>
          <p:nvPr/>
        </p:nvSpPr>
        <p:spPr>
          <a:xfrm xmlns:a="http://schemas.openxmlformats.org/drawingml/2006/main">
            <a:off x="609600" y="3429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975" b="1">
                <a:solidFill>
                  <a:srgbClr val="F26B38"/>
                </a:solidFill>
                <a:latin typeface="DejaVu Sans Mono"/>
                <a:ea typeface="DejaVu Sans Mono"/>
                <a:cs typeface="DejaVu Sans Mono"/>
              </a:defRPr>
            </a:pPr>
            <a:r>
              <a:rPr sz="975" b="1">
                <a:solidFill>
                  <a:srgbClr val="F26B38"/>
                </a:solidFill>
                <a:latin typeface="DejaVu Sans Mono"/>
                <a:ea typeface="DejaVu Sans Mono"/>
                <a:cs typeface="DejaVu Sans Mono"/>
              </a:rPr>
              <a:t>13  /  MISSION MEMORY</a:t>
            </a:r>
          </a:p>
        </p:txBody>
      </p:sp>
      <p:sp>
        <p:nvSpPr>
          <p:cNvPr id="2" name="">
            <a:extLst xmlns:a="http://schemas.openxmlformats.org/drawingml/2006/main">
              <a:ext uri="{FF2B5EF4-FFF2-40B4-BE49-F238E27FC236}">
                <a16:creationId xmlns:a16="http://schemas.microsoft.com/office/drawing/2014/main" id="{2F1F4276-3CC7-47A0-AAEE-D70CF4DD0F0D}"/>
              </a:ext>
            </a:extLst>
          </p:cNvPr>
          <p:cNvSpPr>
            <a:spLocks xmlns:a="http://schemas.openxmlformats.org/drawingml/2006/main" noGrp="1"/>
          </p:cNvSpPr>
          <p:nvPr/>
        </p:nvSpPr>
        <p:spPr>
          <a:xfrm xmlns:a="http://schemas.openxmlformats.org/drawingml/2006/main">
            <a:off x="609600" y="6477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2625" b="1">
                <a:solidFill>
                  <a:srgbClr val="F4F6F8"/>
                </a:solidFill>
                <a:latin typeface="DejaVu Sans"/>
                <a:ea typeface="DejaVu Sans"/>
                <a:cs typeface="DejaVu Sans"/>
              </a:defRPr>
            </a:pPr>
            <a:r>
              <a:rPr sz="2625" b="1">
                <a:solidFill>
                  <a:srgbClr val="F4F6F8"/>
                </a:solidFill>
                <a:latin typeface="DejaVu Sans"/>
                <a:ea typeface="DejaVu Sans"/>
                <a:cs typeface="DejaVu Sans"/>
              </a:rPr>
              <a:t>Mission memory is the compounding asset</a:t>
            </a:r>
          </a:p>
        </p:txBody>
      </p:sp>
      <p:sp>
        <p:nvSpPr>
          <p:cNvPr id="3" name="">
            <a:extLst xmlns:a="http://schemas.openxmlformats.org/drawingml/2006/main">
              <a:ext uri="{FF2B5EF4-FFF2-40B4-BE49-F238E27FC236}">
                <a16:creationId xmlns:a16="http://schemas.microsoft.com/office/drawing/2014/main" id="{74CA68CB-51C3-4D7A-85AB-C4BAF36E83C4}"/>
              </a:ext>
            </a:extLst>
          </p:cNvPr>
          <p:cNvSpPr>
            <a:spLocks xmlns:a="http://schemas.openxmlformats.org/drawingml/2006/main" noGrp="1"/>
          </p:cNvSpPr>
          <p:nvPr/>
        </p:nvSpPr>
        <p:spPr>
          <a:xfrm xmlns:a="http://schemas.openxmlformats.org/drawingml/2006/main">
            <a:off x="628650" y="12382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425" b="0">
                <a:solidFill>
                  <a:srgbClr val="8D99A3"/>
                </a:solidFill>
                <a:latin typeface="DejaVu Sans"/>
                <a:ea typeface="DejaVu Sans"/>
                <a:cs typeface="DejaVu Sans"/>
              </a:defRPr>
            </a:pPr>
            <a:r>
              <a:rPr sz="1425" b="0">
                <a:solidFill>
                  <a:srgbClr val="8D99A3"/>
                </a:solidFill>
                <a:latin typeface="DejaVu Sans"/>
                <a:ea typeface="DejaVu Sans"/>
                <a:cs typeface="DejaVu Sans"/>
              </a:rPr>
              <a:t>A governed knowledge graph preserves what the mission knows, assumes, decides, tests and learns across model generations.</a:t>
            </a:r>
          </a:p>
        </p:txBody>
      </p:sp>
      <p:sp>
        <p:nvSpPr>
          <p:cNvPr id="4" name="">
            <a:extLst xmlns:a="http://schemas.openxmlformats.org/drawingml/2006/main">
              <a:ext uri="{FF2B5EF4-FFF2-40B4-BE49-F238E27FC236}">
                <a16:creationId xmlns:a16="http://schemas.microsoft.com/office/drawing/2014/main" id="{ADC2DAFE-A519-4841-B338-D32EF2A133B3}"/>
              </a:ext>
            </a:extLst>
          </p:cNvPr>
          <p:cNvSpPr>
            <a:spLocks xmlns:a="http://schemas.openxmlformats.org/drawingml/2006/main" noGrp="1"/>
          </p:cNvSpPr>
          <p:nvPr/>
        </p:nvSpPr>
        <p:spPr>
          <a:xfrm xmlns:a="http://schemas.openxmlformats.org/drawingml/2006/main">
            <a:off x="609600" y="1676400"/>
            <a:ext cx="10972800" cy="0"/>
          </a:xfrm>
          <a:prstGeom xmlns:a="http://schemas.openxmlformats.org/drawingml/2006/main" prst="line">
            <a:avLst/>
          </a:prstGeom>
          <a:noFill xmlns:a="http://schemas.openxmlformats.org/drawingml/2006/main"/>
          <a:ln xmlns:a="http://schemas.openxmlformats.org/drawingml/2006/main" w="9525">
            <a:solidFill>
              <a:srgbClr val="35414B"/>
            </a:solidFill>
            <a:prstDash val="solid"/>
          </a:ln>
        </p:spPr>
      </p:sp>
      <p:sp>
        <p:nvSpPr>
          <p:cNvPr id="5" name="">
            <a:extLst xmlns:a="http://schemas.openxmlformats.org/drawingml/2006/main">
              <a:ext uri="{FF2B5EF4-FFF2-40B4-BE49-F238E27FC236}">
                <a16:creationId xmlns:a16="http://schemas.microsoft.com/office/drawing/2014/main" id="{87809445-8C8B-4F6B-923F-DD39BD4FFBB5}"/>
              </a:ext>
            </a:extLst>
          </p:cNvPr>
          <p:cNvSpPr>
            <a:spLocks xmlns:a="http://schemas.openxmlformats.org/drawingml/2006/main" noGrp="1"/>
          </p:cNvSpPr>
          <p:nvPr/>
        </p:nvSpPr>
        <p:spPr>
          <a:xfrm xmlns:a="http://schemas.openxmlformats.org/drawingml/2006/main">
            <a:off x="2457450" y="3886200"/>
            <a:ext cx="3638550" cy="0"/>
          </a:xfrm>
          <a:prstGeom xmlns:a="http://schemas.openxmlformats.org/drawingml/2006/main" prst="line">
            <a:avLst/>
          </a:prstGeom>
          <a:noFill xmlns:a="http://schemas.openxmlformats.org/drawingml/2006/main"/>
          <a:ln xmlns:a="http://schemas.openxmlformats.org/drawingml/2006/main" w="23813">
            <a:solidFill>
              <a:srgbClr val="39D7FF">
                <a:alpha val="45000"/>
              </a:srgbClr>
            </a:solidFill>
            <a:prstDash val="solid"/>
          </a:ln>
        </p:spPr>
      </p:sp>
      <p:sp>
        <p:nvSpPr>
          <p:cNvPr id="6" name="">
            <a:extLst xmlns:a="http://schemas.openxmlformats.org/drawingml/2006/main">
              <a:ext uri="{FF2B5EF4-FFF2-40B4-BE49-F238E27FC236}">
                <a16:creationId xmlns:a16="http://schemas.microsoft.com/office/drawing/2014/main" id="{068A91BC-D8FE-4BD6-A4FC-223136AB0318}"/>
              </a:ext>
            </a:extLst>
          </p:cNvPr>
          <p:cNvSpPr>
            <a:spLocks xmlns:a="http://schemas.openxmlformats.org/drawingml/2006/main" noGrp="1"/>
          </p:cNvSpPr>
          <p:nvPr/>
        </p:nvSpPr>
        <p:spPr>
          <a:xfrm xmlns:a="http://schemas.openxmlformats.org/drawingml/2006/main">
            <a:off x="2457450" y="2590800"/>
            <a:ext cx="0" cy="1295400"/>
          </a:xfrm>
          <a:prstGeom xmlns:a="http://schemas.openxmlformats.org/drawingml/2006/main" prst="line">
            <a:avLst/>
          </a:prstGeom>
          <a:noFill xmlns:a="http://schemas.openxmlformats.org/drawingml/2006/main"/>
          <a:ln xmlns:a="http://schemas.openxmlformats.org/drawingml/2006/main" w="23813">
            <a:solidFill>
              <a:srgbClr val="39D7FF">
                <a:alpha val="45000"/>
              </a:srgbClr>
            </a:solidFill>
            <a:prstDash val="solid"/>
          </a:ln>
        </p:spPr>
      </p:sp>
      <p:sp>
        <p:nvSpPr>
          <p:cNvPr id="7" name="">
            <a:extLst xmlns:a="http://schemas.openxmlformats.org/drawingml/2006/main">
              <a:ext uri="{FF2B5EF4-FFF2-40B4-BE49-F238E27FC236}">
                <a16:creationId xmlns:a16="http://schemas.microsoft.com/office/drawing/2014/main" id="{20D29714-9238-4771-9EFF-0C00443D2068}"/>
              </a:ext>
            </a:extLst>
          </p:cNvPr>
          <p:cNvSpPr>
            <a:spLocks xmlns:a="http://schemas.openxmlformats.org/drawingml/2006/main" noGrp="1"/>
          </p:cNvSpPr>
          <p:nvPr/>
        </p:nvSpPr>
        <p:spPr>
          <a:xfrm xmlns:a="http://schemas.openxmlformats.org/drawingml/2006/main">
            <a:off x="4819650" y="3886200"/>
            <a:ext cx="1276350" cy="0"/>
          </a:xfrm>
          <a:prstGeom xmlns:a="http://schemas.openxmlformats.org/drawingml/2006/main" prst="line">
            <a:avLst/>
          </a:prstGeom>
          <a:noFill xmlns:a="http://schemas.openxmlformats.org/drawingml/2006/main"/>
          <a:ln xmlns:a="http://schemas.openxmlformats.org/drawingml/2006/main" w="23813">
            <a:solidFill>
              <a:srgbClr val="FFC857">
                <a:alpha val="45000"/>
              </a:srgbClr>
            </a:solidFill>
            <a:prstDash val="solid"/>
          </a:ln>
        </p:spPr>
      </p:sp>
      <p:sp>
        <p:nvSpPr>
          <p:cNvPr id="8" name="">
            <a:extLst xmlns:a="http://schemas.openxmlformats.org/drawingml/2006/main">
              <a:ext uri="{FF2B5EF4-FFF2-40B4-BE49-F238E27FC236}">
                <a16:creationId xmlns:a16="http://schemas.microsoft.com/office/drawing/2014/main" id="{AA1694EF-DF83-4273-9489-238B5064D16C}"/>
              </a:ext>
            </a:extLst>
          </p:cNvPr>
          <p:cNvSpPr>
            <a:spLocks xmlns:a="http://schemas.openxmlformats.org/drawingml/2006/main" noGrp="1"/>
          </p:cNvSpPr>
          <p:nvPr/>
        </p:nvSpPr>
        <p:spPr>
          <a:xfrm xmlns:a="http://schemas.openxmlformats.org/drawingml/2006/main">
            <a:off x="4819650" y="2305050"/>
            <a:ext cx="0" cy="1581150"/>
          </a:xfrm>
          <a:prstGeom xmlns:a="http://schemas.openxmlformats.org/drawingml/2006/main" prst="line">
            <a:avLst/>
          </a:prstGeom>
          <a:noFill xmlns:a="http://schemas.openxmlformats.org/drawingml/2006/main"/>
          <a:ln xmlns:a="http://schemas.openxmlformats.org/drawingml/2006/main" w="23813">
            <a:solidFill>
              <a:srgbClr val="FFC857">
                <a:alpha val="45000"/>
              </a:srgbClr>
            </a:solidFill>
            <a:prstDash val="solid"/>
          </a:ln>
        </p:spPr>
      </p:sp>
      <p:sp>
        <p:nvSpPr>
          <p:cNvPr id="9" name="">
            <a:extLst xmlns:a="http://schemas.openxmlformats.org/drawingml/2006/main">
              <a:ext uri="{FF2B5EF4-FFF2-40B4-BE49-F238E27FC236}">
                <a16:creationId xmlns:a16="http://schemas.microsoft.com/office/drawing/2014/main" id="{160B0B57-7AF0-432A-89AC-27D0F50154A9}"/>
              </a:ext>
            </a:extLst>
          </p:cNvPr>
          <p:cNvSpPr>
            <a:spLocks xmlns:a="http://schemas.openxmlformats.org/drawingml/2006/main" noGrp="1"/>
          </p:cNvSpPr>
          <p:nvPr/>
        </p:nvSpPr>
        <p:spPr>
          <a:xfrm xmlns:a="http://schemas.openxmlformats.org/drawingml/2006/main">
            <a:off x="6096000" y="3886200"/>
            <a:ext cx="2171700" cy="0"/>
          </a:xfrm>
          <a:prstGeom xmlns:a="http://schemas.openxmlformats.org/drawingml/2006/main" prst="line">
            <a:avLst/>
          </a:prstGeom>
          <a:noFill xmlns:a="http://schemas.openxmlformats.org/drawingml/2006/main"/>
          <a:ln xmlns:a="http://schemas.openxmlformats.org/drawingml/2006/main" w="23813">
            <a:solidFill>
              <a:srgbClr val="39D7FF">
                <a:alpha val="45000"/>
              </a:srgbClr>
            </a:solidFill>
            <a:prstDash val="solid"/>
          </a:ln>
        </p:spPr>
      </p:sp>
      <p:sp>
        <p:nvSpPr>
          <p:cNvPr id="10" name="">
            <a:extLst xmlns:a="http://schemas.openxmlformats.org/drawingml/2006/main">
              <a:ext uri="{FF2B5EF4-FFF2-40B4-BE49-F238E27FC236}">
                <a16:creationId xmlns:a16="http://schemas.microsoft.com/office/drawing/2014/main" id="{D7060877-ED9C-4A93-B570-F6FD4F1CCADF}"/>
              </a:ext>
            </a:extLst>
          </p:cNvPr>
          <p:cNvSpPr>
            <a:spLocks xmlns:a="http://schemas.openxmlformats.org/drawingml/2006/main" noGrp="1"/>
          </p:cNvSpPr>
          <p:nvPr/>
        </p:nvSpPr>
        <p:spPr>
          <a:xfrm xmlns:a="http://schemas.openxmlformats.org/drawingml/2006/main">
            <a:off x="8267700" y="2305050"/>
            <a:ext cx="0" cy="1581150"/>
          </a:xfrm>
          <a:prstGeom xmlns:a="http://schemas.openxmlformats.org/drawingml/2006/main" prst="line">
            <a:avLst/>
          </a:prstGeom>
          <a:noFill xmlns:a="http://schemas.openxmlformats.org/drawingml/2006/main"/>
          <a:ln xmlns:a="http://schemas.openxmlformats.org/drawingml/2006/main" w="23813">
            <a:solidFill>
              <a:srgbClr val="39D7FF">
                <a:alpha val="45000"/>
              </a:srgbClr>
            </a:solidFill>
            <a:prstDash val="solid"/>
          </a:ln>
        </p:spPr>
      </p:sp>
      <p:sp>
        <p:nvSpPr>
          <p:cNvPr id="11" name="">
            <a:extLst xmlns:a="http://schemas.openxmlformats.org/drawingml/2006/main">
              <a:ext uri="{FF2B5EF4-FFF2-40B4-BE49-F238E27FC236}">
                <a16:creationId xmlns:a16="http://schemas.microsoft.com/office/drawing/2014/main" id="{B58ABFC2-4D84-4209-B9F2-E72619FE390E}"/>
              </a:ext>
            </a:extLst>
          </p:cNvPr>
          <p:cNvSpPr>
            <a:spLocks xmlns:a="http://schemas.openxmlformats.org/drawingml/2006/main" noGrp="1"/>
          </p:cNvSpPr>
          <p:nvPr/>
        </p:nvSpPr>
        <p:spPr>
          <a:xfrm xmlns:a="http://schemas.openxmlformats.org/drawingml/2006/main">
            <a:off x="6096000" y="3886200"/>
            <a:ext cx="4324350" cy="0"/>
          </a:xfrm>
          <a:prstGeom xmlns:a="http://schemas.openxmlformats.org/drawingml/2006/main" prst="line">
            <a:avLst/>
          </a:prstGeom>
          <a:noFill xmlns:a="http://schemas.openxmlformats.org/drawingml/2006/main"/>
          <a:ln xmlns:a="http://schemas.openxmlformats.org/drawingml/2006/main" w="23813">
            <a:solidFill>
              <a:srgbClr val="F26B38">
                <a:alpha val="45000"/>
              </a:srgbClr>
            </a:solidFill>
            <a:prstDash val="solid"/>
          </a:ln>
        </p:spPr>
      </p:sp>
      <p:sp>
        <p:nvSpPr>
          <p:cNvPr id="12" name="">
            <a:extLst xmlns:a="http://schemas.openxmlformats.org/drawingml/2006/main">
              <a:ext uri="{FF2B5EF4-FFF2-40B4-BE49-F238E27FC236}">
                <a16:creationId xmlns:a16="http://schemas.microsoft.com/office/drawing/2014/main" id="{2D5BE966-CE89-42BB-8381-47B40188F3AD}"/>
              </a:ext>
            </a:extLst>
          </p:cNvPr>
          <p:cNvSpPr>
            <a:spLocks xmlns:a="http://schemas.openxmlformats.org/drawingml/2006/main" noGrp="1"/>
          </p:cNvSpPr>
          <p:nvPr/>
        </p:nvSpPr>
        <p:spPr>
          <a:xfrm xmlns:a="http://schemas.openxmlformats.org/drawingml/2006/main">
            <a:off x="10420350" y="2724150"/>
            <a:ext cx="0" cy="1162050"/>
          </a:xfrm>
          <a:prstGeom xmlns:a="http://schemas.openxmlformats.org/drawingml/2006/main" prst="line">
            <a:avLst/>
          </a:prstGeom>
          <a:noFill xmlns:a="http://schemas.openxmlformats.org/drawingml/2006/main"/>
          <a:ln xmlns:a="http://schemas.openxmlformats.org/drawingml/2006/main" w="23813">
            <a:solidFill>
              <a:srgbClr val="F26B38">
                <a:alpha val="45000"/>
              </a:srgbClr>
            </a:solidFill>
            <a:prstDash val="solid"/>
          </a:ln>
        </p:spPr>
      </p:sp>
      <p:sp>
        <p:nvSpPr>
          <p:cNvPr id="13" name="">
            <a:extLst xmlns:a="http://schemas.openxmlformats.org/drawingml/2006/main">
              <a:ext uri="{FF2B5EF4-FFF2-40B4-BE49-F238E27FC236}">
                <a16:creationId xmlns:a16="http://schemas.microsoft.com/office/drawing/2014/main" id="{4CCF845C-768B-42E4-B457-73E321A826B2}"/>
              </a:ext>
            </a:extLst>
          </p:cNvPr>
          <p:cNvSpPr>
            <a:spLocks xmlns:a="http://schemas.openxmlformats.org/drawingml/2006/main" noGrp="1"/>
          </p:cNvSpPr>
          <p:nvPr/>
        </p:nvSpPr>
        <p:spPr>
          <a:xfrm xmlns:a="http://schemas.openxmlformats.org/drawingml/2006/main">
            <a:off x="6096000" y="3886200"/>
            <a:ext cx="4552950" cy="0"/>
          </a:xfrm>
          <a:prstGeom xmlns:a="http://schemas.openxmlformats.org/drawingml/2006/main" prst="line">
            <a:avLst/>
          </a:prstGeom>
          <a:noFill xmlns:a="http://schemas.openxmlformats.org/drawingml/2006/main"/>
          <a:ln xmlns:a="http://schemas.openxmlformats.org/drawingml/2006/main" w="23813">
            <a:solidFill>
              <a:srgbClr val="F26B38">
                <a:alpha val="45000"/>
              </a:srgbClr>
            </a:solidFill>
            <a:prstDash val="solid"/>
          </a:ln>
        </p:spPr>
      </p:sp>
      <p:sp>
        <p:nvSpPr>
          <p:cNvPr id="14" name="">
            <a:extLst xmlns:a="http://schemas.openxmlformats.org/drawingml/2006/main">
              <a:ext uri="{FF2B5EF4-FFF2-40B4-BE49-F238E27FC236}">
                <a16:creationId xmlns:a16="http://schemas.microsoft.com/office/drawing/2014/main" id="{1A84AAB3-DC11-4473-B4B7-BB6DB42B9E2A}"/>
              </a:ext>
            </a:extLst>
          </p:cNvPr>
          <p:cNvSpPr>
            <a:spLocks xmlns:a="http://schemas.openxmlformats.org/drawingml/2006/main" noGrp="1"/>
          </p:cNvSpPr>
          <p:nvPr/>
        </p:nvSpPr>
        <p:spPr>
          <a:xfrm xmlns:a="http://schemas.openxmlformats.org/drawingml/2006/main">
            <a:off x="10648950" y="3886200"/>
            <a:ext cx="0" cy="1009650"/>
          </a:xfrm>
          <a:prstGeom xmlns:a="http://schemas.openxmlformats.org/drawingml/2006/main" prst="line">
            <a:avLst/>
          </a:prstGeom>
          <a:noFill xmlns:a="http://schemas.openxmlformats.org/drawingml/2006/main"/>
          <a:ln xmlns:a="http://schemas.openxmlformats.org/drawingml/2006/main" w="23813">
            <a:solidFill>
              <a:srgbClr val="F26B38">
                <a:alpha val="45000"/>
              </a:srgbClr>
            </a:solidFill>
            <a:prstDash val="solid"/>
          </a:ln>
        </p:spPr>
      </p:sp>
      <p:sp>
        <p:nvSpPr>
          <p:cNvPr id="15" name="">
            <a:extLst xmlns:a="http://schemas.openxmlformats.org/drawingml/2006/main">
              <a:ext uri="{FF2B5EF4-FFF2-40B4-BE49-F238E27FC236}">
                <a16:creationId xmlns:a16="http://schemas.microsoft.com/office/drawing/2014/main" id="{40C85136-871B-41A6-99F8-A22AC7E4629C}"/>
              </a:ext>
            </a:extLst>
          </p:cNvPr>
          <p:cNvSpPr>
            <a:spLocks xmlns:a="http://schemas.openxmlformats.org/drawingml/2006/main" noGrp="1"/>
          </p:cNvSpPr>
          <p:nvPr/>
        </p:nvSpPr>
        <p:spPr>
          <a:xfrm xmlns:a="http://schemas.openxmlformats.org/drawingml/2006/main">
            <a:off x="6096000" y="3886200"/>
            <a:ext cx="2305050" cy="0"/>
          </a:xfrm>
          <a:prstGeom xmlns:a="http://schemas.openxmlformats.org/drawingml/2006/main" prst="line">
            <a:avLst/>
          </a:prstGeom>
          <a:noFill xmlns:a="http://schemas.openxmlformats.org/drawingml/2006/main"/>
          <a:ln xmlns:a="http://schemas.openxmlformats.org/drawingml/2006/main" w="23813">
            <a:solidFill>
              <a:srgbClr val="62D6A7">
                <a:alpha val="45000"/>
              </a:srgbClr>
            </a:solidFill>
            <a:prstDash val="solid"/>
          </a:ln>
        </p:spPr>
      </p:sp>
      <p:sp>
        <p:nvSpPr>
          <p:cNvPr id="16" name="">
            <a:extLst xmlns:a="http://schemas.openxmlformats.org/drawingml/2006/main">
              <a:ext uri="{FF2B5EF4-FFF2-40B4-BE49-F238E27FC236}">
                <a16:creationId xmlns:a16="http://schemas.microsoft.com/office/drawing/2014/main" id="{09CD9544-2A25-4D32-BB50-10977B315F9E}"/>
              </a:ext>
            </a:extLst>
          </p:cNvPr>
          <p:cNvSpPr>
            <a:spLocks xmlns:a="http://schemas.openxmlformats.org/drawingml/2006/main" noGrp="1"/>
          </p:cNvSpPr>
          <p:nvPr/>
        </p:nvSpPr>
        <p:spPr>
          <a:xfrm xmlns:a="http://schemas.openxmlformats.org/drawingml/2006/main">
            <a:off x="8401050" y="3886200"/>
            <a:ext cx="0" cy="1657350"/>
          </a:xfrm>
          <a:prstGeom xmlns:a="http://schemas.openxmlformats.org/drawingml/2006/main" prst="line">
            <a:avLst/>
          </a:prstGeom>
          <a:noFill xmlns:a="http://schemas.openxmlformats.org/drawingml/2006/main"/>
          <a:ln xmlns:a="http://schemas.openxmlformats.org/drawingml/2006/main" w="23813">
            <a:solidFill>
              <a:srgbClr val="62D6A7">
                <a:alpha val="45000"/>
              </a:srgbClr>
            </a:solidFill>
            <a:prstDash val="solid"/>
          </a:ln>
        </p:spPr>
      </p:sp>
      <p:sp>
        <p:nvSpPr>
          <p:cNvPr id="17" name="">
            <a:extLst xmlns:a="http://schemas.openxmlformats.org/drawingml/2006/main">
              <a:ext uri="{FF2B5EF4-FFF2-40B4-BE49-F238E27FC236}">
                <a16:creationId xmlns:a16="http://schemas.microsoft.com/office/drawing/2014/main" id="{B66E02DB-C4B1-43AC-963D-78D9AFE10473}"/>
              </a:ext>
            </a:extLst>
          </p:cNvPr>
          <p:cNvSpPr>
            <a:spLocks xmlns:a="http://schemas.openxmlformats.org/drawingml/2006/main" noGrp="1"/>
          </p:cNvSpPr>
          <p:nvPr/>
        </p:nvSpPr>
        <p:spPr>
          <a:xfrm xmlns:a="http://schemas.openxmlformats.org/drawingml/2006/main">
            <a:off x="4838700" y="3886200"/>
            <a:ext cx="1257300" cy="0"/>
          </a:xfrm>
          <a:prstGeom xmlns:a="http://schemas.openxmlformats.org/drawingml/2006/main" prst="line">
            <a:avLst/>
          </a:prstGeom>
          <a:noFill xmlns:a="http://schemas.openxmlformats.org/drawingml/2006/main"/>
          <a:ln xmlns:a="http://schemas.openxmlformats.org/drawingml/2006/main" w="23813">
            <a:solidFill>
              <a:srgbClr val="62D6A7">
                <a:alpha val="45000"/>
              </a:srgbClr>
            </a:solidFill>
            <a:prstDash val="solid"/>
          </a:ln>
        </p:spPr>
      </p:sp>
      <p:sp>
        <p:nvSpPr>
          <p:cNvPr id="18" name="">
            <a:extLst xmlns:a="http://schemas.openxmlformats.org/drawingml/2006/main">
              <a:ext uri="{FF2B5EF4-FFF2-40B4-BE49-F238E27FC236}">
                <a16:creationId xmlns:a16="http://schemas.microsoft.com/office/drawing/2014/main" id="{10E439DA-EA2D-42B9-A756-298B6826C5DC}"/>
              </a:ext>
            </a:extLst>
          </p:cNvPr>
          <p:cNvSpPr>
            <a:spLocks xmlns:a="http://schemas.openxmlformats.org/drawingml/2006/main" noGrp="1"/>
          </p:cNvSpPr>
          <p:nvPr/>
        </p:nvSpPr>
        <p:spPr>
          <a:xfrm xmlns:a="http://schemas.openxmlformats.org/drawingml/2006/main">
            <a:off x="4838700" y="3886200"/>
            <a:ext cx="0" cy="1657350"/>
          </a:xfrm>
          <a:prstGeom xmlns:a="http://schemas.openxmlformats.org/drawingml/2006/main" prst="line">
            <a:avLst/>
          </a:prstGeom>
          <a:noFill xmlns:a="http://schemas.openxmlformats.org/drawingml/2006/main"/>
          <a:ln xmlns:a="http://schemas.openxmlformats.org/drawingml/2006/main" w="23813">
            <a:solidFill>
              <a:srgbClr val="62D6A7">
                <a:alpha val="45000"/>
              </a:srgbClr>
            </a:solidFill>
            <a:prstDash val="solid"/>
          </a:ln>
        </p:spPr>
      </p:sp>
      <p:sp>
        <p:nvSpPr>
          <p:cNvPr id="19" name="">
            <a:extLst xmlns:a="http://schemas.openxmlformats.org/drawingml/2006/main">
              <a:ext uri="{FF2B5EF4-FFF2-40B4-BE49-F238E27FC236}">
                <a16:creationId xmlns:a16="http://schemas.microsoft.com/office/drawing/2014/main" id="{03FC4B01-88D2-4716-A57B-4C47F3172BCA}"/>
              </a:ext>
            </a:extLst>
          </p:cNvPr>
          <p:cNvSpPr>
            <a:spLocks xmlns:a="http://schemas.openxmlformats.org/drawingml/2006/main" noGrp="1"/>
          </p:cNvSpPr>
          <p:nvPr/>
        </p:nvSpPr>
        <p:spPr>
          <a:xfrm xmlns:a="http://schemas.openxmlformats.org/drawingml/2006/main">
            <a:off x="2476500" y="3886200"/>
            <a:ext cx="3619500" cy="0"/>
          </a:xfrm>
          <a:prstGeom xmlns:a="http://schemas.openxmlformats.org/drawingml/2006/main" prst="line">
            <a:avLst/>
          </a:prstGeom>
          <a:noFill xmlns:a="http://schemas.openxmlformats.org/drawingml/2006/main"/>
          <a:ln xmlns:a="http://schemas.openxmlformats.org/drawingml/2006/main" w="23813">
            <a:solidFill>
              <a:srgbClr val="FF6262">
                <a:alpha val="45000"/>
              </a:srgbClr>
            </a:solidFill>
            <a:prstDash val="solid"/>
          </a:ln>
        </p:spPr>
      </p:sp>
      <p:sp>
        <p:nvSpPr>
          <p:cNvPr id="20" name="">
            <a:extLst xmlns:a="http://schemas.openxmlformats.org/drawingml/2006/main">
              <a:ext uri="{FF2B5EF4-FFF2-40B4-BE49-F238E27FC236}">
                <a16:creationId xmlns:a16="http://schemas.microsoft.com/office/drawing/2014/main" id="{43CBFDDA-433E-4FDD-A1C6-C27C96D2D5C5}"/>
              </a:ext>
            </a:extLst>
          </p:cNvPr>
          <p:cNvSpPr>
            <a:spLocks xmlns:a="http://schemas.openxmlformats.org/drawingml/2006/main" noGrp="1"/>
          </p:cNvSpPr>
          <p:nvPr/>
        </p:nvSpPr>
        <p:spPr>
          <a:xfrm xmlns:a="http://schemas.openxmlformats.org/drawingml/2006/main">
            <a:off x="2476500" y="3886200"/>
            <a:ext cx="0" cy="914400"/>
          </a:xfrm>
          <a:prstGeom xmlns:a="http://schemas.openxmlformats.org/drawingml/2006/main" prst="line">
            <a:avLst/>
          </a:prstGeom>
          <a:noFill xmlns:a="http://schemas.openxmlformats.org/drawingml/2006/main"/>
          <a:ln xmlns:a="http://schemas.openxmlformats.org/drawingml/2006/main" w="23813">
            <a:solidFill>
              <a:srgbClr val="FF6262">
                <a:alpha val="45000"/>
              </a:srgbClr>
            </a:solidFill>
            <a:prstDash val="solid"/>
          </a:ln>
        </p:spPr>
      </p:sp>
      <p:sp>
        <p:nvSpPr>
          <p:cNvPr id="21" name="">
            <a:extLst xmlns:a="http://schemas.openxmlformats.org/drawingml/2006/main">
              <a:ext uri="{FF2B5EF4-FFF2-40B4-BE49-F238E27FC236}">
                <a16:creationId xmlns:a16="http://schemas.microsoft.com/office/drawing/2014/main" id="{0FF2C372-FD65-4D85-A6D1-4EF1BEB71890}"/>
              </a:ext>
            </a:extLst>
          </p:cNvPr>
          <p:cNvSpPr>
            <a:spLocks xmlns:a="http://schemas.openxmlformats.org/drawingml/2006/main" noGrp="1"/>
          </p:cNvSpPr>
          <p:nvPr/>
        </p:nvSpPr>
        <p:spPr>
          <a:xfrm xmlns:a="http://schemas.openxmlformats.org/drawingml/2006/main">
            <a:off x="4724400" y="2895600"/>
            <a:ext cx="2743200" cy="1981200"/>
          </a:xfrm>
          <a:prstGeom xmlns:a="http://schemas.openxmlformats.org/drawingml/2006/main" prst="ellipse">
            <a:avLst/>
          </a:prstGeom>
          <a:gradFill xmlns:a="http://schemas.openxmlformats.org/drawingml/2006/main">
            <a:gsLst>
              <a:gs pos="0">
                <a:srgbClr val="1B3038"/>
              </a:gs>
              <a:gs pos="100000">
                <a:srgbClr val="0B1014"/>
              </a:gs>
            </a:gsLst>
            <a:path path="shape"/>
          </a:gradFill>
          <a:ln xmlns:a="http://schemas.openxmlformats.org/drawingml/2006/main" w="19050">
            <a:solidFill>
              <a:srgbClr val="39D7FF"/>
            </a:solidFill>
            <a:prstDash val="solid"/>
          </a:ln>
        </p:spPr>
      </p:sp>
      <p:sp>
        <p:nvSpPr>
          <p:cNvPr id="22" name="">
            <a:extLst xmlns:a="http://schemas.openxmlformats.org/drawingml/2006/main">
              <a:ext uri="{FF2B5EF4-FFF2-40B4-BE49-F238E27FC236}">
                <a16:creationId xmlns:a16="http://schemas.microsoft.com/office/drawing/2014/main" id="{02B5753F-AFD7-4D9D-8813-E3F09B0DA89C}"/>
              </a:ext>
            </a:extLst>
          </p:cNvPr>
          <p:cNvSpPr>
            <a:spLocks xmlns:a="http://schemas.openxmlformats.org/drawingml/2006/main" noGrp="1"/>
          </p:cNvSpPr>
          <p:nvPr/>
        </p:nvSpPr>
        <p:spPr>
          <a:xfrm xmlns:a="http://schemas.openxmlformats.org/drawingml/2006/main">
            <a:off x="4972050" y="3429000"/>
            <a:ext cx="22479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0000"/>
              </a:lnSpc>
              <a:buNone/>
              <a:defRPr sz="2025" b="1">
                <a:solidFill>
                  <a:srgbClr val="F4F6F8"/>
                </a:solidFill>
                <a:latin typeface="DejaVu Sans"/>
                <a:ea typeface="DejaVu Sans"/>
                <a:cs typeface="DejaVu Sans"/>
              </a:defRPr>
            </a:pPr>
            <a:r>
              <a:rPr sz="2025" b="1">
                <a:solidFill>
                  <a:srgbClr val="F4F6F8"/>
                </a:solidFill>
                <a:latin typeface="DejaVu Sans"/>
                <a:ea typeface="DejaVu Sans"/>
                <a:cs typeface="DejaVu Sans"/>
              </a:rPr>
              <a:t>GOVERNED</a:t>
            </a:r>
          </a:p>
          <a:p xmlns:a="http://schemas.openxmlformats.org/drawingml/2006/main">
            <a:pPr algn="ctr">
              <a:lnSpc>
                <a:spcPct val="90000"/>
              </a:lnSpc>
              <a:buNone/>
              <a:defRPr sz="2025" b="1">
                <a:solidFill>
                  <a:srgbClr val="F4F6F8"/>
                </a:solidFill>
                <a:latin typeface="DejaVu Sans"/>
                <a:ea typeface="DejaVu Sans"/>
                <a:cs typeface="DejaVu Sans"/>
              </a:defRPr>
            </a:pPr>
            <a:r>
              <a:rPr sz="2025" b="1">
                <a:solidFill>
                  <a:srgbClr val="F4F6F8"/>
                </a:solidFill>
                <a:latin typeface="DejaVu Sans"/>
                <a:ea typeface="DejaVu Sans"/>
                <a:cs typeface="DejaVu Sans"/>
              </a:rPr>
              <a:t>MISSION GRAPH</a:t>
            </a:r>
          </a:p>
        </p:txBody>
      </p:sp>
      <p:sp>
        <p:nvSpPr>
          <p:cNvPr id="23" name="">
            <a:extLst xmlns:a="http://schemas.openxmlformats.org/drawingml/2006/main">
              <a:ext uri="{FF2B5EF4-FFF2-40B4-BE49-F238E27FC236}">
                <a16:creationId xmlns:a16="http://schemas.microsoft.com/office/drawing/2014/main" id="{1D87122B-6481-4A29-A5D8-6292F5B1DD94}"/>
              </a:ext>
            </a:extLst>
          </p:cNvPr>
          <p:cNvSpPr>
            <a:spLocks xmlns:a="http://schemas.openxmlformats.org/drawingml/2006/main" noGrp="1"/>
          </p:cNvSpPr>
          <p:nvPr/>
        </p:nvSpPr>
        <p:spPr>
          <a:xfrm xmlns:a="http://schemas.openxmlformats.org/drawingml/2006/main">
            <a:off x="1638300" y="2266950"/>
            <a:ext cx="1638300" cy="647700"/>
          </a:xfrm>
          <a:prstGeom xmlns:a="http://schemas.openxmlformats.org/drawingml/2006/main" prst="roundRect">
            <a:avLst>
              <a:gd name="adj" fmla="val 23529"/>
            </a:avLst>
          </a:prstGeom>
          <a:solidFill xmlns:a="http://schemas.openxmlformats.org/drawingml/2006/main">
            <a:srgbClr val="11171C"/>
          </a:solidFill>
          <a:ln xmlns:a="http://schemas.openxmlformats.org/drawingml/2006/main" w="14288">
            <a:solidFill>
              <a:srgbClr val="39D7FF"/>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125" b="1">
                <a:solidFill>
                  <a:srgbClr val="39D7FF"/>
                </a:solidFill>
                <a:latin typeface="DejaVu Sans Mono"/>
                <a:ea typeface="DejaVu Sans Mono"/>
                <a:cs typeface="DejaVu Sans Mono"/>
              </a:defRPr>
            </a:pPr>
            <a:r>
              <a:rPr sz="1125" b="1">
                <a:solidFill>
                  <a:srgbClr val="39D7FF"/>
                </a:solidFill>
                <a:latin typeface="DejaVu Sans Mono"/>
                <a:ea typeface="DejaVu Sans Mono"/>
                <a:cs typeface="DejaVu Sans Mono"/>
              </a:rPr>
              <a:t>EVIDENCE</a:t>
            </a:r>
          </a:p>
        </p:txBody>
      </p:sp>
      <p:sp>
        <p:nvSpPr>
          <p:cNvPr id="24" name="">
            <a:extLst xmlns:a="http://schemas.openxmlformats.org/drawingml/2006/main">
              <a:ext uri="{FF2B5EF4-FFF2-40B4-BE49-F238E27FC236}">
                <a16:creationId xmlns:a16="http://schemas.microsoft.com/office/drawing/2014/main" id="{171A8197-B61A-4B70-9B51-3804F8E96077}"/>
              </a:ext>
            </a:extLst>
          </p:cNvPr>
          <p:cNvSpPr>
            <a:spLocks xmlns:a="http://schemas.openxmlformats.org/drawingml/2006/main" noGrp="1"/>
          </p:cNvSpPr>
          <p:nvPr/>
        </p:nvSpPr>
        <p:spPr>
          <a:xfrm xmlns:a="http://schemas.openxmlformats.org/drawingml/2006/main">
            <a:off x="4000500" y="1981200"/>
            <a:ext cx="1638300" cy="647700"/>
          </a:xfrm>
          <a:prstGeom xmlns:a="http://schemas.openxmlformats.org/drawingml/2006/main" prst="roundRect">
            <a:avLst>
              <a:gd name="adj" fmla="val 23529"/>
            </a:avLst>
          </a:prstGeom>
          <a:solidFill xmlns:a="http://schemas.openxmlformats.org/drawingml/2006/main">
            <a:srgbClr val="11171C"/>
          </a:solidFill>
          <a:ln xmlns:a="http://schemas.openxmlformats.org/drawingml/2006/main" w="14288">
            <a:solidFill>
              <a:srgbClr val="FFC857"/>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125" b="1">
                <a:solidFill>
                  <a:srgbClr val="FFC857"/>
                </a:solidFill>
                <a:latin typeface="DejaVu Sans Mono"/>
                <a:ea typeface="DejaVu Sans Mono"/>
                <a:cs typeface="DejaVu Sans Mono"/>
              </a:defRPr>
            </a:pPr>
            <a:r>
              <a:rPr sz="1125" b="1">
                <a:solidFill>
                  <a:srgbClr val="FFC857"/>
                </a:solidFill>
                <a:latin typeface="DejaVu Sans Mono"/>
                <a:ea typeface="DejaVu Sans Mono"/>
                <a:cs typeface="DejaVu Sans Mono"/>
              </a:rPr>
              <a:t>ASSUMPTIONS</a:t>
            </a:r>
          </a:p>
        </p:txBody>
      </p:sp>
      <p:sp>
        <p:nvSpPr>
          <p:cNvPr id="25" name="">
            <a:extLst xmlns:a="http://schemas.openxmlformats.org/drawingml/2006/main">
              <a:ext uri="{FF2B5EF4-FFF2-40B4-BE49-F238E27FC236}">
                <a16:creationId xmlns:a16="http://schemas.microsoft.com/office/drawing/2014/main" id="{2121FDAE-B6D0-4849-BF58-96A68FDB686A}"/>
              </a:ext>
            </a:extLst>
          </p:cNvPr>
          <p:cNvSpPr>
            <a:spLocks xmlns:a="http://schemas.openxmlformats.org/drawingml/2006/main" noGrp="1"/>
          </p:cNvSpPr>
          <p:nvPr/>
        </p:nvSpPr>
        <p:spPr>
          <a:xfrm xmlns:a="http://schemas.openxmlformats.org/drawingml/2006/main">
            <a:off x="7448550" y="1981200"/>
            <a:ext cx="1638300" cy="647700"/>
          </a:xfrm>
          <a:prstGeom xmlns:a="http://schemas.openxmlformats.org/drawingml/2006/main" prst="roundRect">
            <a:avLst>
              <a:gd name="adj" fmla="val 23529"/>
            </a:avLst>
          </a:prstGeom>
          <a:solidFill xmlns:a="http://schemas.openxmlformats.org/drawingml/2006/main">
            <a:srgbClr val="11171C"/>
          </a:solidFill>
          <a:ln xmlns:a="http://schemas.openxmlformats.org/drawingml/2006/main" w="14288">
            <a:solidFill>
              <a:srgbClr val="39D7FF"/>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125" b="1">
                <a:solidFill>
                  <a:srgbClr val="39D7FF"/>
                </a:solidFill>
                <a:latin typeface="DejaVu Sans Mono"/>
                <a:ea typeface="DejaVu Sans Mono"/>
                <a:cs typeface="DejaVu Sans Mono"/>
              </a:defRPr>
            </a:pPr>
            <a:r>
              <a:rPr sz="1125" b="1">
                <a:solidFill>
                  <a:srgbClr val="39D7FF"/>
                </a:solidFill>
                <a:latin typeface="DejaVu Sans Mono"/>
                <a:ea typeface="DejaVu Sans Mono"/>
                <a:cs typeface="DejaVu Sans Mono"/>
              </a:rPr>
              <a:t>PARAMETERS</a:t>
            </a:r>
          </a:p>
        </p:txBody>
      </p:sp>
      <p:sp>
        <p:nvSpPr>
          <p:cNvPr id="26" name="">
            <a:extLst xmlns:a="http://schemas.openxmlformats.org/drawingml/2006/main">
              <a:ext uri="{FF2B5EF4-FFF2-40B4-BE49-F238E27FC236}">
                <a16:creationId xmlns:a16="http://schemas.microsoft.com/office/drawing/2014/main" id="{9EB7F3F8-6816-49E0-9E73-3EF528F40744}"/>
              </a:ext>
            </a:extLst>
          </p:cNvPr>
          <p:cNvSpPr>
            <a:spLocks xmlns:a="http://schemas.openxmlformats.org/drawingml/2006/main" noGrp="1"/>
          </p:cNvSpPr>
          <p:nvPr/>
        </p:nvSpPr>
        <p:spPr>
          <a:xfrm xmlns:a="http://schemas.openxmlformats.org/drawingml/2006/main">
            <a:off x="9601200" y="2400300"/>
            <a:ext cx="1638300" cy="647700"/>
          </a:xfrm>
          <a:prstGeom xmlns:a="http://schemas.openxmlformats.org/drawingml/2006/main" prst="roundRect">
            <a:avLst>
              <a:gd name="adj" fmla="val 23529"/>
            </a:avLst>
          </a:prstGeom>
          <a:solidFill xmlns:a="http://schemas.openxmlformats.org/drawingml/2006/main">
            <a:srgbClr val="11171C"/>
          </a:solidFill>
          <a:ln xmlns:a="http://schemas.openxmlformats.org/drawingml/2006/main" w="14288">
            <a:solidFill>
              <a:srgbClr val="F26B38"/>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125" b="1">
                <a:solidFill>
                  <a:srgbClr val="F26B38"/>
                </a:solidFill>
                <a:latin typeface="DejaVu Sans Mono"/>
                <a:ea typeface="DejaVu Sans Mono"/>
                <a:cs typeface="DejaVu Sans Mono"/>
              </a:defRPr>
            </a:pPr>
            <a:r>
              <a:rPr sz="1125" b="1">
                <a:solidFill>
                  <a:srgbClr val="F26B38"/>
                </a:solidFill>
                <a:latin typeface="DejaVu Sans Mono"/>
                <a:ea typeface="DejaVu Sans Mono"/>
                <a:cs typeface="DejaVu Sans Mono"/>
              </a:rPr>
              <a:t>REQUIREMENTS</a:t>
            </a:r>
          </a:p>
        </p:txBody>
      </p:sp>
      <p:sp>
        <p:nvSpPr>
          <p:cNvPr id="27" name="">
            <a:extLst xmlns:a="http://schemas.openxmlformats.org/drawingml/2006/main">
              <a:ext uri="{FF2B5EF4-FFF2-40B4-BE49-F238E27FC236}">
                <a16:creationId xmlns:a16="http://schemas.microsoft.com/office/drawing/2014/main" id="{A7E712CD-40D2-4D8D-9812-1967E5631992}"/>
              </a:ext>
            </a:extLst>
          </p:cNvPr>
          <p:cNvSpPr>
            <a:spLocks xmlns:a="http://schemas.openxmlformats.org/drawingml/2006/main" noGrp="1"/>
          </p:cNvSpPr>
          <p:nvPr/>
        </p:nvSpPr>
        <p:spPr>
          <a:xfrm xmlns:a="http://schemas.openxmlformats.org/drawingml/2006/main">
            <a:off x="9829800" y="4572000"/>
            <a:ext cx="1638300" cy="647700"/>
          </a:xfrm>
          <a:prstGeom xmlns:a="http://schemas.openxmlformats.org/drawingml/2006/main" prst="roundRect">
            <a:avLst>
              <a:gd name="adj" fmla="val 23529"/>
            </a:avLst>
          </a:prstGeom>
          <a:solidFill xmlns:a="http://schemas.openxmlformats.org/drawingml/2006/main">
            <a:srgbClr val="11171C"/>
          </a:solidFill>
          <a:ln xmlns:a="http://schemas.openxmlformats.org/drawingml/2006/main" w="14288">
            <a:solidFill>
              <a:srgbClr val="F26B38"/>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125" b="1">
                <a:solidFill>
                  <a:srgbClr val="F26B38"/>
                </a:solidFill>
                <a:latin typeface="DejaVu Sans Mono"/>
                <a:ea typeface="DejaVu Sans Mono"/>
                <a:cs typeface="DejaVu Sans Mono"/>
              </a:defRPr>
            </a:pPr>
            <a:r>
              <a:rPr sz="1125" b="1">
                <a:solidFill>
                  <a:srgbClr val="F26B38"/>
                </a:solidFill>
                <a:latin typeface="DejaVu Sans Mono"/>
                <a:ea typeface="DejaVu Sans Mono"/>
                <a:cs typeface="DejaVu Sans Mono"/>
              </a:rPr>
              <a:t>DECISIONS</a:t>
            </a:r>
          </a:p>
        </p:txBody>
      </p:sp>
      <p:sp>
        <p:nvSpPr>
          <p:cNvPr id="28" name="">
            <a:extLst xmlns:a="http://schemas.openxmlformats.org/drawingml/2006/main">
              <a:ext uri="{FF2B5EF4-FFF2-40B4-BE49-F238E27FC236}">
                <a16:creationId xmlns:a16="http://schemas.microsoft.com/office/drawing/2014/main" id="{ACD7B4CF-F974-40C4-A532-C228D93C6793}"/>
              </a:ext>
            </a:extLst>
          </p:cNvPr>
          <p:cNvSpPr>
            <a:spLocks xmlns:a="http://schemas.openxmlformats.org/drawingml/2006/main" noGrp="1"/>
          </p:cNvSpPr>
          <p:nvPr/>
        </p:nvSpPr>
        <p:spPr>
          <a:xfrm xmlns:a="http://schemas.openxmlformats.org/drawingml/2006/main">
            <a:off x="7581900" y="5219700"/>
            <a:ext cx="1638300" cy="647700"/>
          </a:xfrm>
          <a:prstGeom xmlns:a="http://schemas.openxmlformats.org/drawingml/2006/main" prst="roundRect">
            <a:avLst>
              <a:gd name="adj" fmla="val 23529"/>
            </a:avLst>
          </a:prstGeom>
          <a:solidFill xmlns:a="http://schemas.openxmlformats.org/drawingml/2006/main">
            <a:srgbClr val="11171C"/>
          </a:solidFill>
          <a:ln xmlns:a="http://schemas.openxmlformats.org/drawingml/2006/main" w="14288">
            <a:solidFill>
              <a:srgbClr val="62D6A7"/>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125" b="1">
                <a:solidFill>
                  <a:srgbClr val="62D6A7"/>
                </a:solidFill>
                <a:latin typeface="DejaVu Sans Mono"/>
                <a:ea typeface="DejaVu Sans Mono"/>
                <a:cs typeface="DejaVu Sans Mono"/>
              </a:defRPr>
            </a:pPr>
            <a:r>
              <a:rPr sz="1125" b="1">
                <a:solidFill>
                  <a:srgbClr val="62D6A7"/>
                </a:solidFill>
                <a:latin typeface="DejaVu Sans Mono"/>
                <a:ea typeface="DejaVu Sans Mono"/>
                <a:cs typeface="DejaVu Sans Mono"/>
              </a:rPr>
              <a:t>TESTS</a:t>
            </a:r>
          </a:p>
        </p:txBody>
      </p:sp>
      <p:sp>
        <p:nvSpPr>
          <p:cNvPr id="29" name="">
            <a:extLst xmlns:a="http://schemas.openxmlformats.org/drawingml/2006/main">
              <a:ext uri="{FF2B5EF4-FFF2-40B4-BE49-F238E27FC236}">
                <a16:creationId xmlns:a16="http://schemas.microsoft.com/office/drawing/2014/main" id="{715102A7-2EBD-487E-B7BB-92527996656F}"/>
              </a:ext>
            </a:extLst>
          </p:cNvPr>
          <p:cNvSpPr>
            <a:spLocks xmlns:a="http://schemas.openxmlformats.org/drawingml/2006/main" noGrp="1"/>
          </p:cNvSpPr>
          <p:nvPr/>
        </p:nvSpPr>
        <p:spPr>
          <a:xfrm xmlns:a="http://schemas.openxmlformats.org/drawingml/2006/main">
            <a:off x="4019550" y="5219700"/>
            <a:ext cx="1638300" cy="647700"/>
          </a:xfrm>
          <a:prstGeom xmlns:a="http://schemas.openxmlformats.org/drawingml/2006/main" prst="roundRect">
            <a:avLst>
              <a:gd name="adj" fmla="val 23529"/>
            </a:avLst>
          </a:prstGeom>
          <a:solidFill xmlns:a="http://schemas.openxmlformats.org/drawingml/2006/main">
            <a:srgbClr val="11171C"/>
          </a:solidFill>
          <a:ln xmlns:a="http://schemas.openxmlformats.org/drawingml/2006/main" w="14288">
            <a:solidFill>
              <a:srgbClr val="62D6A7"/>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125" b="1">
                <a:solidFill>
                  <a:srgbClr val="62D6A7"/>
                </a:solidFill>
                <a:latin typeface="DejaVu Sans Mono"/>
                <a:ea typeface="DejaVu Sans Mono"/>
                <a:cs typeface="DejaVu Sans Mono"/>
              </a:defRPr>
            </a:pPr>
            <a:r>
              <a:rPr sz="1125" b="1">
                <a:solidFill>
                  <a:srgbClr val="62D6A7"/>
                </a:solidFill>
                <a:latin typeface="DejaVu Sans Mono"/>
                <a:ea typeface="DejaVu Sans Mono"/>
                <a:cs typeface="DejaVu Sans Mono"/>
              </a:rPr>
              <a:t>FIELD DATA</a:t>
            </a:r>
          </a:p>
        </p:txBody>
      </p:sp>
      <p:sp>
        <p:nvSpPr>
          <p:cNvPr id="30" name="">
            <a:extLst xmlns:a="http://schemas.openxmlformats.org/drawingml/2006/main">
              <a:ext uri="{FF2B5EF4-FFF2-40B4-BE49-F238E27FC236}">
                <a16:creationId xmlns:a16="http://schemas.microsoft.com/office/drawing/2014/main" id="{3169011F-5788-42CF-AD41-CD879A5FC73C}"/>
              </a:ext>
            </a:extLst>
          </p:cNvPr>
          <p:cNvSpPr>
            <a:spLocks xmlns:a="http://schemas.openxmlformats.org/drawingml/2006/main" noGrp="1"/>
          </p:cNvSpPr>
          <p:nvPr/>
        </p:nvSpPr>
        <p:spPr>
          <a:xfrm xmlns:a="http://schemas.openxmlformats.org/drawingml/2006/main">
            <a:off x="1657350" y="4476750"/>
            <a:ext cx="1638300" cy="647700"/>
          </a:xfrm>
          <a:prstGeom xmlns:a="http://schemas.openxmlformats.org/drawingml/2006/main" prst="roundRect">
            <a:avLst>
              <a:gd name="adj" fmla="val 23529"/>
            </a:avLst>
          </a:prstGeom>
          <a:solidFill xmlns:a="http://schemas.openxmlformats.org/drawingml/2006/main">
            <a:srgbClr val="11171C"/>
          </a:solidFill>
          <a:ln xmlns:a="http://schemas.openxmlformats.org/drawingml/2006/main" w="14288">
            <a:solidFill>
              <a:srgbClr val="FF6262"/>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125" b="1">
                <a:solidFill>
                  <a:srgbClr val="FF6262"/>
                </a:solidFill>
                <a:latin typeface="DejaVu Sans Mono"/>
                <a:ea typeface="DejaVu Sans Mono"/>
                <a:cs typeface="DejaVu Sans Mono"/>
              </a:defRPr>
            </a:pPr>
            <a:r>
              <a:rPr sz="1125" b="1">
                <a:solidFill>
                  <a:srgbClr val="FF6262"/>
                </a:solidFill>
                <a:latin typeface="DejaVu Sans Mono"/>
                <a:ea typeface="DejaVu Sans Mono"/>
                <a:cs typeface="DejaVu Sans Mono"/>
              </a:rPr>
              <a:t>RISKS</a:t>
            </a:r>
          </a:p>
        </p:txBody>
      </p:sp>
      <p:sp>
        <p:nvSpPr>
          <p:cNvPr id="31" name="">
            <a:extLst xmlns:a="http://schemas.openxmlformats.org/drawingml/2006/main">
              <a:ext uri="{FF2B5EF4-FFF2-40B4-BE49-F238E27FC236}">
                <a16:creationId xmlns:a16="http://schemas.microsoft.com/office/drawing/2014/main" id="{F06B0B4B-2665-4C02-BFD4-608FA3F64D28}"/>
              </a:ext>
            </a:extLst>
          </p:cNvPr>
          <p:cNvSpPr>
            <a:spLocks xmlns:a="http://schemas.openxmlformats.org/drawingml/2006/main" noGrp="1"/>
          </p:cNvSpPr>
          <p:nvPr/>
        </p:nvSpPr>
        <p:spPr>
          <a:xfrm xmlns:a="http://schemas.openxmlformats.org/drawingml/2006/main">
            <a:off x="3048000" y="5924550"/>
            <a:ext cx="6096000" cy="400050"/>
          </a:xfrm>
          <a:prstGeom xmlns:a="http://schemas.openxmlformats.org/drawingml/2006/main" prst="roundRect">
            <a:avLst>
              <a:gd name="adj" fmla="val 23810"/>
            </a:avLst>
          </a:prstGeom>
          <a:solidFill xmlns:a="http://schemas.openxmlformats.org/drawingml/2006/main">
            <a:srgbClr val="0F1519"/>
          </a:solidFill>
          <a:ln xmlns:a="http://schemas.openxmlformats.org/drawingml/2006/main" w="9525">
            <a:solidFill>
              <a:srgbClr val="35414B"/>
            </a:solidFill>
            <a:prstDash val="solid"/>
          </a:ln>
        </p:spPr>
      </p:sp>
      <p:sp>
        <p:nvSpPr>
          <p:cNvPr id="32" name="">
            <a:extLst xmlns:a="http://schemas.openxmlformats.org/drawingml/2006/main">
              <a:ext uri="{FF2B5EF4-FFF2-40B4-BE49-F238E27FC236}">
                <a16:creationId xmlns:a16="http://schemas.microsoft.com/office/drawing/2014/main" id="{BCB8D3C6-E0D0-4C9F-A1A2-73A25FED0FE2}"/>
              </a:ext>
            </a:extLst>
          </p:cNvPr>
          <p:cNvSpPr>
            <a:spLocks xmlns:a="http://schemas.openxmlformats.org/drawingml/2006/main" noGrp="1"/>
          </p:cNvSpPr>
          <p:nvPr/>
        </p:nvSpPr>
        <p:spPr>
          <a:xfrm xmlns:a="http://schemas.openxmlformats.org/drawingml/2006/main">
            <a:off x="3238500" y="60388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1050" b="1">
                <a:solidFill>
                  <a:srgbClr val="8D99A3"/>
                </a:solidFill>
                <a:latin typeface="DejaVu Sans Mono"/>
                <a:ea typeface="DejaVu Sans Mono"/>
                <a:cs typeface="DejaVu Sans Mono"/>
              </a:defRPr>
            </a:pPr>
            <a:r>
              <a:rPr sz="1050" b="1">
                <a:solidFill>
                  <a:srgbClr val="8D99A3"/>
                </a:solidFill>
                <a:latin typeface="DejaVu Sans Mono"/>
                <a:ea typeface="DejaVu Sans Mono"/>
                <a:cs typeface="DejaVu Sans Mono"/>
              </a:rPr>
              <a:t>PEOPLE  •  MODELS  •  SOLVERS  •  CAD/PLM  •  LABS  •  ROBOTS</a:t>
            </a:r>
          </a:p>
        </p:txBody>
      </p:sp>
      <p:sp>
        <p:nvSpPr>
          <p:cNvPr id="33" name="">
            <a:extLst xmlns:a="http://schemas.openxmlformats.org/drawingml/2006/main">
              <a:ext uri="{FF2B5EF4-FFF2-40B4-BE49-F238E27FC236}">
                <a16:creationId xmlns:a16="http://schemas.microsoft.com/office/drawing/2014/main" id="{2FE95939-9317-4C4E-8B08-DE8E71DF1297}"/>
              </a:ext>
            </a:extLst>
          </p:cNvPr>
          <p:cNvSpPr>
            <a:spLocks xmlns:a="http://schemas.openxmlformats.org/drawingml/2006/main" noGrp="1"/>
          </p:cNvSpPr>
          <p:nvPr/>
        </p:nvSpPr>
        <p:spPr>
          <a:xfrm xmlns:a="http://schemas.openxmlformats.org/drawingml/2006/main">
            <a:off x="0" y="6400800"/>
            <a:ext cx="12192000" cy="457200"/>
          </a:xfrm>
          <a:prstGeom xmlns:a="http://schemas.openxmlformats.org/drawingml/2006/main" prst="rect">
            <a:avLst/>
          </a:prstGeom>
          <a:solidFill xmlns:a="http://schemas.openxmlformats.org/drawingml/2006/main">
            <a:srgbClr val="07090C">
              <a:alpha val="76000"/>
            </a:srgbClr>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DA8A7090-FAFD-45B4-8455-33746EAF32C2}"/>
              </a:ext>
            </a:extLst>
          </p:cNvPr>
          <p:cNvSpPr>
            <a:spLocks xmlns:a="http://schemas.openxmlformats.org/drawingml/2006/main" noGrp="1"/>
          </p:cNvSpPr>
          <p:nvPr/>
        </p:nvSpPr>
        <p:spPr>
          <a:xfrm xmlns:a="http://schemas.openxmlformats.org/drawingml/2006/main">
            <a:off x="609600" y="6553200"/>
            <a:ext cx="6858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MARS SOCIETY 2026  •  HARNESSED AGENTIC SCIENCE + ENGINEERING</a:t>
            </a:r>
          </a:p>
        </p:txBody>
      </p:sp>
      <p:sp>
        <p:nvSpPr>
          <p:cNvPr id="35" name="">
            <a:extLst xmlns:a="http://schemas.openxmlformats.org/drawingml/2006/main">
              <a:ext uri="{FF2B5EF4-FFF2-40B4-BE49-F238E27FC236}">
                <a16:creationId xmlns:a16="http://schemas.microsoft.com/office/drawing/2014/main" id="{71A3C6C4-0130-46CF-B82B-195C618ED397}"/>
              </a:ext>
            </a:extLst>
          </p:cNvPr>
          <p:cNvSpPr>
            <a:spLocks xmlns:a="http://schemas.openxmlformats.org/drawingml/2006/main" noGrp="1"/>
          </p:cNvSpPr>
          <p:nvPr/>
        </p:nvSpPr>
        <p:spPr>
          <a:xfrm xmlns:a="http://schemas.openxmlformats.org/drawingml/2006/main">
            <a:off x="9525000" y="6553200"/>
            <a:ext cx="2057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BOB J MILLS     13</a:t>
            </a:r>
          </a:p>
        </p:txBody>
      </p:sp>
    </p:spTree>
    <p:extLst>
      <p:ext uri="{BB962C8B-B14F-4D97-AF65-F5344CB8AC3E}">
        <p14:creationId xmlns:p14="http://schemas.microsoft.com/office/powerpoint/2010/main" val="1310571324"/>
      </p:ext>
    </p:extLst>
  </p:cSld>
</p:sld>
</file>

<file path=ppt/slides/slide14.xml><?xml version="1.0" encoding="utf-8"?>
<p:sld xmlns:p="http://schemas.openxmlformats.org/presentationml/2006/main">
  <p:cSld>
    <p:bg>
      <p:bgPr>
        <a:solidFill xmlns:a="http://schemas.openxmlformats.org/drawingml/2006/main">
          <a:srgbClr val="07090C"/>
        </a:solidFill>
      </p:bgPr>
    </p:bg>
    <p:spTree>
      <p:nvGrpSpPr>
        <p:cNvPr id="1" name=""/>
        <p:cNvGrpSpPr/>
        <p:nvPr/>
      </p:nvGrpSpPr>
      <p:grpSpPr>
        <a:xfrm xmlns:a="http://schemas.openxmlformats.org/drawingml/2006/main"/>
      </p:grpSpPr>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d70c4152351d457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4D0812D-9511-4002-B181-723F4934E171}"/>
              </a:ext>
            </a:extLst>
          </p:cNvPr>
          <p:cNvSpPr>
            <a:spLocks xmlns:a="http://schemas.openxmlformats.org/drawingml/2006/main" noGrp="1"/>
          </p:cNvSpPr>
          <p:nvPr/>
        </p:nvSpPr>
        <p:spPr>
          <a:xfrm xmlns:a="http://schemas.openxmlformats.org/drawingml/2006/main">
            <a:off x="0" y="0"/>
            <a:ext cx="7715250" cy="6858000"/>
          </a:xfrm>
          <a:prstGeom xmlns:a="http://schemas.openxmlformats.org/drawingml/2006/main" prst="rect">
            <a:avLst/>
          </a:prstGeom>
          <a:gradFill xmlns:a="http://schemas.openxmlformats.org/drawingml/2006/main">
            <a:gsLst>
              <a:gs pos="0">
                <a:srgbClr val="07090C"/>
              </a:gs>
              <a:gs pos="60000">
                <a:srgbClr val="07090C">
                  <a:alpha val="94000"/>
                </a:srgbClr>
              </a:gs>
              <a:gs pos="100000">
                <a:srgbClr val="07090C">
                  <a:alpha val="0"/>
                </a:srgbClr>
              </a:gs>
            </a:gsLst>
            <a:lin ang="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12125CD-0CA3-4128-BAF5-9A9CAC789851}"/>
              </a:ext>
            </a:extLst>
          </p:cNvPr>
          <p:cNvSpPr>
            <a:spLocks xmlns:a="http://schemas.openxmlformats.org/drawingml/2006/main" noGrp="1"/>
          </p:cNvSpPr>
          <p:nvPr/>
        </p:nvSpPr>
        <p:spPr>
          <a:xfrm xmlns:a="http://schemas.openxmlformats.org/drawingml/2006/main">
            <a:off x="609600" y="3429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975" b="1">
                <a:solidFill>
                  <a:srgbClr val="F26B38"/>
                </a:solidFill>
                <a:latin typeface="DejaVu Sans Mono"/>
                <a:ea typeface="DejaVu Sans Mono"/>
                <a:cs typeface="DejaVu Sans Mono"/>
              </a:defRPr>
            </a:pPr>
            <a:r>
              <a:rPr sz="975" b="1">
                <a:solidFill>
                  <a:srgbClr val="F26B38"/>
                </a:solidFill>
                <a:latin typeface="DejaVu Sans Mono"/>
                <a:ea typeface="DejaVu Sans Mono"/>
                <a:cs typeface="DejaVu Sans Mono"/>
              </a:rPr>
              <a:t>14  /  MARS AUTONOMY</a:t>
            </a:r>
          </a:p>
        </p:txBody>
      </p:sp>
      <p:sp>
        <p:nvSpPr>
          <p:cNvPr id="4" name="">
            <a:extLst xmlns:a="http://schemas.openxmlformats.org/drawingml/2006/main">
              <a:ext uri="{FF2B5EF4-FFF2-40B4-BE49-F238E27FC236}">
                <a16:creationId xmlns:a16="http://schemas.microsoft.com/office/drawing/2014/main" id="{0BBF90B4-08CE-4066-8F20-AC26AB453C80}"/>
              </a:ext>
            </a:extLst>
          </p:cNvPr>
          <p:cNvSpPr>
            <a:spLocks xmlns:a="http://schemas.openxmlformats.org/drawingml/2006/main" noGrp="1"/>
          </p:cNvSpPr>
          <p:nvPr/>
        </p:nvSpPr>
        <p:spPr>
          <a:xfrm xmlns:a="http://schemas.openxmlformats.org/drawingml/2006/main">
            <a:off x="609600" y="704850"/>
            <a:ext cx="666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550" b="1">
                <a:solidFill>
                  <a:srgbClr val="F4F6F8"/>
                </a:solidFill>
                <a:latin typeface="DejaVu Sans"/>
                <a:ea typeface="DejaVu Sans"/>
                <a:cs typeface="DejaVu Sans"/>
              </a:defRPr>
            </a:pPr>
            <a:r>
              <a:rPr sz="2550" b="1">
                <a:solidFill>
                  <a:srgbClr val="F4F6F8"/>
                </a:solidFill>
                <a:latin typeface="DejaVu Sans"/>
                <a:ea typeface="DejaVu Sans"/>
                <a:cs typeface="DejaVu Sans"/>
              </a:rPr>
              <a:t>Mars cannot wait for Earth to think</a:t>
            </a:r>
          </a:p>
        </p:txBody>
      </p:sp>
      <p:sp>
        <p:nvSpPr>
          <p:cNvPr id="5" name="">
            <a:extLst xmlns:a="http://schemas.openxmlformats.org/drawingml/2006/main">
              <a:ext uri="{FF2B5EF4-FFF2-40B4-BE49-F238E27FC236}">
                <a16:creationId xmlns:a16="http://schemas.microsoft.com/office/drawing/2014/main" id="{AEDC49CA-C9FE-4FDF-866E-09BE40EAF296}"/>
              </a:ext>
            </a:extLst>
          </p:cNvPr>
          <p:cNvSpPr>
            <a:spLocks xmlns:a="http://schemas.openxmlformats.org/drawingml/2006/main" noGrp="1"/>
          </p:cNvSpPr>
          <p:nvPr/>
        </p:nvSpPr>
        <p:spPr>
          <a:xfrm xmlns:a="http://schemas.openxmlformats.org/drawingml/2006/main">
            <a:off x="628650" y="1333500"/>
            <a:ext cx="619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425" b="0">
                <a:solidFill>
                  <a:srgbClr val="D8DEE3"/>
                </a:solidFill>
                <a:latin typeface="DejaVu Sans"/>
                <a:ea typeface="DejaVu Sans"/>
                <a:cs typeface="DejaVu Sans"/>
              </a:defRPr>
            </a:pPr>
            <a:r>
              <a:rPr sz="1425" b="0">
                <a:solidFill>
                  <a:srgbClr val="D8DEE3"/>
                </a:solidFill>
                <a:latin typeface="DejaVu Sans"/>
                <a:ea typeface="DejaVu Sans"/>
                <a:cs typeface="DejaVu Sans"/>
              </a:rPr>
              <a:t>Delay and blackout make local intelligence mission infrastructure—not a convenience.</a:t>
            </a:r>
          </a:p>
        </p:txBody>
      </p:sp>
      <p:sp>
        <p:nvSpPr>
          <p:cNvPr id="6" name="">
            <a:extLst xmlns:a="http://schemas.openxmlformats.org/drawingml/2006/main">
              <a:ext uri="{FF2B5EF4-FFF2-40B4-BE49-F238E27FC236}">
                <a16:creationId xmlns:a16="http://schemas.microsoft.com/office/drawing/2014/main" id="{1646C5F2-4097-4657-93DC-1791105FEFE2}"/>
              </a:ext>
            </a:extLst>
          </p:cNvPr>
          <p:cNvSpPr>
            <a:spLocks xmlns:a="http://schemas.openxmlformats.org/drawingml/2006/main" noGrp="1"/>
          </p:cNvSpPr>
          <p:nvPr/>
        </p:nvSpPr>
        <p:spPr>
          <a:xfrm xmlns:a="http://schemas.openxmlformats.org/drawingml/2006/main">
            <a:off x="666750" y="2266950"/>
            <a:ext cx="2247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550" b="1">
                <a:solidFill>
                  <a:srgbClr val="39D7FF"/>
                </a:solidFill>
                <a:latin typeface="DejaVu Sans Mono"/>
                <a:ea typeface="DejaVu Sans Mono"/>
                <a:cs typeface="DejaVu Sans Mono"/>
              </a:defRPr>
            </a:pPr>
            <a:r>
              <a:rPr sz="2550" b="1">
                <a:solidFill>
                  <a:srgbClr val="39D7FF"/>
                </a:solidFill>
                <a:latin typeface="DejaVu Sans Mono"/>
                <a:ea typeface="DejaVu Sans Mono"/>
                <a:cs typeface="DejaVu Sans Mono"/>
              </a:rPr>
              <a:t>21–23 min</a:t>
            </a:r>
          </a:p>
        </p:txBody>
      </p:sp>
      <p:sp>
        <p:nvSpPr>
          <p:cNvPr id="7" name="">
            <a:extLst xmlns:a="http://schemas.openxmlformats.org/drawingml/2006/main">
              <a:ext uri="{FF2B5EF4-FFF2-40B4-BE49-F238E27FC236}">
                <a16:creationId xmlns:a16="http://schemas.microsoft.com/office/drawing/2014/main" id="{AE080995-78FA-4656-A8AA-763FF7164500}"/>
              </a:ext>
            </a:extLst>
          </p:cNvPr>
          <p:cNvSpPr>
            <a:spLocks xmlns:a="http://schemas.openxmlformats.org/drawingml/2006/main" noGrp="1"/>
          </p:cNvSpPr>
          <p:nvPr/>
        </p:nvSpPr>
        <p:spPr>
          <a:xfrm xmlns:a="http://schemas.openxmlformats.org/drawingml/2006/main">
            <a:off x="666750" y="2771775"/>
            <a:ext cx="2247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a:solidFill>
                  <a:srgbClr val="D8DEE3"/>
                </a:solidFill>
                <a:latin typeface="DejaVu Sans"/>
                <a:ea typeface="DejaVu Sans"/>
                <a:cs typeface="DejaVu Sans"/>
              </a:defRPr>
            </a:pPr>
            <a:r>
              <a:rPr sz="1200" b="1">
                <a:solidFill>
                  <a:srgbClr val="D8DEE3"/>
                </a:solidFill>
                <a:latin typeface="DejaVu Sans"/>
                <a:ea typeface="DejaVu Sans"/>
                <a:cs typeface="DejaVu Sans"/>
              </a:rPr>
              <a:t>maximum one-way delay in NASA crewed-Mars profiles</a:t>
            </a:r>
          </a:p>
        </p:txBody>
      </p:sp>
      <p:sp>
        <p:nvSpPr>
          <p:cNvPr id="8" name="">
            <a:extLst xmlns:a="http://schemas.openxmlformats.org/drawingml/2006/main">
              <a:ext uri="{FF2B5EF4-FFF2-40B4-BE49-F238E27FC236}">
                <a16:creationId xmlns:a16="http://schemas.microsoft.com/office/drawing/2014/main" id="{701DDAB4-9E5C-4B83-935E-DA8D5857CDE3}"/>
              </a:ext>
            </a:extLst>
          </p:cNvPr>
          <p:cNvSpPr>
            <a:spLocks xmlns:a="http://schemas.openxmlformats.org/drawingml/2006/main" noGrp="1"/>
          </p:cNvSpPr>
          <p:nvPr/>
        </p:nvSpPr>
        <p:spPr>
          <a:xfrm xmlns:a="http://schemas.openxmlformats.org/drawingml/2006/main">
            <a:off x="3257550" y="22669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150" b="1">
                <a:solidFill>
                  <a:srgbClr val="F26B38"/>
                </a:solidFill>
                <a:latin typeface="DejaVu Sans Mono"/>
                <a:ea typeface="DejaVu Sans Mono"/>
                <a:cs typeface="DejaVu Sans Mono"/>
              </a:defRPr>
            </a:pPr>
            <a:r>
              <a:rPr sz="3150" b="1">
                <a:solidFill>
                  <a:srgbClr val="F26B38"/>
                </a:solidFill>
                <a:latin typeface="DejaVu Sans Mono"/>
                <a:ea typeface="DejaVu Sans Mono"/>
                <a:cs typeface="DejaVu Sans Mono"/>
              </a:rPr>
              <a:t>WEEKS</a:t>
            </a:r>
          </a:p>
        </p:txBody>
      </p:sp>
      <p:sp>
        <p:nvSpPr>
          <p:cNvPr id="9" name="">
            <a:extLst xmlns:a="http://schemas.openxmlformats.org/drawingml/2006/main">
              <a:ext uri="{FF2B5EF4-FFF2-40B4-BE49-F238E27FC236}">
                <a16:creationId xmlns:a16="http://schemas.microsoft.com/office/drawing/2014/main" id="{8EAB3AC1-E9F3-4E12-99C6-6607FBE1DDB6}"/>
              </a:ext>
            </a:extLst>
          </p:cNvPr>
          <p:cNvSpPr>
            <a:spLocks xmlns:a="http://schemas.openxmlformats.org/drawingml/2006/main" noGrp="1"/>
          </p:cNvSpPr>
          <p:nvPr/>
        </p:nvSpPr>
        <p:spPr>
          <a:xfrm xmlns:a="http://schemas.openxmlformats.org/drawingml/2006/main">
            <a:off x="3257550" y="2771775"/>
            <a:ext cx="219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a:solidFill>
                  <a:srgbClr val="D8DEE3"/>
                </a:solidFill>
                <a:latin typeface="DejaVu Sans"/>
                <a:ea typeface="DejaVu Sans"/>
                <a:cs typeface="DejaVu Sans"/>
              </a:defRPr>
            </a:pPr>
            <a:r>
              <a:rPr sz="1200" b="1">
                <a:solidFill>
                  <a:srgbClr val="D8DEE3"/>
                </a:solidFill>
                <a:latin typeface="DejaVu Sans"/>
                <a:ea typeface="DejaVu Sans"/>
                <a:cs typeface="DejaVu Sans"/>
              </a:rPr>
              <a:t>communications blackouts are unavoidable in representative profiles</a:t>
            </a:r>
          </a:p>
        </p:txBody>
      </p:sp>
      <p:sp>
        <p:nvSpPr>
          <p:cNvPr id="10" name="">
            <a:extLst xmlns:a="http://schemas.openxmlformats.org/drawingml/2006/main">
              <a:ext uri="{FF2B5EF4-FFF2-40B4-BE49-F238E27FC236}">
                <a16:creationId xmlns:a16="http://schemas.microsoft.com/office/drawing/2014/main" id="{FD80E825-0572-487F-9130-42CE434D4CE0}"/>
              </a:ext>
            </a:extLst>
          </p:cNvPr>
          <p:cNvSpPr>
            <a:spLocks xmlns:a="http://schemas.openxmlformats.org/drawingml/2006/main" noGrp="1"/>
          </p:cNvSpPr>
          <p:nvPr/>
        </p:nvSpPr>
        <p:spPr>
          <a:xfrm xmlns:a="http://schemas.openxmlformats.org/drawingml/2006/main">
            <a:off x="685800" y="4000500"/>
            <a:ext cx="1676400" cy="628650"/>
          </a:xfrm>
          <a:prstGeom xmlns:a="http://schemas.openxmlformats.org/drawingml/2006/main" prst="roundRect">
            <a:avLst>
              <a:gd name="adj" fmla="val 24242"/>
            </a:avLst>
          </a:prstGeom>
          <a:solidFill xmlns:a="http://schemas.openxmlformats.org/drawingml/2006/main">
            <a:srgbClr val="11171C">
              <a:alpha val="94000"/>
            </a:srgbClr>
          </a:solidFill>
          <a:ln xmlns:a="http://schemas.openxmlformats.org/drawingml/2006/main" w="14288">
            <a:solidFill>
              <a:srgbClr val="39D7FF"/>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350" b="1">
                <a:solidFill>
                  <a:srgbClr val="39D7FF"/>
                </a:solidFill>
                <a:latin typeface="DejaVu Sans Mono"/>
                <a:ea typeface="DejaVu Sans Mono"/>
                <a:cs typeface="DejaVu Sans Mono"/>
              </a:defRPr>
            </a:pPr>
            <a:r>
              <a:rPr sz="1350" b="1">
                <a:solidFill>
                  <a:srgbClr val="39D7FF"/>
                </a:solidFill>
                <a:latin typeface="DejaVu Sans Mono"/>
                <a:ea typeface="DejaVu Sans Mono"/>
                <a:cs typeface="DejaVu Sans Mono"/>
              </a:rPr>
              <a:t>LOCAL</a:t>
            </a:r>
          </a:p>
        </p:txBody>
      </p:sp>
      <p:sp>
        <p:nvSpPr>
          <p:cNvPr id="11" name="">
            <a:extLst xmlns:a="http://schemas.openxmlformats.org/drawingml/2006/main">
              <a:ext uri="{FF2B5EF4-FFF2-40B4-BE49-F238E27FC236}">
                <a16:creationId xmlns:a16="http://schemas.microsoft.com/office/drawing/2014/main" id="{1C6DE996-A4C7-4C79-8435-78BAE71E56F0}"/>
              </a:ext>
            </a:extLst>
          </p:cNvPr>
          <p:cNvSpPr>
            <a:spLocks xmlns:a="http://schemas.openxmlformats.org/drawingml/2006/main" noGrp="1"/>
          </p:cNvSpPr>
          <p:nvPr/>
        </p:nvSpPr>
        <p:spPr>
          <a:xfrm xmlns:a="http://schemas.openxmlformats.org/drawingml/2006/main">
            <a:off x="685800" y="4781550"/>
            <a:ext cx="1676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1200" b="0">
                <a:solidFill>
                  <a:srgbClr val="D8DEE3"/>
                </a:solidFill>
                <a:latin typeface="DejaVu Sans"/>
                <a:ea typeface="DejaVu Sans"/>
                <a:cs typeface="DejaVu Sans"/>
              </a:defRPr>
            </a:pPr>
            <a:r>
              <a:rPr sz="1200" b="0">
                <a:solidFill>
                  <a:srgbClr val="D8DEE3"/>
                </a:solidFill>
                <a:latin typeface="DejaVu Sans"/>
                <a:ea typeface="DejaVu Sans"/>
                <a:cs typeface="DejaVu Sans"/>
              </a:rPr>
              <a:t>operate through delay</a:t>
            </a:r>
          </a:p>
        </p:txBody>
      </p:sp>
      <p:sp>
        <p:nvSpPr>
          <p:cNvPr id="12" name="">
            <a:extLst xmlns:a="http://schemas.openxmlformats.org/drawingml/2006/main">
              <a:ext uri="{FF2B5EF4-FFF2-40B4-BE49-F238E27FC236}">
                <a16:creationId xmlns:a16="http://schemas.microsoft.com/office/drawing/2014/main" id="{71BB7713-CCD0-4B76-8D32-6CC75E270C11}"/>
              </a:ext>
            </a:extLst>
          </p:cNvPr>
          <p:cNvSpPr>
            <a:spLocks xmlns:a="http://schemas.openxmlformats.org/drawingml/2006/main" noGrp="1"/>
          </p:cNvSpPr>
          <p:nvPr/>
        </p:nvSpPr>
        <p:spPr>
          <a:xfrm xmlns:a="http://schemas.openxmlformats.org/drawingml/2006/main">
            <a:off x="2686050" y="4000500"/>
            <a:ext cx="1676400" cy="628650"/>
          </a:xfrm>
          <a:prstGeom xmlns:a="http://schemas.openxmlformats.org/drawingml/2006/main" prst="roundRect">
            <a:avLst>
              <a:gd name="adj" fmla="val 24242"/>
            </a:avLst>
          </a:prstGeom>
          <a:solidFill xmlns:a="http://schemas.openxmlformats.org/drawingml/2006/main">
            <a:srgbClr val="11171C">
              <a:alpha val="94000"/>
            </a:srgbClr>
          </a:solidFill>
          <a:ln xmlns:a="http://schemas.openxmlformats.org/drawingml/2006/main" w="14288">
            <a:solidFill>
              <a:srgbClr val="F26B38"/>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350" b="1">
                <a:solidFill>
                  <a:srgbClr val="F26B38"/>
                </a:solidFill>
                <a:latin typeface="DejaVu Sans Mono"/>
                <a:ea typeface="DejaVu Sans Mono"/>
                <a:cs typeface="DejaVu Sans Mono"/>
              </a:defRPr>
            </a:pPr>
            <a:r>
              <a:rPr sz="1350" b="1">
                <a:solidFill>
                  <a:srgbClr val="F26B38"/>
                </a:solidFill>
                <a:latin typeface="DejaVu Sans Mono"/>
                <a:ea typeface="DejaVu Sans Mono"/>
                <a:cs typeface="DejaVu Sans Mono"/>
              </a:rPr>
              <a:t>SYNC</a:t>
            </a:r>
          </a:p>
        </p:txBody>
      </p:sp>
      <p:sp>
        <p:nvSpPr>
          <p:cNvPr id="13" name="">
            <a:extLst xmlns:a="http://schemas.openxmlformats.org/drawingml/2006/main">
              <a:ext uri="{FF2B5EF4-FFF2-40B4-BE49-F238E27FC236}">
                <a16:creationId xmlns:a16="http://schemas.microsoft.com/office/drawing/2014/main" id="{DA9FB7D4-BE78-499A-B07E-6D56CD59DD85}"/>
              </a:ext>
            </a:extLst>
          </p:cNvPr>
          <p:cNvSpPr>
            <a:spLocks xmlns:a="http://schemas.openxmlformats.org/drawingml/2006/main" noGrp="1"/>
          </p:cNvSpPr>
          <p:nvPr/>
        </p:nvSpPr>
        <p:spPr>
          <a:xfrm xmlns:a="http://schemas.openxmlformats.org/drawingml/2006/main">
            <a:off x="2686050" y="4781550"/>
            <a:ext cx="1676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1200" b="0">
                <a:solidFill>
                  <a:srgbClr val="D8DEE3"/>
                </a:solidFill>
                <a:latin typeface="DejaVu Sans"/>
                <a:ea typeface="DejaVu Sans"/>
                <a:cs typeface="DejaVu Sans"/>
              </a:defRPr>
            </a:pPr>
            <a:r>
              <a:rPr sz="1200" b="0">
                <a:solidFill>
                  <a:srgbClr val="D8DEE3"/>
                </a:solidFill>
                <a:latin typeface="DejaVu Sans"/>
                <a:ea typeface="DejaVu Sans"/>
                <a:cs typeface="DejaVu Sans"/>
              </a:rPr>
              <a:t>reconcile with Earth</a:t>
            </a:r>
          </a:p>
        </p:txBody>
      </p:sp>
      <p:sp>
        <p:nvSpPr>
          <p:cNvPr id="14" name="">
            <a:extLst xmlns:a="http://schemas.openxmlformats.org/drawingml/2006/main">
              <a:ext uri="{FF2B5EF4-FFF2-40B4-BE49-F238E27FC236}">
                <a16:creationId xmlns:a16="http://schemas.microsoft.com/office/drawing/2014/main" id="{293B8D02-E156-4583-86C4-20335AAE7761}"/>
              </a:ext>
            </a:extLst>
          </p:cNvPr>
          <p:cNvSpPr>
            <a:spLocks xmlns:a="http://schemas.openxmlformats.org/drawingml/2006/main" noGrp="1"/>
          </p:cNvSpPr>
          <p:nvPr/>
        </p:nvSpPr>
        <p:spPr>
          <a:xfrm xmlns:a="http://schemas.openxmlformats.org/drawingml/2006/main">
            <a:off x="4686300" y="4000500"/>
            <a:ext cx="1676400" cy="628650"/>
          </a:xfrm>
          <a:prstGeom xmlns:a="http://schemas.openxmlformats.org/drawingml/2006/main" prst="roundRect">
            <a:avLst>
              <a:gd name="adj" fmla="val 24242"/>
            </a:avLst>
          </a:prstGeom>
          <a:solidFill xmlns:a="http://schemas.openxmlformats.org/drawingml/2006/main">
            <a:srgbClr val="11171C">
              <a:alpha val="94000"/>
            </a:srgbClr>
          </a:solidFill>
          <a:ln xmlns:a="http://schemas.openxmlformats.org/drawingml/2006/main" w="14288">
            <a:solidFill>
              <a:srgbClr val="62D6A7"/>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350" b="1">
                <a:solidFill>
                  <a:srgbClr val="62D6A7"/>
                </a:solidFill>
                <a:latin typeface="DejaVu Sans Mono"/>
                <a:ea typeface="DejaVu Sans Mono"/>
                <a:cs typeface="DejaVu Sans Mono"/>
              </a:defRPr>
            </a:pPr>
            <a:r>
              <a:rPr sz="1350" b="1">
                <a:solidFill>
                  <a:srgbClr val="62D6A7"/>
                </a:solidFill>
                <a:latin typeface="DejaVu Sans Mono"/>
                <a:ea typeface="DejaVu Sans Mono"/>
                <a:cs typeface="DejaVu Sans Mono"/>
              </a:rPr>
              <a:t>SAFE</a:t>
            </a:r>
          </a:p>
        </p:txBody>
      </p:sp>
      <p:sp>
        <p:nvSpPr>
          <p:cNvPr id="15" name="">
            <a:extLst xmlns:a="http://schemas.openxmlformats.org/drawingml/2006/main">
              <a:ext uri="{FF2B5EF4-FFF2-40B4-BE49-F238E27FC236}">
                <a16:creationId xmlns:a16="http://schemas.microsoft.com/office/drawing/2014/main" id="{EB3F12FA-CF32-4D79-B5F3-71C70EB1FE62}"/>
              </a:ext>
            </a:extLst>
          </p:cNvPr>
          <p:cNvSpPr>
            <a:spLocks xmlns:a="http://schemas.openxmlformats.org/drawingml/2006/main" noGrp="1"/>
          </p:cNvSpPr>
          <p:nvPr/>
        </p:nvSpPr>
        <p:spPr>
          <a:xfrm xmlns:a="http://schemas.openxmlformats.org/drawingml/2006/main">
            <a:off x="4686300" y="4781550"/>
            <a:ext cx="1676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1200" b="0">
                <a:solidFill>
                  <a:srgbClr val="D8DEE3"/>
                </a:solidFill>
                <a:latin typeface="DejaVu Sans"/>
                <a:ea typeface="DejaVu Sans"/>
                <a:cs typeface="DejaVu Sans"/>
              </a:defRPr>
            </a:pPr>
            <a:r>
              <a:rPr sz="1200" b="0">
                <a:solidFill>
                  <a:srgbClr val="D8DEE3"/>
                </a:solidFill>
                <a:latin typeface="DejaVu Sans"/>
                <a:ea typeface="DejaVu Sans"/>
                <a:cs typeface="DejaVu Sans"/>
              </a:rPr>
              <a:t>degrade predictably</a:t>
            </a:r>
          </a:p>
        </p:txBody>
      </p:sp>
      <p:sp>
        <p:nvSpPr>
          <p:cNvPr id="16" name="">
            <a:extLst xmlns:a="http://schemas.openxmlformats.org/drawingml/2006/main">
              <a:ext uri="{FF2B5EF4-FFF2-40B4-BE49-F238E27FC236}">
                <a16:creationId xmlns:a16="http://schemas.microsoft.com/office/drawing/2014/main" id="{DF7E098D-0048-42EE-ACB1-2F7C58428EE5}"/>
              </a:ext>
            </a:extLst>
          </p:cNvPr>
          <p:cNvSpPr>
            <a:spLocks xmlns:a="http://schemas.openxmlformats.org/drawingml/2006/main" noGrp="1"/>
          </p:cNvSpPr>
          <p:nvPr/>
        </p:nvSpPr>
        <p:spPr>
          <a:xfrm xmlns:a="http://schemas.openxmlformats.org/drawingml/2006/main">
            <a:off x="685800" y="5619750"/>
            <a:ext cx="611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275" b="1">
                <a:solidFill>
                  <a:srgbClr val="F4F6F8"/>
                </a:solidFill>
                <a:latin typeface="DejaVu Sans Mono"/>
                <a:ea typeface="DejaVu Sans Mono"/>
                <a:cs typeface="DejaVu Sans Mono"/>
              </a:defRPr>
            </a:pPr>
            <a:r>
              <a:rPr sz="1275" b="1">
                <a:solidFill>
                  <a:srgbClr val="F4F6F8"/>
                </a:solidFill>
                <a:latin typeface="DejaVu Sans Mono"/>
                <a:ea typeface="DejaVu Sans Mono"/>
                <a:cs typeface="DejaVu Sans Mono"/>
              </a:rPr>
              <a:t>Cached evidence • controlled tools • asynchronous synchronization • explicit authority</a:t>
            </a:r>
          </a:p>
        </p:txBody>
      </p:sp>
      <p:sp>
        <p:nvSpPr>
          <p:cNvPr id="17" name="">
            <a:extLst xmlns:a="http://schemas.openxmlformats.org/drawingml/2006/main">
              <a:ext uri="{FF2B5EF4-FFF2-40B4-BE49-F238E27FC236}">
                <a16:creationId xmlns:a16="http://schemas.microsoft.com/office/drawing/2014/main" id="{1D8FEA30-EC54-43C1-BF10-C2ECC595DDE7}"/>
              </a:ext>
            </a:extLst>
          </p:cNvPr>
          <p:cNvSpPr>
            <a:spLocks xmlns:a="http://schemas.openxmlformats.org/drawingml/2006/main" noGrp="1"/>
          </p:cNvSpPr>
          <p:nvPr/>
        </p:nvSpPr>
        <p:spPr>
          <a:xfrm xmlns:a="http://schemas.openxmlformats.org/drawingml/2006/main">
            <a:off x="0" y="6400800"/>
            <a:ext cx="12192000" cy="457200"/>
          </a:xfrm>
          <a:prstGeom xmlns:a="http://schemas.openxmlformats.org/drawingml/2006/main" prst="rect">
            <a:avLst/>
          </a:prstGeom>
          <a:solidFill xmlns:a="http://schemas.openxmlformats.org/drawingml/2006/main">
            <a:srgbClr val="07090C">
              <a:alpha val="76000"/>
            </a:srgbClr>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9701CFA-1641-4873-A015-33D016C3D872}"/>
              </a:ext>
            </a:extLst>
          </p:cNvPr>
          <p:cNvSpPr>
            <a:spLocks xmlns:a="http://schemas.openxmlformats.org/drawingml/2006/main" noGrp="1"/>
          </p:cNvSpPr>
          <p:nvPr/>
        </p:nvSpPr>
        <p:spPr>
          <a:xfrm xmlns:a="http://schemas.openxmlformats.org/drawingml/2006/main">
            <a:off x="609600" y="6553200"/>
            <a:ext cx="6858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MARS SOCIETY 2026  •  HARNESSED AGENTIC SCIENCE + ENGINEERING</a:t>
            </a:r>
          </a:p>
        </p:txBody>
      </p:sp>
      <p:sp>
        <p:nvSpPr>
          <p:cNvPr id="19" name="">
            <a:extLst xmlns:a="http://schemas.openxmlformats.org/drawingml/2006/main">
              <a:ext uri="{FF2B5EF4-FFF2-40B4-BE49-F238E27FC236}">
                <a16:creationId xmlns:a16="http://schemas.microsoft.com/office/drawing/2014/main" id="{6E950DCA-97FF-40A3-A6EE-1F7934655309}"/>
              </a:ext>
            </a:extLst>
          </p:cNvPr>
          <p:cNvSpPr>
            <a:spLocks xmlns:a="http://schemas.openxmlformats.org/drawingml/2006/main" noGrp="1"/>
          </p:cNvSpPr>
          <p:nvPr/>
        </p:nvSpPr>
        <p:spPr>
          <a:xfrm xmlns:a="http://schemas.openxmlformats.org/drawingml/2006/main">
            <a:off x="9525000" y="6553200"/>
            <a:ext cx="2057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BOB J MILLS     14</a:t>
            </a:r>
          </a:p>
        </p:txBody>
      </p:sp>
    </p:spTree>
    <p:extLst>
      <p:ext uri="{BB962C8B-B14F-4D97-AF65-F5344CB8AC3E}">
        <p14:creationId xmlns:p14="http://schemas.microsoft.com/office/powerpoint/2010/main" val="921180985"/>
      </p:ext>
    </p:extLst>
  </p:cSld>
</p:sld>
</file>

<file path=ppt/slides/slide15.xml><?xml version="1.0" encoding="utf-8"?>
<p:sld xmlns:p="http://schemas.openxmlformats.org/presentationml/2006/main">
  <p:cSld>
    <p:bg>
      <p:bgPr>
        <a:solidFill xmlns:a="http://schemas.openxmlformats.org/drawingml/2006/main">
          <a:srgbClr val="07090C"/>
        </a:solidFill>
      </p:bgPr>
    </p:bg>
    <p:spTree>
      <p:nvGrpSpPr>
        <p:cNvPr id="1" name=""/>
        <p:cNvGrpSpPr/>
        <p:nvPr/>
      </p:nvGrpSpPr>
      <p:grpSpPr>
        <a:xfrm xmlns:a="http://schemas.openxmlformats.org/drawingml/2006/main"/>
      </p:grpSpPr>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c90b4dd9e4043c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C895417-C299-4324-8E0A-AF895CED2499}"/>
              </a:ext>
            </a:extLst>
          </p:cNvPr>
          <p:cNvSpPr>
            <a:spLocks xmlns:a="http://schemas.openxmlformats.org/drawingml/2006/main" noGrp="1"/>
          </p:cNvSpPr>
          <p:nvPr/>
        </p:nvSpPr>
        <p:spPr>
          <a:xfrm xmlns:a="http://schemas.openxmlformats.org/drawingml/2006/main">
            <a:off x="0" y="0"/>
            <a:ext cx="7239000" cy="6858000"/>
          </a:xfrm>
          <a:prstGeom xmlns:a="http://schemas.openxmlformats.org/drawingml/2006/main" prst="rect">
            <a:avLst/>
          </a:prstGeom>
          <a:gradFill xmlns:a="http://schemas.openxmlformats.org/drawingml/2006/main">
            <a:gsLst>
              <a:gs pos="0">
                <a:srgbClr val="07090C"/>
              </a:gs>
              <a:gs pos="70000">
                <a:srgbClr val="07090C">
                  <a:alpha val="98000"/>
                </a:srgbClr>
              </a:gs>
              <a:gs pos="100000">
                <a:srgbClr val="07090C">
                  <a:alpha val="0"/>
                </a:srgbClr>
              </a:gs>
            </a:gsLst>
            <a:lin ang="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B239A76-79E7-40B0-B1AE-3F8A384C22BA}"/>
              </a:ext>
            </a:extLst>
          </p:cNvPr>
          <p:cNvSpPr>
            <a:spLocks xmlns:a="http://schemas.openxmlformats.org/drawingml/2006/main" noGrp="1"/>
          </p:cNvSpPr>
          <p:nvPr/>
        </p:nvSpPr>
        <p:spPr>
          <a:xfrm xmlns:a="http://schemas.openxmlformats.org/drawingml/2006/main">
            <a:off x="609600" y="3238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975" b="1">
                <a:solidFill>
                  <a:srgbClr val="F26B38"/>
                </a:solidFill>
                <a:latin typeface="DejaVu Sans Mono"/>
                <a:ea typeface="DejaVu Sans Mono"/>
                <a:cs typeface="DejaVu Sans Mono"/>
              </a:defRPr>
            </a:pPr>
            <a:r>
              <a:rPr sz="975" b="1">
                <a:solidFill>
                  <a:srgbClr val="F26B38"/>
                </a:solidFill>
                <a:latin typeface="DejaVu Sans Mono"/>
                <a:ea typeface="DejaVu Sans Mono"/>
                <a:cs typeface="DejaVu Sans Mono"/>
              </a:rPr>
              <a:t>15  /  CASE STUDY — SCIENCE OUTPUT</a:t>
            </a:r>
          </a:p>
        </p:txBody>
      </p:sp>
      <p:sp>
        <p:nvSpPr>
          <p:cNvPr id="4" name="">
            <a:extLst xmlns:a="http://schemas.openxmlformats.org/drawingml/2006/main">
              <a:ext uri="{FF2B5EF4-FFF2-40B4-BE49-F238E27FC236}">
                <a16:creationId xmlns:a16="http://schemas.microsoft.com/office/drawing/2014/main" id="{EBC17996-351F-475E-8229-B292319BAB21}"/>
              </a:ext>
            </a:extLst>
          </p:cNvPr>
          <p:cNvSpPr>
            <a:spLocks xmlns:a="http://schemas.openxmlformats.org/drawingml/2006/main" noGrp="1"/>
          </p:cNvSpPr>
          <p:nvPr/>
        </p:nvSpPr>
        <p:spPr>
          <a:xfrm xmlns:a="http://schemas.openxmlformats.org/drawingml/2006/main">
            <a:off x="609600" y="666750"/>
            <a:ext cx="6572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4000"/>
              </a:lnSpc>
              <a:buNone/>
              <a:defRPr sz="2325" b="1">
                <a:solidFill>
                  <a:srgbClr val="F4F6F8"/>
                </a:solidFill>
                <a:latin typeface="DejaVu Sans"/>
                <a:ea typeface="DejaVu Sans"/>
                <a:cs typeface="DejaVu Sans"/>
              </a:defRPr>
            </a:pPr>
            <a:r>
              <a:rPr sz="2325" b="1">
                <a:solidFill>
                  <a:srgbClr val="F4F6F8"/>
                </a:solidFill>
                <a:latin typeface="DejaVu Sans"/>
                <a:ea typeface="DejaVu Sans"/>
                <a:cs typeface="DejaVu Sans"/>
              </a:rPr>
              <a:t>MOXIE proved the chemistry. Settlement scale is a systems problem.</a:t>
            </a:r>
          </a:p>
        </p:txBody>
      </p:sp>
      <p:sp>
        <p:nvSpPr>
          <p:cNvPr id="5" name="">
            <a:extLst xmlns:a="http://schemas.openxmlformats.org/drawingml/2006/main">
              <a:ext uri="{FF2B5EF4-FFF2-40B4-BE49-F238E27FC236}">
                <a16:creationId xmlns:a16="http://schemas.microsoft.com/office/drawing/2014/main" id="{381DC0A9-7A2E-4F4C-A085-66F92DEC84A5}"/>
              </a:ext>
            </a:extLst>
          </p:cNvPr>
          <p:cNvSpPr>
            <a:spLocks xmlns:a="http://schemas.openxmlformats.org/drawingml/2006/main" noGrp="1"/>
          </p:cNvSpPr>
          <p:nvPr/>
        </p:nvSpPr>
        <p:spPr>
          <a:xfrm xmlns:a="http://schemas.openxmlformats.org/drawingml/2006/main">
            <a:off x="628650" y="1771650"/>
            <a:ext cx="2324100" cy="361950"/>
          </a:xfrm>
          <a:prstGeom xmlns:a="http://schemas.openxmlformats.org/drawingml/2006/main" prst="roundRect">
            <a:avLst>
              <a:gd name="adj" fmla="val 23684"/>
            </a:avLst>
          </a:prstGeom>
          <a:solidFill xmlns:a="http://schemas.openxmlformats.org/drawingml/2006/main">
            <a:srgbClr val="0E1915"/>
          </a:solidFill>
          <a:ln xmlns:a="http://schemas.openxmlformats.org/drawingml/2006/main" w="9525">
            <a:solidFill>
              <a:srgbClr val="62D6A7">
                <a:alpha val="55000"/>
              </a:srgbClr>
            </a:solidFill>
            <a:prstDash val="solid"/>
          </a:ln>
        </p:spPr>
        <p:txBody>
          <a:bodyPr xmlns:a="http://schemas.openxmlformats.org/drawingml/2006/main" wrap="square" lIns="47625" tIns="19050" rIns="47625" bIns="19050" anchor="ctr">
            <a:noAutofit/>
          </a:bodyPr>
          <a:lstStyle xmlns:a="http://schemas.openxmlformats.org/drawingml/2006/main"/>
          <a:p xmlns:a="http://schemas.openxmlformats.org/drawingml/2006/main">
            <a:pPr algn="ctr">
              <a:lnSpc>
                <a:spcPct val="95000"/>
              </a:lnSpc>
              <a:buNone/>
              <a:defRPr sz="975" b="1">
                <a:solidFill>
                  <a:srgbClr val="62D6A7"/>
                </a:solidFill>
                <a:latin typeface="DejaVu Sans Mono"/>
                <a:ea typeface="DejaVu Sans Mono"/>
                <a:cs typeface="DejaVu Sans Mono"/>
              </a:defRPr>
            </a:pPr>
            <a:r>
              <a:rPr sz="975" b="1">
                <a:solidFill>
                  <a:srgbClr val="62D6A7"/>
                </a:solidFill>
                <a:latin typeface="DejaVu Sans Mono"/>
                <a:ea typeface="DejaVu Sans Mono"/>
                <a:cs typeface="DejaVu Sans Mono"/>
              </a:rPr>
              <a:t>EMPIRICAL — NASA MOXIE</a:t>
            </a:r>
          </a:p>
        </p:txBody>
      </p:sp>
      <p:sp>
        <p:nvSpPr>
          <p:cNvPr id="6" name="">
            <a:extLst xmlns:a="http://schemas.openxmlformats.org/drawingml/2006/main">
              <a:ext uri="{FF2B5EF4-FFF2-40B4-BE49-F238E27FC236}">
                <a16:creationId xmlns:a16="http://schemas.microsoft.com/office/drawing/2014/main" id="{3F52FCBF-1689-4A8E-89AC-5292160F0C2F}"/>
              </a:ext>
            </a:extLst>
          </p:cNvPr>
          <p:cNvSpPr>
            <a:spLocks xmlns:a="http://schemas.openxmlformats.org/drawingml/2006/main" noGrp="1"/>
          </p:cNvSpPr>
          <p:nvPr/>
        </p:nvSpPr>
        <p:spPr>
          <a:xfrm xmlns:a="http://schemas.openxmlformats.org/drawingml/2006/main">
            <a:off x="647700" y="23241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150" b="1">
                <a:solidFill>
                  <a:srgbClr val="62D6A7"/>
                </a:solidFill>
                <a:latin typeface="DejaVu Sans Mono"/>
                <a:ea typeface="DejaVu Sans Mono"/>
                <a:cs typeface="DejaVu Sans Mono"/>
              </a:defRPr>
            </a:pPr>
            <a:r>
              <a:rPr sz="3150" b="1">
                <a:solidFill>
                  <a:srgbClr val="62D6A7"/>
                </a:solidFill>
                <a:latin typeface="DejaVu Sans Mono"/>
                <a:ea typeface="DejaVu Sans Mono"/>
                <a:cs typeface="DejaVu Sans Mono"/>
              </a:rPr>
              <a:t>16</a:t>
            </a:r>
          </a:p>
        </p:txBody>
      </p:sp>
      <p:sp>
        <p:nvSpPr>
          <p:cNvPr id="7" name="">
            <a:extLst xmlns:a="http://schemas.openxmlformats.org/drawingml/2006/main">
              <a:ext uri="{FF2B5EF4-FFF2-40B4-BE49-F238E27FC236}">
                <a16:creationId xmlns:a16="http://schemas.microsoft.com/office/drawing/2014/main" id="{A79D2DF0-5181-4EC0-8381-7693A8622F11}"/>
              </a:ext>
            </a:extLst>
          </p:cNvPr>
          <p:cNvSpPr>
            <a:spLocks xmlns:a="http://schemas.openxmlformats.org/drawingml/2006/main" noGrp="1"/>
          </p:cNvSpPr>
          <p:nvPr/>
        </p:nvSpPr>
        <p:spPr>
          <a:xfrm xmlns:a="http://schemas.openxmlformats.org/drawingml/2006/main">
            <a:off x="647700" y="2828925"/>
            <a:ext cx="142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a:solidFill>
                  <a:srgbClr val="D8DEE3"/>
                </a:solidFill>
                <a:latin typeface="DejaVu Sans"/>
                <a:ea typeface="DejaVu Sans"/>
                <a:cs typeface="DejaVu Sans"/>
              </a:defRPr>
            </a:pPr>
            <a:r>
              <a:rPr sz="1200" b="1">
                <a:solidFill>
                  <a:srgbClr val="D8DEE3"/>
                </a:solidFill>
                <a:latin typeface="DejaVu Sans"/>
                <a:ea typeface="DejaVu Sans"/>
                <a:cs typeface="DejaVu Sans"/>
              </a:rPr>
              <a:t>oxygen production</a:t>
            </a:r>
          </a:p>
          <a:p xmlns:a="http://schemas.openxmlformats.org/drawingml/2006/main">
            <a:pPr algn="l">
              <a:lnSpc>
                <a:spcPct val="100000"/>
              </a:lnSpc>
              <a:buNone/>
              <a:defRPr sz="1200" b="1">
                <a:solidFill>
                  <a:srgbClr val="D8DEE3"/>
                </a:solidFill>
                <a:latin typeface="DejaVu Sans"/>
                <a:ea typeface="DejaVu Sans"/>
                <a:cs typeface="DejaVu Sans"/>
              </a:defRPr>
            </a:pPr>
            <a:r>
              <a:rPr sz="1200" b="1">
                <a:solidFill>
                  <a:srgbClr val="D8DEE3"/>
                </a:solidFill>
                <a:latin typeface="DejaVu Sans"/>
                <a:ea typeface="DejaVu Sans"/>
                <a:cs typeface="DejaVu Sans"/>
              </a:rPr>
              <a:t>runs</a:t>
            </a:r>
          </a:p>
        </p:txBody>
      </p:sp>
      <p:sp>
        <p:nvSpPr>
          <p:cNvPr id="8" name="">
            <a:extLst xmlns:a="http://schemas.openxmlformats.org/drawingml/2006/main">
              <a:ext uri="{FF2B5EF4-FFF2-40B4-BE49-F238E27FC236}">
                <a16:creationId xmlns:a16="http://schemas.microsoft.com/office/drawing/2014/main" id="{72531FE6-AAE0-43F9-A495-8D1ED443D831}"/>
              </a:ext>
            </a:extLst>
          </p:cNvPr>
          <p:cNvSpPr>
            <a:spLocks xmlns:a="http://schemas.openxmlformats.org/drawingml/2006/main" noGrp="1"/>
          </p:cNvSpPr>
          <p:nvPr/>
        </p:nvSpPr>
        <p:spPr>
          <a:xfrm xmlns:a="http://schemas.openxmlformats.org/drawingml/2006/main">
            <a:off x="2209800" y="2324100"/>
            <a:ext cx="161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150" b="1">
                <a:solidFill>
                  <a:srgbClr val="62D6A7"/>
                </a:solidFill>
                <a:latin typeface="DejaVu Sans Mono"/>
                <a:ea typeface="DejaVu Sans Mono"/>
                <a:cs typeface="DejaVu Sans Mono"/>
              </a:defRPr>
            </a:pPr>
            <a:r>
              <a:rPr sz="3150" b="1">
                <a:solidFill>
                  <a:srgbClr val="62D6A7"/>
                </a:solidFill>
                <a:latin typeface="DejaVu Sans Mono"/>
                <a:ea typeface="DejaVu Sans Mono"/>
                <a:cs typeface="DejaVu Sans Mono"/>
              </a:rPr>
              <a:t>122 g</a:t>
            </a:r>
          </a:p>
        </p:txBody>
      </p:sp>
      <p:sp>
        <p:nvSpPr>
          <p:cNvPr id="9" name="">
            <a:extLst xmlns:a="http://schemas.openxmlformats.org/drawingml/2006/main">
              <a:ext uri="{FF2B5EF4-FFF2-40B4-BE49-F238E27FC236}">
                <a16:creationId xmlns:a16="http://schemas.microsoft.com/office/drawing/2014/main" id="{70C36A90-535F-4EED-B25A-2998B61B74B0}"/>
              </a:ext>
            </a:extLst>
          </p:cNvPr>
          <p:cNvSpPr>
            <a:spLocks xmlns:a="http://schemas.openxmlformats.org/drawingml/2006/main" noGrp="1"/>
          </p:cNvSpPr>
          <p:nvPr/>
        </p:nvSpPr>
        <p:spPr>
          <a:xfrm xmlns:a="http://schemas.openxmlformats.org/drawingml/2006/main">
            <a:off x="2209800" y="2828925"/>
            <a:ext cx="161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a:solidFill>
                  <a:srgbClr val="D8DEE3"/>
                </a:solidFill>
                <a:latin typeface="DejaVu Sans"/>
                <a:ea typeface="DejaVu Sans"/>
                <a:cs typeface="DejaVu Sans"/>
              </a:defRPr>
            </a:pPr>
            <a:r>
              <a:rPr sz="1200" b="1">
                <a:solidFill>
                  <a:srgbClr val="D8DEE3"/>
                </a:solidFill>
                <a:latin typeface="DejaVu Sans"/>
                <a:ea typeface="DejaVu Sans"/>
                <a:cs typeface="DejaVu Sans"/>
              </a:rPr>
              <a:t>total oxygen produced</a:t>
            </a:r>
          </a:p>
        </p:txBody>
      </p:sp>
      <p:sp>
        <p:nvSpPr>
          <p:cNvPr id="10" name="">
            <a:extLst xmlns:a="http://schemas.openxmlformats.org/drawingml/2006/main">
              <a:ext uri="{FF2B5EF4-FFF2-40B4-BE49-F238E27FC236}">
                <a16:creationId xmlns:a16="http://schemas.microsoft.com/office/drawing/2014/main" id="{3957CA70-82C2-4D7E-ABBF-4AB35F0558CB}"/>
              </a:ext>
            </a:extLst>
          </p:cNvPr>
          <p:cNvSpPr>
            <a:spLocks xmlns:a="http://schemas.openxmlformats.org/drawingml/2006/main" noGrp="1"/>
          </p:cNvSpPr>
          <p:nvPr/>
        </p:nvSpPr>
        <p:spPr>
          <a:xfrm xmlns:a="http://schemas.openxmlformats.org/drawingml/2006/main">
            <a:off x="4095750" y="2324100"/>
            <a:ext cx="152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150" b="1">
                <a:solidFill>
                  <a:srgbClr val="62D6A7"/>
                </a:solidFill>
                <a:latin typeface="DejaVu Sans Mono"/>
                <a:ea typeface="DejaVu Sans Mono"/>
                <a:cs typeface="DejaVu Sans Mono"/>
              </a:defRPr>
            </a:pPr>
            <a:r>
              <a:rPr sz="3150" b="1">
                <a:solidFill>
                  <a:srgbClr val="62D6A7"/>
                </a:solidFill>
                <a:latin typeface="DejaVu Sans Mono"/>
                <a:ea typeface="DejaVu Sans Mono"/>
                <a:cs typeface="DejaVu Sans Mono"/>
              </a:rPr>
              <a:t>≥98%</a:t>
            </a:r>
          </a:p>
        </p:txBody>
      </p:sp>
      <p:sp>
        <p:nvSpPr>
          <p:cNvPr id="11" name="">
            <a:extLst xmlns:a="http://schemas.openxmlformats.org/drawingml/2006/main">
              <a:ext uri="{FF2B5EF4-FFF2-40B4-BE49-F238E27FC236}">
                <a16:creationId xmlns:a16="http://schemas.microsoft.com/office/drawing/2014/main" id="{CA3D5761-1435-42BD-9D46-4329023AF3F9}"/>
              </a:ext>
            </a:extLst>
          </p:cNvPr>
          <p:cNvSpPr>
            <a:spLocks xmlns:a="http://schemas.openxmlformats.org/drawingml/2006/main" noGrp="1"/>
          </p:cNvSpPr>
          <p:nvPr/>
        </p:nvSpPr>
        <p:spPr>
          <a:xfrm xmlns:a="http://schemas.openxmlformats.org/drawingml/2006/main">
            <a:off x="4095750" y="2828925"/>
            <a:ext cx="152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a:solidFill>
                  <a:srgbClr val="D8DEE3"/>
                </a:solidFill>
                <a:latin typeface="DejaVu Sans"/>
                <a:ea typeface="DejaVu Sans"/>
                <a:cs typeface="DejaVu Sans"/>
              </a:defRPr>
            </a:pPr>
            <a:r>
              <a:rPr sz="1200" b="1">
                <a:solidFill>
                  <a:srgbClr val="D8DEE3"/>
                </a:solidFill>
                <a:latin typeface="DejaVu Sans"/>
                <a:ea typeface="DejaVu Sans"/>
                <a:cs typeface="DejaVu Sans"/>
              </a:rPr>
              <a:t>peak oxygen purity</a:t>
            </a:r>
          </a:p>
        </p:txBody>
      </p:sp>
      <p:sp>
        <p:nvSpPr>
          <p:cNvPr id="12" name="">
            <a:extLst xmlns:a="http://schemas.openxmlformats.org/drawingml/2006/main">
              <a:ext uri="{FF2B5EF4-FFF2-40B4-BE49-F238E27FC236}">
                <a16:creationId xmlns:a16="http://schemas.microsoft.com/office/drawing/2014/main" id="{547FE329-7D79-419D-88EF-09D74DE9283B}"/>
              </a:ext>
            </a:extLst>
          </p:cNvPr>
          <p:cNvSpPr>
            <a:spLocks xmlns:a="http://schemas.openxmlformats.org/drawingml/2006/main" noGrp="1"/>
          </p:cNvSpPr>
          <p:nvPr/>
        </p:nvSpPr>
        <p:spPr>
          <a:xfrm xmlns:a="http://schemas.openxmlformats.org/drawingml/2006/main">
            <a:off x="647700" y="33718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500" b="1">
                <a:solidFill>
                  <a:srgbClr val="F4F6F8"/>
                </a:solidFill>
                <a:latin typeface="DejaVu Sans"/>
                <a:ea typeface="DejaVu Sans"/>
                <a:cs typeface="DejaVu Sans"/>
              </a:defRPr>
            </a:pPr>
            <a:r>
              <a:rPr sz="1500" b="1">
                <a:solidFill>
                  <a:srgbClr val="F4F6F8"/>
                </a:solidFill>
                <a:latin typeface="DejaVu Sans"/>
                <a:ea typeface="DejaVu Sans"/>
                <a:cs typeface="DejaVu Sans"/>
              </a:rPr>
              <a:t>Peak O₂ production rate</a:t>
            </a:r>
          </a:p>
        </p:txBody>
      </p:sp>
      <p:graphicFrame>
        <p:nvGraphicFramePr>
          <p:cNvPr id="33" name="Chart"/>
          <p:cNvGraphicFramePr/>
          <p:nvPr/>
        </p:nvGraphicFramePr>
        <p:xfrm>
          <a:off xmlns:a="http://schemas.openxmlformats.org/drawingml/2006/main" x="628650" y="3695700"/>
          <a:ext xmlns:a="http://schemas.openxmlformats.org/drawingml/2006/main" cx="4457700" cy="1790700"/>
        </p:xfrm>
        <a:graphic xmlns:a="http://schemas.openxmlformats.org/drawingml/2006/main">
          <a:graphicData uri="http://schemas.openxmlformats.org/drawingml/2006/chart">
            <c:chart xmlns:r="http://schemas.openxmlformats.org/officeDocument/2006/relationships" xmlns:c="http://schemas.openxmlformats.org/drawingml/2006/chart" r:id="R128dfc5f1e7a49b4"/>
          </a:graphicData>
        </a:graphic>
      </p:graphicFrame>
      <p:sp>
        <p:nvSpPr>
          <p:cNvPr id="14" name="">
            <a:extLst xmlns:a="http://schemas.openxmlformats.org/drawingml/2006/main">
              <a:ext uri="{FF2B5EF4-FFF2-40B4-BE49-F238E27FC236}">
                <a16:creationId xmlns:a16="http://schemas.microsoft.com/office/drawing/2014/main" id="{48F46C36-700E-4C98-813B-7F9C96435EA0}"/>
              </a:ext>
            </a:extLst>
          </p:cNvPr>
          <p:cNvSpPr>
            <a:spLocks xmlns:a="http://schemas.openxmlformats.org/drawingml/2006/main" noGrp="1"/>
          </p:cNvSpPr>
          <p:nvPr/>
        </p:nvSpPr>
        <p:spPr>
          <a:xfrm xmlns:a="http://schemas.openxmlformats.org/drawingml/2006/main">
            <a:off x="647700" y="5657850"/>
            <a:ext cx="2609850" cy="361950"/>
          </a:xfrm>
          <a:prstGeom xmlns:a="http://schemas.openxmlformats.org/drawingml/2006/main" prst="roundRect">
            <a:avLst>
              <a:gd name="adj" fmla="val 23684"/>
            </a:avLst>
          </a:prstGeom>
          <a:solidFill xmlns:a="http://schemas.openxmlformats.org/drawingml/2006/main">
            <a:srgbClr val="1A150B"/>
          </a:solidFill>
          <a:ln xmlns:a="http://schemas.openxmlformats.org/drawingml/2006/main" w="9525">
            <a:solidFill>
              <a:srgbClr val="FFC857">
                <a:alpha val="55000"/>
              </a:srgbClr>
            </a:solidFill>
            <a:prstDash val="solid"/>
          </a:ln>
        </p:spPr>
        <p:txBody>
          <a:bodyPr xmlns:a="http://schemas.openxmlformats.org/drawingml/2006/main" wrap="square" lIns="47625" tIns="19050" rIns="47625" bIns="19050" anchor="ctr">
            <a:noAutofit/>
          </a:bodyPr>
          <a:lstStyle xmlns:a="http://schemas.openxmlformats.org/drawingml/2006/main"/>
          <a:p xmlns:a="http://schemas.openxmlformats.org/drawingml/2006/main">
            <a:pPr algn="ctr">
              <a:lnSpc>
                <a:spcPct val="95000"/>
              </a:lnSpc>
              <a:buNone/>
              <a:defRPr sz="975" b="1">
                <a:solidFill>
                  <a:srgbClr val="FFC857"/>
                </a:solidFill>
                <a:latin typeface="DejaVu Sans Mono"/>
                <a:ea typeface="DejaVu Sans Mono"/>
                <a:cs typeface="DejaVu Sans Mono"/>
              </a:defRPr>
            </a:pPr>
            <a:r>
              <a:rPr sz="975" b="1">
                <a:solidFill>
                  <a:srgbClr val="FFC857"/>
                </a:solidFill>
                <a:latin typeface="DejaVu Sans Mono"/>
                <a:ea typeface="DejaVu Sans Mono"/>
                <a:cs typeface="DejaVu Sans Mono"/>
              </a:rPr>
              <a:t>OPEN FOR SETTLEMENT SCALE</a:t>
            </a:r>
          </a:p>
        </p:txBody>
      </p:sp>
      <p:sp>
        <p:nvSpPr>
          <p:cNvPr id="15" name="">
            <a:extLst xmlns:a="http://schemas.openxmlformats.org/drawingml/2006/main">
              <a:ext uri="{FF2B5EF4-FFF2-40B4-BE49-F238E27FC236}">
                <a16:creationId xmlns:a16="http://schemas.microsoft.com/office/drawing/2014/main" id="{43C9396C-6C0A-47CB-943E-58DF7ED5C242}"/>
              </a:ext>
            </a:extLst>
          </p:cNvPr>
          <p:cNvSpPr>
            <a:spLocks xmlns:a="http://schemas.openxmlformats.org/drawingml/2006/main" noGrp="1"/>
          </p:cNvSpPr>
          <p:nvPr/>
        </p:nvSpPr>
        <p:spPr>
          <a:xfrm xmlns:a="http://schemas.openxmlformats.org/drawingml/2006/main">
            <a:off x="3390900" y="571500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95000"/>
              </a:lnSpc>
              <a:buNone/>
              <a:defRPr sz="1125" b="1">
                <a:solidFill>
                  <a:srgbClr val="FFC857"/>
                </a:solidFill>
                <a:latin typeface="DejaVu Sans Mono"/>
                <a:ea typeface="DejaVu Sans Mono"/>
                <a:cs typeface="DejaVu Sans Mono"/>
              </a:defRPr>
            </a:pPr>
            <a:r>
              <a:rPr sz="1125" b="1">
                <a:solidFill>
                  <a:srgbClr val="FFC857"/>
                </a:solidFill>
                <a:latin typeface="DejaVu Sans Mono"/>
                <a:ea typeface="DejaVu Sans Mono"/>
                <a:cs typeface="DejaVu Sans Mono"/>
              </a:rPr>
              <a:t>dust • inlet variability • thermal cycling • aging • liquefaction • storage • maintenance</a:t>
            </a:r>
          </a:p>
        </p:txBody>
      </p:sp>
      <p:sp>
        <p:nvSpPr>
          <p:cNvPr id="16" name="">
            <a:extLst xmlns:a="http://schemas.openxmlformats.org/drawingml/2006/main">
              <a:ext uri="{FF2B5EF4-FFF2-40B4-BE49-F238E27FC236}">
                <a16:creationId xmlns:a16="http://schemas.microsoft.com/office/drawing/2014/main" id="{3F35FE41-7D3F-4AF1-BBB2-09A0C91ABB44}"/>
              </a:ext>
            </a:extLst>
          </p:cNvPr>
          <p:cNvSpPr>
            <a:spLocks xmlns:a="http://schemas.openxmlformats.org/drawingml/2006/main" noGrp="1"/>
          </p:cNvSpPr>
          <p:nvPr/>
        </p:nvSpPr>
        <p:spPr>
          <a:xfrm xmlns:a="http://schemas.openxmlformats.org/drawingml/2006/main">
            <a:off x="0" y="6400800"/>
            <a:ext cx="12192000" cy="457200"/>
          </a:xfrm>
          <a:prstGeom xmlns:a="http://schemas.openxmlformats.org/drawingml/2006/main" prst="rect">
            <a:avLst/>
          </a:prstGeom>
          <a:solidFill xmlns:a="http://schemas.openxmlformats.org/drawingml/2006/main">
            <a:srgbClr val="07090C">
              <a:alpha val="76000"/>
            </a:srgbClr>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9D80EAB-B03F-4DB8-AE00-CB98D110EA9B}"/>
              </a:ext>
            </a:extLst>
          </p:cNvPr>
          <p:cNvSpPr>
            <a:spLocks xmlns:a="http://schemas.openxmlformats.org/drawingml/2006/main" noGrp="1"/>
          </p:cNvSpPr>
          <p:nvPr/>
        </p:nvSpPr>
        <p:spPr>
          <a:xfrm xmlns:a="http://schemas.openxmlformats.org/drawingml/2006/main">
            <a:off x="609600" y="6553200"/>
            <a:ext cx="6858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MARS SOCIETY 2026  •  HARNESSED AGENTIC SCIENCE + ENGINEERING</a:t>
            </a:r>
          </a:p>
        </p:txBody>
      </p:sp>
      <p:sp>
        <p:nvSpPr>
          <p:cNvPr id="18" name="">
            <a:extLst xmlns:a="http://schemas.openxmlformats.org/drawingml/2006/main">
              <a:ext uri="{FF2B5EF4-FFF2-40B4-BE49-F238E27FC236}">
                <a16:creationId xmlns:a16="http://schemas.microsoft.com/office/drawing/2014/main" id="{0A7E7258-DE9F-4970-8DD4-078C35A06C9F}"/>
              </a:ext>
            </a:extLst>
          </p:cNvPr>
          <p:cNvSpPr>
            <a:spLocks xmlns:a="http://schemas.openxmlformats.org/drawingml/2006/main" noGrp="1"/>
          </p:cNvSpPr>
          <p:nvPr/>
        </p:nvSpPr>
        <p:spPr>
          <a:xfrm xmlns:a="http://schemas.openxmlformats.org/drawingml/2006/main">
            <a:off x="9525000" y="6553200"/>
            <a:ext cx="2057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BOB J MILLS     15</a:t>
            </a:r>
          </a:p>
        </p:txBody>
      </p:sp>
    </p:spTree>
    <p:extLst>
      <p:ext uri="{BB962C8B-B14F-4D97-AF65-F5344CB8AC3E}">
        <p14:creationId xmlns:p14="http://schemas.microsoft.com/office/powerpoint/2010/main" val="1275247977"/>
      </p:ext>
    </p:extLst>
  </p:cSld>
</p:sld>
</file>

<file path=ppt/slides/slide16.xml><?xml version="1.0" encoding="utf-8"?>
<p:sld xmlns:p="http://schemas.openxmlformats.org/presentationml/2006/main">
  <p:cSld>
    <p:bg>
      <p:bgPr>
        <a:solidFill xmlns:a="http://schemas.openxmlformats.org/drawingml/2006/main">
          <a:srgbClr val="07090C"/>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4008DA45-56F2-452C-A1D6-88B135B41224}"/>
              </a:ext>
            </a:extLst>
          </p:cNvPr>
          <p:cNvSpPr>
            <a:spLocks xmlns:a="http://schemas.openxmlformats.org/drawingml/2006/main" noGrp="1"/>
          </p:cNvSpPr>
          <p:nvPr/>
        </p:nvSpPr>
        <p:spPr>
          <a:xfrm xmlns:a="http://schemas.openxmlformats.org/drawingml/2006/main">
            <a:off x="609600" y="3429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975" b="1">
                <a:solidFill>
                  <a:srgbClr val="F26B38"/>
                </a:solidFill>
                <a:latin typeface="DejaVu Sans Mono"/>
                <a:ea typeface="DejaVu Sans Mono"/>
                <a:cs typeface="DejaVu Sans Mono"/>
              </a:defRPr>
            </a:pPr>
            <a:r>
              <a:rPr sz="975" b="1">
                <a:solidFill>
                  <a:srgbClr val="F26B38"/>
                </a:solidFill>
                <a:latin typeface="DejaVu Sans Mono"/>
                <a:ea typeface="DejaVu Sans Mono"/>
                <a:cs typeface="DejaVu Sans Mono"/>
              </a:rPr>
              <a:t>16  /  CASE STUDY — ENGINEERING OUTPUT</a:t>
            </a:r>
          </a:p>
        </p:txBody>
      </p:sp>
      <p:sp>
        <p:nvSpPr>
          <p:cNvPr id="2" name="">
            <a:extLst xmlns:a="http://schemas.openxmlformats.org/drawingml/2006/main">
              <a:ext uri="{FF2B5EF4-FFF2-40B4-BE49-F238E27FC236}">
                <a16:creationId xmlns:a16="http://schemas.microsoft.com/office/drawing/2014/main" id="{0D96C2B9-CF43-4D41-A56D-B86FBA404D9B}"/>
              </a:ext>
            </a:extLst>
          </p:cNvPr>
          <p:cNvSpPr>
            <a:spLocks xmlns:a="http://schemas.openxmlformats.org/drawingml/2006/main" noGrp="1"/>
          </p:cNvSpPr>
          <p:nvPr/>
        </p:nvSpPr>
        <p:spPr>
          <a:xfrm xmlns:a="http://schemas.openxmlformats.org/drawingml/2006/main">
            <a:off x="609600" y="6477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2325" b="1">
                <a:solidFill>
                  <a:srgbClr val="F4F6F8"/>
                </a:solidFill>
                <a:latin typeface="DejaVu Sans"/>
                <a:ea typeface="DejaVu Sans"/>
                <a:cs typeface="DejaVu Sans"/>
              </a:defRPr>
            </a:pPr>
            <a:r>
              <a:rPr sz="2325" b="1">
                <a:solidFill>
                  <a:srgbClr val="F4F6F8"/>
                </a:solidFill>
                <a:latin typeface="DejaVu Sans"/>
                <a:ea typeface="DejaVu Sans"/>
                <a:cs typeface="DejaVu Sans"/>
              </a:rPr>
              <a:t>Evidence becomes a requirement—or remains an assumption</a:t>
            </a:r>
          </a:p>
        </p:txBody>
      </p:sp>
      <p:sp>
        <p:nvSpPr>
          <p:cNvPr id="3" name="">
            <a:extLst xmlns:a="http://schemas.openxmlformats.org/drawingml/2006/main">
              <a:ext uri="{FF2B5EF4-FFF2-40B4-BE49-F238E27FC236}">
                <a16:creationId xmlns:a16="http://schemas.microsoft.com/office/drawing/2014/main" id="{28B65551-EA64-455E-8EED-AC38D4E59004}"/>
              </a:ext>
            </a:extLst>
          </p:cNvPr>
          <p:cNvSpPr>
            <a:spLocks xmlns:a="http://schemas.openxmlformats.org/drawingml/2006/main" noGrp="1"/>
          </p:cNvSpPr>
          <p:nvPr/>
        </p:nvSpPr>
        <p:spPr>
          <a:xfrm xmlns:a="http://schemas.openxmlformats.org/drawingml/2006/main">
            <a:off x="628650" y="1238250"/>
            <a:ext cx="647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425" b="0">
                <a:solidFill>
                  <a:srgbClr val="8D99A3"/>
                </a:solidFill>
                <a:latin typeface="DejaVu Sans"/>
                <a:ea typeface="DejaVu Sans"/>
                <a:cs typeface="DejaVu Sans"/>
              </a:defRPr>
            </a:pPr>
            <a:r>
              <a:rPr sz="1425" b="0">
                <a:solidFill>
                  <a:srgbClr val="8D99A3"/>
                </a:solidFill>
                <a:latin typeface="DejaVu Sans"/>
                <a:ea typeface="DejaVu Sans"/>
                <a:cs typeface="DejaVu Sans"/>
              </a:rPr>
              <a:t>Illustrative translation of the ISRU evidence package. This is not a qualified design baseline.</a:t>
            </a:r>
          </a:p>
        </p:txBody>
      </p:sp>
      <p:sp>
        <p:nvSpPr>
          <p:cNvPr id="4" name="">
            <a:extLst xmlns:a="http://schemas.openxmlformats.org/drawingml/2006/main">
              <a:ext uri="{FF2B5EF4-FFF2-40B4-BE49-F238E27FC236}">
                <a16:creationId xmlns:a16="http://schemas.microsoft.com/office/drawing/2014/main" id="{36EAF84D-7208-4FB7-A7D0-CB6EE658B6B6}"/>
              </a:ext>
            </a:extLst>
          </p:cNvPr>
          <p:cNvSpPr>
            <a:spLocks xmlns:a="http://schemas.openxmlformats.org/drawingml/2006/main" noGrp="1"/>
          </p:cNvSpPr>
          <p:nvPr/>
        </p:nvSpPr>
        <p:spPr>
          <a:xfrm xmlns:a="http://schemas.openxmlformats.org/drawingml/2006/main">
            <a:off x="609600" y="1676400"/>
            <a:ext cx="10972800" cy="0"/>
          </a:xfrm>
          <a:prstGeom xmlns:a="http://schemas.openxmlformats.org/drawingml/2006/main" prst="line">
            <a:avLst/>
          </a:prstGeom>
          <a:noFill xmlns:a="http://schemas.openxmlformats.org/drawingml/2006/main"/>
          <a:ln xmlns:a="http://schemas.openxmlformats.org/drawingml/2006/main" w="9525">
            <a:solidFill>
              <a:srgbClr val="35414B"/>
            </a:solidFill>
            <a:prstDash val="solid"/>
          </a:ln>
        </p:spPr>
      </p:sp>
      <p:sp>
        <p:nvSpPr>
          <p:cNvPr id="5" name="">
            <a:extLst xmlns:a="http://schemas.openxmlformats.org/drawingml/2006/main">
              <a:ext uri="{FF2B5EF4-FFF2-40B4-BE49-F238E27FC236}">
                <a16:creationId xmlns:a16="http://schemas.microsoft.com/office/drawing/2014/main" id="{54BC0347-6C3C-4043-926E-5FF5B9571E52}"/>
              </a:ext>
            </a:extLst>
          </p:cNvPr>
          <p:cNvSpPr>
            <a:spLocks xmlns:a="http://schemas.openxmlformats.org/drawingml/2006/main" noGrp="1"/>
          </p:cNvSpPr>
          <p:nvPr/>
        </p:nvSpPr>
        <p:spPr>
          <a:xfrm xmlns:a="http://schemas.openxmlformats.org/drawingml/2006/main">
            <a:off x="7372350" y="1238250"/>
            <a:ext cx="4191000" cy="342900"/>
          </a:xfrm>
          <a:prstGeom xmlns:a="http://schemas.openxmlformats.org/drawingml/2006/main" prst="roundRect">
            <a:avLst>
              <a:gd name="adj" fmla="val 25000"/>
            </a:avLst>
          </a:prstGeom>
          <a:solidFill xmlns:a="http://schemas.openxmlformats.org/drawingml/2006/main">
            <a:srgbClr val="181309"/>
          </a:solidFill>
          <a:ln xmlns:a="http://schemas.openxmlformats.org/drawingml/2006/main" w="9525">
            <a:solidFill>
              <a:srgbClr val="FFC857">
                <a:alpha val="55000"/>
              </a:srgbClr>
            </a:solidFill>
            <a:prstDash val="solid"/>
          </a:ln>
        </p:spPr>
        <p:txBody>
          <a:bodyPr xmlns:a="http://schemas.openxmlformats.org/drawingml/2006/main" wrap="square" lIns="47625" tIns="19050" rIns="47625" bIns="19050" anchor="ctr">
            <a:noAutofit/>
          </a:bodyPr>
          <a:lstStyle xmlns:a="http://schemas.openxmlformats.org/drawingml/2006/main"/>
          <a:p xmlns:a="http://schemas.openxmlformats.org/drawingml/2006/main">
            <a:pPr algn="ctr">
              <a:lnSpc>
                <a:spcPct val="95000"/>
              </a:lnSpc>
              <a:buNone/>
              <a:defRPr sz="975" b="1">
                <a:solidFill>
                  <a:srgbClr val="FFC857"/>
                </a:solidFill>
                <a:latin typeface="DejaVu Sans Mono"/>
                <a:ea typeface="DejaVu Sans Mono"/>
                <a:cs typeface="DejaVu Sans Mono"/>
              </a:defRPr>
            </a:pPr>
            <a:r>
              <a:rPr sz="975" b="1">
                <a:solidFill>
                  <a:srgbClr val="FFC857"/>
                </a:solidFill>
                <a:latin typeface="DejaVu Sans Mono"/>
                <a:ea typeface="DejaVu Sans Mono"/>
                <a:cs typeface="DejaVu Sans Mono"/>
              </a:rPr>
              <a:t>ILLUSTRATIVE • REPLACE WITH REVIEWED HARNESS OUTPUT</a:t>
            </a:r>
          </a:p>
        </p:txBody>
      </p:sp>
      <p:sp>
        <p:nvSpPr>
          <p:cNvPr id="6" name="">
            <a:extLst xmlns:a="http://schemas.openxmlformats.org/drawingml/2006/main">
              <a:ext uri="{FF2B5EF4-FFF2-40B4-BE49-F238E27FC236}">
                <a16:creationId xmlns:a16="http://schemas.microsoft.com/office/drawing/2014/main" id="{1A3036DA-23E0-4C66-A273-0B806927A70C}"/>
              </a:ext>
            </a:extLst>
          </p:cNvPr>
          <p:cNvSpPr>
            <a:spLocks xmlns:a="http://schemas.openxmlformats.org/drawingml/2006/main" noGrp="1"/>
          </p:cNvSpPr>
          <p:nvPr/>
        </p:nvSpPr>
        <p:spPr>
          <a:xfrm xmlns:a="http://schemas.openxmlformats.org/drawingml/2006/main">
            <a:off x="685800" y="182880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975" b="1">
                <a:solidFill>
                  <a:srgbClr val="39D7FF"/>
                </a:solidFill>
                <a:latin typeface="DejaVu Sans Mono"/>
                <a:ea typeface="DejaVu Sans Mono"/>
                <a:cs typeface="DejaVu Sans Mono"/>
              </a:defRPr>
            </a:pPr>
            <a:r>
              <a:rPr sz="975" b="1">
                <a:solidFill>
                  <a:srgbClr val="39D7FF"/>
                </a:solidFill>
                <a:latin typeface="DejaVu Sans Mono"/>
                <a:ea typeface="DejaVu Sans Mono"/>
                <a:cs typeface="DejaVu Sans Mono"/>
              </a:rPr>
              <a:t>EVIDENCE</a:t>
            </a:r>
          </a:p>
        </p:txBody>
      </p:sp>
      <p:sp>
        <p:nvSpPr>
          <p:cNvPr id="7" name="">
            <a:extLst xmlns:a="http://schemas.openxmlformats.org/drawingml/2006/main">
              <a:ext uri="{FF2B5EF4-FFF2-40B4-BE49-F238E27FC236}">
                <a16:creationId xmlns:a16="http://schemas.microsoft.com/office/drawing/2014/main" id="{35784AE3-557B-4FE6-B9B1-A103BD908AA1}"/>
              </a:ext>
            </a:extLst>
          </p:cNvPr>
          <p:cNvSpPr>
            <a:spLocks xmlns:a="http://schemas.openxmlformats.org/drawingml/2006/main" noGrp="1"/>
          </p:cNvSpPr>
          <p:nvPr/>
        </p:nvSpPr>
        <p:spPr>
          <a:xfrm xmlns:a="http://schemas.openxmlformats.org/drawingml/2006/main">
            <a:off x="3467100" y="182880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975" b="1">
                <a:solidFill>
                  <a:srgbClr val="F26B38"/>
                </a:solidFill>
                <a:latin typeface="DejaVu Sans Mono"/>
                <a:ea typeface="DejaVu Sans Mono"/>
                <a:cs typeface="DejaVu Sans Mono"/>
              </a:defRPr>
            </a:pPr>
            <a:r>
              <a:rPr sz="975" b="1">
                <a:solidFill>
                  <a:srgbClr val="F26B38"/>
                </a:solidFill>
                <a:latin typeface="DejaVu Sans Mono"/>
                <a:ea typeface="DejaVu Sans Mono"/>
                <a:cs typeface="DejaVu Sans Mono"/>
              </a:rPr>
              <a:t>REQUIREMENT</a:t>
            </a:r>
          </a:p>
        </p:txBody>
      </p:sp>
      <p:sp>
        <p:nvSpPr>
          <p:cNvPr id="8" name="">
            <a:extLst xmlns:a="http://schemas.openxmlformats.org/drawingml/2006/main">
              <a:ext uri="{FF2B5EF4-FFF2-40B4-BE49-F238E27FC236}">
                <a16:creationId xmlns:a16="http://schemas.microsoft.com/office/drawing/2014/main" id="{A18E87BD-130B-4B72-A4F3-578EAB0E0356}"/>
              </a:ext>
            </a:extLst>
          </p:cNvPr>
          <p:cNvSpPr>
            <a:spLocks xmlns:a="http://schemas.openxmlformats.org/drawingml/2006/main" noGrp="1"/>
          </p:cNvSpPr>
          <p:nvPr/>
        </p:nvSpPr>
        <p:spPr>
          <a:xfrm xmlns:a="http://schemas.openxmlformats.org/drawingml/2006/main">
            <a:off x="9296400" y="182880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95000"/>
              </a:lnSpc>
              <a:buNone/>
              <a:defRPr sz="975" b="1">
                <a:solidFill>
                  <a:srgbClr val="62D6A7"/>
                </a:solidFill>
                <a:latin typeface="DejaVu Sans Mono"/>
                <a:ea typeface="DejaVu Sans Mono"/>
                <a:cs typeface="DejaVu Sans Mono"/>
              </a:defRPr>
            </a:pPr>
            <a:r>
              <a:rPr sz="975" b="1">
                <a:solidFill>
                  <a:srgbClr val="62D6A7"/>
                </a:solidFill>
                <a:latin typeface="DejaVu Sans Mono"/>
                <a:ea typeface="DejaVu Sans Mono"/>
                <a:cs typeface="DejaVu Sans Mono"/>
              </a:rPr>
              <a:t>VERIFICATION</a:t>
            </a:r>
          </a:p>
        </p:txBody>
      </p:sp>
      <p:sp>
        <p:nvSpPr>
          <p:cNvPr id="9" name="">
            <a:extLst xmlns:a="http://schemas.openxmlformats.org/drawingml/2006/main">
              <a:ext uri="{FF2B5EF4-FFF2-40B4-BE49-F238E27FC236}">
                <a16:creationId xmlns:a16="http://schemas.microsoft.com/office/drawing/2014/main" id="{48B735D8-D9BB-4371-A5B1-789048BD64C0}"/>
              </a:ext>
            </a:extLst>
          </p:cNvPr>
          <p:cNvSpPr>
            <a:spLocks xmlns:a="http://schemas.openxmlformats.org/drawingml/2006/main" noGrp="1"/>
          </p:cNvSpPr>
          <p:nvPr/>
        </p:nvSpPr>
        <p:spPr>
          <a:xfrm xmlns:a="http://schemas.openxmlformats.org/drawingml/2006/main">
            <a:off x="628650" y="2152650"/>
            <a:ext cx="10858500" cy="9525"/>
          </a:xfrm>
          <a:prstGeom xmlns:a="http://schemas.openxmlformats.org/drawingml/2006/main" prst="rect">
            <a:avLst/>
          </a:prstGeom>
          <a:solidFill xmlns:a="http://schemas.openxmlformats.org/drawingml/2006/main">
            <a:srgbClr val="3541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06401F5-CD67-46AF-9572-F75FB09EE29C}"/>
              </a:ext>
            </a:extLst>
          </p:cNvPr>
          <p:cNvSpPr>
            <a:spLocks xmlns:a="http://schemas.openxmlformats.org/drawingml/2006/main" noGrp="1"/>
          </p:cNvSpPr>
          <p:nvPr/>
        </p:nvSpPr>
        <p:spPr>
          <a:xfrm xmlns:a="http://schemas.openxmlformats.org/drawingml/2006/main">
            <a:off x="685800" y="2305050"/>
            <a:ext cx="1943100" cy="609600"/>
          </a:xfrm>
          <a:prstGeom xmlns:a="http://schemas.openxmlformats.org/drawingml/2006/main" prst="roundRect">
            <a:avLst>
              <a:gd name="adj" fmla="val 25000"/>
            </a:avLst>
          </a:prstGeom>
          <a:solidFill xmlns:a="http://schemas.openxmlformats.org/drawingml/2006/main">
            <a:srgbClr val="0E151A"/>
          </a:solidFill>
          <a:ln xmlns:a="http://schemas.openxmlformats.org/drawingml/2006/main" w="14288">
            <a:solidFill>
              <a:srgbClr val="62D6A7"/>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100000"/>
              </a:lnSpc>
              <a:buNone/>
              <a:defRPr sz="1125" b="1">
                <a:solidFill>
                  <a:srgbClr val="62D6A7"/>
                </a:solidFill>
                <a:latin typeface="DejaVu Sans"/>
                <a:ea typeface="DejaVu Sans"/>
                <a:cs typeface="DejaVu Sans"/>
              </a:defRPr>
            </a:pPr>
            <a:r>
              <a:rPr sz="1125" b="1">
                <a:solidFill>
                  <a:srgbClr val="62D6A7"/>
                </a:solidFill>
                <a:latin typeface="DejaVu Sans"/>
                <a:ea typeface="DejaVu Sans"/>
                <a:cs typeface="DejaVu Sans"/>
              </a:rPr>
              <a:t>MOXIE proof</a:t>
            </a:r>
          </a:p>
          <a:p xmlns:a="http://schemas.openxmlformats.org/drawingml/2006/main">
            <a:pPr algn="ctr">
              <a:lnSpc>
                <a:spcPct val="100000"/>
              </a:lnSpc>
              <a:buNone/>
              <a:defRPr sz="1125" b="1">
                <a:solidFill>
                  <a:srgbClr val="62D6A7"/>
                </a:solidFill>
                <a:latin typeface="DejaVu Sans"/>
                <a:ea typeface="DejaVu Sans"/>
                <a:cs typeface="DejaVu Sans"/>
              </a:defRPr>
            </a:pPr>
            <a:r>
              <a:rPr sz="1125" b="1">
                <a:solidFill>
                  <a:srgbClr val="62D6A7"/>
                </a:solidFill>
                <a:latin typeface="DejaVu Sans"/>
                <a:ea typeface="DejaVu Sans"/>
                <a:cs typeface="DejaVu Sans"/>
              </a:rPr>
              <a:t>of principle</a:t>
            </a:r>
          </a:p>
        </p:txBody>
      </p:sp>
      <p:sp>
        <p:nvSpPr>
          <p:cNvPr id="11" name="">
            <a:extLst xmlns:a="http://schemas.openxmlformats.org/drawingml/2006/main">
              <a:ext uri="{FF2B5EF4-FFF2-40B4-BE49-F238E27FC236}">
                <a16:creationId xmlns:a16="http://schemas.microsoft.com/office/drawing/2014/main" id="{AE998B39-D968-4F46-AAAF-996074C6C4A8}"/>
              </a:ext>
            </a:extLst>
          </p:cNvPr>
          <p:cNvSpPr>
            <a:spLocks xmlns:a="http://schemas.openxmlformats.org/drawingml/2006/main" noGrp="1"/>
          </p:cNvSpPr>
          <p:nvPr/>
        </p:nvSpPr>
        <p:spPr>
          <a:xfrm xmlns:a="http://schemas.openxmlformats.org/drawingml/2006/main" rot="0">
            <a:off x="2743200" y="2505075"/>
            <a:ext cx="590550" cy="171450"/>
          </a:xfrm>
          <a:prstGeom xmlns:a="http://schemas.openxmlformats.org/drawingml/2006/main" prst="rightArrow">
            <a:avLst/>
          </a:prstGeom>
          <a:solidFill xmlns:a="http://schemas.openxmlformats.org/drawingml/2006/main">
            <a:srgbClr val="62D6A7">
              <a:alpha val="55000"/>
            </a:srgbClr>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207BB4C-A2D5-4A83-873C-9EB8DE5CC80F}"/>
              </a:ext>
            </a:extLst>
          </p:cNvPr>
          <p:cNvSpPr>
            <a:spLocks xmlns:a="http://schemas.openxmlformats.org/drawingml/2006/main" noGrp="1"/>
          </p:cNvSpPr>
          <p:nvPr/>
        </p:nvSpPr>
        <p:spPr>
          <a:xfrm xmlns:a="http://schemas.openxmlformats.org/drawingml/2006/main">
            <a:off x="3467100" y="2305050"/>
            <a:ext cx="1295400" cy="323850"/>
          </a:xfrm>
          <a:prstGeom xmlns:a="http://schemas.openxmlformats.org/drawingml/2006/main" prst="roundRect">
            <a:avLst>
              <a:gd name="adj" fmla="val 26471"/>
            </a:avLst>
          </a:prstGeom>
          <a:solidFill xmlns:a="http://schemas.openxmlformats.org/drawingml/2006/main">
            <a:srgbClr val="18120F"/>
          </a:solidFill>
          <a:ln xmlns:a="http://schemas.openxmlformats.org/drawingml/2006/main" w="9525">
            <a:solidFill>
              <a:srgbClr val="F26B38">
                <a:alpha val="55000"/>
              </a:srgbClr>
            </a:solidFill>
            <a:prstDash val="solid"/>
          </a:ln>
        </p:spPr>
        <p:txBody>
          <a:bodyPr xmlns:a="http://schemas.openxmlformats.org/drawingml/2006/main" wrap="square" lIns="47625" tIns="19050" rIns="47625" bIns="19050" anchor="ctr">
            <a:noAutofit/>
          </a:bodyPr>
          <a:lstStyle xmlns:a="http://schemas.openxmlformats.org/drawingml/2006/main"/>
          <a:p xmlns:a="http://schemas.openxmlformats.org/drawingml/2006/main">
            <a:pPr algn="ctr">
              <a:lnSpc>
                <a:spcPct val="95000"/>
              </a:lnSpc>
              <a:buNone/>
              <a:defRPr sz="975" b="1">
                <a:solidFill>
                  <a:srgbClr val="F26B38"/>
                </a:solidFill>
                <a:latin typeface="DejaVu Sans Mono"/>
                <a:ea typeface="DejaVu Sans Mono"/>
                <a:cs typeface="DejaVu Sans Mono"/>
              </a:defRPr>
            </a:pPr>
            <a:r>
              <a:rPr sz="975" b="1">
                <a:solidFill>
                  <a:srgbClr val="F26B38"/>
                </a:solidFill>
                <a:latin typeface="DejaVu Sans Mono"/>
                <a:ea typeface="DejaVu Sans Mono"/>
                <a:cs typeface="DejaVu Sans Mono"/>
              </a:rPr>
              <a:t>REQ-PROD-01</a:t>
            </a:r>
          </a:p>
        </p:txBody>
      </p:sp>
      <p:sp>
        <p:nvSpPr>
          <p:cNvPr id="13" name="">
            <a:extLst xmlns:a="http://schemas.openxmlformats.org/drawingml/2006/main">
              <a:ext uri="{FF2B5EF4-FFF2-40B4-BE49-F238E27FC236}">
                <a16:creationId xmlns:a16="http://schemas.microsoft.com/office/drawing/2014/main" id="{44BE0574-CA64-4FDB-84A1-C0CDBCC6AD85}"/>
              </a:ext>
            </a:extLst>
          </p:cNvPr>
          <p:cNvSpPr>
            <a:spLocks xmlns:a="http://schemas.openxmlformats.org/drawingml/2006/main" noGrp="1"/>
          </p:cNvSpPr>
          <p:nvPr/>
        </p:nvSpPr>
        <p:spPr>
          <a:xfrm xmlns:a="http://schemas.openxmlformats.org/drawingml/2006/main">
            <a:off x="4933950" y="2305050"/>
            <a:ext cx="3905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5000"/>
              </a:lnSpc>
              <a:buNone/>
              <a:defRPr sz="1275" b="1">
                <a:solidFill>
                  <a:srgbClr val="F4F6F8"/>
                </a:solidFill>
                <a:latin typeface="DejaVu Sans"/>
                <a:ea typeface="DejaVu Sans"/>
                <a:cs typeface="DejaVu Sans"/>
              </a:defRPr>
            </a:pPr>
            <a:r>
              <a:rPr sz="1275" b="1">
                <a:solidFill>
                  <a:srgbClr val="F4F6F8"/>
                </a:solidFill>
                <a:latin typeface="DejaVu Sans"/>
                <a:ea typeface="DejaVu Sans"/>
                <a:cs typeface="DejaVu Sans"/>
              </a:rPr>
              <a:t>Meet mission-defined oxygen demand with qualified margin.</a:t>
            </a:r>
          </a:p>
        </p:txBody>
      </p:sp>
      <p:sp>
        <p:nvSpPr>
          <p:cNvPr id="14" name="">
            <a:extLst xmlns:a="http://schemas.openxmlformats.org/drawingml/2006/main">
              <a:ext uri="{FF2B5EF4-FFF2-40B4-BE49-F238E27FC236}">
                <a16:creationId xmlns:a16="http://schemas.microsoft.com/office/drawing/2014/main" id="{C4C41294-01BF-48B2-BC3E-8E919B88E392}"/>
              </a:ext>
            </a:extLst>
          </p:cNvPr>
          <p:cNvSpPr>
            <a:spLocks xmlns:a="http://schemas.openxmlformats.org/drawingml/2006/main" noGrp="1"/>
          </p:cNvSpPr>
          <p:nvPr/>
        </p:nvSpPr>
        <p:spPr>
          <a:xfrm xmlns:a="http://schemas.openxmlformats.org/drawingml/2006/main" rot="0">
            <a:off x="8896350" y="2505075"/>
            <a:ext cx="457200" cy="171450"/>
          </a:xfrm>
          <a:prstGeom xmlns:a="http://schemas.openxmlformats.org/drawingml/2006/main" prst="rightArrow">
            <a:avLst/>
          </a:prstGeom>
          <a:solidFill xmlns:a="http://schemas.openxmlformats.org/drawingml/2006/main">
            <a:srgbClr val="62D6A7">
              <a:alpha val="55000"/>
            </a:srgbClr>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41C0F30-BF9D-470F-BD63-CDAAEA9B4E73}"/>
              </a:ext>
            </a:extLst>
          </p:cNvPr>
          <p:cNvSpPr>
            <a:spLocks xmlns:a="http://schemas.openxmlformats.org/drawingml/2006/main" noGrp="1"/>
          </p:cNvSpPr>
          <p:nvPr/>
        </p:nvSpPr>
        <p:spPr>
          <a:xfrm xmlns:a="http://schemas.openxmlformats.org/drawingml/2006/main">
            <a:off x="9448800" y="2276475"/>
            <a:ext cx="2038350" cy="647700"/>
          </a:xfrm>
          <a:prstGeom xmlns:a="http://schemas.openxmlformats.org/drawingml/2006/main" prst="roundRect">
            <a:avLst>
              <a:gd name="adj" fmla="val 23529"/>
            </a:avLst>
          </a:prstGeom>
          <a:solidFill xmlns:a="http://schemas.openxmlformats.org/drawingml/2006/main">
            <a:srgbClr val="101A17"/>
          </a:solidFill>
          <a:ln xmlns:a="http://schemas.openxmlformats.org/drawingml/2006/main" w="14288">
            <a:solidFill>
              <a:srgbClr val="62D6A7"/>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100000"/>
              </a:lnSpc>
              <a:buNone/>
              <a:defRPr sz="1125" b="1">
                <a:solidFill>
                  <a:srgbClr val="62D6A7"/>
                </a:solidFill>
                <a:latin typeface="DejaVu Sans"/>
                <a:ea typeface="DejaVu Sans"/>
                <a:cs typeface="DejaVu Sans"/>
              </a:defRPr>
            </a:pPr>
            <a:r>
              <a:rPr sz="1125" b="1">
                <a:solidFill>
                  <a:srgbClr val="62D6A7"/>
                </a:solidFill>
                <a:latin typeface="DejaVu Sans"/>
                <a:ea typeface="DejaVu Sans"/>
                <a:cs typeface="DejaVu Sans"/>
              </a:rPr>
              <a:t>Integrated endurance</a:t>
            </a:r>
          </a:p>
          <a:p xmlns:a="http://schemas.openxmlformats.org/drawingml/2006/main">
            <a:pPr algn="ctr">
              <a:lnSpc>
                <a:spcPct val="100000"/>
              </a:lnSpc>
              <a:buNone/>
              <a:defRPr sz="1125" b="1">
                <a:solidFill>
                  <a:srgbClr val="62D6A7"/>
                </a:solidFill>
                <a:latin typeface="DejaVu Sans"/>
                <a:ea typeface="DejaVu Sans"/>
                <a:cs typeface="DejaVu Sans"/>
              </a:defRPr>
            </a:pPr>
            <a:r>
              <a:rPr sz="1125" b="1">
                <a:solidFill>
                  <a:srgbClr val="62D6A7"/>
                </a:solidFill>
                <a:latin typeface="DejaVu Sans"/>
                <a:ea typeface="DejaVu Sans"/>
                <a:cs typeface="DejaVu Sans"/>
              </a:rPr>
              <a:t>demonstration</a:t>
            </a:r>
          </a:p>
        </p:txBody>
      </p:sp>
      <p:sp>
        <p:nvSpPr>
          <p:cNvPr id="16" name="">
            <a:extLst xmlns:a="http://schemas.openxmlformats.org/drawingml/2006/main">
              <a:ext uri="{FF2B5EF4-FFF2-40B4-BE49-F238E27FC236}">
                <a16:creationId xmlns:a16="http://schemas.microsoft.com/office/drawing/2014/main" id="{BF869C1E-F856-463F-BFFA-8FA7708D672A}"/>
              </a:ext>
            </a:extLst>
          </p:cNvPr>
          <p:cNvSpPr>
            <a:spLocks xmlns:a="http://schemas.openxmlformats.org/drawingml/2006/main" noGrp="1"/>
          </p:cNvSpPr>
          <p:nvPr/>
        </p:nvSpPr>
        <p:spPr>
          <a:xfrm xmlns:a="http://schemas.openxmlformats.org/drawingml/2006/main">
            <a:off x="628650" y="3086100"/>
            <a:ext cx="10858500" cy="9525"/>
          </a:xfrm>
          <a:prstGeom xmlns:a="http://schemas.openxmlformats.org/drawingml/2006/main" prst="rect">
            <a:avLst/>
          </a:prstGeom>
          <a:solidFill xmlns:a="http://schemas.openxmlformats.org/drawingml/2006/main">
            <a:srgbClr val="35414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22DC126-999C-4B66-ACC5-3F098189E12A}"/>
              </a:ext>
            </a:extLst>
          </p:cNvPr>
          <p:cNvSpPr>
            <a:spLocks xmlns:a="http://schemas.openxmlformats.org/drawingml/2006/main" noGrp="1"/>
          </p:cNvSpPr>
          <p:nvPr/>
        </p:nvSpPr>
        <p:spPr>
          <a:xfrm xmlns:a="http://schemas.openxmlformats.org/drawingml/2006/main">
            <a:off x="685800" y="3238500"/>
            <a:ext cx="1943100" cy="609600"/>
          </a:xfrm>
          <a:prstGeom xmlns:a="http://schemas.openxmlformats.org/drawingml/2006/main" prst="roundRect">
            <a:avLst>
              <a:gd name="adj" fmla="val 25000"/>
            </a:avLst>
          </a:prstGeom>
          <a:solidFill xmlns:a="http://schemas.openxmlformats.org/drawingml/2006/main">
            <a:srgbClr val="0E151A"/>
          </a:solidFill>
          <a:ln xmlns:a="http://schemas.openxmlformats.org/drawingml/2006/main" w="14288">
            <a:solidFill>
              <a:srgbClr val="39D7FF"/>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100000"/>
              </a:lnSpc>
              <a:buNone/>
              <a:defRPr sz="1125" b="1">
                <a:solidFill>
                  <a:srgbClr val="39D7FF"/>
                </a:solidFill>
                <a:latin typeface="DejaVu Sans"/>
                <a:ea typeface="DejaVu Sans"/>
                <a:cs typeface="DejaVu Sans"/>
              </a:defRPr>
            </a:pPr>
            <a:r>
              <a:rPr sz="1125" b="1">
                <a:solidFill>
                  <a:srgbClr val="39D7FF"/>
                </a:solidFill>
                <a:latin typeface="DejaVu Sans"/>
                <a:ea typeface="DejaVu Sans"/>
                <a:cs typeface="DejaVu Sans"/>
              </a:rPr>
              <a:t>Thin CO₂ atmosphere</a:t>
            </a:r>
          </a:p>
          <a:p xmlns:a="http://schemas.openxmlformats.org/drawingml/2006/main">
            <a:pPr algn="ctr">
              <a:lnSpc>
                <a:spcPct val="100000"/>
              </a:lnSpc>
              <a:buNone/>
              <a:defRPr sz="1125" b="1">
                <a:solidFill>
                  <a:srgbClr val="39D7FF"/>
                </a:solidFill>
                <a:latin typeface="DejaVu Sans"/>
                <a:ea typeface="DejaVu Sans"/>
                <a:cs typeface="DejaVu Sans"/>
              </a:defRPr>
            </a:pPr>
            <a:r>
              <a:rPr sz="1125" b="1">
                <a:solidFill>
                  <a:srgbClr val="39D7FF"/>
                </a:solidFill>
                <a:latin typeface="DejaVu Sans"/>
                <a:ea typeface="DejaVu Sans"/>
                <a:cs typeface="DejaVu Sans"/>
              </a:rPr>
              <a:t>+ inlet variability</a:t>
            </a:r>
          </a:p>
        </p:txBody>
      </p:sp>
      <p:sp>
        <p:nvSpPr>
          <p:cNvPr id="18" name="">
            <a:extLst xmlns:a="http://schemas.openxmlformats.org/drawingml/2006/main">
              <a:ext uri="{FF2B5EF4-FFF2-40B4-BE49-F238E27FC236}">
                <a16:creationId xmlns:a16="http://schemas.microsoft.com/office/drawing/2014/main" id="{5B107325-29CF-487F-8440-880D6F244D93}"/>
              </a:ext>
            </a:extLst>
          </p:cNvPr>
          <p:cNvSpPr>
            <a:spLocks xmlns:a="http://schemas.openxmlformats.org/drawingml/2006/main" noGrp="1"/>
          </p:cNvSpPr>
          <p:nvPr/>
        </p:nvSpPr>
        <p:spPr>
          <a:xfrm xmlns:a="http://schemas.openxmlformats.org/drawingml/2006/main" rot="0">
            <a:off x="2743200" y="3438525"/>
            <a:ext cx="590550" cy="171450"/>
          </a:xfrm>
          <a:prstGeom xmlns:a="http://schemas.openxmlformats.org/drawingml/2006/main" prst="rightArrow">
            <a:avLst/>
          </a:prstGeom>
          <a:solidFill xmlns:a="http://schemas.openxmlformats.org/drawingml/2006/main">
            <a:srgbClr val="39D7FF">
              <a:alpha val="55000"/>
            </a:srgbClr>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B0B21E1-F22E-458C-92EF-17B436A6B956}"/>
              </a:ext>
            </a:extLst>
          </p:cNvPr>
          <p:cNvSpPr>
            <a:spLocks xmlns:a="http://schemas.openxmlformats.org/drawingml/2006/main" noGrp="1"/>
          </p:cNvSpPr>
          <p:nvPr/>
        </p:nvSpPr>
        <p:spPr>
          <a:xfrm xmlns:a="http://schemas.openxmlformats.org/drawingml/2006/main">
            <a:off x="3467100" y="3238500"/>
            <a:ext cx="1295400" cy="323850"/>
          </a:xfrm>
          <a:prstGeom xmlns:a="http://schemas.openxmlformats.org/drawingml/2006/main" prst="roundRect">
            <a:avLst>
              <a:gd name="adj" fmla="val 26471"/>
            </a:avLst>
          </a:prstGeom>
          <a:solidFill xmlns:a="http://schemas.openxmlformats.org/drawingml/2006/main">
            <a:srgbClr val="18120F"/>
          </a:solidFill>
          <a:ln xmlns:a="http://schemas.openxmlformats.org/drawingml/2006/main" w="9525">
            <a:solidFill>
              <a:srgbClr val="F26B38">
                <a:alpha val="55000"/>
              </a:srgbClr>
            </a:solidFill>
            <a:prstDash val="solid"/>
          </a:ln>
        </p:spPr>
        <p:txBody>
          <a:bodyPr xmlns:a="http://schemas.openxmlformats.org/drawingml/2006/main" wrap="square" lIns="47625" tIns="19050" rIns="47625" bIns="19050" anchor="ctr">
            <a:noAutofit/>
          </a:bodyPr>
          <a:lstStyle xmlns:a="http://schemas.openxmlformats.org/drawingml/2006/main"/>
          <a:p xmlns:a="http://schemas.openxmlformats.org/drawingml/2006/main">
            <a:pPr algn="ctr">
              <a:lnSpc>
                <a:spcPct val="95000"/>
              </a:lnSpc>
              <a:buNone/>
              <a:defRPr sz="975" b="1">
                <a:solidFill>
                  <a:srgbClr val="F26B38"/>
                </a:solidFill>
                <a:latin typeface="DejaVu Sans Mono"/>
                <a:ea typeface="DejaVu Sans Mono"/>
                <a:cs typeface="DejaVu Sans Mono"/>
              </a:defRPr>
            </a:pPr>
            <a:r>
              <a:rPr sz="975" b="1">
                <a:solidFill>
                  <a:srgbClr val="F26B38"/>
                </a:solidFill>
                <a:latin typeface="DejaVu Sans Mono"/>
                <a:ea typeface="DejaVu Sans Mono"/>
                <a:cs typeface="DejaVu Sans Mono"/>
              </a:rPr>
              <a:t>REQ-ENV-02</a:t>
            </a:r>
          </a:p>
        </p:txBody>
      </p:sp>
      <p:sp>
        <p:nvSpPr>
          <p:cNvPr id="20" name="">
            <a:extLst xmlns:a="http://schemas.openxmlformats.org/drawingml/2006/main">
              <a:ext uri="{FF2B5EF4-FFF2-40B4-BE49-F238E27FC236}">
                <a16:creationId xmlns:a16="http://schemas.microsoft.com/office/drawing/2014/main" id="{92698CB3-887C-4146-9761-7A463DC1D57C}"/>
              </a:ext>
            </a:extLst>
          </p:cNvPr>
          <p:cNvSpPr>
            <a:spLocks xmlns:a="http://schemas.openxmlformats.org/drawingml/2006/main" noGrp="1"/>
          </p:cNvSpPr>
          <p:nvPr/>
        </p:nvSpPr>
        <p:spPr>
          <a:xfrm xmlns:a="http://schemas.openxmlformats.org/drawingml/2006/main">
            <a:off x="4933950" y="3238500"/>
            <a:ext cx="3905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5000"/>
              </a:lnSpc>
              <a:buNone/>
              <a:defRPr sz="1275" b="1">
                <a:solidFill>
                  <a:srgbClr val="F4F6F8"/>
                </a:solidFill>
                <a:latin typeface="DejaVu Sans"/>
                <a:ea typeface="DejaVu Sans"/>
                <a:cs typeface="DejaVu Sans"/>
              </a:defRPr>
            </a:pPr>
            <a:r>
              <a:rPr sz="1275" b="1">
                <a:solidFill>
                  <a:srgbClr val="F4F6F8"/>
                </a:solidFill>
                <a:latin typeface="DejaVu Sans"/>
                <a:ea typeface="DejaVu Sans"/>
                <a:cs typeface="DejaVu Sans"/>
              </a:rPr>
              <a:t>Operate across the qualified inlet pressure and composition envelope.</a:t>
            </a:r>
          </a:p>
        </p:txBody>
      </p:sp>
      <p:sp>
        <p:nvSpPr>
          <p:cNvPr id="21" name="">
            <a:extLst xmlns:a="http://schemas.openxmlformats.org/drawingml/2006/main">
              <a:ext uri="{FF2B5EF4-FFF2-40B4-BE49-F238E27FC236}">
                <a16:creationId xmlns:a16="http://schemas.microsoft.com/office/drawing/2014/main" id="{C5186DED-DD5E-4B0E-93B1-59B8F2B7B5A5}"/>
              </a:ext>
            </a:extLst>
          </p:cNvPr>
          <p:cNvSpPr>
            <a:spLocks xmlns:a="http://schemas.openxmlformats.org/drawingml/2006/main" noGrp="1"/>
          </p:cNvSpPr>
          <p:nvPr/>
        </p:nvSpPr>
        <p:spPr>
          <a:xfrm xmlns:a="http://schemas.openxmlformats.org/drawingml/2006/main" rot="0">
            <a:off x="8896350" y="3438525"/>
            <a:ext cx="457200" cy="171450"/>
          </a:xfrm>
          <a:prstGeom xmlns:a="http://schemas.openxmlformats.org/drawingml/2006/main" prst="rightArrow">
            <a:avLst/>
          </a:prstGeom>
          <a:solidFill xmlns:a="http://schemas.openxmlformats.org/drawingml/2006/main">
            <a:srgbClr val="62D6A7">
              <a:alpha val="55000"/>
            </a:srgbClr>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E9FE1DB-DA2E-4BC8-AB94-F95731E3C9E1}"/>
              </a:ext>
            </a:extLst>
          </p:cNvPr>
          <p:cNvSpPr>
            <a:spLocks xmlns:a="http://schemas.openxmlformats.org/drawingml/2006/main" noGrp="1"/>
          </p:cNvSpPr>
          <p:nvPr/>
        </p:nvSpPr>
        <p:spPr>
          <a:xfrm xmlns:a="http://schemas.openxmlformats.org/drawingml/2006/main">
            <a:off x="9448800" y="3209925"/>
            <a:ext cx="2038350" cy="647700"/>
          </a:xfrm>
          <a:prstGeom xmlns:a="http://schemas.openxmlformats.org/drawingml/2006/main" prst="roundRect">
            <a:avLst>
              <a:gd name="adj" fmla="val 23529"/>
            </a:avLst>
          </a:prstGeom>
          <a:solidFill xmlns:a="http://schemas.openxmlformats.org/drawingml/2006/main">
            <a:srgbClr val="101A17"/>
          </a:solidFill>
          <a:ln xmlns:a="http://schemas.openxmlformats.org/drawingml/2006/main" w="14288">
            <a:solidFill>
              <a:srgbClr val="62D6A7"/>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100000"/>
              </a:lnSpc>
              <a:buNone/>
              <a:defRPr sz="1125" b="1">
                <a:solidFill>
                  <a:srgbClr val="62D6A7"/>
                </a:solidFill>
                <a:latin typeface="DejaVu Sans"/>
                <a:ea typeface="DejaVu Sans"/>
                <a:cs typeface="DejaVu Sans"/>
              </a:defRPr>
            </a:pPr>
            <a:r>
              <a:rPr sz="1125" b="1">
                <a:solidFill>
                  <a:srgbClr val="62D6A7"/>
                </a:solidFill>
                <a:latin typeface="DejaVu Sans"/>
                <a:ea typeface="DejaVu Sans"/>
                <a:cs typeface="DejaVu Sans"/>
              </a:rPr>
              <a:t>Mars-atmosphere</a:t>
            </a:r>
          </a:p>
          <a:p xmlns:a="http://schemas.openxmlformats.org/drawingml/2006/main">
            <a:pPr algn="ctr">
              <a:lnSpc>
                <a:spcPct val="100000"/>
              </a:lnSpc>
              <a:buNone/>
              <a:defRPr sz="1125" b="1">
                <a:solidFill>
                  <a:srgbClr val="62D6A7"/>
                </a:solidFill>
                <a:latin typeface="DejaVu Sans"/>
                <a:ea typeface="DejaVu Sans"/>
                <a:cs typeface="DejaVu Sans"/>
              </a:defRPr>
            </a:pPr>
            <a:r>
              <a:rPr sz="1125" b="1">
                <a:solidFill>
                  <a:srgbClr val="62D6A7"/>
                </a:solidFill>
                <a:latin typeface="DejaVu Sans"/>
                <a:ea typeface="DejaVu Sans"/>
                <a:cs typeface="DejaVu Sans"/>
              </a:rPr>
              <a:t>chamber profile</a:t>
            </a:r>
          </a:p>
        </p:txBody>
      </p:sp>
      <p:sp>
        <p:nvSpPr>
          <p:cNvPr id="23" name="">
            <a:extLst xmlns:a="http://schemas.openxmlformats.org/drawingml/2006/main">
              <a:ext uri="{FF2B5EF4-FFF2-40B4-BE49-F238E27FC236}">
                <a16:creationId xmlns:a16="http://schemas.microsoft.com/office/drawing/2014/main" id="{42C107DE-64F1-43DB-8E3F-7D4C9211401E}"/>
              </a:ext>
            </a:extLst>
          </p:cNvPr>
          <p:cNvSpPr>
            <a:spLocks xmlns:a="http://schemas.openxmlformats.org/drawingml/2006/main" noGrp="1"/>
          </p:cNvSpPr>
          <p:nvPr/>
        </p:nvSpPr>
        <p:spPr>
          <a:xfrm xmlns:a="http://schemas.openxmlformats.org/drawingml/2006/main">
            <a:off x="628650" y="4019550"/>
            <a:ext cx="10858500" cy="9525"/>
          </a:xfrm>
          <a:prstGeom xmlns:a="http://schemas.openxmlformats.org/drawingml/2006/main" prst="rect">
            <a:avLst/>
          </a:prstGeom>
          <a:solidFill xmlns:a="http://schemas.openxmlformats.org/drawingml/2006/main">
            <a:srgbClr val="35414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3BBDE99-0C92-4EFF-A3C7-39D2FE60C48C}"/>
              </a:ext>
            </a:extLst>
          </p:cNvPr>
          <p:cNvSpPr>
            <a:spLocks xmlns:a="http://schemas.openxmlformats.org/drawingml/2006/main" noGrp="1"/>
          </p:cNvSpPr>
          <p:nvPr/>
        </p:nvSpPr>
        <p:spPr>
          <a:xfrm xmlns:a="http://schemas.openxmlformats.org/drawingml/2006/main">
            <a:off x="685800" y="4171950"/>
            <a:ext cx="1943100" cy="609600"/>
          </a:xfrm>
          <a:prstGeom xmlns:a="http://schemas.openxmlformats.org/drawingml/2006/main" prst="roundRect">
            <a:avLst>
              <a:gd name="adj" fmla="val 25000"/>
            </a:avLst>
          </a:prstGeom>
          <a:solidFill xmlns:a="http://schemas.openxmlformats.org/drawingml/2006/main">
            <a:srgbClr val="0E151A"/>
          </a:solidFill>
          <a:ln xmlns:a="http://schemas.openxmlformats.org/drawingml/2006/main" w="14288">
            <a:solidFill>
              <a:srgbClr val="FFC857"/>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100000"/>
              </a:lnSpc>
              <a:buNone/>
              <a:defRPr sz="1125" b="1">
                <a:solidFill>
                  <a:srgbClr val="FFC857"/>
                </a:solidFill>
                <a:latin typeface="DejaVu Sans"/>
                <a:ea typeface="DejaVu Sans"/>
                <a:cs typeface="DejaVu Sans"/>
              </a:defRPr>
            </a:pPr>
            <a:r>
              <a:rPr sz="1125" b="1">
                <a:solidFill>
                  <a:srgbClr val="FFC857"/>
                </a:solidFill>
                <a:latin typeface="DejaVu Sans"/>
                <a:ea typeface="DejaVu Sans"/>
                <a:cs typeface="DejaVu Sans"/>
              </a:rPr>
              <a:t>Dust hazard</a:t>
            </a:r>
          </a:p>
          <a:p xmlns:a="http://schemas.openxmlformats.org/drawingml/2006/main">
            <a:pPr algn="ctr">
              <a:lnSpc>
                <a:spcPct val="100000"/>
              </a:lnSpc>
              <a:buNone/>
              <a:defRPr sz="1125" b="1">
                <a:solidFill>
                  <a:srgbClr val="FFC857"/>
                </a:solidFill>
                <a:latin typeface="DejaVu Sans"/>
                <a:ea typeface="DejaVu Sans"/>
                <a:cs typeface="DejaVu Sans"/>
              </a:defRPr>
            </a:pPr>
            <a:r>
              <a:rPr sz="1125" b="1">
                <a:solidFill>
                  <a:srgbClr val="FFC857"/>
                </a:solidFill>
                <a:latin typeface="DejaVu Sans"/>
                <a:ea typeface="DejaVu Sans"/>
                <a:cs typeface="DejaVu Sans"/>
              </a:rPr>
              <a:t>remains open</a:t>
            </a:r>
          </a:p>
        </p:txBody>
      </p:sp>
      <p:sp>
        <p:nvSpPr>
          <p:cNvPr id="25" name="">
            <a:extLst xmlns:a="http://schemas.openxmlformats.org/drawingml/2006/main">
              <a:ext uri="{FF2B5EF4-FFF2-40B4-BE49-F238E27FC236}">
                <a16:creationId xmlns:a16="http://schemas.microsoft.com/office/drawing/2014/main" id="{F48EA131-01C6-45B8-A8F8-4F2AE31F7E47}"/>
              </a:ext>
            </a:extLst>
          </p:cNvPr>
          <p:cNvSpPr>
            <a:spLocks xmlns:a="http://schemas.openxmlformats.org/drawingml/2006/main" noGrp="1"/>
          </p:cNvSpPr>
          <p:nvPr/>
        </p:nvSpPr>
        <p:spPr>
          <a:xfrm xmlns:a="http://schemas.openxmlformats.org/drawingml/2006/main" rot="0">
            <a:off x="2743200" y="4371975"/>
            <a:ext cx="590550" cy="171450"/>
          </a:xfrm>
          <a:prstGeom xmlns:a="http://schemas.openxmlformats.org/drawingml/2006/main" prst="rightArrow">
            <a:avLst/>
          </a:prstGeom>
          <a:solidFill xmlns:a="http://schemas.openxmlformats.org/drawingml/2006/main">
            <a:srgbClr val="FFC857">
              <a:alpha val="55000"/>
            </a:srgbClr>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BD2EB3F-601B-45A1-BB83-5F5C4F3F09E0}"/>
              </a:ext>
            </a:extLst>
          </p:cNvPr>
          <p:cNvSpPr>
            <a:spLocks xmlns:a="http://schemas.openxmlformats.org/drawingml/2006/main" noGrp="1"/>
          </p:cNvSpPr>
          <p:nvPr/>
        </p:nvSpPr>
        <p:spPr>
          <a:xfrm xmlns:a="http://schemas.openxmlformats.org/drawingml/2006/main">
            <a:off x="3467100" y="4171950"/>
            <a:ext cx="1295400" cy="323850"/>
          </a:xfrm>
          <a:prstGeom xmlns:a="http://schemas.openxmlformats.org/drawingml/2006/main" prst="roundRect">
            <a:avLst>
              <a:gd name="adj" fmla="val 26471"/>
            </a:avLst>
          </a:prstGeom>
          <a:solidFill xmlns:a="http://schemas.openxmlformats.org/drawingml/2006/main">
            <a:srgbClr val="18120F"/>
          </a:solidFill>
          <a:ln xmlns:a="http://schemas.openxmlformats.org/drawingml/2006/main" w="9525">
            <a:solidFill>
              <a:srgbClr val="F26B38">
                <a:alpha val="55000"/>
              </a:srgbClr>
            </a:solidFill>
            <a:prstDash val="solid"/>
          </a:ln>
        </p:spPr>
        <p:txBody>
          <a:bodyPr xmlns:a="http://schemas.openxmlformats.org/drawingml/2006/main" wrap="square" lIns="47625" tIns="19050" rIns="47625" bIns="19050" anchor="ctr">
            <a:noAutofit/>
          </a:bodyPr>
          <a:lstStyle xmlns:a="http://schemas.openxmlformats.org/drawingml/2006/main"/>
          <a:p xmlns:a="http://schemas.openxmlformats.org/drawingml/2006/main">
            <a:pPr algn="ctr">
              <a:lnSpc>
                <a:spcPct val="95000"/>
              </a:lnSpc>
              <a:buNone/>
              <a:defRPr sz="975" b="1">
                <a:solidFill>
                  <a:srgbClr val="F26B38"/>
                </a:solidFill>
                <a:latin typeface="DejaVu Sans Mono"/>
                <a:ea typeface="DejaVu Sans Mono"/>
                <a:cs typeface="DejaVu Sans Mono"/>
              </a:defRPr>
            </a:pPr>
            <a:r>
              <a:rPr sz="975" b="1">
                <a:solidFill>
                  <a:srgbClr val="F26B38"/>
                </a:solidFill>
                <a:latin typeface="DejaVu Sans Mono"/>
                <a:ea typeface="DejaVu Sans Mono"/>
                <a:cs typeface="DejaVu Sans Mono"/>
              </a:rPr>
              <a:t>REQ-DUST-03</a:t>
            </a:r>
          </a:p>
        </p:txBody>
      </p:sp>
      <p:sp>
        <p:nvSpPr>
          <p:cNvPr id="27" name="">
            <a:extLst xmlns:a="http://schemas.openxmlformats.org/drawingml/2006/main">
              <a:ext uri="{FF2B5EF4-FFF2-40B4-BE49-F238E27FC236}">
                <a16:creationId xmlns:a16="http://schemas.microsoft.com/office/drawing/2014/main" id="{F9460792-C007-40C2-A9AF-643B822A90C2}"/>
              </a:ext>
            </a:extLst>
          </p:cNvPr>
          <p:cNvSpPr>
            <a:spLocks xmlns:a="http://schemas.openxmlformats.org/drawingml/2006/main" noGrp="1"/>
          </p:cNvSpPr>
          <p:nvPr/>
        </p:nvSpPr>
        <p:spPr>
          <a:xfrm xmlns:a="http://schemas.openxmlformats.org/drawingml/2006/main">
            <a:off x="4933950" y="4171950"/>
            <a:ext cx="3905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5000"/>
              </a:lnSpc>
              <a:buNone/>
              <a:defRPr sz="1275" b="1">
                <a:solidFill>
                  <a:srgbClr val="F4F6F8"/>
                </a:solidFill>
                <a:latin typeface="DejaVu Sans"/>
                <a:ea typeface="DejaVu Sans"/>
                <a:cs typeface="DejaVu Sans"/>
              </a:defRPr>
            </a:pPr>
            <a:r>
              <a:rPr sz="1275" b="1">
                <a:solidFill>
                  <a:srgbClr val="F4F6F8"/>
                </a:solidFill>
                <a:latin typeface="DejaVu Sans"/>
                <a:ea typeface="DejaVu Sans"/>
                <a:cs typeface="DejaVu Sans"/>
              </a:rPr>
              <a:t>Recover required performance after the specified dust exposure.</a:t>
            </a:r>
          </a:p>
        </p:txBody>
      </p:sp>
      <p:sp>
        <p:nvSpPr>
          <p:cNvPr id="28" name="">
            <a:extLst xmlns:a="http://schemas.openxmlformats.org/drawingml/2006/main">
              <a:ext uri="{FF2B5EF4-FFF2-40B4-BE49-F238E27FC236}">
                <a16:creationId xmlns:a16="http://schemas.microsoft.com/office/drawing/2014/main" id="{68122C73-5168-497D-8129-3FEF11F70346}"/>
              </a:ext>
            </a:extLst>
          </p:cNvPr>
          <p:cNvSpPr>
            <a:spLocks xmlns:a="http://schemas.openxmlformats.org/drawingml/2006/main" noGrp="1"/>
          </p:cNvSpPr>
          <p:nvPr/>
        </p:nvSpPr>
        <p:spPr>
          <a:xfrm xmlns:a="http://schemas.openxmlformats.org/drawingml/2006/main" rot="0">
            <a:off x="8896350" y="4371975"/>
            <a:ext cx="457200" cy="171450"/>
          </a:xfrm>
          <a:prstGeom xmlns:a="http://schemas.openxmlformats.org/drawingml/2006/main" prst="rightArrow">
            <a:avLst/>
          </a:prstGeom>
          <a:solidFill xmlns:a="http://schemas.openxmlformats.org/drawingml/2006/main">
            <a:srgbClr val="62D6A7">
              <a:alpha val="55000"/>
            </a:srgbClr>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DBD5C339-AA7F-43D8-8811-CA87168EF1D6}"/>
              </a:ext>
            </a:extLst>
          </p:cNvPr>
          <p:cNvSpPr>
            <a:spLocks xmlns:a="http://schemas.openxmlformats.org/drawingml/2006/main" noGrp="1"/>
          </p:cNvSpPr>
          <p:nvPr/>
        </p:nvSpPr>
        <p:spPr>
          <a:xfrm xmlns:a="http://schemas.openxmlformats.org/drawingml/2006/main">
            <a:off x="9448800" y="4143375"/>
            <a:ext cx="2038350" cy="647700"/>
          </a:xfrm>
          <a:prstGeom xmlns:a="http://schemas.openxmlformats.org/drawingml/2006/main" prst="roundRect">
            <a:avLst>
              <a:gd name="adj" fmla="val 23529"/>
            </a:avLst>
          </a:prstGeom>
          <a:solidFill xmlns:a="http://schemas.openxmlformats.org/drawingml/2006/main">
            <a:srgbClr val="101A17"/>
          </a:solidFill>
          <a:ln xmlns:a="http://schemas.openxmlformats.org/drawingml/2006/main" w="14288">
            <a:solidFill>
              <a:srgbClr val="62D6A7"/>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100000"/>
              </a:lnSpc>
              <a:buNone/>
              <a:defRPr sz="1125" b="1">
                <a:solidFill>
                  <a:srgbClr val="62D6A7"/>
                </a:solidFill>
                <a:latin typeface="DejaVu Sans"/>
                <a:ea typeface="DejaVu Sans"/>
                <a:cs typeface="DejaVu Sans"/>
              </a:defRPr>
            </a:pPr>
            <a:r>
              <a:rPr sz="1125" b="1">
                <a:solidFill>
                  <a:srgbClr val="62D6A7"/>
                </a:solidFill>
                <a:latin typeface="DejaVu Sans"/>
                <a:ea typeface="DejaVu Sans"/>
                <a:cs typeface="DejaVu Sans"/>
              </a:rPr>
              <a:t>Dust loading +</a:t>
            </a:r>
          </a:p>
          <a:p xmlns:a="http://schemas.openxmlformats.org/drawingml/2006/main">
            <a:pPr algn="ctr">
              <a:lnSpc>
                <a:spcPct val="100000"/>
              </a:lnSpc>
              <a:buNone/>
              <a:defRPr sz="1125" b="1">
                <a:solidFill>
                  <a:srgbClr val="62D6A7"/>
                </a:solidFill>
                <a:latin typeface="DejaVu Sans"/>
                <a:ea typeface="DejaVu Sans"/>
                <a:cs typeface="DejaVu Sans"/>
              </a:defRPr>
            </a:pPr>
            <a:r>
              <a:rPr sz="1125" b="1">
                <a:solidFill>
                  <a:srgbClr val="62D6A7"/>
                </a:solidFill>
                <a:latin typeface="DejaVu Sans"/>
                <a:ea typeface="DejaVu Sans"/>
                <a:cs typeface="DejaVu Sans"/>
              </a:rPr>
              <a:t>recovery test</a:t>
            </a:r>
          </a:p>
        </p:txBody>
      </p:sp>
      <p:sp>
        <p:nvSpPr>
          <p:cNvPr id="30" name="">
            <a:extLst xmlns:a="http://schemas.openxmlformats.org/drawingml/2006/main">
              <a:ext uri="{FF2B5EF4-FFF2-40B4-BE49-F238E27FC236}">
                <a16:creationId xmlns:a16="http://schemas.microsoft.com/office/drawing/2014/main" id="{E93CF43C-5E79-4E18-8B3C-B4B843AC2D4F}"/>
              </a:ext>
            </a:extLst>
          </p:cNvPr>
          <p:cNvSpPr>
            <a:spLocks xmlns:a="http://schemas.openxmlformats.org/drawingml/2006/main" noGrp="1"/>
          </p:cNvSpPr>
          <p:nvPr/>
        </p:nvSpPr>
        <p:spPr>
          <a:xfrm xmlns:a="http://schemas.openxmlformats.org/drawingml/2006/main">
            <a:off x="628650" y="4953000"/>
            <a:ext cx="10858500" cy="9525"/>
          </a:xfrm>
          <a:prstGeom xmlns:a="http://schemas.openxmlformats.org/drawingml/2006/main" prst="rect">
            <a:avLst/>
          </a:prstGeom>
          <a:solidFill xmlns:a="http://schemas.openxmlformats.org/drawingml/2006/main">
            <a:srgbClr val="35414B"/>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EB71D862-98F8-49D8-9747-5A794EC02741}"/>
              </a:ext>
            </a:extLst>
          </p:cNvPr>
          <p:cNvSpPr>
            <a:spLocks xmlns:a="http://schemas.openxmlformats.org/drawingml/2006/main" noGrp="1"/>
          </p:cNvSpPr>
          <p:nvPr/>
        </p:nvSpPr>
        <p:spPr>
          <a:xfrm xmlns:a="http://schemas.openxmlformats.org/drawingml/2006/main">
            <a:off x="685800" y="5105400"/>
            <a:ext cx="1943100" cy="609600"/>
          </a:xfrm>
          <a:prstGeom xmlns:a="http://schemas.openxmlformats.org/drawingml/2006/main" prst="roundRect">
            <a:avLst>
              <a:gd name="adj" fmla="val 25000"/>
            </a:avLst>
          </a:prstGeom>
          <a:solidFill xmlns:a="http://schemas.openxmlformats.org/drawingml/2006/main">
            <a:srgbClr val="0E151A"/>
          </a:solidFill>
          <a:ln xmlns:a="http://schemas.openxmlformats.org/drawingml/2006/main" w="14288">
            <a:solidFill>
              <a:srgbClr val="F26B38"/>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100000"/>
              </a:lnSpc>
              <a:buNone/>
              <a:defRPr sz="1125" b="1">
                <a:solidFill>
                  <a:srgbClr val="F26B38"/>
                </a:solidFill>
                <a:latin typeface="DejaVu Sans"/>
                <a:ea typeface="DejaVu Sans"/>
                <a:cs typeface="DejaVu Sans"/>
              </a:defRPr>
            </a:pPr>
            <a:r>
              <a:rPr sz="1125" b="1">
                <a:solidFill>
                  <a:srgbClr val="F26B38"/>
                </a:solidFill>
                <a:latin typeface="DejaVu Sans"/>
                <a:ea typeface="DejaVu Sans"/>
                <a:cs typeface="DejaVu Sans"/>
              </a:rPr>
              <a:t>NASA next step:</a:t>
            </a:r>
          </a:p>
          <a:p xmlns:a="http://schemas.openxmlformats.org/drawingml/2006/main">
            <a:pPr algn="ctr">
              <a:lnSpc>
                <a:spcPct val="100000"/>
              </a:lnSpc>
              <a:buNone/>
              <a:defRPr sz="1125" b="1">
                <a:solidFill>
                  <a:srgbClr val="F26B38"/>
                </a:solidFill>
                <a:latin typeface="DejaVu Sans"/>
                <a:ea typeface="DejaVu Sans"/>
                <a:cs typeface="DejaVu Sans"/>
              </a:defRPr>
            </a:pPr>
            <a:r>
              <a:rPr sz="1125" b="1">
                <a:solidFill>
                  <a:srgbClr val="F26B38"/>
                </a:solidFill>
                <a:latin typeface="DejaVu Sans"/>
                <a:ea typeface="DejaVu Sans"/>
                <a:cs typeface="DejaVu Sans"/>
              </a:rPr>
              <a:t>liquefy + store</a:t>
            </a:r>
          </a:p>
        </p:txBody>
      </p:sp>
      <p:sp>
        <p:nvSpPr>
          <p:cNvPr id="32" name="">
            <a:extLst xmlns:a="http://schemas.openxmlformats.org/drawingml/2006/main">
              <a:ext uri="{FF2B5EF4-FFF2-40B4-BE49-F238E27FC236}">
                <a16:creationId xmlns:a16="http://schemas.microsoft.com/office/drawing/2014/main" id="{64E6C40C-0CA8-4031-918A-AA24AC511971}"/>
              </a:ext>
            </a:extLst>
          </p:cNvPr>
          <p:cNvSpPr>
            <a:spLocks xmlns:a="http://schemas.openxmlformats.org/drawingml/2006/main" noGrp="1"/>
          </p:cNvSpPr>
          <p:nvPr/>
        </p:nvSpPr>
        <p:spPr>
          <a:xfrm xmlns:a="http://schemas.openxmlformats.org/drawingml/2006/main" rot="0">
            <a:off x="2743200" y="5305425"/>
            <a:ext cx="590550" cy="171450"/>
          </a:xfrm>
          <a:prstGeom xmlns:a="http://schemas.openxmlformats.org/drawingml/2006/main" prst="rightArrow">
            <a:avLst/>
          </a:prstGeom>
          <a:solidFill xmlns:a="http://schemas.openxmlformats.org/drawingml/2006/main">
            <a:srgbClr val="F26B38">
              <a:alpha val="55000"/>
            </a:srgbClr>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5E78D5CC-05B9-4310-8E60-6872FAD187E6}"/>
              </a:ext>
            </a:extLst>
          </p:cNvPr>
          <p:cNvSpPr>
            <a:spLocks xmlns:a="http://schemas.openxmlformats.org/drawingml/2006/main" noGrp="1"/>
          </p:cNvSpPr>
          <p:nvPr/>
        </p:nvSpPr>
        <p:spPr>
          <a:xfrm xmlns:a="http://schemas.openxmlformats.org/drawingml/2006/main">
            <a:off x="3467100" y="5105400"/>
            <a:ext cx="1295400" cy="323850"/>
          </a:xfrm>
          <a:prstGeom xmlns:a="http://schemas.openxmlformats.org/drawingml/2006/main" prst="roundRect">
            <a:avLst>
              <a:gd name="adj" fmla="val 26471"/>
            </a:avLst>
          </a:prstGeom>
          <a:solidFill xmlns:a="http://schemas.openxmlformats.org/drawingml/2006/main">
            <a:srgbClr val="18120F"/>
          </a:solidFill>
          <a:ln xmlns:a="http://schemas.openxmlformats.org/drawingml/2006/main" w="9525">
            <a:solidFill>
              <a:srgbClr val="F26B38">
                <a:alpha val="55000"/>
              </a:srgbClr>
            </a:solidFill>
            <a:prstDash val="solid"/>
          </a:ln>
        </p:spPr>
        <p:txBody>
          <a:bodyPr xmlns:a="http://schemas.openxmlformats.org/drawingml/2006/main" wrap="square" lIns="47625" tIns="19050" rIns="47625" bIns="19050" anchor="ctr">
            <a:noAutofit/>
          </a:bodyPr>
          <a:lstStyle xmlns:a="http://schemas.openxmlformats.org/drawingml/2006/main"/>
          <a:p xmlns:a="http://schemas.openxmlformats.org/drawingml/2006/main">
            <a:pPr algn="ctr">
              <a:lnSpc>
                <a:spcPct val="95000"/>
              </a:lnSpc>
              <a:buNone/>
              <a:defRPr sz="975" b="1">
                <a:solidFill>
                  <a:srgbClr val="F26B38"/>
                </a:solidFill>
                <a:latin typeface="DejaVu Sans Mono"/>
                <a:ea typeface="DejaVu Sans Mono"/>
                <a:cs typeface="DejaVu Sans Mono"/>
              </a:defRPr>
            </a:pPr>
            <a:r>
              <a:rPr sz="975" b="1">
                <a:solidFill>
                  <a:srgbClr val="F26B38"/>
                </a:solidFill>
                <a:latin typeface="DejaVu Sans Mono"/>
                <a:ea typeface="DejaVu Sans Mono"/>
                <a:cs typeface="DejaVu Sans Mono"/>
              </a:rPr>
              <a:t>REQ-STOR-04</a:t>
            </a:r>
          </a:p>
        </p:txBody>
      </p:sp>
      <p:sp>
        <p:nvSpPr>
          <p:cNvPr id="34" name="">
            <a:extLst xmlns:a="http://schemas.openxmlformats.org/drawingml/2006/main">
              <a:ext uri="{FF2B5EF4-FFF2-40B4-BE49-F238E27FC236}">
                <a16:creationId xmlns:a16="http://schemas.microsoft.com/office/drawing/2014/main" id="{2618921F-A0D1-4E6B-8918-9072342244B3}"/>
              </a:ext>
            </a:extLst>
          </p:cNvPr>
          <p:cNvSpPr>
            <a:spLocks xmlns:a="http://schemas.openxmlformats.org/drawingml/2006/main" noGrp="1"/>
          </p:cNvSpPr>
          <p:nvPr/>
        </p:nvSpPr>
        <p:spPr>
          <a:xfrm xmlns:a="http://schemas.openxmlformats.org/drawingml/2006/main">
            <a:off x="4933950" y="5105400"/>
            <a:ext cx="3905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5000"/>
              </a:lnSpc>
              <a:buNone/>
              <a:defRPr sz="1275" b="1">
                <a:solidFill>
                  <a:srgbClr val="F4F6F8"/>
                </a:solidFill>
                <a:latin typeface="DejaVu Sans"/>
                <a:ea typeface="DejaVu Sans"/>
                <a:cs typeface="DejaVu Sans"/>
              </a:defRPr>
            </a:pPr>
            <a:r>
              <a:rPr sz="1275" b="1">
                <a:solidFill>
                  <a:srgbClr val="F4F6F8"/>
                </a:solidFill>
                <a:latin typeface="DejaVu Sans"/>
                <a:ea typeface="DejaVu Sans"/>
                <a:cs typeface="DejaVu Sans"/>
              </a:rPr>
              <a:t>Provide a controlled interface to oxygen liquefaction and storage.</a:t>
            </a:r>
          </a:p>
        </p:txBody>
      </p:sp>
      <p:sp>
        <p:nvSpPr>
          <p:cNvPr id="35" name="">
            <a:extLst xmlns:a="http://schemas.openxmlformats.org/drawingml/2006/main">
              <a:ext uri="{FF2B5EF4-FFF2-40B4-BE49-F238E27FC236}">
                <a16:creationId xmlns:a16="http://schemas.microsoft.com/office/drawing/2014/main" id="{73E045FA-E883-47E8-BE94-F621966E0965}"/>
              </a:ext>
            </a:extLst>
          </p:cNvPr>
          <p:cNvSpPr>
            <a:spLocks xmlns:a="http://schemas.openxmlformats.org/drawingml/2006/main" noGrp="1"/>
          </p:cNvSpPr>
          <p:nvPr/>
        </p:nvSpPr>
        <p:spPr>
          <a:xfrm xmlns:a="http://schemas.openxmlformats.org/drawingml/2006/main" rot="0">
            <a:off x="8896350" y="5305425"/>
            <a:ext cx="457200" cy="171450"/>
          </a:xfrm>
          <a:prstGeom xmlns:a="http://schemas.openxmlformats.org/drawingml/2006/main" prst="rightArrow">
            <a:avLst/>
          </a:prstGeom>
          <a:solidFill xmlns:a="http://schemas.openxmlformats.org/drawingml/2006/main">
            <a:srgbClr val="62D6A7">
              <a:alpha val="55000"/>
            </a:srgbClr>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608F4619-2FCF-4499-964E-2FEB6CC30D80}"/>
              </a:ext>
            </a:extLst>
          </p:cNvPr>
          <p:cNvSpPr>
            <a:spLocks xmlns:a="http://schemas.openxmlformats.org/drawingml/2006/main" noGrp="1"/>
          </p:cNvSpPr>
          <p:nvPr/>
        </p:nvSpPr>
        <p:spPr>
          <a:xfrm xmlns:a="http://schemas.openxmlformats.org/drawingml/2006/main">
            <a:off x="9448800" y="5076825"/>
            <a:ext cx="2038350" cy="647700"/>
          </a:xfrm>
          <a:prstGeom xmlns:a="http://schemas.openxmlformats.org/drawingml/2006/main" prst="roundRect">
            <a:avLst>
              <a:gd name="adj" fmla="val 23529"/>
            </a:avLst>
          </a:prstGeom>
          <a:solidFill xmlns:a="http://schemas.openxmlformats.org/drawingml/2006/main">
            <a:srgbClr val="101A17"/>
          </a:solidFill>
          <a:ln xmlns:a="http://schemas.openxmlformats.org/drawingml/2006/main" w="14288">
            <a:solidFill>
              <a:srgbClr val="62D6A7"/>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100000"/>
              </a:lnSpc>
              <a:buNone/>
              <a:defRPr sz="1125" b="1">
                <a:solidFill>
                  <a:srgbClr val="62D6A7"/>
                </a:solidFill>
                <a:latin typeface="DejaVu Sans"/>
                <a:ea typeface="DejaVu Sans"/>
                <a:cs typeface="DejaVu Sans"/>
              </a:defRPr>
            </a:pPr>
            <a:r>
              <a:rPr sz="1125" b="1">
                <a:solidFill>
                  <a:srgbClr val="62D6A7"/>
                </a:solidFill>
                <a:latin typeface="DejaVu Sans"/>
                <a:ea typeface="DejaVu Sans"/>
                <a:cs typeface="DejaVu Sans"/>
              </a:rPr>
              <a:t>Integrated interface</a:t>
            </a:r>
          </a:p>
          <a:p xmlns:a="http://schemas.openxmlformats.org/drawingml/2006/main">
            <a:pPr algn="ctr">
              <a:lnSpc>
                <a:spcPct val="100000"/>
              </a:lnSpc>
              <a:buNone/>
              <a:defRPr sz="1125" b="1">
                <a:solidFill>
                  <a:srgbClr val="62D6A7"/>
                </a:solidFill>
                <a:latin typeface="DejaVu Sans"/>
                <a:ea typeface="DejaVu Sans"/>
                <a:cs typeface="DejaVu Sans"/>
              </a:defRPr>
            </a:pPr>
            <a:r>
              <a:rPr sz="1125" b="1">
                <a:solidFill>
                  <a:srgbClr val="62D6A7"/>
                </a:solidFill>
                <a:latin typeface="DejaVu Sans"/>
                <a:ea typeface="DejaVu Sans"/>
                <a:cs typeface="DejaVu Sans"/>
              </a:rPr>
              <a:t>acceptance test</a:t>
            </a:r>
          </a:p>
        </p:txBody>
      </p:sp>
      <p:sp>
        <p:nvSpPr>
          <p:cNvPr id="37" name="">
            <a:extLst xmlns:a="http://schemas.openxmlformats.org/drawingml/2006/main">
              <a:ext uri="{FF2B5EF4-FFF2-40B4-BE49-F238E27FC236}">
                <a16:creationId xmlns:a16="http://schemas.microsoft.com/office/drawing/2014/main" id="{09E80FFD-A4CF-4B27-BF67-1A136DB60867}"/>
              </a:ext>
            </a:extLst>
          </p:cNvPr>
          <p:cNvSpPr>
            <a:spLocks xmlns:a="http://schemas.openxmlformats.org/drawingml/2006/main" noGrp="1"/>
          </p:cNvSpPr>
          <p:nvPr/>
        </p:nvSpPr>
        <p:spPr>
          <a:xfrm xmlns:a="http://schemas.openxmlformats.org/drawingml/2006/main">
            <a:off x="3200400" y="6038850"/>
            <a:ext cx="5791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1350" b="1">
                <a:solidFill>
                  <a:srgbClr val="F4F6F8"/>
                </a:solidFill>
                <a:latin typeface="DejaVu Sans"/>
                <a:ea typeface="DejaVu Sans"/>
                <a:cs typeface="DejaVu Sans"/>
              </a:defRPr>
            </a:pPr>
            <a:r>
              <a:rPr sz="1350" b="1">
                <a:solidFill>
                  <a:srgbClr val="F4F6F8"/>
                </a:solidFill>
                <a:latin typeface="DejaVu Sans"/>
                <a:ea typeface="DejaVu Sans"/>
                <a:cs typeface="DejaVu Sans"/>
              </a:rPr>
              <a:t>Every row keeps the source, obligation and proof method connected.</a:t>
            </a:r>
          </a:p>
        </p:txBody>
      </p:sp>
      <p:sp>
        <p:nvSpPr>
          <p:cNvPr id="38" name="">
            <a:extLst xmlns:a="http://schemas.openxmlformats.org/drawingml/2006/main">
              <a:ext uri="{FF2B5EF4-FFF2-40B4-BE49-F238E27FC236}">
                <a16:creationId xmlns:a16="http://schemas.microsoft.com/office/drawing/2014/main" id="{8BADB693-047E-4337-B47F-B5EBAB6D2890}"/>
              </a:ext>
            </a:extLst>
          </p:cNvPr>
          <p:cNvSpPr>
            <a:spLocks xmlns:a="http://schemas.openxmlformats.org/drawingml/2006/main" noGrp="1"/>
          </p:cNvSpPr>
          <p:nvPr/>
        </p:nvSpPr>
        <p:spPr>
          <a:xfrm xmlns:a="http://schemas.openxmlformats.org/drawingml/2006/main">
            <a:off x="0" y="6400800"/>
            <a:ext cx="12192000" cy="457200"/>
          </a:xfrm>
          <a:prstGeom xmlns:a="http://schemas.openxmlformats.org/drawingml/2006/main" prst="rect">
            <a:avLst/>
          </a:prstGeom>
          <a:solidFill xmlns:a="http://schemas.openxmlformats.org/drawingml/2006/main">
            <a:srgbClr val="07090C">
              <a:alpha val="76000"/>
            </a:srgbClr>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CCD98413-8299-4858-8D8C-FA00A673FA55}"/>
              </a:ext>
            </a:extLst>
          </p:cNvPr>
          <p:cNvSpPr>
            <a:spLocks xmlns:a="http://schemas.openxmlformats.org/drawingml/2006/main" noGrp="1"/>
          </p:cNvSpPr>
          <p:nvPr/>
        </p:nvSpPr>
        <p:spPr>
          <a:xfrm xmlns:a="http://schemas.openxmlformats.org/drawingml/2006/main">
            <a:off x="609600" y="6553200"/>
            <a:ext cx="6858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MARS SOCIETY 2026  •  HARNESSED AGENTIC SCIENCE + ENGINEERING</a:t>
            </a:r>
          </a:p>
        </p:txBody>
      </p:sp>
      <p:sp>
        <p:nvSpPr>
          <p:cNvPr id="40" name="">
            <a:extLst xmlns:a="http://schemas.openxmlformats.org/drawingml/2006/main">
              <a:ext uri="{FF2B5EF4-FFF2-40B4-BE49-F238E27FC236}">
                <a16:creationId xmlns:a16="http://schemas.microsoft.com/office/drawing/2014/main" id="{56BE9466-FAD4-45B5-A9ED-F7FB74360FF0}"/>
              </a:ext>
            </a:extLst>
          </p:cNvPr>
          <p:cNvSpPr>
            <a:spLocks xmlns:a="http://schemas.openxmlformats.org/drawingml/2006/main" noGrp="1"/>
          </p:cNvSpPr>
          <p:nvPr/>
        </p:nvSpPr>
        <p:spPr>
          <a:xfrm xmlns:a="http://schemas.openxmlformats.org/drawingml/2006/main">
            <a:off x="9525000" y="6553200"/>
            <a:ext cx="2057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BOB J MILLS     16</a:t>
            </a:r>
          </a:p>
        </p:txBody>
      </p:sp>
    </p:spTree>
    <p:extLst>
      <p:ext uri="{BB962C8B-B14F-4D97-AF65-F5344CB8AC3E}">
        <p14:creationId xmlns:p14="http://schemas.microsoft.com/office/powerpoint/2010/main" val="182375092"/>
      </p:ext>
    </p:extLst>
  </p:cSld>
</p:sld>
</file>

<file path=ppt/slides/slide17.xml><?xml version="1.0" encoding="utf-8"?>
<p:sld xmlns:p="http://schemas.openxmlformats.org/presentationml/2006/main">
  <p:cSld>
    <p:bg>
      <p:bgPr>
        <a:solidFill xmlns:a="http://schemas.openxmlformats.org/drawingml/2006/main">
          <a:srgbClr val="07090C"/>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6134EC5D-AAF6-4CC9-AF7D-E2637F939BDF}"/>
              </a:ext>
            </a:extLst>
          </p:cNvPr>
          <p:cNvSpPr>
            <a:spLocks xmlns:a="http://schemas.openxmlformats.org/drawingml/2006/main" noGrp="1"/>
          </p:cNvSpPr>
          <p:nvPr/>
        </p:nvSpPr>
        <p:spPr>
          <a:xfrm xmlns:a="http://schemas.openxmlformats.org/drawingml/2006/main">
            <a:off x="609600" y="3429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975" b="1">
                <a:solidFill>
                  <a:srgbClr val="F26B38"/>
                </a:solidFill>
                <a:latin typeface="DejaVu Sans Mono"/>
                <a:ea typeface="DejaVu Sans Mono"/>
                <a:cs typeface="DejaVu Sans Mono"/>
              </a:defRPr>
            </a:pPr>
            <a:r>
              <a:rPr sz="975" b="1">
                <a:solidFill>
                  <a:srgbClr val="F26B38"/>
                </a:solidFill>
                <a:latin typeface="DejaVu Sans Mono"/>
                <a:ea typeface="DejaVu Sans Mono"/>
                <a:cs typeface="DejaVu Sans Mono"/>
              </a:rPr>
              <a:t>17  /  CASE STUDY — RETURN PATH</a:t>
            </a:r>
          </a:p>
        </p:txBody>
      </p:sp>
      <p:sp>
        <p:nvSpPr>
          <p:cNvPr id="2" name="">
            <a:extLst xmlns:a="http://schemas.openxmlformats.org/drawingml/2006/main">
              <a:ext uri="{FF2B5EF4-FFF2-40B4-BE49-F238E27FC236}">
                <a16:creationId xmlns:a16="http://schemas.microsoft.com/office/drawing/2014/main" id="{F634F788-4FF3-4C34-8511-E089A3462E3A}"/>
              </a:ext>
            </a:extLst>
          </p:cNvPr>
          <p:cNvSpPr>
            <a:spLocks xmlns:a="http://schemas.openxmlformats.org/drawingml/2006/main" noGrp="1"/>
          </p:cNvSpPr>
          <p:nvPr/>
        </p:nvSpPr>
        <p:spPr>
          <a:xfrm xmlns:a="http://schemas.openxmlformats.org/drawingml/2006/main">
            <a:off x="609600" y="6477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2325" b="1">
                <a:solidFill>
                  <a:srgbClr val="F4F6F8"/>
                </a:solidFill>
                <a:latin typeface="DejaVu Sans"/>
                <a:ea typeface="DejaVu Sans"/>
                <a:cs typeface="DejaVu Sans"/>
              </a:defRPr>
            </a:pPr>
            <a:r>
              <a:rPr sz="2325" b="1">
                <a:solidFill>
                  <a:srgbClr val="F4F6F8"/>
                </a:solidFill>
                <a:latin typeface="DejaVu Sans"/>
                <a:ea typeface="DejaVu Sans"/>
                <a:cs typeface="DejaVu Sans"/>
              </a:rPr>
              <a:t>Engineering returns one bounded scientific question</a:t>
            </a:r>
          </a:p>
        </p:txBody>
      </p:sp>
      <p:sp>
        <p:nvSpPr>
          <p:cNvPr id="3" name="">
            <a:extLst xmlns:a="http://schemas.openxmlformats.org/drawingml/2006/main">
              <a:ext uri="{FF2B5EF4-FFF2-40B4-BE49-F238E27FC236}">
                <a16:creationId xmlns:a16="http://schemas.microsoft.com/office/drawing/2014/main" id="{B5023EB1-4567-45E7-84EB-6288419EEADC}"/>
              </a:ext>
            </a:extLst>
          </p:cNvPr>
          <p:cNvSpPr>
            <a:spLocks xmlns:a="http://schemas.openxmlformats.org/drawingml/2006/main" noGrp="1"/>
          </p:cNvSpPr>
          <p:nvPr/>
        </p:nvSpPr>
        <p:spPr>
          <a:xfrm xmlns:a="http://schemas.openxmlformats.org/drawingml/2006/main">
            <a:off x="628650" y="1238250"/>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425" b="0">
                <a:solidFill>
                  <a:srgbClr val="8D99A3"/>
                </a:solidFill>
                <a:latin typeface="DejaVu Sans"/>
                <a:ea typeface="DejaVu Sans"/>
                <a:cs typeface="DejaVu Sans"/>
              </a:defRPr>
            </a:pPr>
            <a:r>
              <a:rPr sz="1425" b="0">
                <a:solidFill>
                  <a:srgbClr val="8D99A3"/>
                </a:solidFill>
                <a:latin typeface="DejaVu Sans"/>
                <a:ea typeface="DejaVu Sans"/>
                <a:cs typeface="DejaVu Sans"/>
              </a:rPr>
              <a:t>A design-blocking uncertainty becomes an executable Research Request Package—not a vague demand for more study.</a:t>
            </a:r>
          </a:p>
        </p:txBody>
      </p:sp>
      <p:sp>
        <p:nvSpPr>
          <p:cNvPr id="4" name="">
            <a:extLst xmlns:a="http://schemas.openxmlformats.org/drawingml/2006/main">
              <a:ext uri="{FF2B5EF4-FFF2-40B4-BE49-F238E27FC236}">
                <a16:creationId xmlns:a16="http://schemas.microsoft.com/office/drawing/2014/main" id="{540A5FDE-35D9-4119-B0FC-D057AC458334}"/>
              </a:ext>
            </a:extLst>
          </p:cNvPr>
          <p:cNvSpPr>
            <a:spLocks xmlns:a="http://schemas.openxmlformats.org/drawingml/2006/main" noGrp="1"/>
          </p:cNvSpPr>
          <p:nvPr/>
        </p:nvSpPr>
        <p:spPr>
          <a:xfrm xmlns:a="http://schemas.openxmlformats.org/drawingml/2006/main">
            <a:off x="609600" y="1676400"/>
            <a:ext cx="10972800" cy="0"/>
          </a:xfrm>
          <a:prstGeom xmlns:a="http://schemas.openxmlformats.org/drawingml/2006/main" prst="line">
            <a:avLst/>
          </a:prstGeom>
          <a:noFill xmlns:a="http://schemas.openxmlformats.org/drawingml/2006/main"/>
          <a:ln xmlns:a="http://schemas.openxmlformats.org/drawingml/2006/main" w="9525">
            <a:solidFill>
              <a:srgbClr val="35414B"/>
            </a:solidFill>
            <a:prstDash val="solid"/>
          </a:ln>
        </p:spPr>
      </p:sp>
      <p:sp>
        <p:nvSpPr>
          <p:cNvPr id="5" name="">
            <a:extLst xmlns:a="http://schemas.openxmlformats.org/drawingml/2006/main">
              <a:ext uri="{FF2B5EF4-FFF2-40B4-BE49-F238E27FC236}">
                <a16:creationId xmlns:a16="http://schemas.microsoft.com/office/drawing/2014/main" id="{F75615E6-176B-4AD1-BAE7-3636C159A9DA}"/>
              </a:ext>
            </a:extLst>
          </p:cNvPr>
          <p:cNvSpPr>
            <a:spLocks xmlns:a="http://schemas.openxmlformats.org/drawingml/2006/main" noGrp="1"/>
          </p:cNvSpPr>
          <p:nvPr/>
        </p:nvSpPr>
        <p:spPr>
          <a:xfrm xmlns:a="http://schemas.openxmlformats.org/drawingml/2006/main">
            <a:off x="6877050" y="1238250"/>
            <a:ext cx="4686300" cy="342900"/>
          </a:xfrm>
          <a:prstGeom xmlns:a="http://schemas.openxmlformats.org/drawingml/2006/main" prst="roundRect">
            <a:avLst>
              <a:gd name="adj" fmla="val 25000"/>
            </a:avLst>
          </a:prstGeom>
          <a:solidFill xmlns:a="http://schemas.openxmlformats.org/drawingml/2006/main">
            <a:srgbClr val="181309"/>
          </a:solidFill>
          <a:ln xmlns:a="http://schemas.openxmlformats.org/drawingml/2006/main" w="9525">
            <a:solidFill>
              <a:srgbClr val="FFC857">
                <a:alpha val="55000"/>
              </a:srgbClr>
            </a:solidFill>
            <a:prstDash val="solid"/>
          </a:ln>
        </p:spPr>
        <p:txBody>
          <a:bodyPr xmlns:a="http://schemas.openxmlformats.org/drawingml/2006/main" wrap="square" lIns="47625" tIns="19050" rIns="47625" bIns="19050" anchor="ctr">
            <a:noAutofit/>
          </a:bodyPr>
          <a:lstStyle xmlns:a="http://schemas.openxmlformats.org/drawingml/2006/main"/>
          <a:p xmlns:a="http://schemas.openxmlformats.org/drawingml/2006/main">
            <a:pPr algn="ctr">
              <a:lnSpc>
                <a:spcPct val="95000"/>
              </a:lnSpc>
              <a:buNone/>
              <a:defRPr sz="975" b="1">
                <a:solidFill>
                  <a:srgbClr val="FFC857"/>
                </a:solidFill>
                <a:latin typeface="DejaVu Sans Mono"/>
                <a:ea typeface="DejaVu Sans Mono"/>
                <a:cs typeface="DejaVu Sans Mono"/>
              </a:defRPr>
            </a:pPr>
            <a:r>
              <a:rPr sz="975" b="1">
                <a:solidFill>
                  <a:srgbClr val="FFC857"/>
                </a:solidFill>
                <a:latin typeface="DejaVu Sans Mono"/>
                <a:ea typeface="DejaVu Sans Mono"/>
                <a:cs typeface="DejaVu Sans Mono"/>
              </a:rPr>
              <a:t>ILLUSTRATIVE RESEARCH REQUEST • NOT AN EMPIRICAL RESULT</a:t>
            </a:r>
          </a:p>
        </p:txBody>
      </p:sp>
      <p:sp>
        <p:nvSpPr>
          <p:cNvPr id="6" name="">
            <a:extLst xmlns:a="http://schemas.openxmlformats.org/drawingml/2006/main">
              <a:ext uri="{FF2B5EF4-FFF2-40B4-BE49-F238E27FC236}">
                <a16:creationId xmlns:a16="http://schemas.microsoft.com/office/drawing/2014/main" id="{12823EF5-8BC0-4037-90CE-7C02D03577AA}"/>
              </a:ext>
            </a:extLst>
          </p:cNvPr>
          <p:cNvSpPr>
            <a:spLocks xmlns:a="http://schemas.openxmlformats.org/drawingml/2006/main" noGrp="1"/>
          </p:cNvSpPr>
          <p:nvPr/>
        </p:nvSpPr>
        <p:spPr>
          <a:xfrm xmlns:a="http://schemas.openxmlformats.org/drawingml/2006/main">
            <a:off x="647700" y="2133600"/>
            <a:ext cx="2381250" cy="990600"/>
          </a:xfrm>
          <a:prstGeom xmlns:a="http://schemas.openxmlformats.org/drawingml/2006/main" prst="roundRect">
            <a:avLst>
              <a:gd name="adj" fmla="val 15385"/>
            </a:avLst>
          </a:prstGeom>
          <a:solidFill xmlns:a="http://schemas.openxmlformats.org/drawingml/2006/main">
            <a:srgbClr val="1A1010"/>
          </a:solidFill>
          <a:ln xmlns:a="http://schemas.openxmlformats.org/drawingml/2006/main" w="14288">
            <a:solidFill>
              <a:srgbClr val="FF6262"/>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425" b="1">
                <a:solidFill>
                  <a:srgbClr val="FF6262"/>
                </a:solidFill>
                <a:latin typeface="DejaVu Sans"/>
                <a:ea typeface="DejaVu Sans"/>
                <a:cs typeface="DejaVu Sans"/>
              </a:defRPr>
            </a:pPr>
            <a:r>
              <a:rPr sz="1425" b="1">
                <a:solidFill>
                  <a:srgbClr val="FF6262"/>
                </a:solidFill>
                <a:latin typeface="DejaVu Sans"/>
                <a:ea typeface="DejaVu Sans"/>
                <a:cs typeface="DejaVu Sans"/>
              </a:rPr>
              <a:t>BLOCKED DECISION</a:t>
            </a:r>
          </a:p>
          <a:p xmlns:a="http://schemas.openxmlformats.org/drawingml/2006/main">
            <a:pPr algn="ctr">
              <a:lnSpc>
                <a:spcPct val="90000"/>
              </a:lnSpc>
              <a:buNone/>
              <a:defRPr sz="1425" b="1">
                <a:solidFill>
                  <a:srgbClr val="FF6262"/>
                </a:solidFill>
                <a:latin typeface="DejaVu Sans"/>
                <a:ea typeface="DejaVu Sans"/>
                <a:cs typeface="DejaVu Sans"/>
              </a:defRPr>
            </a:pPr>
            <a:r>
              <a:rPr sz="1425" b="1">
                <a:solidFill>
                  <a:srgbClr val="FF6262"/>
                </a:solidFill>
                <a:latin typeface="DejaVu Sans"/>
                <a:ea typeface="DejaVu Sans"/>
                <a:cs typeface="DejaVu Sans"/>
              </a:rPr>
              <a:t>FILTER CLEANING INTERVAL</a:t>
            </a:r>
          </a:p>
        </p:txBody>
      </p:sp>
      <p:sp>
        <p:nvSpPr>
          <p:cNvPr id="7" name="">
            <a:extLst xmlns:a="http://schemas.openxmlformats.org/drawingml/2006/main">
              <a:ext uri="{FF2B5EF4-FFF2-40B4-BE49-F238E27FC236}">
                <a16:creationId xmlns:a16="http://schemas.microsoft.com/office/drawing/2014/main" id="{BE911BC2-7255-4B0E-9B65-C5A7AB3A3EB0}"/>
              </a:ext>
            </a:extLst>
          </p:cNvPr>
          <p:cNvSpPr>
            <a:spLocks xmlns:a="http://schemas.openxmlformats.org/drawingml/2006/main" noGrp="1"/>
          </p:cNvSpPr>
          <p:nvPr/>
        </p:nvSpPr>
        <p:spPr>
          <a:xfrm xmlns:a="http://schemas.openxmlformats.org/drawingml/2006/main" rot="0">
            <a:off x="3124200" y="2514600"/>
            <a:ext cx="762000" cy="209550"/>
          </a:xfrm>
          <a:prstGeom xmlns:a="http://schemas.openxmlformats.org/drawingml/2006/main" prst="rightArrow">
            <a:avLst/>
          </a:prstGeom>
          <a:solidFill xmlns:a="http://schemas.openxmlformats.org/drawingml/2006/main">
            <a:srgbClr val="FF6262">
              <a:alpha val="70000"/>
            </a:srgbClr>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900194D-C722-4D74-96E5-F68575709884}"/>
              </a:ext>
            </a:extLst>
          </p:cNvPr>
          <p:cNvSpPr>
            <a:spLocks xmlns:a="http://schemas.openxmlformats.org/drawingml/2006/main" noGrp="1"/>
          </p:cNvSpPr>
          <p:nvPr/>
        </p:nvSpPr>
        <p:spPr>
          <a:xfrm xmlns:a="http://schemas.openxmlformats.org/drawingml/2006/main">
            <a:off x="4000500" y="1924050"/>
            <a:ext cx="4476750" cy="3486150"/>
          </a:xfrm>
          <a:prstGeom xmlns:a="http://schemas.openxmlformats.org/drawingml/2006/main" prst="roundRect">
            <a:avLst>
              <a:gd name="adj" fmla="val 6011"/>
            </a:avLst>
          </a:prstGeom>
          <a:gradFill xmlns:a="http://schemas.openxmlformats.org/drawingml/2006/main">
            <a:gsLst>
              <a:gs pos="0">
                <a:srgbClr val="1A2025"/>
              </a:gs>
              <a:gs pos="100000">
                <a:srgbClr val="0E1216"/>
              </a:gs>
            </a:gsLst>
            <a:lin ang="8100000"/>
          </a:gradFill>
          <a:ln xmlns:a="http://schemas.openxmlformats.org/drawingml/2006/main" w="14288">
            <a:solidFill>
              <a:srgbClr val="FFC857"/>
            </a:solidFill>
            <a:prstDash val="solid"/>
          </a:ln>
        </p:spPr>
      </p:sp>
      <p:sp>
        <p:nvSpPr>
          <p:cNvPr id="9" name="">
            <a:extLst xmlns:a="http://schemas.openxmlformats.org/drawingml/2006/main">
              <a:ext uri="{FF2B5EF4-FFF2-40B4-BE49-F238E27FC236}">
                <a16:creationId xmlns:a16="http://schemas.microsoft.com/office/drawing/2014/main" id="{657F0FE7-CB71-48FE-A6E5-F19697C88BC5}"/>
              </a:ext>
            </a:extLst>
          </p:cNvPr>
          <p:cNvSpPr>
            <a:spLocks xmlns:a="http://schemas.openxmlformats.org/drawingml/2006/main" noGrp="1"/>
          </p:cNvSpPr>
          <p:nvPr/>
        </p:nvSpPr>
        <p:spPr>
          <a:xfrm xmlns:a="http://schemas.openxmlformats.org/drawingml/2006/main">
            <a:off x="4286250" y="215265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1500" b="1">
                <a:solidFill>
                  <a:srgbClr val="FFC857"/>
                </a:solidFill>
                <a:latin typeface="DejaVu Sans Mono"/>
                <a:ea typeface="DejaVu Sans Mono"/>
                <a:cs typeface="DejaVu Sans Mono"/>
              </a:defRPr>
            </a:pPr>
            <a:r>
              <a:rPr sz="1500" b="1">
                <a:solidFill>
                  <a:srgbClr val="FFC857"/>
                </a:solidFill>
                <a:latin typeface="DejaVu Sans Mono"/>
                <a:ea typeface="DejaVu Sans Mono"/>
                <a:cs typeface="DejaVu Sans Mono"/>
              </a:rPr>
              <a:t>RESEARCH REQUEST PACKAGE</a:t>
            </a:r>
          </a:p>
        </p:txBody>
      </p:sp>
      <p:sp>
        <p:nvSpPr>
          <p:cNvPr id="10" name="">
            <a:extLst xmlns:a="http://schemas.openxmlformats.org/drawingml/2006/main">
              <a:ext uri="{FF2B5EF4-FFF2-40B4-BE49-F238E27FC236}">
                <a16:creationId xmlns:a16="http://schemas.microsoft.com/office/drawing/2014/main" id="{4D588287-ACD6-43D0-A8AA-F3CB9F3CB0A7}"/>
              </a:ext>
            </a:extLst>
          </p:cNvPr>
          <p:cNvSpPr>
            <a:spLocks xmlns:a="http://schemas.openxmlformats.org/drawingml/2006/main" noGrp="1"/>
          </p:cNvSpPr>
          <p:nvPr/>
        </p:nvSpPr>
        <p:spPr>
          <a:xfrm xmlns:a="http://schemas.openxmlformats.org/drawingml/2006/main">
            <a:off x="4267200" y="2628900"/>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900" b="1">
                <a:solidFill>
                  <a:srgbClr val="39D7FF"/>
                </a:solidFill>
                <a:latin typeface="DejaVu Sans Mono"/>
                <a:ea typeface="DejaVu Sans Mono"/>
                <a:cs typeface="DejaVu Sans Mono"/>
              </a:defRPr>
            </a:pPr>
            <a:r>
              <a:rPr sz="900" b="1">
                <a:solidFill>
                  <a:srgbClr val="39D7FF"/>
                </a:solidFill>
                <a:latin typeface="DejaVu Sans Mono"/>
                <a:ea typeface="DejaVu Sans Mono"/>
                <a:cs typeface="DejaVu Sans Mono"/>
              </a:rPr>
              <a:t>HYPOTHESES</a:t>
            </a:r>
          </a:p>
        </p:txBody>
      </p:sp>
      <p:sp>
        <p:nvSpPr>
          <p:cNvPr id="11" name="">
            <a:extLst xmlns:a="http://schemas.openxmlformats.org/drawingml/2006/main">
              <a:ext uri="{FF2B5EF4-FFF2-40B4-BE49-F238E27FC236}">
                <a16:creationId xmlns:a16="http://schemas.microsoft.com/office/drawing/2014/main" id="{05A1A466-01A4-4490-8563-19B7516DC25B}"/>
              </a:ext>
            </a:extLst>
          </p:cNvPr>
          <p:cNvSpPr>
            <a:spLocks xmlns:a="http://schemas.openxmlformats.org/drawingml/2006/main" noGrp="1"/>
          </p:cNvSpPr>
          <p:nvPr/>
        </p:nvSpPr>
        <p:spPr>
          <a:xfrm xmlns:a="http://schemas.openxmlformats.org/drawingml/2006/main">
            <a:off x="5429250" y="2628900"/>
            <a:ext cx="2724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D8DEE3"/>
                </a:solidFill>
                <a:latin typeface="DejaVu Sans"/>
                <a:ea typeface="DejaVu Sans"/>
                <a:cs typeface="DejaVu Sans"/>
              </a:defRPr>
            </a:pPr>
            <a:r>
              <a:rPr sz="1050" b="0">
                <a:solidFill>
                  <a:srgbClr val="D8DEE3"/>
                </a:solidFill>
                <a:latin typeface="DejaVu Sans"/>
                <a:ea typeface="DejaVu Sans"/>
                <a:cs typeface="DejaVu Sans"/>
              </a:rPr>
              <a:t>H1 limited thermal-cycling effect</a:t>
            </a:r>
          </a:p>
          <a:p xmlns:a="http://schemas.openxmlformats.org/drawingml/2006/main">
            <a:pPr algn="l">
              <a:lnSpc>
                <a:spcPct val="100000"/>
              </a:lnSpc>
              <a:buNone/>
              <a:defRPr sz="1050" b="0">
                <a:solidFill>
                  <a:srgbClr val="D8DEE3"/>
                </a:solidFill>
                <a:latin typeface="DejaVu Sans"/>
                <a:ea typeface="DejaVu Sans"/>
                <a:cs typeface="DejaVu Sans"/>
              </a:defRPr>
            </a:pPr>
            <a:r>
              <a:rPr sz="1050" b="0">
                <a:solidFill>
                  <a:srgbClr val="D8DEE3"/>
                </a:solidFill>
                <a:latin typeface="DejaVu Sans"/>
                <a:ea typeface="DejaVu Sans"/>
                <a:cs typeface="DejaVu Sans"/>
              </a:rPr>
              <a:t>H2 adhesion drives persistent fouling</a:t>
            </a:r>
          </a:p>
        </p:txBody>
      </p:sp>
      <p:sp>
        <p:nvSpPr>
          <p:cNvPr id="12" name="">
            <a:extLst xmlns:a="http://schemas.openxmlformats.org/drawingml/2006/main">
              <a:ext uri="{FF2B5EF4-FFF2-40B4-BE49-F238E27FC236}">
                <a16:creationId xmlns:a16="http://schemas.microsoft.com/office/drawing/2014/main" id="{AD45CC1F-1AB6-48C5-9266-B82259A60F84}"/>
              </a:ext>
            </a:extLst>
          </p:cNvPr>
          <p:cNvSpPr>
            <a:spLocks xmlns:a="http://schemas.openxmlformats.org/drawingml/2006/main" noGrp="1"/>
          </p:cNvSpPr>
          <p:nvPr/>
        </p:nvSpPr>
        <p:spPr>
          <a:xfrm xmlns:a="http://schemas.openxmlformats.org/drawingml/2006/main">
            <a:off x="4267200" y="3067050"/>
            <a:ext cx="3886200" cy="0"/>
          </a:xfrm>
          <a:prstGeom xmlns:a="http://schemas.openxmlformats.org/drawingml/2006/main" prst="line">
            <a:avLst/>
          </a:prstGeom>
          <a:noFill xmlns:a="http://schemas.openxmlformats.org/drawingml/2006/main"/>
          <a:ln xmlns:a="http://schemas.openxmlformats.org/drawingml/2006/main" w="9525">
            <a:solidFill>
              <a:srgbClr val="35414B"/>
            </a:solidFill>
            <a:prstDash val="solid"/>
          </a:ln>
        </p:spPr>
      </p:sp>
      <p:sp>
        <p:nvSpPr>
          <p:cNvPr id="13" name="">
            <a:extLst xmlns:a="http://schemas.openxmlformats.org/drawingml/2006/main">
              <a:ext uri="{FF2B5EF4-FFF2-40B4-BE49-F238E27FC236}">
                <a16:creationId xmlns:a16="http://schemas.microsoft.com/office/drawing/2014/main" id="{7494641D-67C0-4935-A248-FA6E2B490751}"/>
              </a:ext>
            </a:extLst>
          </p:cNvPr>
          <p:cNvSpPr>
            <a:spLocks xmlns:a="http://schemas.openxmlformats.org/drawingml/2006/main" noGrp="1"/>
          </p:cNvSpPr>
          <p:nvPr/>
        </p:nvSpPr>
        <p:spPr>
          <a:xfrm xmlns:a="http://schemas.openxmlformats.org/drawingml/2006/main">
            <a:off x="4267200" y="3143250"/>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900" b="1">
                <a:solidFill>
                  <a:srgbClr val="39D7FF"/>
                </a:solidFill>
                <a:latin typeface="DejaVu Sans Mono"/>
                <a:ea typeface="DejaVu Sans Mono"/>
                <a:cs typeface="DejaVu Sans Mono"/>
              </a:defRPr>
            </a:pPr>
            <a:r>
              <a:rPr sz="900" b="1">
                <a:solidFill>
                  <a:srgbClr val="39D7FF"/>
                </a:solidFill>
                <a:latin typeface="DejaVu Sans Mono"/>
                <a:ea typeface="DejaVu Sans Mono"/>
                <a:cs typeface="DejaVu Sans Mono"/>
              </a:rPr>
              <a:t>VARIABLES</a:t>
            </a:r>
          </a:p>
        </p:txBody>
      </p:sp>
      <p:sp>
        <p:nvSpPr>
          <p:cNvPr id="14" name="">
            <a:extLst xmlns:a="http://schemas.openxmlformats.org/drawingml/2006/main">
              <a:ext uri="{FF2B5EF4-FFF2-40B4-BE49-F238E27FC236}">
                <a16:creationId xmlns:a16="http://schemas.microsoft.com/office/drawing/2014/main" id="{37F8F7AD-5879-42A0-AEC5-B1CF762CF923}"/>
              </a:ext>
            </a:extLst>
          </p:cNvPr>
          <p:cNvSpPr>
            <a:spLocks xmlns:a="http://schemas.openxmlformats.org/drawingml/2006/main" noGrp="1"/>
          </p:cNvSpPr>
          <p:nvPr/>
        </p:nvSpPr>
        <p:spPr>
          <a:xfrm xmlns:a="http://schemas.openxmlformats.org/drawingml/2006/main">
            <a:off x="5429250" y="3143250"/>
            <a:ext cx="2724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D8DEE3"/>
                </a:solidFill>
                <a:latin typeface="DejaVu Sans"/>
                <a:ea typeface="DejaVu Sans"/>
                <a:cs typeface="DejaVu Sans"/>
              </a:defRPr>
            </a:pPr>
            <a:r>
              <a:rPr sz="1050" b="0">
                <a:solidFill>
                  <a:srgbClr val="D8DEE3"/>
                </a:solidFill>
                <a:latin typeface="DejaVu Sans"/>
                <a:ea typeface="DejaVu Sans"/>
                <a:cs typeface="DejaVu Sans"/>
              </a:rPr>
              <a:t>pressure drop • dust loading • adhesion • cycles • temperature</a:t>
            </a:r>
          </a:p>
        </p:txBody>
      </p:sp>
      <p:sp>
        <p:nvSpPr>
          <p:cNvPr id="15" name="">
            <a:extLst xmlns:a="http://schemas.openxmlformats.org/drawingml/2006/main">
              <a:ext uri="{FF2B5EF4-FFF2-40B4-BE49-F238E27FC236}">
                <a16:creationId xmlns:a16="http://schemas.microsoft.com/office/drawing/2014/main" id="{C02ADC3C-6762-4B76-85C5-1563E0856D25}"/>
              </a:ext>
            </a:extLst>
          </p:cNvPr>
          <p:cNvSpPr>
            <a:spLocks xmlns:a="http://schemas.openxmlformats.org/drawingml/2006/main" noGrp="1"/>
          </p:cNvSpPr>
          <p:nvPr/>
        </p:nvSpPr>
        <p:spPr>
          <a:xfrm xmlns:a="http://schemas.openxmlformats.org/drawingml/2006/main">
            <a:off x="4267200" y="3581400"/>
            <a:ext cx="3886200" cy="0"/>
          </a:xfrm>
          <a:prstGeom xmlns:a="http://schemas.openxmlformats.org/drawingml/2006/main" prst="line">
            <a:avLst/>
          </a:prstGeom>
          <a:noFill xmlns:a="http://schemas.openxmlformats.org/drawingml/2006/main"/>
          <a:ln xmlns:a="http://schemas.openxmlformats.org/drawingml/2006/main" w="9525">
            <a:solidFill>
              <a:srgbClr val="35414B"/>
            </a:solidFill>
            <a:prstDash val="solid"/>
          </a:ln>
        </p:spPr>
      </p:sp>
      <p:sp>
        <p:nvSpPr>
          <p:cNvPr id="16" name="">
            <a:extLst xmlns:a="http://schemas.openxmlformats.org/drawingml/2006/main">
              <a:ext uri="{FF2B5EF4-FFF2-40B4-BE49-F238E27FC236}">
                <a16:creationId xmlns:a16="http://schemas.microsoft.com/office/drawing/2014/main" id="{662CE51E-1D64-43C3-844E-0196D11CB06C}"/>
              </a:ext>
            </a:extLst>
          </p:cNvPr>
          <p:cNvSpPr>
            <a:spLocks xmlns:a="http://schemas.openxmlformats.org/drawingml/2006/main" noGrp="1"/>
          </p:cNvSpPr>
          <p:nvPr/>
        </p:nvSpPr>
        <p:spPr>
          <a:xfrm xmlns:a="http://schemas.openxmlformats.org/drawingml/2006/main">
            <a:off x="4267200" y="3657600"/>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900" b="1">
                <a:solidFill>
                  <a:srgbClr val="39D7FF"/>
                </a:solidFill>
                <a:latin typeface="DejaVu Sans Mono"/>
                <a:ea typeface="DejaVu Sans Mono"/>
                <a:cs typeface="DejaVu Sans Mono"/>
              </a:defRPr>
            </a:pPr>
            <a:r>
              <a:rPr sz="900" b="1">
                <a:solidFill>
                  <a:srgbClr val="39D7FF"/>
                </a:solidFill>
                <a:latin typeface="DejaVu Sans Mono"/>
                <a:ea typeface="DejaVu Sans Mono"/>
                <a:cs typeface="DejaVu Sans Mono"/>
              </a:rPr>
              <a:t>BOUNDARY</a:t>
            </a:r>
          </a:p>
        </p:txBody>
      </p:sp>
      <p:sp>
        <p:nvSpPr>
          <p:cNvPr id="17" name="">
            <a:extLst xmlns:a="http://schemas.openxmlformats.org/drawingml/2006/main">
              <a:ext uri="{FF2B5EF4-FFF2-40B4-BE49-F238E27FC236}">
                <a16:creationId xmlns:a16="http://schemas.microsoft.com/office/drawing/2014/main" id="{BEA305AA-2948-432F-8B15-8DDAD43F8F9A}"/>
              </a:ext>
            </a:extLst>
          </p:cNvPr>
          <p:cNvSpPr>
            <a:spLocks xmlns:a="http://schemas.openxmlformats.org/drawingml/2006/main" noGrp="1"/>
          </p:cNvSpPr>
          <p:nvPr/>
        </p:nvSpPr>
        <p:spPr>
          <a:xfrm xmlns:a="http://schemas.openxmlformats.org/drawingml/2006/main">
            <a:off x="5429250" y="3657600"/>
            <a:ext cx="2724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D8DEE3"/>
                </a:solidFill>
                <a:latin typeface="DejaVu Sans"/>
                <a:ea typeface="DejaVu Sans"/>
                <a:cs typeface="DejaVu Sans"/>
              </a:defRPr>
            </a:pPr>
            <a:r>
              <a:rPr sz="1050" b="0">
                <a:solidFill>
                  <a:srgbClr val="D8DEE3"/>
                </a:solidFill>
                <a:latin typeface="DejaVu Sans"/>
                <a:ea typeface="DejaVu Sans"/>
                <a:cs typeface="DejaVu Sans"/>
              </a:rPr>
              <a:t>Mars pressure/composition • qualified dust simulant • thermal profile</a:t>
            </a:r>
          </a:p>
        </p:txBody>
      </p:sp>
      <p:sp>
        <p:nvSpPr>
          <p:cNvPr id="18" name="">
            <a:extLst xmlns:a="http://schemas.openxmlformats.org/drawingml/2006/main">
              <a:ext uri="{FF2B5EF4-FFF2-40B4-BE49-F238E27FC236}">
                <a16:creationId xmlns:a16="http://schemas.microsoft.com/office/drawing/2014/main" id="{1A531600-7E86-4FC7-993F-D6C6E75A6843}"/>
              </a:ext>
            </a:extLst>
          </p:cNvPr>
          <p:cNvSpPr>
            <a:spLocks xmlns:a="http://schemas.openxmlformats.org/drawingml/2006/main" noGrp="1"/>
          </p:cNvSpPr>
          <p:nvPr/>
        </p:nvSpPr>
        <p:spPr>
          <a:xfrm xmlns:a="http://schemas.openxmlformats.org/drawingml/2006/main">
            <a:off x="4267200" y="4095750"/>
            <a:ext cx="3886200" cy="0"/>
          </a:xfrm>
          <a:prstGeom xmlns:a="http://schemas.openxmlformats.org/drawingml/2006/main" prst="line">
            <a:avLst/>
          </a:prstGeom>
          <a:noFill xmlns:a="http://schemas.openxmlformats.org/drawingml/2006/main"/>
          <a:ln xmlns:a="http://schemas.openxmlformats.org/drawingml/2006/main" w="9525">
            <a:solidFill>
              <a:srgbClr val="35414B"/>
            </a:solidFill>
            <a:prstDash val="solid"/>
          </a:ln>
        </p:spPr>
      </p:sp>
      <p:sp>
        <p:nvSpPr>
          <p:cNvPr id="19" name="">
            <a:extLst xmlns:a="http://schemas.openxmlformats.org/drawingml/2006/main">
              <a:ext uri="{FF2B5EF4-FFF2-40B4-BE49-F238E27FC236}">
                <a16:creationId xmlns:a16="http://schemas.microsoft.com/office/drawing/2014/main" id="{B32DD6FA-5C5F-4E7C-BD99-49E4A57786F8}"/>
              </a:ext>
            </a:extLst>
          </p:cNvPr>
          <p:cNvSpPr>
            <a:spLocks xmlns:a="http://schemas.openxmlformats.org/drawingml/2006/main" noGrp="1"/>
          </p:cNvSpPr>
          <p:nvPr/>
        </p:nvSpPr>
        <p:spPr>
          <a:xfrm xmlns:a="http://schemas.openxmlformats.org/drawingml/2006/main">
            <a:off x="4267200" y="4171950"/>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900" b="1">
                <a:solidFill>
                  <a:srgbClr val="39D7FF"/>
                </a:solidFill>
                <a:latin typeface="DejaVu Sans Mono"/>
                <a:ea typeface="DejaVu Sans Mono"/>
                <a:cs typeface="DejaVu Sans Mono"/>
              </a:defRPr>
            </a:pPr>
            <a:r>
              <a:rPr sz="900" b="1">
                <a:solidFill>
                  <a:srgbClr val="39D7FF"/>
                </a:solidFill>
                <a:latin typeface="DejaVu Sans Mono"/>
                <a:ea typeface="DejaVu Sans Mono"/>
                <a:cs typeface="DejaVu Sans Mono"/>
              </a:rPr>
              <a:t>METHOD</a:t>
            </a:r>
          </a:p>
        </p:txBody>
      </p:sp>
      <p:sp>
        <p:nvSpPr>
          <p:cNvPr id="20" name="">
            <a:extLst xmlns:a="http://schemas.openxmlformats.org/drawingml/2006/main">
              <a:ext uri="{FF2B5EF4-FFF2-40B4-BE49-F238E27FC236}">
                <a16:creationId xmlns:a16="http://schemas.microsoft.com/office/drawing/2014/main" id="{A8FD0740-B37B-43E1-8F5C-C3ABE0D93421}"/>
              </a:ext>
            </a:extLst>
          </p:cNvPr>
          <p:cNvSpPr>
            <a:spLocks xmlns:a="http://schemas.openxmlformats.org/drawingml/2006/main" noGrp="1"/>
          </p:cNvSpPr>
          <p:nvPr/>
        </p:nvSpPr>
        <p:spPr>
          <a:xfrm xmlns:a="http://schemas.openxmlformats.org/drawingml/2006/main">
            <a:off x="5429250" y="4171950"/>
            <a:ext cx="2724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D8DEE3"/>
                </a:solidFill>
                <a:latin typeface="DejaVu Sans"/>
                <a:ea typeface="DejaVu Sans"/>
                <a:cs typeface="DejaVu Sans"/>
              </a:defRPr>
            </a:pPr>
            <a:r>
              <a:rPr sz="1050" b="0">
                <a:solidFill>
                  <a:srgbClr val="D8DEE3"/>
                </a:solidFill>
                <a:latin typeface="DejaVu Sans"/>
                <a:ea typeface="DejaVu Sans"/>
                <a:cs typeface="DejaVu Sans"/>
              </a:rPr>
              <a:t>factorial dust-chamber test + uncertainty analysis</a:t>
            </a:r>
          </a:p>
        </p:txBody>
      </p:sp>
      <p:sp>
        <p:nvSpPr>
          <p:cNvPr id="21" name="">
            <a:extLst xmlns:a="http://schemas.openxmlformats.org/drawingml/2006/main">
              <a:ext uri="{FF2B5EF4-FFF2-40B4-BE49-F238E27FC236}">
                <a16:creationId xmlns:a16="http://schemas.microsoft.com/office/drawing/2014/main" id="{B3E5C8AB-B38B-4B9C-AE7E-CF54B535F72E}"/>
              </a:ext>
            </a:extLst>
          </p:cNvPr>
          <p:cNvSpPr>
            <a:spLocks xmlns:a="http://schemas.openxmlformats.org/drawingml/2006/main" noGrp="1"/>
          </p:cNvSpPr>
          <p:nvPr/>
        </p:nvSpPr>
        <p:spPr>
          <a:xfrm xmlns:a="http://schemas.openxmlformats.org/drawingml/2006/main">
            <a:off x="4267200" y="4610100"/>
            <a:ext cx="3886200" cy="0"/>
          </a:xfrm>
          <a:prstGeom xmlns:a="http://schemas.openxmlformats.org/drawingml/2006/main" prst="line">
            <a:avLst/>
          </a:prstGeom>
          <a:noFill xmlns:a="http://schemas.openxmlformats.org/drawingml/2006/main"/>
          <a:ln xmlns:a="http://schemas.openxmlformats.org/drawingml/2006/main" w="9525">
            <a:solidFill>
              <a:srgbClr val="35414B"/>
            </a:solidFill>
            <a:prstDash val="solid"/>
          </a:ln>
        </p:spPr>
      </p:sp>
      <p:sp>
        <p:nvSpPr>
          <p:cNvPr id="22" name="">
            <a:extLst xmlns:a="http://schemas.openxmlformats.org/drawingml/2006/main">
              <a:ext uri="{FF2B5EF4-FFF2-40B4-BE49-F238E27FC236}">
                <a16:creationId xmlns:a16="http://schemas.microsoft.com/office/drawing/2014/main" id="{A5A8A0B7-7290-4A22-A9F8-80A6225E2371}"/>
              </a:ext>
            </a:extLst>
          </p:cNvPr>
          <p:cNvSpPr>
            <a:spLocks xmlns:a="http://schemas.openxmlformats.org/drawingml/2006/main" noGrp="1"/>
          </p:cNvSpPr>
          <p:nvPr/>
        </p:nvSpPr>
        <p:spPr>
          <a:xfrm xmlns:a="http://schemas.openxmlformats.org/drawingml/2006/main">
            <a:off x="4267200" y="4686300"/>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900" b="1">
                <a:solidFill>
                  <a:srgbClr val="39D7FF"/>
                </a:solidFill>
                <a:latin typeface="DejaVu Sans Mono"/>
                <a:ea typeface="DejaVu Sans Mono"/>
                <a:cs typeface="DejaVu Sans Mono"/>
              </a:defRPr>
            </a:pPr>
            <a:r>
              <a:rPr sz="900" b="1">
                <a:solidFill>
                  <a:srgbClr val="39D7FF"/>
                </a:solidFill>
                <a:latin typeface="DejaVu Sans Mono"/>
                <a:ea typeface="DejaVu Sans Mono"/>
                <a:cs typeface="DejaVu Sans Mono"/>
              </a:rPr>
              <a:t>ACCEPTANCE</a:t>
            </a:r>
          </a:p>
        </p:txBody>
      </p:sp>
      <p:sp>
        <p:nvSpPr>
          <p:cNvPr id="23" name="">
            <a:extLst xmlns:a="http://schemas.openxmlformats.org/drawingml/2006/main">
              <a:ext uri="{FF2B5EF4-FFF2-40B4-BE49-F238E27FC236}">
                <a16:creationId xmlns:a16="http://schemas.microsoft.com/office/drawing/2014/main" id="{A8CAF96E-5CAF-4277-AB76-6F020F795E41}"/>
              </a:ext>
            </a:extLst>
          </p:cNvPr>
          <p:cNvSpPr>
            <a:spLocks xmlns:a="http://schemas.openxmlformats.org/drawingml/2006/main" noGrp="1"/>
          </p:cNvSpPr>
          <p:nvPr/>
        </p:nvSpPr>
        <p:spPr>
          <a:xfrm xmlns:a="http://schemas.openxmlformats.org/drawingml/2006/main">
            <a:off x="5429250" y="4686300"/>
            <a:ext cx="2724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D8DEE3"/>
                </a:solidFill>
                <a:latin typeface="DejaVu Sans"/>
                <a:ea typeface="DejaVu Sans"/>
                <a:cs typeface="DejaVu Sans"/>
              </a:defRPr>
            </a:pPr>
            <a:r>
              <a:rPr sz="1050" b="0">
                <a:solidFill>
                  <a:srgbClr val="D8DEE3"/>
                </a:solidFill>
                <a:latin typeface="DejaVu Sans"/>
                <a:ea typeface="DejaVu Sans"/>
                <a:cs typeface="DejaVu Sans"/>
              </a:rPr>
              <a:t>requirement-derived pressure-drop and recovery limits</a:t>
            </a:r>
          </a:p>
        </p:txBody>
      </p:sp>
      <p:sp>
        <p:nvSpPr>
          <p:cNvPr id="24" name="">
            <a:extLst xmlns:a="http://schemas.openxmlformats.org/drawingml/2006/main">
              <a:ext uri="{FF2B5EF4-FFF2-40B4-BE49-F238E27FC236}">
                <a16:creationId xmlns:a16="http://schemas.microsoft.com/office/drawing/2014/main" id="{57B2647E-4BAE-4B1B-9815-96EC457C12B2}"/>
              </a:ext>
            </a:extLst>
          </p:cNvPr>
          <p:cNvSpPr>
            <a:spLocks xmlns:a="http://schemas.openxmlformats.org/drawingml/2006/main" noGrp="1"/>
          </p:cNvSpPr>
          <p:nvPr/>
        </p:nvSpPr>
        <p:spPr>
          <a:xfrm xmlns:a="http://schemas.openxmlformats.org/drawingml/2006/main" rot="0">
            <a:off x="8610600" y="2514600"/>
            <a:ext cx="723900" cy="209550"/>
          </a:xfrm>
          <a:prstGeom xmlns:a="http://schemas.openxmlformats.org/drawingml/2006/main" prst="rightArrow">
            <a:avLst/>
          </a:prstGeom>
          <a:solidFill xmlns:a="http://schemas.openxmlformats.org/drawingml/2006/main">
            <a:srgbClr val="62D6A7">
              <a:alpha val="70000"/>
            </a:srgbClr>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D0FB828-8760-43C3-8358-A9E4E8A01935}"/>
              </a:ext>
            </a:extLst>
          </p:cNvPr>
          <p:cNvSpPr>
            <a:spLocks xmlns:a="http://schemas.openxmlformats.org/drawingml/2006/main" noGrp="1"/>
          </p:cNvSpPr>
          <p:nvPr/>
        </p:nvSpPr>
        <p:spPr>
          <a:xfrm xmlns:a="http://schemas.openxmlformats.org/drawingml/2006/main">
            <a:off x="9429750" y="2133600"/>
            <a:ext cx="2095500" cy="990600"/>
          </a:xfrm>
          <a:prstGeom xmlns:a="http://schemas.openxmlformats.org/drawingml/2006/main" prst="roundRect">
            <a:avLst>
              <a:gd name="adj" fmla="val 15385"/>
            </a:avLst>
          </a:prstGeom>
          <a:solidFill xmlns:a="http://schemas.openxmlformats.org/drawingml/2006/main">
            <a:srgbClr val="101A17"/>
          </a:solidFill>
          <a:ln xmlns:a="http://schemas.openxmlformats.org/drawingml/2006/main" w="14288">
            <a:solidFill>
              <a:srgbClr val="62D6A7"/>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350" b="1">
                <a:solidFill>
                  <a:srgbClr val="62D6A7"/>
                </a:solidFill>
                <a:latin typeface="DejaVu Sans"/>
                <a:ea typeface="DejaVu Sans"/>
                <a:cs typeface="DejaVu Sans"/>
              </a:defRPr>
            </a:pPr>
            <a:r>
              <a:rPr sz="1350" b="1">
                <a:solidFill>
                  <a:srgbClr val="62D6A7"/>
                </a:solidFill>
                <a:latin typeface="DejaVu Sans"/>
                <a:ea typeface="DejaVu Sans"/>
                <a:cs typeface="DejaVu Sans"/>
              </a:rPr>
              <a:t>REVIEWED EVIDENCE</a:t>
            </a:r>
          </a:p>
          <a:p xmlns:a="http://schemas.openxmlformats.org/drawingml/2006/main">
            <a:pPr algn="ctr">
              <a:lnSpc>
                <a:spcPct val="90000"/>
              </a:lnSpc>
              <a:buNone/>
              <a:defRPr sz="1350" b="1">
                <a:solidFill>
                  <a:srgbClr val="62D6A7"/>
                </a:solidFill>
                <a:latin typeface="DejaVu Sans"/>
                <a:ea typeface="DejaVu Sans"/>
                <a:cs typeface="DejaVu Sans"/>
              </a:defRPr>
            </a:pPr>
            <a:r>
              <a:rPr sz="1350" b="1">
                <a:solidFill>
                  <a:srgbClr val="62D6A7"/>
                </a:solidFill>
                <a:latin typeface="DejaVu Sans"/>
                <a:ea typeface="DejaVu Sans"/>
                <a:cs typeface="DejaVu Sans"/>
              </a:rPr>
              <a:t>RETURNS TO BASELINE</a:t>
            </a:r>
          </a:p>
        </p:txBody>
      </p:sp>
      <p:sp>
        <p:nvSpPr>
          <p:cNvPr id="26" name="">
            <a:extLst xmlns:a="http://schemas.openxmlformats.org/drawingml/2006/main">
              <a:ext uri="{FF2B5EF4-FFF2-40B4-BE49-F238E27FC236}">
                <a16:creationId xmlns:a16="http://schemas.microsoft.com/office/drawing/2014/main" id="{5F0707A6-549A-4708-B07A-2AE2F4AD11FA}"/>
              </a:ext>
            </a:extLst>
          </p:cNvPr>
          <p:cNvSpPr>
            <a:spLocks xmlns:a="http://schemas.openxmlformats.org/drawingml/2006/main" noGrp="1"/>
          </p:cNvSpPr>
          <p:nvPr/>
        </p:nvSpPr>
        <p:spPr>
          <a:xfrm xmlns:a="http://schemas.openxmlformats.org/drawingml/2006/main">
            <a:off x="10477500" y="3238500"/>
            <a:ext cx="38100" cy="1866900"/>
          </a:xfrm>
          <a:prstGeom xmlns:a="http://schemas.openxmlformats.org/drawingml/2006/main" prst="rect">
            <a:avLst/>
          </a:prstGeom>
          <a:solidFill xmlns:a="http://schemas.openxmlformats.org/drawingml/2006/main">
            <a:srgbClr val="62D6A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AD70A1E-6562-4C83-9658-8162AC348613}"/>
              </a:ext>
            </a:extLst>
          </p:cNvPr>
          <p:cNvSpPr>
            <a:spLocks xmlns:a="http://schemas.openxmlformats.org/drawingml/2006/main" noGrp="1"/>
          </p:cNvSpPr>
          <p:nvPr/>
        </p:nvSpPr>
        <p:spPr>
          <a:xfrm xmlns:a="http://schemas.openxmlformats.org/drawingml/2006/main" rot="5400000">
            <a:off x="9906000" y="4953000"/>
            <a:ext cx="628650" cy="171450"/>
          </a:xfrm>
          <a:prstGeom xmlns:a="http://schemas.openxmlformats.org/drawingml/2006/main" prst="rightArrow">
            <a:avLst/>
          </a:prstGeom>
          <a:solidFill xmlns:a="http://schemas.openxmlformats.org/drawingml/2006/main">
            <a:srgbClr val="62D6A7">
              <a:alpha val="70000"/>
            </a:srgbClr>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F5BACD7-839D-4443-9403-8DFABDA5F4CA}"/>
              </a:ext>
            </a:extLst>
          </p:cNvPr>
          <p:cNvSpPr>
            <a:spLocks xmlns:a="http://schemas.openxmlformats.org/drawingml/2006/main" noGrp="1"/>
          </p:cNvSpPr>
          <p:nvPr/>
        </p:nvSpPr>
        <p:spPr>
          <a:xfrm xmlns:a="http://schemas.openxmlformats.org/drawingml/2006/main">
            <a:off x="9277350" y="5219700"/>
            <a:ext cx="2247900" cy="876300"/>
          </a:xfrm>
          <a:prstGeom xmlns:a="http://schemas.openxmlformats.org/drawingml/2006/main" prst="roundRect">
            <a:avLst>
              <a:gd name="adj" fmla="val 17391"/>
            </a:avLst>
          </a:prstGeom>
          <a:solidFill xmlns:a="http://schemas.openxmlformats.org/drawingml/2006/main">
            <a:srgbClr val="10161B"/>
          </a:solidFill>
          <a:ln xmlns:a="http://schemas.openxmlformats.org/drawingml/2006/main" w="14288">
            <a:solidFill>
              <a:srgbClr val="39D7FF"/>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200" b="1">
                <a:solidFill>
                  <a:srgbClr val="39D7FF"/>
                </a:solidFill>
                <a:latin typeface="DejaVu Sans Mono"/>
                <a:ea typeface="DejaVu Sans Mono"/>
                <a:cs typeface="DejaVu Sans Mono"/>
              </a:defRPr>
            </a:pPr>
            <a:r>
              <a:rPr sz="1200" b="1">
                <a:solidFill>
                  <a:srgbClr val="39D7FF"/>
                </a:solidFill>
                <a:latin typeface="DejaVu Sans Mono"/>
                <a:ea typeface="DejaVu Sans Mono"/>
                <a:cs typeface="DejaVu Sans Mono"/>
              </a:rPr>
              <a:t>UPDATE</a:t>
            </a:r>
          </a:p>
          <a:p xmlns:a="http://schemas.openxmlformats.org/drawingml/2006/main">
            <a:pPr algn="ctr">
              <a:lnSpc>
                <a:spcPct val="90000"/>
              </a:lnSpc>
              <a:buNone/>
              <a:defRPr sz="1200" b="1">
                <a:solidFill>
                  <a:srgbClr val="39D7FF"/>
                </a:solidFill>
                <a:latin typeface="DejaVu Sans Mono"/>
                <a:ea typeface="DejaVu Sans Mono"/>
                <a:cs typeface="DejaVu Sans Mono"/>
              </a:defRPr>
            </a:pPr>
            <a:r>
              <a:rPr sz="1200" b="1">
                <a:solidFill>
                  <a:srgbClr val="39D7FF"/>
                </a:solidFill>
                <a:latin typeface="DejaVu Sans Mono"/>
                <a:ea typeface="DejaVu Sans Mono"/>
                <a:cs typeface="DejaVu Sans Mono"/>
              </a:rPr>
              <a:t>FILTER SIZE</a:t>
            </a:r>
          </a:p>
          <a:p xmlns:a="http://schemas.openxmlformats.org/drawingml/2006/main">
            <a:pPr algn="ctr">
              <a:lnSpc>
                <a:spcPct val="90000"/>
              </a:lnSpc>
              <a:buNone/>
              <a:defRPr sz="1200" b="1">
                <a:solidFill>
                  <a:srgbClr val="39D7FF"/>
                </a:solidFill>
                <a:latin typeface="DejaVu Sans Mono"/>
                <a:ea typeface="DejaVu Sans Mono"/>
                <a:cs typeface="DejaVu Sans Mono"/>
              </a:defRPr>
            </a:pPr>
            <a:r>
              <a:rPr sz="1200" b="1">
                <a:solidFill>
                  <a:srgbClr val="39D7FF"/>
                </a:solidFill>
                <a:latin typeface="DejaVu Sans Mono"/>
                <a:ea typeface="DejaVu Sans Mono"/>
                <a:cs typeface="DejaVu Sans Mono"/>
              </a:rPr>
              <a:t>MAINTENANCE</a:t>
            </a:r>
          </a:p>
          <a:p xmlns:a="http://schemas.openxmlformats.org/drawingml/2006/main">
            <a:pPr algn="ctr">
              <a:lnSpc>
                <a:spcPct val="90000"/>
              </a:lnSpc>
              <a:buNone/>
              <a:defRPr sz="1200" b="1">
                <a:solidFill>
                  <a:srgbClr val="39D7FF"/>
                </a:solidFill>
                <a:latin typeface="DejaVu Sans Mono"/>
                <a:ea typeface="DejaVu Sans Mono"/>
                <a:cs typeface="DejaVu Sans Mono"/>
              </a:defRPr>
            </a:pPr>
            <a:r>
              <a:rPr sz="1200" b="1">
                <a:solidFill>
                  <a:srgbClr val="39D7FF"/>
                </a:solidFill>
                <a:latin typeface="DejaVu Sans Mono"/>
                <a:ea typeface="DejaVu Sans Mono"/>
                <a:cs typeface="DejaVu Sans Mono"/>
              </a:rPr>
              <a:t>V&amp;V</a:t>
            </a:r>
          </a:p>
        </p:txBody>
      </p:sp>
      <p:sp>
        <p:nvSpPr>
          <p:cNvPr id="29" name="">
            <a:extLst xmlns:a="http://schemas.openxmlformats.org/drawingml/2006/main">
              <a:ext uri="{FF2B5EF4-FFF2-40B4-BE49-F238E27FC236}">
                <a16:creationId xmlns:a16="http://schemas.microsoft.com/office/drawing/2014/main" id="{A755345E-08D4-4DED-BB29-E8D1ACECF91A}"/>
              </a:ext>
            </a:extLst>
          </p:cNvPr>
          <p:cNvSpPr>
            <a:spLocks xmlns:a="http://schemas.openxmlformats.org/drawingml/2006/main" noGrp="1"/>
          </p:cNvSpPr>
          <p:nvPr/>
        </p:nvSpPr>
        <p:spPr>
          <a:xfrm xmlns:a="http://schemas.openxmlformats.org/drawingml/2006/main">
            <a:off x="1809750" y="3238500"/>
            <a:ext cx="38100" cy="2038350"/>
          </a:xfrm>
          <a:prstGeom xmlns:a="http://schemas.openxmlformats.org/drawingml/2006/main" prst="rect">
            <a:avLst/>
          </a:prstGeom>
          <a:solidFill xmlns:a="http://schemas.openxmlformats.org/drawingml/2006/main">
            <a:srgbClr val="F26B3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7C9807BD-D1AC-4075-905B-76EAFB8F2628}"/>
              </a:ext>
            </a:extLst>
          </p:cNvPr>
          <p:cNvSpPr>
            <a:spLocks xmlns:a="http://schemas.openxmlformats.org/drawingml/2006/main" noGrp="1"/>
          </p:cNvSpPr>
          <p:nvPr/>
        </p:nvSpPr>
        <p:spPr>
          <a:xfrm xmlns:a="http://schemas.openxmlformats.org/drawingml/2006/main" rot="5400000">
            <a:off x="1790700" y="4953000"/>
            <a:ext cx="666750" cy="171450"/>
          </a:xfrm>
          <a:prstGeom xmlns:a="http://schemas.openxmlformats.org/drawingml/2006/main" prst="rightArrow">
            <a:avLst/>
          </a:prstGeom>
          <a:solidFill xmlns:a="http://schemas.openxmlformats.org/drawingml/2006/main">
            <a:srgbClr val="F26B38">
              <a:alpha val="70000"/>
            </a:srgbClr>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468F5472-99BA-440D-8A43-5687A592944F}"/>
              </a:ext>
            </a:extLst>
          </p:cNvPr>
          <p:cNvSpPr>
            <a:spLocks xmlns:a="http://schemas.openxmlformats.org/drawingml/2006/main" noGrp="1"/>
          </p:cNvSpPr>
          <p:nvPr/>
        </p:nvSpPr>
        <p:spPr>
          <a:xfrm xmlns:a="http://schemas.openxmlformats.org/drawingml/2006/main">
            <a:off x="647700" y="5219700"/>
            <a:ext cx="2381250" cy="876300"/>
          </a:xfrm>
          <a:prstGeom xmlns:a="http://schemas.openxmlformats.org/drawingml/2006/main" prst="roundRect">
            <a:avLst>
              <a:gd name="adj" fmla="val 17391"/>
            </a:avLst>
          </a:prstGeom>
          <a:solidFill xmlns:a="http://schemas.openxmlformats.org/drawingml/2006/main">
            <a:srgbClr val="18120F"/>
          </a:solidFill>
          <a:ln xmlns:a="http://schemas.openxmlformats.org/drawingml/2006/main" w="14288">
            <a:solidFill>
              <a:srgbClr val="F26B38"/>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425" b="1">
                <a:solidFill>
                  <a:srgbClr val="F26B38"/>
                </a:solidFill>
                <a:latin typeface="DejaVu Sans"/>
                <a:ea typeface="DejaVu Sans"/>
                <a:cs typeface="DejaVu Sans"/>
              </a:defRPr>
            </a:pPr>
            <a:r>
              <a:rPr sz="1425" b="1">
                <a:solidFill>
                  <a:srgbClr val="F26B38"/>
                </a:solidFill>
                <a:latin typeface="DejaVu Sans"/>
                <a:ea typeface="DejaVu Sans"/>
                <a:cs typeface="DejaVu Sans"/>
              </a:rPr>
              <a:t>ENGINEERING</a:t>
            </a:r>
          </a:p>
          <a:p xmlns:a="http://schemas.openxmlformats.org/drawingml/2006/main">
            <a:pPr algn="ctr">
              <a:lnSpc>
                <a:spcPct val="90000"/>
              </a:lnSpc>
              <a:buNone/>
              <a:defRPr sz="1425" b="1">
                <a:solidFill>
                  <a:srgbClr val="F26B38"/>
                </a:solidFill>
                <a:latin typeface="DejaVu Sans"/>
                <a:ea typeface="DejaVu Sans"/>
                <a:cs typeface="DejaVu Sans"/>
              </a:defRPr>
            </a:pPr>
            <a:r>
              <a:rPr sz="1425" b="1">
                <a:solidFill>
                  <a:srgbClr val="F26B38"/>
                </a:solidFill>
                <a:latin typeface="DejaVu Sans"/>
                <a:ea typeface="DejaVu Sans"/>
                <a:cs typeface="DejaVu Sans"/>
              </a:rPr>
              <a:t>CONTINUES</a:t>
            </a:r>
          </a:p>
        </p:txBody>
      </p:sp>
      <p:sp>
        <p:nvSpPr>
          <p:cNvPr id="32" name="">
            <a:extLst xmlns:a="http://schemas.openxmlformats.org/drawingml/2006/main">
              <a:ext uri="{FF2B5EF4-FFF2-40B4-BE49-F238E27FC236}">
                <a16:creationId xmlns:a16="http://schemas.microsoft.com/office/drawing/2014/main" id="{5EE062E5-D5E6-48A7-A0BE-54B179934C3D}"/>
              </a:ext>
            </a:extLst>
          </p:cNvPr>
          <p:cNvSpPr>
            <a:spLocks xmlns:a="http://schemas.openxmlformats.org/drawingml/2006/main" noGrp="1"/>
          </p:cNvSpPr>
          <p:nvPr/>
        </p:nvSpPr>
        <p:spPr>
          <a:xfrm xmlns:a="http://schemas.openxmlformats.org/drawingml/2006/main" rot="0">
            <a:off x="3048000" y="5676900"/>
            <a:ext cx="6096000" cy="152400"/>
          </a:xfrm>
          <a:prstGeom xmlns:a="http://schemas.openxmlformats.org/drawingml/2006/main" prst="rightArrow">
            <a:avLst/>
          </a:prstGeom>
          <a:solidFill xmlns:a="http://schemas.openxmlformats.org/drawingml/2006/main">
            <a:srgbClr val="F26B38">
              <a:alpha val="45000"/>
            </a:srgbClr>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F40CEC8E-C199-4837-B64F-64F19C332542}"/>
              </a:ext>
            </a:extLst>
          </p:cNvPr>
          <p:cNvSpPr>
            <a:spLocks xmlns:a="http://schemas.openxmlformats.org/drawingml/2006/main" noGrp="1"/>
          </p:cNvSpPr>
          <p:nvPr/>
        </p:nvSpPr>
        <p:spPr>
          <a:xfrm xmlns:a="http://schemas.openxmlformats.org/drawingml/2006/main">
            <a:off x="0" y="6400800"/>
            <a:ext cx="12192000" cy="457200"/>
          </a:xfrm>
          <a:prstGeom xmlns:a="http://schemas.openxmlformats.org/drawingml/2006/main" prst="rect">
            <a:avLst/>
          </a:prstGeom>
          <a:solidFill xmlns:a="http://schemas.openxmlformats.org/drawingml/2006/main">
            <a:srgbClr val="07090C">
              <a:alpha val="76000"/>
            </a:srgbClr>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3086001B-C194-4B60-A7C2-3298BBD6636A}"/>
              </a:ext>
            </a:extLst>
          </p:cNvPr>
          <p:cNvSpPr>
            <a:spLocks xmlns:a="http://schemas.openxmlformats.org/drawingml/2006/main" noGrp="1"/>
          </p:cNvSpPr>
          <p:nvPr/>
        </p:nvSpPr>
        <p:spPr>
          <a:xfrm xmlns:a="http://schemas.openxmlformats.org/drawingml/2006/main">
            <a:off x="609600" y="6553200"/>
            <a:ext cx="6858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MARS SOCIETY 2026  •  HARNESSED AGENTIC SCIENCE + ENGINEERING</a:t>
            </a:r>
          </a:p>
        </p:txBody>
      </p:sp>
      <p:sp>
        <p:nvSpPr>
          <p:cNvPr id="35" name="">
            <a:extLst xmlns:a="http://schemas.openxmlformats.org/drawingml/2006/main">
              <a:ext uri="{FF2B5EF4-FFF2-40B4-BE49-F238E27FC236}">
                <a16:creationId xmlns:a16="http://schemas.microsoft.com/office/drawing/2014/main" id="{9A6D34F0-9937-48C5-A511-A60C027AD983}"/>
              </a:ext>
            </a:extLst>
          </p:cNvPr>
          <p:cNvSpPr>
            <a:spLocks xmlns:a="http://schemas.openxmlformats.org/drawingml/2006/main" noGrp="1"/>
          </p:cNvSpPr>
          <p:nvPr/>
        </p:nvSpPr>
        <p:spPr>
          <a:xfrm xmlns:a="http://schemas.openxmlformats.org/drawingml/2006/main">
            <a:off x="9525000" y="6553200"/>
            <a:ext cx="2057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BOB J MILLS     17</a:t>
            </a:r>
          </a:p>
        </p:txBody>
      </p:sp>
    </p:spTree>
    <p:extLst>
      <p:ext uri="{BB962C8B-B14F-4D97-AF65-F5344CB8AC3E}">
        <p14:creationId xmlns:p14="http://schemas.microsoft.com/office/powerpoint/2010/main" val="1727205963"/>
      </p:ext>
    </p:extLst>
  </p:cSld>
</p:sld>
</file>

<file path=ppt/slides/slide18.xml><?xml version="1.0" encoding="utf-8"?>
<p:sld xmlns:p="http://schemas.openxmlformats.org/presentationml/2006/main">
  <p:cSld>
    <p:bg>
      <p:bgPr>
        <a:solidFill xmlns:a="http://schemas.openxmlformats.org/drawingml/2006/main">
          <a:srgbClr val="07090C"/>
        </a:solidFill>
      </p:bgPr>
    </p:bg>
    <p:spTree>
      <p:nvGrpSpPr>
        <p:cNvPr id="1" name=""/>
        <p:cNvGrpSpPr/>
        <p:nvPr/>
      </p:nvGrpSpPr>
      <p:grpSpPr>
        <a:xfrm xmlns:a="http://schemas.openxmlformats.org/drawingml/2006/main"/>
      </p:grpSpPr>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c81511bcef2b4bf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600E5C2-5EA5-43EB-9231-CFF15DA0E17A}"/>
              </a:ext>
            </a:extLst>
          </p:cNvPr>
          <p:cNvSpPr>
            <a:spLocks xmlns:a="http://schemas.openxmlformats.org/drawingml/2006/main" noGrp="1"/>
          </p:cNvSpPr>
          <p:nvPr/>
        </p:nvSpPr>
        <p:spPr>
          <a:xfrm xmlns:a="http://schemas.openxmlformats.org/drawingml/2006/main">
            <a:off x="0" y="0"/>
            <a:ext cx="12192000" cy="1752600"/>
          </a:xfrm>
          <a:prstGeom xmlns:a="http://schemas.openxmlformats.org/drawingml/2006/main" prst="rect">
            <a:avLst/>
          </a:prstGeom>
          <a:gradFill xmlns:a="http://schemas.openxmlformats.org/drawingml/2006/main">
            <a:gsLst>
              <a:gs pos="0">
                <a:srgbClr val="07090C">
                  <a:alpha val="98000"/>
                </a:srgbClr>
              </a:gs>
              <a:gs pos="68000">
                <a:srgbClr val="07090C">
                  <a:alpha val="88000"/>
                </a:srgbClr>
              </a:gs>
              <a:gs pos="100000">
                <a:srgbClr val="07090C">
                  <a:alpha val="0"/>
                </a:srgbClr>
              </a:gs>
            </a:gsLst>
            <a:lin ang="540000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B32CA4D-DF69-42E9-A96D-FAA2E10AAF4D}"/>
              </a:ext>
            </a:extLst>
          </p:cNvPr>
          <p:cNvSpPr>
            <a:spLocks xmlns:a="http://schemas.openxmlformats.org/drawingml/2006/main" noGrp="1"/>
          </p:cNvSpPr>
          <p:nvPr/>
        </p:nvSpPr>
        <p:spPr>
          <a:xfrm xmlns:a="http://schemas.openxmlformats.org/drawingml/2006/main">
            <a:off x="0" y="5124450"/>
            <a:ext cx="12192000" cy="1733550"/>
          </a:xfrm>
          <a:prstGeom xmlns:a="http://schemas.openxmlformats.org/drawingml/2006/main" prst="rect">
            <a:avLst/>
          </a:prstGeom>
          <a:gradFill xmlns:a="http://schemas.openxmlformats.org/drawingml/2006/main">
            <a:gsLst>
              <a:gs pos="0">
                <a:srgbClr val="07090C">
                  <a:alpha val="98000"/>
                </a:srgbClr>
              </a:gs>
              <a:gs pos="68000">
                <a:srgbClr val="07090C">
                  <a:alpha val="90000"/>
                </a:srgbClr>
              </a:gs>
              <a:gs pos="100000">
                <a:srgbClr val="07090C">
                  <a:alpha val="0"/>
                </a:srgbClr>
              </a:gs>
            </a:gsLst>
            <a:lin ang="16200000"/>
          </a:gra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82AB61F-58B9-4B14-A6B7-85A867C41EA0}"/>
              </a:ext>
            </a:extLst>
          </p:cNvPr>
          <p:cNvSpPr>
            <a:spLocks xmlns:a="http://schemas.openxmlformats.org/drawingml/2006/main" noGrp="1"/>
          </p:cNvSpPr>
          <p:nvPr/>
        </p:nvSpPr>
        <p:spPr>
          <a:xfrm xmlns:a="http://schemas.openxmlformats.org/drawingml/2006/main">
            <a:off x="609600" y="3238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975" b="1">
                <a:solidFill>
                  <a:srgbClr val="F26B38"/>
                </a:solidFill>
                <a:latin typeface="DejaVu Sans Mono"/>
                <a:ea typeface="DejaVu Sans Mono"/>
                <a:cs typeface="DejaVu Sans Mono"/>
              </a:defRPr>
            </a:pPr>
            <a:r>
              <a:rPr sz="975" b="1">
                <a:solidFill>
                  <a:srgbClr val="F26B38"/>
                </a:solidFill>
                <a:latin typeface="DejaVu Sans Mono"/>
                <a:ea typeface="DejaVu Sans Mono"/>
                <a:cs typeface="DejaVu Sans Mono"/>
              </a:rPr>
              <a:t>18  /  HARNESS ECOSYSTEM</a:t>
            </a:r>
          </a:p>
        </p:txBody>
      </p:sp>
      <p:sp>
        <p:nvSpPr>
          <p:cNvPr id="5" name="">
            <a:extLst xmlns:a="http://schemas.openxmlformats.org/drawingml/2006/main">
              <a:ext uri="{FF2B5EF4-FFF2-40B4-BE49-F238E27FC236}">
                <a16:creationId xmlns:a16="http://schemas.microsoft.com/office/drawing/2014/main" id="{096893A8-FD34-4632-8E64-C1884CAAD374}"/>
              </a:ext>
            </a:extLst>
          </p:cNvPr>
          <p:cNvSpPr>
            <a:spLocks xmlns:a="http://schemas.openxmlformats.org/drawingml/2006/main" noGrp="1"/>
          </p:cNvSpPr>
          <p:nvPr/>
        </p:nvSpPr>
        <p:spPr>
          <a:xfrm xmlns:a="http://schemas.openxmlformats.org/drawingml/2006/main">
            <a:off x="609600" y="685800"/>
            <a:ext cx="857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400" b="1">
                <a:solidFill>
                  <a:srgbClr val="F4F6F8"/>
                </a:solidFill>
                <a:latin typeface="DejaVu Sans"/>
                <a:ea typeface="DejaVu Sans"/>
                <a:cs typeface="DejaVu Sans"/>
              </a:defRPr>
            </a:pPr>
            <a:r>
              <a:rPr sz="2400" b="1">
                <a:solidFill>
                  <a:srgbClr val="F4F6F8"/>
                </a:solidFill>
                <a:latin typeface="DejaVu Sans"/>
                <a:ea typeface="DejaVu Sans"/>
                <a:cs typeface="DejaVu Sans"/>
              </a:rPr>
              <a:t>SaaS workflows become portable mission skills</a:t>
            </a:r>
          </a:p>
        </p:txBody>
      </p:sp>
      <p:sp>
        <p:nvSpPr>
          <p:cNvPr id="6" name="">
            <a:extLst xmlns:a="http://schemas.openxmlformats.org/drawingml/2006/main">
              <a:ext uri="{FF2B5EF4-FFF2-40B4-BE49-F238E27FC236}">
                <a16:creationId xmlns:a16="http://schemas.microsoft.com/office/drawing/2014/main" id="{85CA95F3-9BEF-4ADB-AC92-7C24D324DB91}"/>
              </a:ext>
            </a:extLst>
          </p:cNvPr>
          <p:cNvSpPr>
            <a:spLocks xmlns:a="http://schemas.openxmlformats.org/drawingml/2006/main" noGrp="1"/>
          </p:cNvSpPr>
          <p:nvPr/>
        </p:nvSpPr>
        <p:spPr>
          <a:xfrm xmlns:a="http://schemas.openxmlformats.org/drawingml/2006/main">
            <a:off x="628650" y="1295400"/>
            <a:ext cx="876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425" b="0">
                <a:solidFill>
                  <a:srgbClr val="D8DEE3"/>
                </a:solidFill>
                <a:latin typeface="DejaVu Sans"/>
                <a:ea typeface="DejaVu Sans"/>
                <a:cs typeface="DejaVu Sans"/>
              </a:defRPr>
            </a:pPr>
            <a:r>
              <a:rPr sz="1425" b="0">
                <a:solidFill>
                  <a:srgbClr val="D8DEE3"/>
                </a:solidFill>
                <a:latin typeface="DejaVu Sans"/>
                <a:ea typeface="DejaVu Sans"/>
                <a:cs typeface="DejaVu Sans"/>
              </a:rPr>
              <a:t>Codex, Claude Cowork, Hermes and Grok can load the same core skill contracts; available tools determine execution.</a:t>
            </a:r>
          </a:p>
        </p:txBody>
      </p:sp>
      <p:sp>
        <p:nvSpPr>
          <p:cNvPr id="7" name="">
            <a:extLst xmlns:a="http://schemas.openxmlformats.org/drawingml/2006/main">
              <a:ext uri="{FF2B5EF4-FFF2-40B4-BE49-F238E27FC236}">
                <a16:creationId xmlns:a16="http://schemas.microsoft.com/office/drawing/2014/main" id="{818B21D6-EBD2-49FF-B42C-A5CF6D2A32F3}"/>
              </a:ext>
            </a:extLst>
          </p:cNvPr>
          <p:cNvSpPr>
            <a:spLocks xmlns:a="http://schemas.openxmlformats.org/drawingml/2006/main" noGrp="1"/>
          </p:cNvSpPr>
          <p:nvPr/>
        </p:nvSpPr>
        <p:spPr>
          <a:xfrm xmlns:a="http://schemas.openxmlformats.org/drawingml/2006/main">
            <a:off x="857250" y="2876550"/>
            <a:ext cx="1504950" cy="323850"/>
          </a:xfrm>
          <a:prstGeom xmlns:a="http://schemas.openxmlformats.org/drawingml/2006/main" prst="roundRect">
            <a:avLst>
              <a:gd name="adj" fmla="val 26471"/>
            </a:avLst>
          </a:prstGeom>
          <a:solidFill xmlns:a="http://schemas.openxmlformats.org/drawingml/2006/main">
            <a:srgbClr val="090D10">
              <a:alpha val="88000"/>
            </a:srgbClr>
          </a:solidFill>
          <a:ln xmlns:a="http://schemas.openxmlformats.org/drawingml/2006/main" w="9525">
            <a:solidFill>
              <a:srgbClr val="39D7FF">
                <a:alpha val="55000"/>
              </a:srgbClr>
            </a:solidFill>
            <a:prstDash val="solid"/>
          </a:ln>
        </p:spPr>
        <p:txBody>
          <a:bodyPr xmlns:a="http://schemas.openxmlformats.org/drawingml/2006/main" wrap="square" lIns="47625" tIns="19050" rIns="47625" bIns="19050" anchor="ctr">
            <a:noAutofit/>
          </a:bodyPr>
          <a:lstStyle xmlns:a="http://schemas.openxmlformats.org/drawingml/2006/main"/>
          <a:p xmlns:a="http://schemas.openxmlformats.org/drawingml/2006/main">
            <a:pPr algn="ctr">
              <a:lnSpc>
                <a:spcPct val="95000"/>
              </a:lnSpc>
              <a:buNone/>
              <a:defRPr sz="975" b="1">
                <a:solidFill>
                  <a:srgbClr val="39D7FF"/>
                </a:solidFill>
                <a:latin typeface="DejaVu Sans Mono"/>
                <a:ea typeface="DejaVu Sans Mono"/>
                <a:cs typeface="DejaVu Sans Mono"/>
              </a:defRPr>
            </a:pPr>
            <a:r>
              <a:rPr sz="975" b="1">
                <a:solidFill>
                  <a:srgbClr val="39D7FF"/>
                </a:solidFill>
                <a:latin typeface="DejaVu Sans Mono"/>
                <a:ea typeface="DejaVu Sans Mono"/>
                <a:cs typeface="DejaVu Sans Mono"/>
              </a:rPr>
              <a:t>FIELD SCIENCE</a:t>
            </a:r>
          </a:p>
        </p:txBody>
      </p:sp>
      <p:sp>
        <p:nvSpPr>
          <p:cNvPr id="8" name="">
            <a:extLst xmlns:a="http://schemas.openxmlformats.org/drawingml/2006/main">
              <a:ext uri="{FF2B5EF4-FFF2-40B4-BE49-F238E27FC236}">
                <a16:creationId xmlns:a16="http://schemas.microsoft.com/office/drawing/2014/main" id="{D340F3CE-0673-4640-94B3-7C940539D0B3}"/>
              </a:ext>
            </a:extLst>
          </p:cNvPr>
          <p:cNvSpPr>
            <a:spLocks xmlns:a="http://schemas.openxmlformats.org/drawingml/2006/main" noGrp="1"/>
          </p:cNvSpPr>
          <p:nvPr/>
        </p:nvSpPr>
        <p:spPr>
          <a:xfrm xmlns:a="http://schemas.openxmlformats.org/drawingml/2006/main">
            <a:off x="1609725" y="3200400"/>
            <a:ext cx="0" cy="400050"/>
          </a:xfrm>
          <a:prstGeom xmlns:a="http://schemas.openxmlformats.org/drawingml/2006/main" prst="line">
            <a:avLst/>
          </a:prstGeom>
          <a:noFill xmlns:a="http://schemas.openxmlformats.org/drawingml/2006/main"/>
          <a:ln xmlns:a="http://schemas.openxmlformats.org/drawingml/2006/main" w="19050">
            <a:solidFill>
              <a:srgbClr val="39D7FF">
                <a:alpha val="65000"/>
              </a:srgbClr>
            </a:solidFill>
            <a:prstDash val="solid"/>
          </a:ln>
        </p:spPr>
      </p:sp>
      <p:sp>
        <p:nvSpPr>
          <p:cNvPr id="9" name="">
            <a:extLst xmlns:a="http://schemas.openxmlformats.org/drawingml/2006/main">
              <a:ext uri="{FF2B5EF4-FFF2-40B4-BE49-F238E27FC236}">
                <a16:creationId xmlns:a16="http://schemas.microsoft.com/office/drawing/2014/main" id="{C534D9D4-C4CC-42CA-A8C9-80BEC21068F3}"/>
              </a:ext>
            </a:extLst>
          </p:cNvPr>
          <p:cNvSpPr>
            <a:spLocks xmlns:a="http://schemas.openxmlformats.org/drawingml/2006/main" noGrp="1"/>
          </p:cNvSpPr>
          <p:nvPr/>
        </p:nvSpPr>
        <p:spPr>
          <a:xfrm xmlns:a="http://schemas.openxmlformats.org/drawingml/2006/main">
            <a:off x="1562100" y="3571875"/>
            <a:ext cx="95250" cy="95250"/>
          </a:xfrm>
          <a:prstGeom xmlns:a="http://schemas.openxmlformats.org/drawingml/2006/main" prst="ellipse">
            <a:avLst/>
          </a:prstGeom>
          <a:solidFill xmlns:a="http://schemas.openxmlformats.org/drawingml/2006/main">
            <a:srgbClr val="39D7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6CEAE1A-B21D-47EF-9AD3-F88B196F3A9D}"/>
              </a:ext>
            </a:extLst>
          </p:cNvPr>
          <p:cNvSpPr>
            <a:spLocks xmlns:a="http://schemas.openxmlformats.org/drawingml/2006/main" noGrp="1"/>
          </p:cNvSpPr>
          <p:nvPr/>
        </p:nvSpPr>
        <p:spPr>
          <a:xfrm xmlns:a="http://schemas.openxmlformats.org/drawingml/2006/main">
            <a:off x="3981450" y="2495550"/>
            <a:ext cx="1504950" cy="323850"/>
          </a:xfrm>
          <a:prstGeom xmlns:a="http://schemas.openxmlformats.org/drawingml/2006/main" prst="roundRect">
            <a:avLst>
              <a:gd name="adj" fmla="val 26471"/>
            </a:avLst>
          </a:prstGeom>
          <a:solidFill xmlns:a="http://schemas.openxmlformats.org/drawingml/2006/main">
            <a:srgbClr val="090D10">
              <a:alpha val="88000"/>
            </a:srgbClr>
          </a:solidFill>
          <a:ln xmlns:a="http://schemas.openxmlformats.org/drawingml/2006/main" w="9525">
            <a:solidFill>
              <a:srgbClr val="39D7FF">
                <a:alpha val="55000"/>
              </a:srgbClr>
            </a:solidFill>
            <a:prstDash val="solid"/>
          </a:ln>
        </p:spPr>
        <p:txBody>
          <a:bodyPr xmlns:a="http://schemas.openxmlformats.org/drawingml/2006/main" wrap="square" lIns="47625" tIns="19050" rIns="47625" bIns="19050" anchor="ctr">
            <a:noAutofit/>
          </a:bodyPr>
          <a:lstStyle xmlns:a="http://schemas.openxmlformats.org/drawingml/2006/main"/>
          <a:p xmlns:a="http://schemas.openxmlformats.org/drawingml/2006/main">
            <a:pPr algn="ctr">
              <a:lnSpc>
                <a:spcPct val="95000"/>
              </a:lnSpc>
              <a:buNone/>
              <a:defRPr sz="975" b="1">
                <a:solidFill>
                  <a:srgbClr val="39D7FF"/>
                </a:solidFill>
                <a:latin typeface="DejaVu Sans Mono"/>
                <a:ea typeface="DejaVu Sans Mono"/>
                <a:cs typeface="DejaVu Sans Mono"/>
              </a:defRPr>
            </a:pPr>
            <a:r>
              <a:rPr sz="975" b="1">
                <a:solidFill>
                  <a:srgbClr val="39D7FF"/>
                </a:solidFill>
                <a:latin typeface="DejaVu Sans Mono"/>
                <a:ea typeface="DejaVu Sans Mono"/>
                <a:cs typeface="DejaVu Sans Mono"/>
              </a:rPr>
              <a:t>HABITAT</a:t>
            </a:r>
          </a:p>
        </p:txBody>
      </p:sp>
      <p:sp>
        <p:nvSpPr>
          <p:cNvPr id="11" name="">
            <a:extLst xmlns:a="http://schemas.openxmlformats.org/drawingml/2006/main">
              <a:ext uri="{FF2B5EF4-FFF2-40B4-BE49-F238E27FC236}">
                <a16:creationId xmlns:a16="http://schemas.microsoft.com/office/drawing/2014/main" id="{B7E90BC6-AE20-49AF-90D6-943FDA008921}"/>
              </a:ext>
            </a:extLst>
          </p:cNvPr>
          <p:cNvSpPr>
            <a:spLocks xmlns:a="http://schemas.openxmlformats.org/drawingml/2006/main" noGrp="1"/>
          </p:cNvSpPr>
          <p:nvPr/>
        </p:nvSpPr>
        <p:spPr>
          <a:xfrm xmlns:a="http://schemas.openxmlformats.org/drawingml/2006/main">
            <a:off x="4733925" y="2819400"/>
            <a:ext cx="0" cy="400050"/>
          </a:xfrm>
          <a:prstGeom xmlns:a="http://schemas.openxmlformats.org/drawingml/2006/main" prst="line">
            <a:avLst/>
          </a:prstGeom>
          <a:noFill xmlns:a="http://schemas.openxmlformats.org/drawingml/2006/main"/>
          <a:ln xmlns:a="http://schemas.openxmlformats.org/drawingml/2006/main" w="19050">
            <a:solidFill>
              <a:srgbClr val="39D7FF">
                <a:alpha val="65000"/>
              </a:srgbClr>
            </a:solidFill>
            <a:prstDash val="solid"/>
          </a:ln>
        </p:spPr>
      </p:sp>
      <p:sp>
        <p:nvSpPr>
          <p:cNvPr id="12" name="">
            <a:extLst xmlns:a="http://schemas.openxmlformats.org/drawingml/2006/main">
              <a:ext uri="{FF2B5EF4-FFF2-40B4-BE49-F238E27FC236}">
                <a16:creationId xmlns:a16="http://schemas.microsoft.com/office/drawing/2014/main" id="{39A39DF1-346E-4F15-9E44-C6459A957292}"/>
              </a:ext>
            </a:extLst>
          </p:cNvPr>
          <p:cNvSpPr>
            <a:spLocks xmlns:a="http://schemas.openxmlformats.org/drawingml/2006/main" noGrp="1"/>
          </p:cNvSpPr>
          <p:nvPr/>
        </p:nvSpPr>
        <p:spPr>
          <a:xfrm xmlns:a="http://schemas.openxmlformats.org/drawingml/2006/main">
            <a:off x="4686300" y="3190875"/>
            <a:ext cx="95250" cy="95250"/>
          </a:xfrm>
          <a:prstGeom xmlns:a="http://schemas.openxmlformats.org/drawingml/2006/main" prst="ellipse">
            <a:avLst/>
          </a:prstGeom>
          <a:solidFill xmlns:a="http://schemas.openxmlformats.org/drawingml/2006/main">
            <a:srgbClr val="39D7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4D8B1B4-48D4-4FE2-B94B-064EA2F5B89C}"/>
              </a:ext>
            </a:extLst>
          </p:cNvPr>
          <p:cNvSpPr>
            <a:spLocks xmlns:a="http://schemas.openxmlformats.org/drawingml/2006/main" noGrp="1"/>
          </p:cNvSpPr>
          <p:nvPr/>
        </p:nvSpPr>
        <p:spPr>
          <a:xfrm xmlns:a="http://schemas.openxmlformats.org/drawingml/2006/main">
            <a:off x="7410450" y="2324100"/>
            <a:ext cx="1504950" cy="323850"/>
          </a:xfrm>
          <a:prstGeom xmlns:a="http://schemas.openxmlformats.org/drawingml/2006/main" prst="roundRect">
            <a:avLst>
              <a:gd name="adj" fmla="val 26471"/>
            </a:avLst>
          </a:prstGeom>
          <a:solidFill xmlns:a="http://schemas.openxmlformats.org/drawingml/2006/main">
            <a:srgbClr val="090D10">
              <a:alpha val="88000"/>
            </a:srgbClr>
          </a:solidFill>
          <a:ln xmlns:a="http://schemas.openxmlformats.org/drawingml/2006/main" w="9525">
            <a:solidFill>
              <a:srgbClr val="F26B38">
                <a:alpha val="55000"/>
              </a:srgbClr>
            </a:solidFill>
            <a:prstDash val="solid"/>
          </a:ln>
        </p:spPr>
        <p:txBody>
          <a:bodyPr xmlns:a="http://schemas.openxmlformats.org/drawingml/2006/main" wrap="square" lIns="47625" tIns="19050" rIns="47625" bIns="19050" anchor="ctr">
            <a:noAutofit/>
          </a:bodyPr>
          <a:lstStyle xmlns:a="http://schemas.openxmlformats.org/drawingml/2006/main"/>
          <a:p xmlns:a="http://schemas.openxmlformats.org/drawingml/2006/main">
            <a:pPr algn="ctr">
              <a:lnSpc>
                <a:spcPct val="95000"/>
              </a:lnSpc>
              <a:buNone/>
              <a:defRPr sz="975" b="1">
                <a:solidFill>
                  <a:srgbClr val="F26B38"/>
                </a:solidFill>
                <a:latin typeface="DejaVu Sans Mono"/>
                <a:ea typeface="DejaVu Sans Mono"/>
                <a:cs typeface="DejaVu Sans Mono"/>
              </a:defRPr>
            </a:pPr>
            <a:r>
              <a:rPr sz="975" b="1">
                <a:solidFill>
                  <a:srgbClr val="F26B38"/>
                </a:solidFill>
                <a:latin typeface="DejaVu Sans Mono"/>
                <a:ea typeface="DejaVu Sans Mono"/>
                <a:cs typeface="DejaVu Sans Mono"/>
              </a:rPr>
              <a:t>ISRU + POWER</a:t>
            </a:r>
          </a:p>
        </p:txBody>
      </p:sp>
      <p:sp>
        <p:nvSpPr>
          <p:cNvPr id="14" name="">
            <a:extLst xmlns:a="http://schemas.openxmlformats.org/drawingml/2006/main">
              <a:ext uri="{FF2B5EF4-FFF2-40B4-BE49-F238E27FC236}">
                <a16:creationId xmlns:a16="http://schemas.microsoft.com/office/drawing/2014/main" id="{A24D60B0-41F5-4A31-87A0-95F12DCA7466}"/>
              </a:ext>
            </a:extLst>
          </p:cNvPr>
          <p:cNvSpPr>
            <a:spLocks xmlns:a="http://schemas.openxmlformats.org/drawingml/2006/main" noGrp="1"/>
          </p:cNvSpPr>
          <p:nvPr/>
        </p:nvSpPr>
        <p:spPr>
          <a:xfrm xmlns:a="http://schemas.openxmlformats.org/drawingml/2006/main">
            <a:off x="8162925" y="2647950"/>
            <a:ext cx="0" cy="400050"/>
          </a:xfrm>
          <a:prstGeom xmlns:a="http://schemas.openxmlformats.org/drawingml/2006/main" prst="line">
            <a:avLst/>
          </a:prstGeom>
          <a:noFill xmlns:a="http://schemas.openxmlformats.org/drawingml/2006/main"/>
          <a:ln xmlns:a="http://schemas.openxmlformats.org/drawingml/2006/main" w="19050">
            <a:solidFill>
              <a:srgbClr val="F26B38">
                <a:alpha val="65000"/>
              </a:srgbClr>
            </a:solidFill>
            <a:prstDash val="solid"/>
          </a:ln>
        </p:spPr>
      </p:sp>
      <p:sp>
        <p:nvSpPr>
          <p:cNvPr id="15" name="">
            <a:extLst xmlns:a="http://schemas.openxmlformats.org/drawingml/2006/main">
              <a:ext uri="{FF2B5EF4-FFF2-40B4-BE49-F238E27FC236}">
                <a16:creationId xmlns:a16="http://schemas.microsoft.com/office/drawing/2014/main" id="{97B91832-696B-44E0-BBF6-26B51217ED03}"/>
              </a:ext>
            </a:extLst>
          </p:cNvPr>
          <p:cNvSpPr>
            <a:spLocks xmlns:a="http://schemas.openxmlformats.org/drawingml/2006/main" noGrp="1"/>
          </p:cNvSpPr>
          <p:nvPr/>
        </p:nvSpPr>
        <p:spPr>
          <a:xfrm xmlns:a="http://schemas.openxmlformats.org/drawingml/2006/main">
            <a:off x="8115300" y="3019425"/>
            <a:ext cx="95250" cy="95250"/>
          </a:xfrm>
          <a:prstGeom xmlns:a="http://schemas.openxmlformats.org/drawingml/2006/main" prst="ellipse">
            <a:avLst/>
          </a:prstGeom>
          <a:solidFill xmlns:a="http://schemas.openxmlformats.org/drawingml/2006/main">
            <a:srgbClr val="F26B3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EFACAE9-E6B3-4999-9DB0-D139EEAFE99C}"/>
              </a:ext>
            </a:extLst>
          </p:cNvPr>
          <p:cNvSpPr>
            <a:spLocks xmlns:a="http://schemas.openxmlformats.org/drawingml/2006/main" noGrp="1"/>
          </p:cNvSpPr>
          <p:nvPr/>
        </p:nvSpPr>
        <p:spPr>
          <a:xfrm xmlns:a="http://schemas.openxmlformats.org/drawingml/2006/main">
            <a:off x="9601200" y="2971800"/>
            <a:ext cx="1504950" cy="323850"/>
          </a:xfrm>
          <a:prstGeom xmlns:a="http://schemas.openxmlformats.org/drawingml/2006/main" prst="roundRect">
            <a:avLst>
              <a:gd name="adj" fmla="val 26471"/>
            </a:avLst>
          </a:prstGeom>
          <a:solidFill xmlns:a="http://schemas.openxmlformats.org/drawingml/2006/main">
            <a:srgbClr val="090D10">
              <a:alpha val="88000"/>
            </a:srgbClr>
          </a:solidFill>
          <a:ln xmlns:a="http://schemas.openxmlformats.org/drawingml/2006/main" w="9525">
            <a:solidFill>
              <a:srgbClr val="62D6A7">
                <a:alpha val="55000"/>
              </a:srgbClr>
            </a:solidFill>
            <a:prstDash val="solid"/>
          </a:ln>
        </p:spPr>
        <p:txBody>
          <a:bodyPr xmlns:a="http://schemas.openxmlformats.org/drawingml/2006/main" wrap="square" lIns="47625" tIns="19050" rIns="47625" bIns="19050" anchor="ctr">
            <a:noAutofit/>
          </a:bodyPr>
          <a:lstStyle xmlns:a="http://schemas.openxmlformats.org/drawingml/2006/main"/>
          <a:p xmlns:a="http://schemas.openxmlformats.org/drawingml/2006/main">
            <a:pPr algn="ctr">
              <a:lnSpc>
                <a:spcPct val="95000"/>
              </a:lnSpc>
              <a:buNone/>
              <a:defRPr sz="975" b="1">
                <a:solidFill>
                  <a:srgbClr val="62D6A7"/>
                </a:solidFill>
                <a:latin typeface="DejaVu Sans Mono"/>
                <a:ea typeface="DejaVu Sans Mono"/>
                <a:cs typeface="DejaVu Sans Mono"/>
              </a:defRPr>
            </a:pPr>
            <a:r>
              <a:rPr sz="975" b="1">
                <a:solidFill>
                  <a:srgbClr val="62D6A7"/>
                </a:solidFill>
                <a:latin typeface="DejaVu Sans Mono"/>
                <a:ea typeface="DejaVu Sans Mono"/>
                <a:cs typeface="DejaVu Sans Mono"/>
              </a:rPr>
              <a:t>FOOD</a:t>
            </a:r>
          </a:p>
        </p:txBody>
      </p:sp>
      <p:sp>
        <p:nvSpPr>
          <p:cNvPr id="17" name="">
            <a:extLst xmlns:a="http://schemas.openxmlformats.org/drawingml/2006/main">
              <a:ext uri="{FF2B5EF4-FFF2-40B4-BE49-F238E27FC236}">
                <a16:creationId xmlns:a16="http://schemas.microsoft.com/office/drawing/2014/main" id="{0115E8DC-F7C3-453E-B7D5-605F0AA8AAC0}"/>
              </a:ext>
            </a:extLst>
          </p:cNvPr>
          <p:cNvSpPr>
            <a:spLocks xmlns:a="http://schemas.openxmlformats.org/drawingml/2006/main" noGrp="1"/>
          </p:cNvSpPr>
          <p:nvPr/>
        </p:nvSpPr>
        <p:spPr>
          <a:xfrm xmlns:a="http://schemas.openxmlformats.org/drawingml/2006/main">
            <a:off x="10353675" y="3295650"/>
            <a:ext cx="0" cy="400050"/>
          </a:xfrm>
          <a:prstGeom xmlns:a="http://schemas.openxmlformats.org/drawingml/2006/main" prst="line">
            <a:avLst/>
          </a:prstGeom>
          <a:noFill xmlns:a="http://schemas.openxmlformats.org/drawingml/2006/main"/>
          <a:ln xmlns:a="http://schemas.openxmlformats.org/drawingml/2006/main" w="19050">
            <a:solidFill>
              <a:srgbClr val="62D6A7">
                <a:alpha val="65000"/>
              </a:srgbClr>
            </a:solidFill>
            <a:prstDash val="solid"/>
          </a:ln>
        </p:spPr>
      </p:sp>
      <p:sp>
        <p:nvSpPr>
          <p:cNvPr id="18" name="">
            <a:extLst xmlns:a="http://schemas.openxmlformats.org/drawingml/2006/main">
              <a:ext uri="{FF2B5EF4-FFF2-40B4-BE49-F238E27FC236}">
                <a16:creationId xmlns:a16="http://schemas.microsoft.com/office/drawing/2014/main" id="{BA6E044A-237F-4FEF-8CDE-1A641A5B3667}"/>
              </a:ext>
            </a:extLst>
          </p:cNvPr>
          <p:cNvSpPr>
            <a:spLocks xmlns:a="http://schemas.openxmlformats.org/drawingml/2006/main" noGrp="1"/>
          </p:cNvSpPr>
          <p:nvPr/>
        </p:nvSpPr>
        <p:spPr>
          <a:xfrm xmlns:a="http://schemas.openxmlformats.org/drawingml/2006/main">
            <a:off x="10306050" y="3667125"/>
            <a:ext cx="95250" cy="95250"/>
          </a:xfrm>
          <a:prstGeom xmlns:a="http://schemas.openxmlformats.org/drawingml/2006/main" prst="ellipse">
            <a:avLst/>
          </a:prstGeom>
          <a:solidFill xmlns:a="http://schemas.openxmlformats.org/drawingml/2006/main">
            <a:srgbClr val="62D6A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48B74FA-2F6A-470A-BE2E-55BF96EFD274}"/>
              </a:ext>
            </a:extLst>
          </p:cNvPr>
          <p:cNvSpPr>
            <a:spLocks xmlns:a="http://schemas.openxmlformats.org/drawingml/2006/main" noGrp="1"/>
          </p:cNvSpPr>
          <p:nvPr/>
        </p:nvSpPr>
        <p:spPr>
          <a:xfrm xmlns:a="http://schemas.openxmlformats.org/drawingml/2006/main">
            <a:off x="8667750" y="4171950"/>
            <a:ext cx="1504950" cy="323850"/>
          </a:xfrm>
          <a:prstGeom xmlns:a="http://schemas.openxmlformats.org/drawingml/2006/main" prst="roundRect">
            <a:avLst>
              <a:gd name="adj" fmla="val 26471"/>
            </a:avLst>
          </a:prstGeom>
          <a:solidFill xmlns:a="http://schemas.openxmlformats.org/drawingml/2006/main">
            <a:srgbClr val="090D10">
              <a:alpha val="88000"/>
            </a:srgbClr>
          </a:solidFill>
          <a:ln xmlns:a="http://schemas.openxmlformats.org/drawingml/2006/main" w="9525">
            <a:solidFill>
              <a:srgbClr val="FFC857">
                <a:alpha val="55000"/>
              </a:srgbClr>
            </a:solidFill>
            <a:prstDash val="solid"/>
          </a:ln>
        </p:spPr>
        <p:txBody>
          <a:bodyPr xmlns:a="http://schemas.openxmlformats.org/drawingml/2006/main" wrap="square" lIns="47625" tIns="19050" rIns="47625" bIns="19050" anchor="ctr">
            <a:noAutofit/>
          </a:bodyPr>
          <a:lstStyle xmlns:a="http://schemas.openxmlformats.org/drawingml/2006/main"/>
          <a:p xmlns:a="http://schemas.openxmlformats.org/drawingml/2006/main">
            <a:pPr algn="ctr">
              <a:lnSpc>
                <a:spcPct val="95000"/>
              </a:lnSpc>
              <a:buNone/>
              <a:defRPr sz="975" b="1">
                <a:solidFill>
                  <a:srgbClr val="FFC857"/>
                </a:solidFill>
                <a:latin typeface="DejaVu Sans Mono"/>
                <a:ea typeface="DejaVu Sans Mono"/>
                <a:cs typeface="DejaVu Sans Mono"/>
              </a:defRPr>
            </a:pPr>
            <a:r>
              <a:rPr sz="975" b="1">
                <a:solidFill>
                  <a:srgbClr val="FFC857"/>
                </a:solidFill>
                <a:latin typeface="DejaVu Sans Mono"/>
                <a:ea typeface="DejaVu Sans Mono"/>
                <a:cs typeface="DejaVu Sans Mono"/>
              </a:rPr>
              <a:t>CONSTRUCTION</a:t>
            </a:r>
          </a:p>
        </p:txBody>
      </p:sp>
      <p:sp>
        <p:nvSpPr>
          <p:cNvPr id="20" name="">
            <a:extLst xmlns:a="http://schemas.openxmlformats.org/drawingml/2006/main">
              <a:ext uri="{FF2B5EF4-FFF2-40B4-BE49-F238E27FC236}">
                <a16:creationId xmlns:a16="http://schemas.microsoft.com/office/drawing/2014/main" id="{4B6C0DE7-729A-49CF-B1B8-155A70BD5D75}"/>
              </a:ext>
            </a:extLst>
          </p:cNvPr>
          <p:cNvSpPr>
            <a:spLocks xmlns:a="http://schemas.openxmlformats.org/drawingml/2006/main" noGrp="1"/>
          </p:cNvSpPr>
          <p:nvPr/>
        </p:nvSpPr>
        <p:spPr>
          <a:xfrm xmlns:a="http://schemas.openxmlformats.org/drawingml/2006/main">
            <a:off x="9420225" y="4495800"/>
            <a:ext cx="0" cy="400050"/>
          </a:xfrm>
          <a:prstGeom xmlns:a="http://schemas.openxmlformats.org/drawingml/2006/main" prst="line">
            <a:avLst/>
          </a:prstGeom>
          <a:noFill xmlns:a="http://schemas.openxmlformats.org/drawingml/2006/main"/>
          <a:ln xmlns:a="http://schemas.openxmlformats.org/drawingml/2006/main" w="19050">
            <a:solidFill>
              <a:srgbClr val="FFC857">
                <a:alpha val="65000"/>
              </a:srgbClr>
            </a:solidFill>
            <a:prstDash val="solid"/>
          </a:ln>
        </p:spPr>
      </p:sp>
      <p:sp>
        <p:nvSpPr>
          <p:cNvPr id="21" name="">
            <a:extLst xmlns:a="http://schemas.openxmlformats.org/drawingml/2006/main">
              <a:ext uri="{FF2B5EF4-FFF2-40B4-BE49-F238E27FC236}">
                <a16:creationId xmlns:a16="http://schemas.microsoft.com/office/drawing/2014/main" id="{D1E7CC96-9496-42D1-884D-DB571E959C34}"/>
              </a:ext>
            </a:extLst>
          </p:cNvPr>
          <p:cNvSpPr>
            <a:spLocks xmlns:a="http://schemas.openxmlformats.org/drawingml/2006/main" noGrp="1"/>
          </p:cNvSpPr>
          <p:nvPr/>
        </p:nvSpPr>
        <p:spPr>
          <a:xfrm xmlns:a="http://schemas.openxmlformats.org/drawingml/2006/main">
            <a:off x="9372600" y="4867275"/>
            <a:ext cx="95250" cy="95250"/>
          </a:xfrm>
          <a:prstGeom xmlns:a="http://schemas.openxmlformats.org/drawingml/2006/main" prst="ellipse">
            <a:avLst/>
          </a:prstGeom>
          <a:solidFill xmlns:a="http://schemas.openxmlformats.org/drawingml/2006/main">
            <a:srgbClr val="FFC85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58D8013-026B-4182-B493-B2E0B0250812}"/>
              </a:ext>
            </a:extLst>
          </p:cNvPr>
          <p:cNvSpPr>
            <a:spLocks xmlns:a="http://schemas.openxmlformats.org/drawingml/2006/main" noGrp="1"/>
          </p:cNvSpPr>
          <p:nvPr/>
        </p:nvSpPr>
        <p:spPr>
          <a:xfrm xmlns:a="http://schemas.openxmlformats.org/drawingml/2006/main">
            <a:off x="2324100" y="4400550"/>
            <a:ext cx="1504950" cy="323850"/>
          </a:xfrm>
          <a:prstGeom xmlns:a="http://schemas.openxmlformats.org/drawingml/2006/main" prst="roundRect">
            <a:avLst>
              <a:gd name="adj" fmla="val 26471"/>
            </a:avLst>
          </a:prstGeom>
          <a:solidFill xmlns:a="http://schemas.openxmlformats.org/drawingml/2006/main">
            <a:srgbClr val="090D10">
              <a:alpha val="88000"/>
            </a:srgbClr>
          </a:solidFill>
          <a:ln xmlns:a="http://schemas.openxmlformats.org/drawingml/2006/main" w="9525">
            <a:solidFill>
              <a:srgbClr val="FF6262">
                <a:alpha val="55000"/>
              </a:srgbClr>
            </a:solidFill>
            <a:prstDash val="solid"/>
          </a:ln>
        </p:spPr>
        <p:txBody>
          <a:bodyPr xmlns:a="http://schemas.openxmlformats.org/drawingml/2006/main" wrap="square" lIns="47625" tIns="19050" rIns="47625" bIns="19050" anchor="ctr">
            <a:noAutofit/>
          </a:bodyPr>
          <a:lstStyle xmlns:a="http://schemas.openxmlformats.org/drawingml/2006/main"/>
          <a:p xmlns:a="http://schemas.openxmlformats.org/drawingml/2006/main">
            <a:pPr algn="ctr">
              <a:lnSpc>
                <a:spcPct val="95000"/>
              </a:lnSpc>
              <a:buNone/>
              <a:defRPr sz="975" b="1">
                <a:solidFill>
                  <a:srgbClr val="FF6262"/>
                </a:solidFill>
                <a:latin typeface="DejaVu Sans Mono"/>
                <a:ea typeface="DejaVu Sans Mono"/>
                <a:cs typeface="DejaVu Sans Mono"/>
              </a:defRPr>
            </a:pPr>
            <a:r>
              <a:rPr sz="975" b="1">
                <a:solidFill>
                  <a:srgbClr val="FF6262"/>
                </a:solidFill>
                <a:latin typeface="DejaVu Sans Mono"/>
                <a:ea typeface="DejaVu Sans Mono"/>
                <a:cs typeface="DejaVu Sans Mono"/>
              </a:rPr>
              <a:t>MAINTENANCE</a:t>
            </a:r>
          </a:p>
        </p:txBody>
      </p:sp>
      <p:sp>
        <p:nvSpPr>
          <p:cNvPr id="23" name="">
            <a:extLst xmlns:a="http://schemas.openxmlformats.org/drawingml/2006/main">
              <a:ext uri="{FF2B5EF4-FFF2-40B4-BE49-F238E27FC236}">
                <a16:creationId xmlns:a16="http://schemas.microsoft.com/office/drawing/2014/main" id="{6C8E2D45-AFAF-435A-A7CF-1A08105F1B52}"/>
              </a:ext>
            </a:extLst>
          </p:cNvPr>
          <p:cNvSpPr>
            <a:spLocks xmlns:a="http://schemas.openxmlformats.org/drawingml/2006/main" noGrp="1"/>
          </p:cNvSpPr>
          <p:nvPr/>
        </p:nvSpPr>
        <p:spPr>
          <a:xfrm xmlns:a="http://schemas.openxmlformats.org/drawingml/2006/main">
            <a:off x="3076575" y="4724400"/>
            <a:ext cx="0" cy="400050"/>
          </a:xfrm>
          <a:prstGeom xmlns:a="http://schemas.openxmlformats.org/drawingml/2006/main" prst="line">
            <a:avLst/>
          </a:prstGeom>
          <a:noFill xmlns:a="http://schemas.openxmlformats.org/drawingml/2006/main"/>
          <a:ln xmlns:a="http://schemas.openxmlformats.org/drawingml/2006/main" w="19050">
            <a:solidFill>
              <a:srgbClr val="FF6262">
                <a:alpha val="65000"/>
              </a:srgbClr>
            </a:solidFill>
            <a:prstDash val="solid"/>
          </a:ln>
        </p:spPr>
      </p:sp>
      <p:sp>
        <p:nvSpPr>
          <p:cNvPr id="24" name="">
            <a:extLst xmlns:a="http://schemas.openxmlformats.org/drawingml/2006/main">
              <a:ext uri="{FF2B5EF4-FFF2-40B4-BE49-F238E27FC236}">
                <a16:creationId xmlns:a16="http://schemas.microsoft.com/office/drawing/2014/main" id="{53851A76-EC4E-43D3-8C1A-858AD5FD2531}"/>
              </a:ext>
            </a:extLst>
          </p:cNvPr>
          <p:cNvSpPr>
            <a:spLocks xmlns:a="http://schemas.openxmlformats.org/drawingml/2006/main" noGrp="1"/>
          </p:cNvSpPr>
          <p:nvPr/>
        </p:nvSpPr>
        <p:spPr>
          <a:xfrm xmlns:a="http://schemas.openxmlformats.org/drawingml/2006/main">
            <a:off x="3028950" y="5095875"/>
            <a:ext cx="95250" cy="95250"/>
          </a:xfrm>
          <a:prstGeom xmlns:a="http://schemas.openxmlformats.org/drawingml/2006/main" prst="ellipse">
            <a:avLst/>
          </a:prstGeom>
          <a:solidFill xmlns:a="http://schemas.openxmlformats.org/drawingml/2006/main">
            <a:srgbClr val="FF6262"/>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FAE3D24-FCC7-40F8-9A62-BA681C299A54}"/>
              </a:ext>
            </a:extLst>
          </p:cNvPr>
          <p:cNvSpPr>
            <a:spLocks xmlns:a="http://schemas.openxmlformats.org/drawingml/2006/main" noGrp="1"/>
          </p:cNvSpPr>
          <p:nvPr/>
        </p:nvSpPr>
        <p:spPr>
          <a:xfrm xmlns:a="http://schemas.openxmlformats.org/drawingml/2006/main">
            <a:off x="552450" y="5391150"/>
            <a:ext cx="2076450" cy="438150"/>
          </a:xfrm>
          <a:prstGeom xmlns:a="http://schemas.openxmlformats.org/drawingml/2006/main" prst="roundRect">
            <a:avLst>
              <a:gd name="adj" fmla="val 34783"/>
            </a:avLst>
          </a:prstGeom>
          <a:solidFill xmlns:a="http://schemas.openxmlformats.org/drawingml/2006/main">
            <a:srgbClr val="0E1317">
              <a:alpha val="96000"/>
            </a:srgbClr>
          </a:solidFill>
          <a:ln xmlns:a="http://schemas.openxmlformats.org/drawingml/2006/main" w="14288">
            <a:solidFill>
              <a:srgbClr val="39D7FF"/>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975" b="1">
                <a:solidFill>
                  <a:srgbClr val="39D7FF"/>
                </a:solidFill>
                <a:latin typeface="DejaVu Sans Mono"/>
                <a:ea typeface="DejaVu Sans Mono"/>
                <a:cs typeface="DejaVu Sans Mono"/>
              </a:defRPr>
            </a:pPr>
            <a:r>
              <a:rPr sz="975" b="1">
                <a:solidFill>
                  <a:srgbClr val="39D7FF"/>
                </a:solidFill>
                <a:latin typeface="DejaVu Sans Mono"/>
                <a:ea typeface="DejaVu Sans Mono"/>
                <a:cs typeface="DejaVu Sans Mono"/>
              </a:rPr>
              <a:t>HYPATIA</a:t>
            </a:r>
          </a:p>
        </p:txBody>
      </p:sp>
      <p:sp>
        <p:nvSpPr>
          <p:cNvPr id="26" name="">
            <a:extLst xmlns:a="http://schemas.openxmlformats.org/drawingml/2006/main">
              <a:ext uri="{FF2B5EF4-FFF2-40B4-BE49-F238E27FC236}">
                <a16:creationId xmlns:a16="http://schemas.microsoft.com/office/drawing/2014/main" id="{94753279-EE66-4233-8461-4F54D85BEF0C}"/>
              </a:ext>
            </a:extLst>
          </p:cNvPr>
          <p:cNvSpPr>
            <a:spLocks xmlns:a="http://schemas.openxmlformats.org/drawingml/2006/main" noGrp="1"/>
          </p:cNvSpPr>
          <p:nvPr/>
        </p:nvSpPr>
        <p:spPr>
          <a:xfrm xmlns:a="http://schemas.openxmlformats.org/drawingml/2006/main">
            <a:off x="552450" y="5905500"/>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975" b="0">
                <a:solidFill>
                  <a:srgbClr val="8D99A3"/>
                </a:solidFill>
                <a:latin typeface="DejaVu Sans"/>
                <a:ea typeface="DejaVu Sans"/>
                <a:cs typeface="DejaVu Sans"/>
              </a:defRPr>
            </a:pPr>
            <a:r>
              <a:rPr sz="975" b="0">
                <a:solidFill>
                  <a:srgbClr val="8D99A3"/>
                </a:solidFill>
                <a:latin typeface="DejaVu Sans"/>
                <a:ea typeface="DejaVu Sans"/>
                <a:cs typeface="DejaVu Sans"/>
              </a:rPr>
              <a:t>science</a:t>
            </a:r>
          </a:p>
        </p:txBody>
      </p:sp>
      <p:sp>
        <p:nvSpPr>
          <p:cNvPr id="27" name="">
            <a:extLst xmlns:a="http://schemas.openxmlformats.org/drawingml/2006/main">
              <a:ext uri="{FF2B5EF4-FFF2-40B4-BE49-F238E27FC236}">
                <a16:creationId xmlns:a16="http://schemas.microsoft.com/office/drawing/2014/main" id="{B5F8AAF3-2E1B-48BE-ABDD-7AE360B7962A}"/>
              </a:ext>
            </a:extLst>
          </p:cNvPr>
          <p:cNvSpPr>
            <a:spLocks xmlns:a="http://schemas.openxmlformats.org/drawingml/2006/main" noGrp="1"/>
          </p:cNvSpPr>
          <p:nvPr/>
        </p:nvSpPr>
        <p:spPr>
          <a:xfrm xmlns:a="http://schemas.openxmlformats.org/drawingml/2006/main">
            <a:off x="2876550" y="5391150"/>
            <a:ext cx="2076450" cy="438150"/>
          </a:xfrm>
          <a:prstGeom xmlns:a="http://schemas.openxmlformats.org/drawingml/2006/main" prst="roundRect">
            <a:avLst>
              <a:gd name="adj" fmla="val 34783"/>
            </a:avLst>
          </a:prstGeom>
          <a:solidFill xmlns:a="http://schemas.openxmlformats.org/drawingml/2006/main">
            <a:srgbClr val="0E1317">
              <a:alpha val="96000"/>
            </a:srgbClr>
          </a:solidFill>
          <a:ln xmlns:a="http://schemas.openxmlformats.org/drawingml/2006/main" w="14288">
            <a:solidFill>
              <a:srgbClr val="F26B38"/>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975" b="1">
                <a:solidFill>
                  <a:srgbClr val="F26B38"/>
                </a:solidFill>
                <a:latin typeface="DejaVu Sans Mono"/>
                <a:ea typeface="DejaVu Sans Mono"/>
                <a:cs typeface="DejaVu Sans Mono"/>
              </a:defRPr>
            </a:pPr>
            <a:r>
              <a:rPr sz="975" b="1">
                <a:solidFill>
                  <a:srgbClr val="F26B38"/>
                </a:solidFill>
                <a:latin typeface="DejaVu Sans Mono"/>
                <a:ea typeface="DejaVu Sans Mono"/>
                <a:cs typeface="DejaVu Sans Mono"/>
              </a:rPr>
              <a:t>INTELLIGENT ENGINEER</a:t>
            </a:r>
          </a:p>
        </p:txBody>
      </p:sp>
      <p:sp>
        <p:nvSpPr>
          <p:cNvPr id="28" name="">
            <a:extLst xmlns:a="http://schemas.openxmlformats.org/drawingml/2006/main">
              <a:ext uri="{FF2B5EF4-FFF2-40B4-BE49-F238E27FC236}">
                <a16:creationId xmlns:a16="http://schemas.microsoft.com/office/drawing/2014/main" id="{560A6EF5-2911-4C6A-9921-678B6DDA301C}"/>
              </a:ext>
            </a:extLst>
          </p:cNvPr>
          <p:cNvSpPr>
            <a:spLocks xmlns:a="http://schemas.openxmlformats.org/drawingml/2006/main" noGrp="1"/>
          </p:cNvSpPr>
          <p:nvPr/>
        </p:nvSpPr>
        <p:spPr>
          <a:xfrm xmlns:a="http://schemas.openxmlformats.org/drawingml/2006/main">
            <a:off x="2876550" y="5905500"/>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975" b="0">
                <a:solidFill>
                  <a:srgbClr val="8D99A3"/>
                </a:solidFill>
                <a:latin typeface="DejaVu Sans"/>
                <a:ea typeface="DejaVu Sans"/>
                <a:cs typeface="DejaVu Sans"/>
              </a:defRPr>
            </a:pPr>
            <a:r>
              <a:rPr sz="975" b="0">
                <a:solidFill>
                  <a:srgbClr val="8D99A3"/>
                </a:solidFill>
                <a:latin typeface="DejaVu Sans"/>
                <a:ea typeface="DejaVu Sans"/>
                <a:cs typeface="DejaVu Sans"/>
              </a:rPr>
              <a:t>physical systems</a:t>
            </a:r>
          </a:p>
        </p:txBody>
      </p:sp>
      <p:sp>
        <p:nvSpPr>
          <p:cNvPr id="29" name="">
            <a:extLst xmlns:a="http://schemas.openxmlformats.org/drawingml/2006/main">
              <a:ext uri="{FF2B5EF4-FFF2-40B4-BE49-F238E27FC236}">
                <a16:creationId xmlns:a16="http://schemas.microsoft.com/office/drawing/2014/main" id="{303D07AB-A219-462E-B3AB-D8B4CB3F4DB0}"/>
              </a:ext>
            </a:extLst>
          </p:cNvPr>
          <p:cNvSpPr>
            <a:spLocks xmlns:a="http://schemas.openxmlformats.org/drawingml/2006/main" noGrp="1"/>
          </p:cNvSpPr>
          <p:nvPr/>
        </p:nvSpPr>
        <p:spPr>
          <a:xfrm xmlns:a="http://schemas.openxmlformats.org/drawingml/2006/main">
            <a:off x="5200650" y="5391150"/>
            <a:ext cx="2076450" cy="438150"/>
          </a:xfrm>
          <a:prstGeom xmlns:a="http://schemas.openxmlformats.org/drawingml/2006/main" prst="roundRect">
            <a:avLst>
              <a:gd name="adj" fmla="val 34783"/>
            </a:avLst>
          </a:prstGeom>
          <a:solidFill xmlns:a="http://schemas.openxmlformats.org/drawingml/2006/main">
            <a:srgbClr val="0E1317">
              <a:alpha val="96000"/>
            </a:srgbClr>
          </a:solidFill>
          <a:ln xmlns:a="http://schemas.openxmlformats.org/drawingml/2006/main" w="14288">
            <a:solidFill>
              <a:srgbClr val="39D7FF"/>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975" b="1">
                <a:solidFill>
                  <a:srgbClr val="39D7FF"/>
                </a:solidFill>
                <a:latin typeface="DejaVu Sans Mono"/>
                <a:ea typeface="DejaVu Sans Mono"/>
                <a:cs typeface="DejaVu Sans Mono"/>
              </a:defRPr>
            </a:pPr>
            <a:r>
              <a:rPr sz="975" b="1">
                <a:solidFill>
                  <a:srgbClr val="39D7FF"/>
                </a:solidFill>
                <a:latin typeface="DejaVu Sans Mono"/>
                <a:ea typeface="DejaVu Sans Mono"/>
                <a:cs typeface="DejaVu Sans Mono"/>
              </a:rPr>
              <a:t>HYPERIA</a:t>
            </a:r>
          </a:p>
        </p:txBody>
      </p:sp>
      <p:sp>
        <p:nvSpPr>
          <p:cNvPr id="30" name="">
            <a:extLst xmlns:a="http://schemas.openxmlformats.org/drawingml/2006/main">
              <a:ext uri="{FF2B5EF4-FFF2-40B4-BE49-F238E27FC236}">
                <a16:creationId xmlns:a16="http://schemas.microsoft.com/office/drawing/2014/main" id="{D825DF30-2C5F-4379-863A-8F19118D395E}"/>
              </a:ext>
            </a:extLst>
          </p:cNvPr>
          <p:cNvSpPr>
            <a:spLocks xmlns:a="http://schemas.openxmlformats.org/drawingml/2006/main" noGrp="1"/>
          </p:cNvSpPr>
          <p:nvPr/>
        </p:nvSpPr>
        <p:spPr>
          <a:xfrm xmlns:a="http://schemas.openxmlformats.org/drawingml/2006/main">
            <a:off x="5200650" y="5905500"/>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975" b="0">
                <a:solidFill>
                  <a:srgbClr val="8D99A3"/>
                </a:solidFill>
                <a:latin typeface="DejaVu Sans"/>
                <a:ea typeface="DejaVu Sans"/>
                <a:cs typeface="DejaVu Sans"/>
              </a:defRPr>
            </a:pPr>
            <a:r>
              <a:rPr sz="975" b="0">
                <a:solidFill>
                  <a:srgbClr val="8D99A3"/>
                </a:solidFill>
                <a:latin typeface="DejaVu Sans"/>
                <a:ea typeface="DejaVu Sans"/>
                <a:cs typeface="DejaVu Sans"/>
              </a:rPr>
              <a:t>research + synthesis</a:t>
            </a:r>
          </a:p>
        </p:txBody>
      </p:sp>
      <p:sp>
        <p:nvSpPr>
          <p:cNvPr id="31" name="">
            <a:extLst xmlns:a="http://schemas.openxmlformats.org/drawingml/2006/main">
              <a:ext uri="{FF2B5EF4-FFF2-40B4-BE49-F238E27FC236}">
                <a16:creationId xmlns:a16="http://schemas.microsoft.com/office/drawing/2014/main" id="{828B507B-5D20-47DB-BB2C-5F8B43E5E992}"/>
              </a:ext>
            </a:extLst>
          </p:cNvPr>
          <p:cNvSpPr>
            <a:spLocks xmlns:a="http://schemas.openxmlformats.org/drawingml/2006/main" noGrp="1"/>
          </p:cNvSpPr>
          <p:nvPr/>
        </p:nvSpPr>
        <p:spPr>
          <a:xfrm xmlns:a="http://schemas.openxmlformats.org/drawingml/2006/main">
            <a:off x="7524750" y="5391150"/>
            <a:ext cx="2076450" cy="438150"/>
          </a:xfrm>
          <a:prstGeom xmlns:a="http://schemas.openxmlformats.org/drawingml/2006/main" prst="roundRect">
            <a:avLst>
              <a:gd name="adj" fmla="val 34783"/>
            </a:avLst>
          </a:prstGeom>
          <a:solidFill xmlns:a="http://schemas.openxmlformats.org/drawingml/2006/main">
            <a:srgbClr val="0E1317">
              <a:alpha val="96000"/>
            </a:srgbClr>
          </a:solidFill>
          <a:ln xmlns:a="http://schemas.openxmlformats.org/drawingml/2006/main" w="14288">
            <a:solidFill>
              <a:srgbClr val="F26B38"/>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975" b="1">
                <a:solidFill>
                  <a:srgbClr val="F26B38"/>
                </a:solidFill>
                <a:latin typeface="DejaVu Sans Mono"/>
                <a:ea typeface="DejaVu Sans Mono"/>
                <a:cs typeface="DejaVu Sans Mono"/>
              </a:defRPr>
            </a:pPr>
            <a:r>
              <a:rPr sz="975" b="1">
                <a:solidFill>
                  <a:srgbClr val="F26B38"/>
                </a:solidFill>
                <a:latin typeface="DejaVu Sans Mono"/>
                <a:ea typeface="DejaVu Sans Mono"/>
                <a:cs typeface="DejaVu Sans Mono"/>
              </a:rPr>
              <a:t>VIBE ENGINEERING</a:t>
            </a:r>
          </a:p>
        </p:txBody>
      </p:sp>
      <p:sp>
        <p:nvSpPr>
          <p:cNvPr id="32" name="">
            <a:extLst xmlns:a="http://schemas.openxmlformats.org/drawingml/2006/main">
              <a:ext uri="{FF2B5EF4-FFF2-40B4-BE49-F238E27FC236}">
                <a16:creationId xmlns:a16="http://schemas.microsoft.com/office/drawing/2014/main" id="{EAB04761-19A2-480A-9151-B5AD753770AA}"/>
              </a:ext>
            </a:extLst>
          </p:cNvPr>
          <p:cNvSpPr>
            <a:spLocks xmlns:a="http://schemas.openxmlformats.org/drawingml/2006/main" noGrp="1"/>
          </p:cNvSpPr>
          <p:nvPr/>
        </p:nvSpPr>
        <p:spPr>
          <a:xfrm xmlns:a="http://schemas.openxmlformats.org/drawingml/2006/main">
            <a:off x="7524750" y="5905500"/>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975" b="0">
                <a:solidFill>
                  <a:srgbClr val="8D99A3"/>
                </a:solidFill>
                <a:latin typeface="DejaVu Sans"/>
                <a:ea typeface="DejaVu Sans"/>
                <a:cs typeface="DejaVu Sans"/>
              </a:defRPr>
            </a:pPr>
            <a:r>
              <a:rPr sz="975" b="0">
                <a:solidFill>
                  <a:srgbClr val="8D99A3"/>
                </a:solidFill>
                <a:latin typeface="DejaVu Sans"/>
                <a:ea typeface="DejaVu Sans"/>
                <a:cs typeface="DejaVu Sans"/>
              </a:rPr>
              <a:t>collaborative design</a:t>
            </a:r>
          </a:p>
        </p:txBody>
      </p:sp>
      <p:sp>
        <p:nvSpPr>
          <p:cNvPr id="33" name="">
            <a:extLst xmlns:a="http://schemas.openxmlformats.org/drawingml/2006/main">
              <a:ext uri="{FF2B5EF4-FFF2-40B4-BE49-F238E27FC236}">
                <a16:creationId xmlns:a16="http://schemas.microsoft.com/office/drawing/2014/main" id="{72018BA6-2954-4B25-9F73-24D8F3EF4A44}"/>
              </a:ext>
            </a:extLst>
          </p:cNvPr>
          <p:cNvSpPr>
            <a:spLocks xmlns:a="http://schemas.openxmlformats.org/drawingml/2006/main" noGrp="1"/>
          </p:cNvSpPr>
          <p:nvPr/>
        </p:nvSpPr>
        <p:spPr>
          <a:xfrm xmlns:a="http://schemas.openxmlformats.org/drawingml/2006/main">
            <a:off x="9848850" y="5391150"/>
            <a:ext cx="2076450" cy="438150"/>
          </a:xfrm>
          <a:prstGeom xmlns:a="http://schemas.openxmlformats.org/drawingml/2006/main" prst="roundRect">
            <a:avLst>
              <a:gd name="adj" fmla="val 34783"/>
            </a:avLst>
          </a:prstGeom>
          <a:solidFill xmlns:a="http://schemas.openxmlformats.org/drawingml/2006/main">
            <a:srgbClr val="0E1317">
              <a:alpha val="96000"/>
            </a:srgbClr>
          </a:solidFill>
          <a:ln xmlns:a="http://schemas.openxmlformats.org/drawingml/2006/main" w="14288">
            <a:solidFill>
              <a:srgbClr val="62D6A7"/>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975" b="1">
                <a:solidFill>
                  <a:srgbClr val="62D6A7"/>
                </a:solidFill>
                <a:latin typeface="DejaVu Sans Mono"/>
                <a:ea typeface="DejaVu Sans Mono"/>
                <a:cs typeface="DejaVu Sans Mono"/>
              </a:defRPr>
            </a:pPr>
            <a:r>
              <a:rPr sz="975" b="1">
                <a:solidFill>
                  <a:srgbClr val="62D6A7"/>
                </a:solidFill>
                <a:latin typeface="DejaVu Sans Mono"/>
                <a:ea typeface="DejaVu Sans Mono"/>
                <a:cs typeface="DejaVu Sans Mono"/>
              </a:rPr>
              <a:t>PM ACCELERATOR</a:t>
            </a:r>
          </a:p>
        </p:txBody>
      </p:sp>
      <p:sp>
        <p:nvSpPr>
          <p:cNvPr id="34" name="">
            <a:extLst xmlns:a="http://schemas.openxmlformats.org/drawingml/2006/main">
              <a:ext uri="{FF2B5EF4-FFF2-40B4-BE49-F238E27FC236}">
                <a16:creationId xmlns:a16="http://schemas.microsoft.com/office/drawing/2014/main" id="{CAA77ADB-F950-4D1C-8C51-E89E6C90EF38}"/>
              </a:ext>
            </a:extLst>
          </p:cNvPr>
          <p:cNvSpPr>
            <a:spLocks xmlns:a="http://schemas.openxmlformats.org/drawingml/2006/main" noGrp="1"/>
          </p:cNvSpPr>
          <p:nvPr/>
        </p:nvSpPr>
        <p:spPr>
          <a:xfrm xmlns:a="http://schemas.openxmlformats.org/drawingml/2006/main">
            <a:off x="9848850" y="5905500"/>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975" b="0">
                <a:solidFill>
                  <a:srgbClr val="8D99A3"/>
                </a:solidFill>
                <a:latin typeface="DejaVu Sans"/>
                <a:ea typeface="DejaVu Sans"/>
                <a:cs typeface="DejaVu Sans"/>
              </a:defRPr>
            </a:pPr>
            <a:r>
              <a:rPr sz="975" b="0">
                <a:solidFill>
                  <a:srgbClr val="8D99A3"/>
                </a:solidFill>
                <a:latin typeface="DejaVu Sans"/>
                <a:ea typeface="DejaVu Sans"/>
                <a:cs typeface="DejaVu Sans"/>
              </a:rPr>
              <a:t>execution + controls</a:t>
            </a:r>
          </a:p>
        </p:txBody>
      </p:sp>
      <p:sp>
        <p:nvSpPr>
          <p:cNvPr id="35" name="">
            <a:extLst xmlns:a="http://schemas.openxmlformats.org/drawingml/2006/main">
              <a:ext uri="{FF2B5EF4-FFF2-40B4-BE49-F238E27FC236}">
                <a16:creationId xmlns:a16="http://schemas.microsoft.com/office/drawing/2014/main" id="{0F6FB275-E0C8-4B47-9EB1-3DC6A53C5055}"/>
              </a:ext>
            </a:extLst>
          </p:cNvPr>
          <p:cNvSpPr>
            <a:spLocks xmlns:a="http://schemas.openxmlformats.org/drawingml/2006/main" noGrp="1"/>
          </p:cNvSpPr>
          <p:nvPr/>
        </p:nvSpPr>
        <p:spPr>
          <a:xfrm xmlns:a="http://schemas.openxmlformats.org/drawingml/2006/main">
            <a:off x="7886700" y="6286500"/>
            <a:ext cx="3695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95000"/>
              </a:lnSpc>
              <a:buNone/>
              <a:defRPr sz="900" b="1">
                <a:solidFill>
                  <a:srgbClr val="8D99A3"/>
                </a:solidFill>
                <a:latin typeface="DejaVu Sans Mono"/>
                <a:ea typeface="DejaVu Sans Mono"/>
                <a:cs typeface="DejaVu Sans Mono"/>
              </a:defRPr>
            </a:pPr>
            <a:r>
              <a:rPr sz="900" b="1">
                <a:solidFill>
                  <a:srgbClr val="8D99A3"/>
                </a:solidFill>
                <a:latin typeface="DejaVu Sans Mono"/>
                <a:ea typeface="DejaVu Sans Mono"/>
                <a:cs typeface="DejaVu Sans Mono"/>
              </a:rPr>
              <a:t>RUNTIMES: CODEX • CLAUDE COWORK • HERMES • GROK</a:t>
            </a:r>
          </a:p>
        </p:txBody>
      </p:sp>
      <p:sp>
        <p:nvSpPr>
          <p:cNvPr id="36" name="">
            <a:extLst xmlns:a="http://schemas.openxmlformats.org/drawingml/2006/main">
              <a:ext uri="{FF2B5EF4-FFF2-40B4-BE49-F238E27FC236}">
                <a16:creationId xmlns:a16="http://schemas.microsoft.com/office/drawing/2014/main" id="{ABDF7C81-D1A6-4055-A794-2BB59F3C4B29}"/>
              </a:ext>
            </a:extLst>
          </p:cNvPr>
          <p:cNvSpPr>
            <a:spLocks xmlns:a="http://schemas.openxmlformats.org/drawingml/2006/main" noGrp="1"/>
          </p:cNvSpPr>
          <p:nvPr/>
        </p:nvSpPr>
        <p:spPr>
          <a:xfrm xmlns:a="http://schemas.openxmlformats.org/drawingml/2006/main">
            <a:off x="0" y="6400800"/>
            <a:ext cx="12192000" cy="457200"/>
          </a:xfrm>
          <a:prstGeom xmlns:a="http://schemas.openxmlformats.org/drawingml/2006/main" prst="rect">
            <a:avLst/>
          </a:prstGeom>
          <a:solidFill xmlns:a="http://schemas.openxmlformats.org/drawingml/2006/main">
            <a:srgbClr val="07090C">
              <a:alpha val="76000"/>
            </a:srgbClr>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8A14B749-DEE0-4D5B-8E86-6ECB030994BF}"/>
              </a:ext>
            </a:extLst>
          </p:cNvPr>
          <p:cNvSpPr>
            <a:spLocks xmlns:a="http://schemas.openxmlformats.org/drawingml/2006/main" noGrp="1"/>
          </p:cNvSpPr>
          <p:nvPr/>
        </p:nvSpPr>
        <p:spPr>
          <a:xfrm xmlns:a="http://schemas.openxmlformats.org/drawingml/2006/main">
            <a:off x="609600" y="6553200"/>
            <a:ext cx="6858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MARS SOCIETY 2026  •  HARNESSED AGENTIC SCIENCE + ENGINEERING</a:t>
            </a:r>
          </a:p>
        </p:txBody>
      </p:sp>
      <p:sp>
        <p:nvSpPr>
          <p:cNvPr id="38" name="">
            <a:extLst xmlns:a="http://schemas.openxmlformats.org/drawingml/2006/main">
              <a:ext uri="{FF2B5EF4-FFF2-40B4-BE49-F238E27FC236}">
                <a16:creationId xmlns:a16="http://schemas.microsoft.com/office/drawing/2014/main" id="{105B29AE-1C1B-44FC-8A34-AF134DAE2D6D}"/>
              </a:ext>
            </a:extLst>
          </p:cNvPr>
          <p:cNvSpPr>
            <a:spLocks xmlns:a="http://schemas.openxmlformats.org/drawingml/2006/main" noGrp="1"/>
          </p:cNvSpPr>
          <p:nvPr/>
        </p:nvSpPr>
        <p:spPr>
          <a:xfrm xmlns:a="http://schemas.openxmlformats.org/drawingml/2006/main">
            <a:off x="9525000" y="6553200"/>
            <a:ext cx="2057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BOB J MILLS     18</a:t>
            </a:r>
          </a:p>
        </p:txBody>
      </p:sp>
    </p:spTree>
    <p:extLst>
      <p:ext uri="{BB962C8B-B14F-4D97-AF65-F5344CB8AC3E}">
        <p14:creationId xmlns:p14="http://schemas.microsoft.com/office/powerpoint/2010/main" val="2105499681"/>
      </p:ext>
    </p:extLst>
  </p:cSld>
</p:sld>
</file>

<file path=ppt/slides/slide19.xml><?xml version="1.0" encoding="utf-8"?>
<p:sld xmlns:p="http://schemas.openxmlformats.org/presentationml/2006/main">
  <p:cSld>
    <p:bg>
      <p:bgPr>
        <a:solidFill xmlns:a="http://schemas.openxmlformats.org/drawingml/2006/main">
          <a:srgbClr val="07090C"/>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D41A3FF4-D244-4B39-B941-DFFB16069FF1}"/>
              </a:ext>
            </a:extLst>
          </p:cNvPr>
          <p:cNvSpPr>
            <a:spLocks xmlns:a="http://schemas.openxmlformats.org/drawingml/2006/main" noGrp="1"/>
          </p:cNvSpPr>
          <p:nvPr/>
        </p:nvSpPr>
        <p:spPr>
          <a:xfrm xmlns:a="http://schemas.openxmlformats.org/drawingml/2006/main">
            <a:off x="609600" y="3429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975" b="1">
                <a:solidFill>
                  <a:srgbClr val="F26B38"/>
                </a:solidFill>
                <a:latin typeface="DejaVu Sans Mono"/>
                <a:ea typeface="DejaVu Sans Mono"/>
                <a:cs typeface="DejaVu Sans Mono"/>
              </a:defRPr>
            </a:pPr>
            <a:r>
              <a:rPr sz="975" b="1">
                <a:solidFill>
                  <a:srgbClr val="F26B38"/>
                </a:solidFill>
                <a:latin typeface="DejaVu Sans Mono"/>
                <a:ea typeface="DejaVu Sans Mono"/>
                <a:cs typeface="DejaVu Sans Mono"/>
              </a:rPr>
              <a:t>19  /  ADOPTION</a:t>
            </a:r>
          </a:p>
        </p:txBody>
      </p:sp>
      <p:sp>
        <p:nvSpPr>
          <p:cNvPr id="2" name="">
            <a:extLst xmlns:a="http://schemas.openxmlformats.org/drawingml/2006/main">
              <a:ext uri="{FF2B5EF4-FFF2-40B4-BE49-F238E27FC236}">
                <a16:creationId xmlns:a16="http://schemas.microsoft.com/office/drawing/2014/main" id="{E2544598-C43A-4C28-8DA7-0C334C855240}"/>
              </a:ext>
            </a:extLst>
          </p:cNvPr>
          <p:cNvSpPr>
            <a:spLocks xmlns:a="http://schemas.openxmlformats.org/drawingml/2006/main" noGrp="1"/>
          </p:cNvSpPr>
          <p:nvPr/>
        </p:nvSpPr>
        <p:spPr>
          <a:xfrm xmlns:a="http://schemas.openxmlformats.org/drawingml/2006/main">
            <a:off x="609600" y="6477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000" b="1">
                <a:solidFill>
                  <a:srgbClr val="F4F6F8"/>
                </a:solidFill>
                <a:latin typeface="DejaVu Sans"/>
                <a:ea typeface="DejaVu Sans"/>
                <a:cs typeface="DejaVu Sans"/>
              </a:defRPr>
            </a:pPr>
            <a:r>
              <a:rPr sz="3000" b="1">
                <a:solidFill>
                  <a:srgbClr val="F4F6F8"/>
                </a:solidFill>
                <a:latin typeface="DejaVu Sans"/>
                <a:ea typeface="DejaVu Sans"/>
                <a:cs typeface="DejaVu Sans"/>
              </a:rPr>
              <a:t>Start with one consequential loop</a:t>
            </a:r>
          </a:p>
        </p:txBody>
      </p:sp>
      <p:sp>
        <p:nvSpPr>
          <p:cNvPr id="3" name="">
            <a:extLst xmlns:a="http://schemas.openxmlformats.org/drawingml/2006/main">
              <a:ext uri="{FF2B5EF4-FFF2-40B4-BE49-F238E27FC236}">
                <a16:creationId xmlns:a16="http://schemas.microsoft.com/office/drawing/2014/main" id="{4554ACCD-0DC7-44FD-9DCA-2A788E73F8A3}"/>
              </a:ext>
            </a:extLst>
          </p:cNvPr>
          <p:cNvSpPr>
            <a:spLocks xmlns:a="http://schemas.openxmlformats.org/drawingml/2006/main" noGrp="1"/>
          </p:cNvSpPr>
          <p:nvPr/>
        </p:nvSpPr>
        <p:spPr>
          <a:xfrm xmlns:a="http://schemas.openxmlformats.org/drawingml/2006/main">
            <a:off x="628650" y="12382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425" b="0">
                <a:solidFill>
                  <a:srgbClr val="8D99A3"/>
                </a:solidFill>
                <a:latin typeface="DejaVu Sans"/>
                <a:ea typeface="DejaVu Sans"/>
                <a:cs typeface="DejaVu Sans"/>
              </a:defRPr>
            </a:pPr>
            <a:r>
              <a:rPr sz="1425" b="0">
                <a:solidFill>
                  <a:srgbClr val="8D99A3"/>
                </a:solidFill>
                <a:latin typeface="DejaVu Sans"/>
                <a:ea typeface="DejaVu Sans"/>
                <a:cs typeface="DejaVu Sans"/>
              </a:rPr>
              <a:t>Prove traceability and expert equivalence on a recurring decision before attempting an enterprise-wide ecosystem.</a:t>
            </a:r>
          </a:p>
        </p:txBody>
      </p:sp>
      <p:sp>
        <p:nvSpPr>
          <p:cNvPr id="4" name="">
            <a:extLst xmlns:a="http://schemas.openxmlformats.org/drawingml/2006/main">
              <a:ext uri="{FF2B5EF4-FFF2-40B4-BE49-F238E27FC236}">
                <a16:creationId xmlns:a16="http://schemas.microsoft.com/office/drawing/2014/main" id="{67AE4749-EBBB-4C66-8FB4-5DA7A5E6B909}"/>
              </a:ext>
            </a:extLst>
          </p:cNvPr>
          <p:cNvSpPr>
            <a:spLocks xmlns:a="http://schemas.openxmlformats.org/drawingml/2006/main" noGrp="1"/>
          </p:cNvSpPr>
          <p:nvPr/>
        </p:nvSpPr>
        <p:spPr>
          <a:xfrm xmlns:a="http://schemas.openxmlformats.org/drawingml/2006/main">
            <a:off x="609600" y="1676400"/>
            <a:ext cx="10972800" cy="0"/>
          </a:xfrm>
          <a:prstGeom xmlns:a="http://schemas.openxmlformats.org/drawingml/2006/main" prst="line">
            <a:avLst/>
          </a:prstGeom>
          <a:noFill xmlns:a="http://schemas.openxmlformats.org/drawingml/2006/main"/>
          <a:ln xmlns:a="http://schemas.openxmlformats.org/drawingml/2006/main" w="9525">
            <a:solidFill>
              <a:srgbClr val="35414B"/>
            </a:solidFill>
            <a:prstDash val="solid"/>
          </a:ln>
        </p:spPr>
      </p:sp>
      <p:sp>
        <p:nvSpPr>
          <p:cNvPr id="5" name="">
            <a:extLst xmlns:a="http://schemas.openxmlformats.org/drawingml/2006/main">
              <a:ext uri="{FF2B5EF4-FFF2-40B4-BE49-F238E27FC236}">
                <a16:creationId xmlns:a16="http://schemas.microsoft.com/office/drawing/2014/main" id="{7EF30DA2-D7E0-464E-AA97-58F4B6A0AB69}"/>
              </a:ext>
            </a:extLst>
          </p:cNvPr>
          <p:cNvSpPr>
            <a:spLocks xmlns:a="http://schemas.openxmlformats.org/drawingml/2006/main" noGrp="1"/>
          </p:cNvSpPr>
          <p:nvPr/>
        </p:nvSpPr>
        <p:spPr>
          <a:xfrm xmlns:a="http://schemas.openxmlformats.org/drawingml/2006/main">
            <a:off x="1485900" y="5276850"/>
            <a:ext cx="1790700" cy="0"/>
          </a:xfrm>
          <a:prstGeom xmlns:a="http://schemas.openxmlformats.org/drawingml/2006/main" prst="line">
            <a:avLst/>
          </a:prstGeom>
          <a:noFill xmlns:a="http://schemas.openxmlformats.org/drawingml/2006/main"/>
          <a:ln xmlns:a="http://schemas.openxmlformats.org/drawingml/2006/main" w="66675">
            <a:solidFill>
              <a:srgbClr val="F26B38">
                <a:alpha val="70000"/>
              </a:srgbClr>
            </a:solidFill>
            <a:prstDash val="solid"/>
          </a:ln>
        </p:spPr>
      </p:sp>
      <p:sp>
        <p:nvSpPr>
          <p:cNvPr id="6" name="">
            <a:extLst xmlns:a="http://schemas.openxmlformats.org/drawingml/2006/main">
              <a:ext uri="{FF2B5EF4-FFF2-40B4-BE49-F238E27FC236}">
                <a16:creationId xmlns:a16="http://schemas.microsoft.com/office/drawing/2014/main" id="{A92CE9FA-AAE5-4E69-BF69-82A8DDE2A99A}"/>
              </a:ext>
            </a:extLst>
          </p:cNvPr>
          <p:cNvSpPr>
            <a:spLocks xmlns:a="http://schemas.openxmlformats.org/drawingml/2006/main" noGrp="1"/>
          </p:cNvSpPr>
          <p:nvPr/>
        </p:nvSpPr>
        <p:spPr>
          <a:xfrm xmlns:a="http://schemas.openxmlformats.org/drawingml/2006/main">
            <a:off x="3276600" y="4400550"/>
            <a:ext cx="0" cy="876300"/>
          </a:xfrm>
          <a:prstGeom xmlns:a="http://schemas.openxmlformats.org/drawingml/2006/main" prst="line">
            <a:avLst/>
          </a:prstGeom>
          <a:noFill xmlns:a="http://schemas.openxmlformats.org/drawingml/2006/main"/>
          <a:ln xmlns:a="http://schemas.openxmlformats.org/drawingml/2006/main" w="66675">
            <a:solidFill>
              <a:srgbClr val="F26B38">
                <a:alpha val="70000"/>
              </a:srgbClr>
            </a:solidFill>
            <a:prstDash val="solid"/>
          </a:ln>
        </p:spPr>
      </p:sp>
      <p:sp>
        <p:nvSpPr>
          <p:cNvPr id="7" name="">
            <a:extLst xmlns:a="http://schemas.openxmlformats.org/drawingml/2006/main">
              <a:ext uri="{FF2B5EF4-FFF2-40B4-BE49-F238E27FC236}">
                <a16:creationId xmlns:a16="http://schemas.microsoft.com/office/drawing/2014/main" id="{48ACD86F-BF55-4D58-B815-D5B0000DFCDC}"/>
              </a:ext>
            </a:extLst>
          </p:cNvPr>
          <p:cNvSpPr>
            <a:spLocks xmlns:a="http://schemas.openxmlformats.org/drawingml/2006/main" noGrp="1"/>
          </p:cNvSpPr>
          <p:nvPr/>
        </p:nvSpPr>
        <p:spPr>
          <a:xfrm xmlns:a="http://schemas.openxmlformats.org/drawingml/2006/main">
            <a:off x="3429000" y="4400550"/>
            <a:ext cx="1866900" cy="0"/>
          </a:xfrm>
          <a:prstGeom xmlns:a="http://schemas.openxmlformats.org/drawingml/2006/main" prst="line">
            <a:avLst/>
          </a:prstGeom>
          <a:noFill xmlns:a="http://schemas.openxmlformats.org/drawingml/2006/main"/>
          <a:ln xmlns:a="http://schemas.openxmlformats.org/drawingml/2006/main" w="66675">
            <a:solidFill>
              <a:srgbClr val="39D7FF">
                <a:alpha val="70000"/>
              </a:srgbClr>
            </a:solidFill>
            <a:prstDash val="solid"/>
          </a:ln>
        </p:spPr>
      </p:sp>
      <p:sp>
        <p:nvSpPr>
          <p:cNvPr id="8" name="">
            <a:extLst xmlns:a="http://schemas.openxmlformats.org/drawingml/2006/main">
              <a:ext uri="{FF2B5EF4-FFF2-40B4-BE49-F238E27FC236}">
                <a16:creationId xmlns:a16="http://schemas.microsoft.com/office/drawing/2014/main" id="{4C986191-9985-4086-A46A-495B41B0CF68}"/>
              </a:ext>
            </a:extLst>
          </p:cNvPr>
          <p:cNvSpPr>
            <a:spLocks xmlns:a="http://schemas.openxmlformats.org/drawingml/2006/main" noGrp="1"/>
          </p:cNvSpPr>
          <p:nvPr/>
        </p:nvSpPr>
        <p:spPr>
          <a:xfrm xmlns:a="http://schemas.openxmlformats.org/drawingml/2006/main">
            <a:off x="5295900" y="4400550"/>
            <a:ext cx="0" cy="552450"/>
          </a:xfrm>
          <a:prstGeom xmlns:a="http://schemas.openxmlformats.org/drawingml/2006/main" prst="line">
            <a:avLst/>
          </a:prstGeom>
          <a:noFill xmlns:a="http://schemas.openxmlformats.org/drawingml/2006/main"/>
          <a:ln xmlns:a="http://schemas.openxmlformats.org/drawingml/2006/main" w="66675">
            <a:solidFill>
              <a:srgbClr val="39D7FF">
                <a:alpha val="70000"/>
              </a:srgbClr>
            </a:solidFill>
            <a:prstDash val="solid"/>
          </a:ln>
        </p:spPr>
      </p:sp>
      <p:sp>
        <p:nvSpPr>
          <p:cNvPr id="9" name="">
            <a:extLst xmlns:a="http://schemas.openxmlformats.org/drawingml/2006/main">
              <a:ext uri="{FF2B5EF4-FFF2-40B4-BE49-F238E27FC236}">
                <a16:creationId xmlns:a16="http://schemas.microsoft.com/office/drawing/2014/main" id="{6D1FC98C-09D2-4577-BCFA-48763993B81C}"/>
              </a:ext>
            </a:extLst>
          </p:cNvPr>
          <p:cNvSpPr>
            <a:spLocks xmlns:a="http://schemas.openxmlformats.org/drawingml/2006/main" noGrp="1"/>
          </p:cNvSpPr>
          <p:nvPr/>
        </p:nvSpPr>
        <p:spPr>
          <a:xfrm xmlns:a="http://schemas.openxmlformats.org/drawingml/2006/main">
            <a:off x="5448300" y="4953000"/>
            <a:ext cx="2057400" cy="0"/>
          </a:xfrm>
          <a:prstGeom xmlns:a="http://schemas.openxmlformats.org/drawingml/2006/main" prst="line">
            <a:avLst/>
          </a:prstGeom>
          <a:noFill xmlns:a="http://schemas.openxmlformats.org/drawingml/2006/main"/>
          <a:ln xmlns:a="http://schemas.openxmlformats.org/drawingml/2006/main" w="66675">
            <a:solidFill>
              <a:srgbClr val="39D7FF">
                <a:alpha val="70000"/>
              </a:srgbClr>
            </a:solidFill>
            <a:prstDash val="solid"/>
          </a:ln>
        </p:spPr>
      </p:sp>
      <p:sp>
        <p:nvSpPr>
          <p:cNvPr id="10" name="">
            <a:extLst xmlns:a="http://schemas.openxmlformats.org/drawingml/2006/main">
              <a:ext uri="{FF2B5EF4-FFF2-40B4-BE49-F238E27FC236}">
                <a16:creationId xmlns:a16="http://schemas.microsoft.com/office/drawing/2014/main" id="{C71520B6-A441-4370-B98B-ADFDC16C879C}"/>
              </a:ext>
            </a:extLst>
          </p:cNvPr>
          <p:cNvSpPr>
            <a:spLocks xmlns:a="http://schemas.openxmlformats.org/drawingml/2006/main" noGrp="1"/>
          </p:cNvSpPr>
          <p:nvPr/>
        </p:nvSpPr>
        <p:spPr>
          <a:xfrm xmlns:a="http://schemas.openxmlformats.org/drawingml/2006/main">
            <a:off x="7505700" y="3638550"/>
            <a:ext cx="0" cy="1314450"/>
          </a:xfrm>
          <a:prstGeom xmlns:a="http://schemas.openxmlformats.org/drawingml/2006/main" prst="line">
            <a:avLst/>
          </a:prstGeom>
          <a:noFill xmlns:a="http://schemas.openxmlformats.org/drawingml/2006/main"/>
          <a:ln xmlns:a="http://schemas.openxmlformats.org/drawingml/2006/main" w="66675">
            <a:solidFill>
              <a:srgbClr val="39D7FF">
                <a:alpha val="70000"/>
              </a:srgbClr>
            </a:solidFill>
            <a:prstDash val="solid"/>
          </a:ln>
        </p:spPr>
      </p:sp>
      <p:sp>
        <p:nvSpPr>
          <p:cNvPr id="11" name="">
            <a:extLst xmlns:a="http://schemas.openxmlformats.org/drawingml/2006/main">
              <a:ext uri="{FF2B5EF4-FFF2-40B4-BE49-F238E27FC236}">
                <a16:creationId xmlns:a16="http://schemas.microsoft.com/office/drawing/2014/main" id="{97D5770D-9940-41C3-8745-ADBCD6651E59}"/>
              </a:ext>
            </a:extLst>
          </p:cNvPr>
          <p:cNvSpPr>
            <a:spLocks xmlns:a="http://schemas.openxmlformats.org/drawingml/2006/main" noGrp="1"/>
          </p:cNvSpPr>
          <p:nvPr/>
        </p:nvSpPr>
        <p:spPr>
          <a:xfrm xmlns:a="http://schemas.openxmlformats.org/drawingml/2006/main">
            <a:off x="7658100" y="3638550"/>
            <a:ext cx="2343150" cy="0"/>
          </a:xfrm>
          <a:prstGeom xmlns:a="http://schemas.openxmlformats.org/drawingml/2006/main" prst="line">
            <a:avLst/>
          </a:prstGeom>
          <a:noFill xmlns:a="http://schemas.openxmlformats.org/drawingml/2006/main"/>
          <a:ln xmlns:a="http://schemas.openxmlformats.org/drawingml/2006/main" w="66675">
            <a:solidFill>
              <a:srgbClr val="62D6A7">
                <a:alpha val="70000"/>
              </a:srgbClr>
            </a:solidFill>
            <a:prstDash val="solid"/>
          </a:ln>
        </p:spPr>
      </p:sp>
      <p:sp>
        <p:nvSpPr>
          <p:cNvPr id="12" name="">
            <a:extLst xmlns:a="http://schemas.openxmlformats.org/drawingml/2006/main">
              <a:ext uri="{FF2B5EF4-FFF2-40B4-BE49-F238E27FC236}">
                <a16:creationId xmlns:a16="http://schemas.microsoft.com/office/drawing/2014/main" id="{EB548160-42D5-4C06-B3CE-076B378725F7}"/>
              </a:ext>
            </a:extLst>
          </p:cNvPr>
          <p:cNvSpPr>
            <a:spLocks xmlns:a="http://schemas.openxmlformats.org/drawingml/2006/main" noGrp="1"/>
          </p:cNvSpPr>
          <p:nvPr/>
        </p:nvSpPr>
        <p:spPr>
          <a:xfrm xmlns:a="http://schemas.openxmlformats.org/drawingml/2006/main">
            <a:off x="10001250" y="2705100"/>
            <a:ext cx="0" cy="933450"/>
          </a:xfrm>
          <a:prstGeom xmlns:a="http://schemas.openxmlformats.org/drawingml/2006/main" prst="line">
            <a:avLst/>
          </a:prstGeom>
          <a:noFill xmlns:a="http://schemas.openxmlformats.org/drawingml/2006/main"/>
          <a:ln xmlns:a="http://schemas.openxmlformats.org/drawingml/2006/main" w="66675">
            <a:solidFill>
              <a:srgbClr val="62D6A7">
                <a:alpha val="70000"/>
              </a:srgbClr>
            </a:solidFill>
            <a:prstDash val="solid"/>
          </a:ln>
        </p:spPr>
      </p:sp>
      <p:sp>
        <p:nvSpPr>
          <p:cNvPr id="13" name="">
            <a:extLst xmlns:a="http://schemas.openxmlformats.org/drawingml/2006/main">
              <a:ext uri="{FF2B5EF4-FFF2-40B4-BE49-F238E27FC236}">
                <a16:creationId xmlns:a16="http://schemas.microsoft.com/office/drawing/2014/main" id="{4F4A3F96-D21E-4650-A0BF-450521B1FFA9}"/>
              </a:ext>
            </a:extLst>
          </p:cNvPr>
          <p:cNvSpPr>
            <a:spLocks xmlns:a="http://schemas.openxmlformats.org/drawingml/2006/main" noGrp="1"/>
          </p:cNvSpPr>
          <p:nvPr/>
        </p:nvSpPr>
        <p:spPr>
          <a:xfrm xmlns:a="http://schemas.openxmlformats.org/drawingml/2006/main">
            <a:off x="914400" y="4972050"/>
            <a:ext cx="533400" cy="533400"/>
          </a:xfrm>
          <a:prstGeom xmlns:a="http://schemas.openxmlformats.org/drawingml/2006/main" prst="ellipse">
            <a:avLst/>
          </a:prstGeom>
          <a:solidFill xmlns:a="http://schemas.openxmlformats.org/drawingml/2006/main">
            <a:srgbClr val="F26B3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AAA67CB-4EE8-497E-8C1B-2561D8799A98}"/>
              </a:ext>
            </a:extLst>
          </p:cNvPr>
          <p:cNvSpPr>
            <a:spLocks xmlns:a="http://schemas.openxmlformats.org/drawingml/2006/main" noGrp="1"/>
          </p:cNvSpPr>
          <p:nvPr/>
        </p:nvSpPr>
        <p:spPr>
          <a:xfrm xmlns:a="http://schemas.openxmlformats.org/drawingml/2006/main">
            <a:off x="1019175" y="507682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5000"/>
              </a:lnSpc>
              <a:buNone/>
              <a:defRPr sz="1350" b="1">
                <a:solidFill>
                  <a:srgbClr val="07090C"/>
                </a:solidFill>
                <a:latin typeface="DejaVu Sans Mono"/>
                <a:ea typeface="DejaVu Sans Mono"/>
                <a:cs typeface="DejaVu Sans Mono"/>
              </a:defRPr>
            </a:pPr>
            <a:r>
              <a:rPr sz="1350" b="1">
                <a:solidFill>
                  <a:srgbClr val="07090C"/>
                </a:solidFill>
                <a:latin typeface="DejaVu Sans Mono"/>
                <a:ea typeface="DejaVu Sans Mono"/>
                <a:cs typeface="DejaVu Sans Mono"/>
              </a:rPr>
              <a:t>1</a:t>
            </a:r>
          </a:p>
        </p:txBody>
      </p:sp>
      <p:sp>
        <p:nvSpPr>
          <p:cNvPr id="15" name="">
            <a:extLst xmlns:a="http://schemas.openxmlformats.org/drawingml/2006/main">
              <a:ext uri="{FF2B5EF4-FFF2-40B4-BE49-F238E27FC236}">
                <a16:creationId xmlns:a16="http://schemas.microsoft.com/office/drawing/2014/main" id="{97257C66-725A-4F56-8F1A-9BD65D896319}"/>
              </a:ext>
            </a:extLst>
          </p:cNvPr>
          <p:cNvSpPr>
            <a:spLocks xmlns:a="http://schemas.openxmlformats.org/drawingml/2006/main" noGrp="1"/>
          </p:cNvSpPr>
          <p:nvPr/>
        </p:nvSpPr>
        <p:spPr>
          <a:xfrm xmlns:a="http://schemas.openxmlformats.org/drawingml/2006/main">
            <a:off x="1562100" y="49530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200" b="1">
                <a:solidFill>
                  <a:srgbClr val="F26B38"/>
                </a:solidFill>
                <a:latin typeface="DejaVu Sans Mono"/>
                <a:ea typeface="DejaVu Sans Mono"/>
                <a:cs typeface="DejaVu Sans Mono"/>
              </a:defRPr>
            </a:pPr>
            <a:r>
              <a:rPr sz="1200" b="1">
                <a:solidFill>
                  <a:srgbClr val="F26B38"/>
                </a:solidFill>
                <a:latin typeface="DejaVu Sans Mono"/>
                <a:ea typeface="DejaVu Sans Mono"/>
                <a:cs typeface="DejaVu Sans Mono"/>
              </a:rPr>
              <a:t>SELECT</a:t>
            </a:r>
          </a:p>
        </p:txBody>
      </p:sp>
      <p:sp>
        <p:nvSpPr>
          <p:cNvPr id="16" name="">
            <a:extLst xmlns:a="http://schemas.openxmlformats.org/drawingml/2006/main">
              <a:ext uri="{FF2B5EF4-FFF2-40B4-BE49-F238E27FC236}">
                <a16:creationId xmlns:a16="http://schemas.microsoft.com/office/drawing/2014/main" id="{26C9B185-0157-4892-AE64-948D6E2CC297}"/>
              </a:ext>
            </a:extLst>
          </p:cNvPr>
          <p:cNvSpPr>
            <a:spLocks xmlns:a="http://schemas.openxmlformats.org/drawingml/2006/main" noGrp="1"/>
          </p:cNvSpPr>
          <p:nvPr/>
        </p:nvSpPr>
        <p:spPr>
          <a:xfrm xmlns:a="http://schemas.openxmlformats.org/drawingml/2006/main">
            <a:off x="1562100" y="5238750"/>
            <a:ext cx="1752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0">
                <a:solidFill>
                  <a:srgbClr val="F4F6F8"/>
                </a:solidFill>
                <a:latin typeface="DejaVu Sans"/>
                <a:ea typeface="DejaVu Sans"/>
                <a:cs typeface="DejaVu Sans"/>
              </a:defRPr>
            </a:pPr>
            <a:r>
              <a:rPr sz="1275" b="0">
                <a:solidFill>
                  <a:srgbClr val="F4F6F8"/>
                </a:solidFill>
                <a:latin typeface="DejaVu Sans"/>
                <a:ea typeface="DejaVu Sans"/>
                <a:cs typeface="DejaVu Sans"/>
              </a:rPr>
              <a:t>one recurring</a:t>
            </a:r>
          </a:p>
          <a:p xmlns:a="http://schemas.openxmlformats.org/drawingml/2006/main">
            <a:pPr algn="l">
              <a:lnSpc>
                <a:spcPct val="100000"/>
              </a:lnSpc>
              <a:buNone/>
              <a:defRPr sz="1275" b="0">
                <a:solidFill>
                  <a:srgbClr val="F4F6F8"/>
                </a:solidFill>
                <a:latin typeface="DejaVu Sans"/>
                <a:ea typeface="DejaVu Sans"/>
                <a:cs typeface="DejaVu Sans"/>
              </a:defRPr>
            </a:pPr>
            <a:r>
              <a:rPr sz="1275" b="0">
                <a:solidFill>
                  <a:srgbClr val="F4F6F8"/>
                </a:solidFill>
                <a:latin typeface="DejaVu Sans"/>
                <a:ea typeface="DejaVu Sans"/>
                <a:cs typeface="DejaVu Sans"/>
              </a:rPr>
              <a:t>decision</a:t>
            </a:r>
          </a:p>
        </p:txBody>
      </p:sp>
      <p:sp>
        <p:nvSpPr>
          <p:cNvPr id="17" name="">
            <a:extLst xmlns:a="http://schemas.openxmlformats.org/drawingml/2006/main">
              <a:ext uri="{FF2B5EF4-FFF2-40B4-BE49-F238E27FC236}">
                <a16:creationId xmlns:a16="http://schemas.microsoft.com/office/drawing/2014/main" id="{69D0C2E4-E171-494F-8098-73286497058B}"/>
              </a:ext>
            </a:extLst>
          </p:cNvPr>
          <p:cNvSpPr>
            <a:spLocks xmlns:a="http://schemas.openxmlformats.org/drawingml/2006/main" noGrp="1"/>
          </p:cNvSpPr>
          <p:nvPr/>
        </p:nvSpPr>
        <p:spPr>
          <a:xfrm xmlns:a="http://schemas.openxmlformats.org/drawingml/2006/main">
            <a:off x="2857500" y="4095750"/>
            <a:ext cx="533400" cy="533400"/>
          </a:xfrm>
          <a:prstGeom xmlns:a="http://schemas.openxmlformats.org/drawingml/2006/main" prst="ellipse">
            <a:avLst/>
          </a:prstGeom>
          <a:solidFill xmlns:a="http://schemas.openxmlformats.org/drawingml/2006/main">
            <a:srgbClr val="39D7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6B55CDC-FF01-4662-A26D-C3C42CF11DF2}"/>
              </a:ext>
            </a:extLst>
          </p:cNvPr>
          <p:cNvSpPr>
            <a:spLocks xmlns:a="http://schemas.openxmlformats.org/drawingml/2006/main" noGrp="1"/>
          </p:cNvSpPr>
          <p:nvPr/>
        </p:nvSpPr>
        <p:spPr>
          <a:xfrm xmlns:a="http://schemas.openxmlformats.org/drawingml/2006/main">
            <a:off x="2962275" y="420052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5000"/>
              </a:lnSpc>
              <a:buNone/>
              <a:defRPr sz="1350" b="1">
                <a:solidFill>
                  <a:srgbClr val="07090C"/>
                </a:solidFill>
                <a:latin typeface="DejaVu Sans Mono"/>
                <a:ea typeface="DejaVu Sans Mono"/>
                <a:cs typeface="DejaVu Sans Mono"/>
              </a:defRPr>
            </a:pPr>
            <a:r>
              <a:rPr sz="1350" b="1">
                <a:solidFill>
                  <a:srgbClr val="07090C"/>
                </a:solidFill>
                <a:latin typeface="DejaVu Sans Mono"/>
                <a:ea typeface="DejaVu Sans Mono"/>
                <a:cs typeface="DejaVu Sans Mono"/>
              </a:rPr>
              <a:t>2</a:t>
            </a:r>
          </a:p>
        </p:txBody>
      </p:sp>
      <p:sp>
        <p:nvSpPr>
          <p:cNvPr id="19" name="">
            <a:extLst xmlns:a="http://schemas.openxmlformats.org/drawingml/2006/main">
              <a:ext uri="{FF2B5EF4-FFF2-40B4-BE49-F238E27FC236}">
                <a16:creationId xmlns:a16="http://schemas.microsoft.com/office/drawing/2014/main" id="{18824FC3-8972-4B71-85A6-1F91CF0EE6CD}"/>
              </a:ext>
            </a:extLst>
          </p:cNvPr>
          <p:cNvSpPr>
            <a:spLocks xmlns:a="http://schemas.openxmlformats.org/drawingml/2006/main" noGrp="1"/>
          </p:cNvSpPr>
          <p:nvPr/>
        </p:nvSpPr>
        <p:spPr>
          <a:xfrm xmlns:a="http://schemas.openxmlformats.org/drawingml/2006/main">
            <a:off x="3505200" y="40767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200" b="1">
                <a:solidFill>
                  <a:srgbClr val="39D7FF"/>
                </a:solidFill>
                <a:latin typeface="DejaVu Sans Mono"/>
                <a:ea typeface="DejaVu Sans Mono"/>
                <a:cs typeface="DejaVu Sans Mono"/>
              </a:defRPr>
            </a:pPr>
            <a:r>
              <a:rPr sz="1200" b="1">
                <a:solidFill>
                  <a:srgbClr val="39D7FF"/>
                </a:solidFill>
                <a:latin typeface="DejaVu Sans Mono"/>
                <a:ea typeface="DejaVu Sans Mono"/>
                <a:cs typeface="DejaVu Sans Mono"/>
              </a:rPr>
              <a:t>DEFINE</a:t>
            </a:r>
          </a:p>
        </p:txBody>
      </p:sp>
      <p:sp>
        <p:nvSpPr>
          <p:cNvPr id="20" name="">
            <a:extLst xmlns:a="http://schemas.openxmlformats.org/drawingml/2006/main">
              <a:ext uri="{FF2B5EF4-FFF2-40B4-BE49-F238E27FC236}">
                <a16:creationId xmlns:a16="http://schemas.microsoft.com/office/drawing/2014/main" id="{4AB6C0CA-8195-4DF2-AFC0-0441B1B9ED9F}"/>
              </a:ext>
            </a:extLst>
          </p:cNvPr>
          <p:cNvSpPr>
            <a:spLocks xmlns:a="http://schemas.openxmlformats.org/drawingml/2006/main" noGrp="1"/>
          </p:cNvSpPr>
          <p:nvPr/>
        </p:nvSpPr>
        <p:spPr>
          <a:xfrm xmlns:a="http://schemas.openxmlformats.org/drawingml/2006/main">
            <a:off x="3505200" y="4362450"/>
            <a:ext cx="1752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0">
                <a:solidFill>
                  <a:srgbClr val="F4F6F8"/>
                </a:solidFill>
                <a:latin typeface="DejaVu Sans"/>
                <a:ea typeface="DejaVu Sans"/>
                <a:cs typeface="DejaVu Sans"/>
              </a:defRPr>
            </a:pPr>
            <a:r>
              <a:rPr sz="1275" b="0">
                <a:solidFill>
                  <a:srgbClr val="F4F6F8"/>
                </a:solidFill>
                <a:latin typeface="DejaVu Sans"/>
                <a:ea typeface="DejaVu Sans"/>
                <a:cs typeface="DejaVu Sans"/>
              </a:rPr>
              <a:t>work products +</a:t>
            </a:r>
          </a:p>
          <a:p xmlns:a="http://schemas.openxmlformats.org/drawingml/2006/main">
            <a:pPr algn="l">
              <a:lnSpc>
                <a:spcPct val="100000"/>
              </a:lnSpc>
              <a:buNone/>
              <a:defRPr sz="1275" b="0">
                <a:solidFill>
                  <a:srgbClr val="F4F6F8"/>
                </a:solidFill>
                <a:latin typeface="DejaVu Sans"/>
                <a:ea typeface="DejaVu Sans"/>
                <a:cs typeface="DejaVu Sans"/>
              </a:defRPr>
            </a:pPr>
            <a:r>
              <a:rPr sz="1275" b="0">
                <a:solidFill>
                  <a:srgbClr val="F4F6F8"/>
                </a:solidFill>
                <a:latin typeface="DejaVu Sans"/>
                <a:ea typeface="DejaVu Sans"/>
                <a:cs typeface="DejaVu Sans"/>
              </a:rPr>
              <a:t>evidence classes</a:t>
            </a:r>
          </a:p>
        </p:txBody>
      </p:sp>
      <p:sp>
        <p:nvSpPr>
          <p:cNvPr id="21" name="">
            <a:extLst xmlns:a="http://schemas.openxmlformats.org/drawingml/2006/main">
              <a:ext uri="{FF2B5EF4-FFF2-40B4-BE49-F238E27FC236}">
                <a16:creationId xmlns:a16="http://schemas.microsoft.com/office/drawing/2014/main" id="{2D0B0B1D-3868-4EFC-9325-15E5441333D5}"/>
              </a:ext>
            </a:extLst>
          </p:cNvPr>
          <p:cNvSpPr>
            <a:spLocks xmlns:a="http://schemas.openxmlformats.org/drawingml/2006/main" noGrp="1"/>
          </p:cNvSpPr>
          <p:nvPr/>
        </p:nvSpPr>
        <p:spPr>
          <a:xfrm xmlns:a="http://schemas.openxmlformats.org/drawingml/2006/main">
            <a:off x="4876800" y="4648200"/>
            <a:ext cx="533400" cy="533400"/>
          </a:xfrm>
          <a:prstGeom xmlns:a="http://schemas.openxmlformats.org/drawingml/2006/main" prst="ellipse">
            <a:avLst/>
          </a:prstGeom>
          <a:solidFill xmlns:a="http://schemas.openxmlformats.org/drawingml/2006/main">
            <a:srgbClr val="39D7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204F29A-373C-4ECF-8FBB-0B1864143575}"/>
              </a:ext>
            </a:extLst>
          </p:cNvPr>
          <p:cNvSpPr>
            <a:spLocks xmlns:a="http://schemas.openxmlformats.org/drawingml/2006/main" noGrp="1"/>
          </p:cNvSpPr>
          <p:nvPr/>
        </p:nvSpPr>
        <p:spPr>
          <a:xfrm xmlns:a="http://schemas.openxmlformats.org/drawingml/2006/main">
            <a:off x="4981575" y="475297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5000"/>
              </a:lnSpc>
              <a:buNone/>
              <a:defRPr sz="1350" b="1">
                <a:solidFill>
                  <a:srgbClr val="07090C"/>
                </a:solidFill>
                <a:latin typeface="DejaVu Sans Mono"/>
                <a:ea typeface="DejaVu Sans Mono"/>
                <a:cs typeface="DejaVu Sans Mono"/>
              </a:defRPr>
            </a:pPr>
            <a:r>
              <a:rPr sz="1350" b="1">
                <a:solidFill>
                  <a:srgbClr val="07090C"/>
                </a:solidFill>
                <a:latin typeface="DejaVu Sans Mono"/>
                <a:ea typeface="DejaVu Sans Mono"/>
                <a:cs typeface="DejaVu Sans Mono"/>
              </a:rPr>
              <a:t>3</a:t>
            </a:r>
          </a:p>
        </p:txBody>
      </p:sp>
      <p:sp>
        <p:nvSpPr>
          <p:cNvPr id="23" name="">
            <a:extLst xmlns:a="http://schemas.openxmlformats.org/drawingml/2006/main">
              <a:ext uri="{FF2B5EF4-FFF2-40B4-BE49-F238E27FC236}">
                <a16:creationId xmlns:a16="http://schemas.microsoft.com/office/drawing/2014/main" id="{91501F49-4227-48FC-AB3C-D4164292518C}"/>
              </a:ext>
            </a:extLst>
          </p:cNvPr>
          <p:cNvSpPr>
            <a:spLocks xmlns:a="http://schemas.openxmlformats.org/drawingml/2006/main" noGrp="1"/>
          </p:cNvSpPr>
          <p:nvPr/>
        </p:nvSpPr>
        <p:spPr>
          <a:xfrm xmlns:a="http://schemas.openxmlformats.org/drawingml/2006/main">
            <a:off x="5524500" y="46291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200" b="1">
                <a:solidFill>
                  <a:srgbClr val="39D7FF"/>
                </a:solidFill>
                <a:latin typeface="DejaVu Sans Mono"/>
                <a:ea typeface="DejaVu Sans Mono"/>
                <a:cs typeface="DejaVu Sans Mono"/>
              </a:defRPr>
            </a:pPr>
            <a:r>
              <a:rPr sz="1200" b="1">
                <a:solidFill>
                  <a:srgbClr val="39D7FF"/>
                </a:solidFill>
                <a:latin typeface="DejaVu Sans Mono"/>
                <a:ea typeface="DejaVu Sans Mono"/>
                <a:cs typeface="DejaVu Sans Mono"/>
              </a:rPr>
              <a:t>CONNECT</a:t>
            </a:r>
          </a:p>
        </p:txBody>
      </p:sp>
      <p:sp>
        <p:nvSpPr>
          <p:cNvPr id="24" name="">
            <a:extLst xmlns:a="http://schemas.openxmlformats.org/drawingml/2006/main">
              <a:ext uri="{FF2B5EF4-FFF2-40B4-BE49-F238E27FC236}">
                <a16:creationId xmlns:a16="http://schemas.microsoft.com/office/drawing/2014/main" id="{48EF7869-8365-4521-955A-BAC5CC689325}"/>
              </a:ext>
            </a:extLst>
          </p:cNvPr>
          <p:cNvSpPr>
            <a:spLocks xmlns:a="http://schemas.openxmlformats.org/drawingml/2006/main" noGrp="1"/>
          </p:cNvSpPr>
          <p:nvPr/>
        </p:nvSpPr>
        <p:spPr>
          <a:xfrm xmlns:a="http://schemas.openxmlformats.org/drawingml/2006/main">
            <a:off x="5524500" y="4914900"/>
            <a:ext cx="1752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0">
                <a:solidFill>
                  <a:srgbClr val="F4F6F8"/>
                </a:solidFill>
                <a:latin typeface="DejaVu Sans"/>
                <a:ea typeface="DejaVu Sans"/>
                <a:cs typeface="DejaVu Sans"/>
              </a:defRPr>
            </a:pPr>
            <a:r>
              <a:rPr sz="1275" b="0">
                <a:solidFill>
                  <a:srgbClr val="F4F6F8"/>
                </a:solidFill>
                <a:latin typeface="DejaVu Sans"/>
                <a:ea typeface="DejaVu Sans"/>
                <a:cs typeface="DejaVu Sans"/>
              </a:rPr>
              <a:t>controlled tools +</a:t>
            </a:r>
          </a:p>
          <a:p xmlns:a="http://schemas.openxmlformats.org/drawingml/2006/main">
            <a:pPr algn="l">
              <a:lnSpc>
                <a:spcPct val="100000"/>
              </a:lnSpc>
              <a:buNone/>
              <a:defRPr sz="1275" b="0">
                <a:solidFill>
                  <a:srgbClr val="F4F6F8"/>
                </a:solidFill>
                <a:latin typeface="DejaVu Sans"/>
                <a:ea typeface="DejaVu Sans"/>
                <a:cs typeface="DejaVu Sans"/>
              </a:defRPr>
            </a:pPr>
            <a:r>
              <a:rPr sz="1275" b="0">
                <a:solidFill>
                  <a:srgbClr val="F4F6F8"/>
                </a:solidFill>
                <a:latin typeface="DejaVu Sans"/>
                <a:ea typeface="DejaVu Sans"/>
                <a:cs typeface="DejaVu Sans"/>
              </a:rPr>
              <a:t>mission memory</a:t>
            </a:r>
          </a:p>
        </p:txBody>
      </p:sp>
      <p:sp>
        <p:nvSpPr>
          <p:cNvPr id="25" name="">
            <a:extLst xmlns:a="http://schemas.openxmlformats.org/drawingml/2006/main">
              <a:ext uri="{FF2B5EF4-FFF2-40B4-BE49-F238E27FC236}">
                <a16:creationId xmlns:a16="http://schemas.microsoft.com/office/drawing/2014/main" id="{FBFC5158-9B1F-43F9-AF1D-30B4B7D35ACA}"/>
              </a:ext>
            </a:extLst>
          </p:cNvPr>
          <p:cNvSpPr>
            <a:spLocks xmlns:a="http://schemas.openxmlformats.org/drawingml/2006/main" noGrp="1"/>
          </p:cNvSpPr>
          <p:nvPr/>
        </p:nvSpPr>
        <p:spPr>
          <a:xfrm xmlns:a="http://schemas.openxmlformats.org/drawingml/2006/main">
            <a:off x="7086600" y="3333750"/>
            <a:ext cx="533400" cy="533400"/>
          </a:xfrm>
          <a:prstGeom xmlns:a="http://schemas.openxmlformats.org/drawingml/2006/main" prst="ellipse">
            <a:avLst/>
          </a:prstGeom>
          <a:solidFill xmlns:a="http://schemas.openxmlformats.org/drawingml/2006/main">
            <a:srgbClr val="62D6A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B73FE88-F107-4EF6-9C42-DF185B8B12C5}"/>
              </a:ext>
            </a:extLst>
          </p:cNvPr>
          <p:cNvSpPr>
            <a:spLocks xmlns:a="http://schemas.openxmlformats.org/drawingml/2006/main" noGrp="1"/>
          </p:cNvSpPr>
          <p:nvPr/>
        </p:nvSpPr>
        <p:spPr>
          <a:xfrm xmlns:a="http://schemas.openxmlformats.org/drawingml/2006/main">
            <a:off x="7191375" y="343852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5000"/>
              </a:lnSpc>
              <a:buNone/>
              <a:defRPr sz="1350" b="1">
                <a:solidFill>
                  <a:srgbClr val="07090C"/>
                </a:solidFill>
                <a:latin typeface="DejaVu Sans Mono"/>
                <a:ea typeface="DejaVu Sans Mono"/>
                <a:cs typeface="DejaVu Sans Mono"/>
              </a:defRPr>
            </a:pPr>
            <a:r>
              <a:rPr sz="1350" b="1">
                <a:solidFill>
                  <a:srgbClr val="07090C"/>
                </a:solidFill>
                <a:latin typeface="DejaVu Sans Mono"/>
                <a:ea typeface="DejaVu Sans Mono"/>
                <a:cs typeface="DejaVu Sans Mono"/>
              </a:rPr>
              <a:t>4</a:t>
            </a:r>
          </a:p>
        </p:txBody>
      </p:sp>
      <p:sp>
        <p:nvSpPr>
          <p:cNvPr id="27" name="">
            <a:extLst xmlns:a="http://schemas.openxmlformats.org/drawingml/2006/main">
              <a:ext uri="{FF2B5EF4-FFF2-40B4-BE49-F238E27FC236}">
                <a16:creationId xmlns:a16="http://schemas.microsoft.com/office/drawing/2014/main" id="{C8413C04-B09A-4A6C-B6C2-B550C1829D1A}"/>
              </a:ext>
            </a:extLst>
          </p:cNvPr>
          <p:cNvSpPr>
            <a:spLocks xmlns:a="http://schemas.openxmlformats.org/drawingml/2006/main" noGrp="1"/>
          </p:cNvSpPr>
          <p:nvPr/>
        </p:nvSpPr>
        <p:spPr>
          <a:xfrm xmlns:a="http://schemas.openxmlformats.org/drawingml/2006/main">
            <a:off x="7734300" y="33147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200" b="1">
                <a:solidFill>
                  <a:srgbClr val="62D6A7"/>
                </a:solidFill>
                <a:latin typeface="DejaVu Sans Mono"/>
                <a:ea typeface="DejaVu Sans Mono"/>
                <a:cs typeface="DejaVu Sans Mono"/>
              </a:defRPr>
            </a:pPr>
            <a:r>
              <a:rPr sz="1200" b="1">
                <a:solidFill>
                  <a:srgbClr val="62D6A7"/>
                </a:solidFill>
                <a:latin typeface="DejaVu Sans Mono"/>
                <a:ea typeface="DejaVu Sans Mono"/>
                <a:cs typeface="DejaVu Sans Mono"/>
              </a:rPr>
              <a:t>VALIDATE</a:t>
            </a:r>
          </a:p>
        </p:txBody>
      </p:sp>
      <p:sp>
        <p:nvSpPr>
          <p:cNvPr id="28" name="">
            <a:extLst xmlns:a="http://schemas.openxmlformats.org/drawingml/2006/main">
              <a:ext uri="{FF2B5EF4-FFF2-40B4-BE49-F238E27FC236}">
                <a16:creationId xmlns:a16="http://schemas.microsoft.com/office/drawing/2014/main" id="{0F842581-A859-4828-8FDA-CA25DF5AFBA3}"/>
              </a:ext>
            </a:extLst>
          </p:cNvPr>
          <p:cNvSpPr>
            <a:spLocks xmlns:a="http://schemas.openxmlformats.org/drawingml/2006/main" noGrp="1"/>
          </p:cNvSpPr>
          <p:nvPr/>
        </p:nvSpPr>
        <p:spPr>
          <a:xfrm xmlns:a="http://schemas.openxmlformats.org/drawingml/2006/main">
            <a:off x="7734300" y="3600450"/>
            <a:ext cx="1752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0">
                <a:solidFill>
                  <a:srgbClr val="F4F6F8"/>
                </a:solidFill>
                <a:latin typeface="DejaVu Sans"/>
                <a:ea typeface="DejaVu Sans"/>
                <a:cs typeface="DejaVu Sans"/>
              </a:defRPr>
            </a:pPr>
            <a:r>
              <a:rPr sz="1275" b="0">
                <a:solidFill>
                  <a:srgbClr val="F4F6F8"/>
                </a:solidFill>
                <a:latin typeface="DejaVu Sans"/>
                <a:ea typeface="DejaVu Sans"/>
                <a:cs typeface="DejaVu Sans"/>
              </a:rPr>
              <a:t>expert baseline +</a:t>
            </a:r>
          </a:p>
          <a:p xmlns:a="http://schemas.openxmlformats.org/drawingml/2006/main">
            <a:pPr algn="l">
              <a:lnSpc>
                <a:spcPct val="100000"/>
              </a:lnSpc>
              <a:buNone/>
              <a:defRPr sz="1275" b="0">
                <a:solidFill>
                  <a:srgbClr val="F4F6F8"/>
                </a:solidFill>
                <a:latin typeface="DejaVu Sans"/>
                <a:ea typeface="DejaVu Sans"/>
                <a:cs typeface="DejaVu Sans"/>
              </a:defRPr>
            </a:pPr>
            <a:r>
              <a:rPr sz="1275" b="0">
                <a:solidFill>
                  <a:srgbClr val="F4F6F8"/>
                </a:solidFill>
                <a:latin typeface="DejaVu Sans"/>
                <a:ea typeface="DejaVu Sans"/>
                <a:cs typeface="DejaVu Sans"/>
              </a:rPr>
              <a:t>failed cases</a:t>
            </a:r>
          </a:p>
        </p:txBody>
      </p:sp>
      <p:sp>
        <p:nvSpPr>
          <p:cNvPr id="29" name="">
            <a:extLst xmlns:a="http://schemas.openxmlformats.org/drawingml/2006/main">
              <a:ext uri="{FF2B5EF4-FFF2-40B4-BE49-F238E27FC236}">
                <a16:creationId xmlns:a16="http://schemas.microsoft.com/office/drawing/2014/main" id="{8CE5998E-C063-4F95-9612-C1BBC88216EF}"/>
              </a:ext>
            </a:extLst>
          </p:cNvPr>
          <p:cNvSpPr>
            <a:spLocks xmlns:a="http://schemas.openxmlformats.org/drawingml/2006/main" noGrp="1"/>
          </p:cNvSpPr>
          <p:nvPr/>
        </p:nvSpPr>
        <p:spPr>
          <a:xfrm xmlns:a="http://schemas.openxmlformats.org/drawingml/2006/main">
            <a:off x="9582150" y="2400300"/>
            <a:ext cx="533400" cy="533400"/>
          </a:xfrm>
          <a:prstGeom xmlns:a="http://schemas.openxmlformats.org/drawingml/2006/main" prst="ellipse">
            <a:avLst/>
          </a:prstGeom>
          <a:solidFill xmlns:a="http://schemas.openxmlformats.org/drawingml/2006/main">
            <a:srgbClr val="FFC85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AF6DD4F6-3422-4707-8D44-C76A6357B5D2}"/>
              </a:ext>
            </a:extLst>
          </p:cNvPr>
          <p:cNvSpPr>
            <a:spLocks xmlns:a="http://schemas.openxmlformats.org/drawingml/2006/main" noGrp="1"/>
          </p:cNvSpPr>
          <p:nvPr/>
        </p:nvSpPr>
        <p:spPr>
          <a:xfrm xmlns:a="http://schemas.openxmlformats.org/drawingml/2006/main">
            <a:off x="9686925" y="250507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95000"/>
              </a:lnSpc>
              <a:buNone/>
              <a:defRPr sz="1350" b="1">
                <a:solidFill>
                  <a:srgbClr val="07090C"/>
                </a:solidFill>
                <a:latin typeface="DejaVu Sans Mono"/>
                <a:ea typeface="DejaVu Sans Mono"/>
                <a:cs typeface="DejaVu Sans Mono"/>
              </a:defRPr>
            </a:pPr>
            <a:r>
              <a:rPr sz="1350" b="1">
                <a:solidFill>
                  <a:srgbClr val="07090C"/>
                </a:solidFill>
                <a:latin typeface="DejaVu Sans Mono"/>
                <a:ea typeface="DejaVu Sans Mono"/>
                <a:cs typeface="DejaVu Sans Mono"/>
              </a:rPr>
              <a:t>5</a:t>
            </a:r>
          </a:p>
        </p:txBody>
      </p:sp>
      <p:sp>
        <p:nvSpPr>
          <p:cNvPr id="31" name="">
            <a:extLst xmlns:a="http://schemas.openxmlformats.org/drawingml/2006/main">
              <a:ext uri="{FF2B5EF4-FFF2-40B4-BE49-F238E27FC236}">
                <a16:creationId xmlns:a16="http://schemas.microsoft.com/office/drawing/2014/main" id="{369F1552-F626-4671-97E9-CA8376AF2583}"/>
              </a:ext>
            </a:extLst>
          </p:cNvPr>
          <p:cNvSpPr>
            <a:spLocks xmlns:a="http://schemas.openxmlformats.org/drawingml/2006/main" noGrp="1"/>
          </p:cNvSpPr>
          <p:nvPr/>
        </p:nvSpPr>
        <p:spPr>
          <a:xfrm xmlns:a="http://schemas.openxmlformats.org/drawingml/2006/main">
            <a:off x="10229850" y="23812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200" b="1">
                <a:solidFill>
                  <a:srgbClr val="FFC857"/>
                </a:solidFill>
                <a:latin typeface="DejaVu Sans Mono"/>
                <a:ea typeface="DejaVu Sans Mono"/>
                <a:cs typeface="DejaVu Sans Mono"/>
              </a:defRPr>
            </a:pPr>
            <a:r>
              <a:rPr sz="1200" b="1">
                <a:solidFill>
                  <a:srgbClr val="FFC857"/>
                </a:solidFill>
                <a:latin typeface="DejaVu Sans Mono"/>
                <a:ea typeface="DejaVu Sans Mono"/>
                <a:cs typeface="DejaVu Sans Mono"/>
              </a:rPr>
              <a:t>SCALE</a:t>
            </a:r>
          </a:p>
        </p:txBody>
      </p:sp>
      <p:sp>
        <p:nvSpPr>
          <p:cNvPr id="32" name="">
            <a:extLst xmlns:a="http://schemas.openxmlformats.org/drawingml/2006/main">
              <a:ext uri="{FF2B5EF4-FFF2-40B4-BE49-F238E27FC236}">
                <a16:creationId xmlns:a16="http://schemas.microsoft.com/office/drawing/2014/main" id="{5187AEA8-7F6A-4DE4-AA53-7F9E1416696E}"/>
              </a:ext>
            </a:extLst>
          </p:cNvPr>
          <p:cNvSpPr>
            <a:spLocks xmlns:a="http://schemas.openxmlformats.org/drawingml/2006/main" noGrp="1"/>
          </p:cNvSpPr>
          <p:nvPr/>
        </p:nvSpPr>
        <p:spPr>
          <a:xfrm xmlns:a="http://schemas.openxmlformats.org/drawingml/2006/main">
            <a:off x="10229850" y="2667000"/>
            <a:ext cx="1752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0">
                <a:solidFill>
                  <a:srgbClr val="F4F6F8"/>
                </a:solidFill>
                <a:latin typeface="DejaVu Sans"/>
                <a:ea typeface="DejaVu Sans"/>
                <a:cs typeface="DejaVu Sans"/>
              </a:defRPr>
            </a:pPr>
            <a:r>
              <a:rPr sz="1275" b="0">
                <a:solidFill>
                  <a:srgbClr val="F4F6F8"/>
                </a:solidFill>
                <a:latin typeface="DejaVu Sans"/>
                <a:ea typeface="DejaVu Sans"/>
                <a:cs typeface="DejaVu Sans"/>
              </a:rPr>
              <a:t>only after the loop</a:t>
            </a:r>
          </a:p>
          <a:p xmlns:a="http://schemas.openxmlformats.org/drawingml/2006/main">
            <a:pPr algn="l">
              <a:lnSpc>
                <a:spcPct val="100000"/>
              </a:lnSpc>
              <a:buNone/>
              <a:defRPr sz="1275" b="0">
                <a:solidFill>
                  <a:srgbClr val="F4F6F8"/>
                </a:solidFill>
                <a:latin typeface="DejaVu Sans"/>
                <a:ea typeface="DejaVu Sans"/>
                <a:cs typeface="DejaVu Sans"/>
              </a:defRPr>
            </a:pPr>
            <a:r>
              <a:rPr sz="1275" b="0">
                <a:solidFill>
                  <a:srgbClr val="F4F6F8"/>
                </a:solidFill>
                <a:latin typeface="DejaVu Sans"/>
                <a:ea typeface="DejaVu Sans"/>
                <a:cs typeface="DejaVu Sans"/>
              </a:rPr>
              <a:t>survives pressure</a:t>
            </a:r>
          </a:p>
        </p:txBody>
      </p:sp>
      <p:sp>
        <p:nvSpPr>
          <p:cNvPr id="33" name="">
            <a:extLst xmlns:a="http://schemas.openxmlformats.org/drawingml/2006/main">
              <a:ext uri="{FF2B5EF4-FFF2-40B4-BE49-F238E27FC236}">
                <a16:creationId xmlns:a16="http://schemas.microsoft.com/office/drawing/2014/main" id="{47F3DD03-0B00-4343-8D6A-F3002CB09CCA}"/>
              </a:ext>
            </a:extLst>
          </p:cNvPr>
          <p:cNvSpPr>
            <a:spLocks xmlns:a="http://schemas.openxmlformats.org/drawingml/2006/main" noGrp="1"/>
          </p:cNvSpPr>
          <p:nvPr/>
        </p:nvSpPr>
        <p:spPr>
          <a:xfrm xmlns:a="http://schemas.openxmlformats.org/drawingml/2006/main">
            <a:off x="685800" y="2171700"/>
            <a:ext cx="4191000" cy="1143000"/>
          </a:xfrm>
          <a:prstGeom xmlns:a="http://schemas.openxmlformats.org/drawingml/2006/main" prst="roundRect">
            <a:avLst>
              <a:gd name="adj" fmla="val 15000"/>
            </a:avLst>
          </a:prstGeom>
          <a:solidFill xmlns:a="http://schemas.openxmlformats.org/drawingml/2006/main">
            <a:srgbClr val="10161B"/>
          </a:solidFill>
          <a:ln xmlns:a="http://schemas.openxmlformats.org/drawingml/2006/main" w="11430">
            <a:solidFill>
              <a:srgbClr val="35414B"/>
            </a:solidFill>
            <a:prstDash val="solid"/>
          </a:ln>
        </p:spPr>
      </p:sp>
      <p:sp>
        <p:nvSpPr>
          <p:cNvPr id="34" name="">
            <a:extLst xmlns:a="http://schemas.openxmlformats.org/drawingml/2006/main">
              <a:ext uri="{FF2B5EF4-FFF2-40B4-BE49-F238E27FC236}">
                <a16:creationId xmlns:a16="http://schemas.microsoft.com/office/drawing/2014/main" id="{8E84775B-B5EA-4932-B435-E47B6C2264A4}"/>
              </a:ext>
            </a:extLst>
          </p:cNvPr>
          <p:cNvSpPr>
            <a:spLocks xmlns:a="http://schemas.openxmlformats.org/drawingml/2006/main" noGrp="1"/>
          </p:cNvSpPr>
          <p:nvPr/>
        </p:nvSpPr>
        <p:spPr>
          <a:xfrm xmlns:a="http://schemas.openxmlformats.org/drawingml/2006/main">
            <a:off x="914400" y="238125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975" b="1">
                <a:solidFill>
                  <a:srgbClr val="F26B38"/>
                </a:solidFill>
                <a:latin typeface="DejaVu Sans Mono"/>
                <a:ea typeface="DejaVu Sans Mono"/>
                <a:cs typeface="DejaVu Sans Mono"/>
              </a:defRPr>
            </a:pPr>
            <a:r>
              <a:rPr sz="975" b="1">
                <a:solidFill>
                  <a:srgbClr val="F26B38"/>
                </a:solidFill>
                <a:latin typeface="DejaVu Sans Mono"/>
                <a:ea typeface="DejaVu Sans Mono"/>
                <a:cs typeface="DejaVu Sans Mono"/>
              </a:rPr>
              <a:t>FIRST WIN</a:t>
            </a:r>
          </a:p>
        </p:txBody>
      </p:sp>
      <p:sp>
        <p:nvSpPr>
          <p:cNvPr id="35" name="">
            <a:extLst xmlns:a="http://schemas.openxmlformats.org/drawingml/2006/main">
              <a:ext uri="{FF2B5EF4-FFF2-40B4-BE49-F238E27FC236}">
                <a16:creationId xmlns:a16="http://schemas.microsoft.com/office/drawing/2014/main" id="{C2D1DA3F-DA24-49AE-A16A-EFF91DD059DE}"/>
              </a:ext>
            </a:extLst>
          </p:cNvPr>
          <p:cNvSpPr>
            <a:spLocks xmlns:a="http://schemas.openxmlformats.org/drawingml/2006/main" noGrp="1"/>
          </p:cNvSpPr>
          <p:nvPr/>
        </p:nvSpPr>
        <p:spPr>
          <a:xfrm xmlns:a="http://schemas.openxmlformats.org/drawingml/2006/main">
            <a:off x="914400" y="2686050"/>
            <a:ext cx="3600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F4F6F8"/>
                </a:solidFill>
                <a:latin typeface="DejaVu Sans"/>
                <a:ea typeface="DejaVu Sans"/>
                <a:cs typeface="DejaVu Sans"/>
              </a:defRPr>
            </a:pPr>
            <a:r>
              <a:rPr sz="1650" b="1">
                <a:solidFill>
                  <a:srgbClr val="F4F6F8"/>
                </a:solidFill>
                <a:latin typeface="DejaVu Sans"/>
                <a:ea typeface="DejaVu Sans"/>
                <a:cs typeface="DejaVu Sans"/>
              </a:rPr>
              <a:t>One high-value learning loop</a:t>
            </a:r>
          </a:p>
          <a:p xmlns:a="http://schemas.openxmlformats.org/drawingml/2006/main">
            <a:pPr algn="l">
              <a:lnSpc>
                <a:spcPct val="100000"/>
              </a:lnSpc>
              <a:buNone/>
              <a:defRPr sz="1650" b="1">
                <a:solidFill>
                  <a:srgbClr val="F4F6F8"/>
                </a:solidFill>
                <a:latin typeface="DejaVu Sans"/>
                <a:ea typeface="DejaVu Sans"/>
                <a:cs typeface="DejaVu Sans"/>
              </a:defRPr>
            </a:pPr>
            <a:r>
              <a:rPr sz="1650" b="1">
                <a:solidFill>
                  <a:srgbClr val="F4F6F8"/>
                </a:solidFill>
                <a:latin typeface="DejaVu Sans"/>
                <a:ea typeface="DejaVu Sans"/>
                <a:cs typeface="DejaVu Sans"/>
              </a:rPr>
              <a:t>with evidence that survives review.</a:t>
            </a:r>
          </a:p>
        </p:txBody>
      </p:sp>
      <p:sp>
        <p:nvSpPr>
          <p:cNvPr id="36" name="">
            <a:extLst xmlns:a="http://schemas.openxmlformats.org/drawingml/2006/main">
              <a:ext uri="{FF2B5EF4-FFF2-40B4-BE49-F238E27FC236}">
                <a16:creationId xmlns:a16="http://schemas.microsoft.com/office/drawing/2014/main" id="{E85B7B48-C069-42BE-B979-DD8F69E440C0}"/>
              </a:ext>
            </a:extLst>
          </p:cNvPr>
          <p:cNvSpPr>
            <a:spLocks xmlns:a="http://schemas.openxmlformats.org/drawingml/2006/main" noGrp="1"/>
          </p:cNvSpPr>
          <p:nvPr/>
        </p:nvSpPr>
        <p:spPr>
          <a:xfrm xmlns:a="http://schemas.openxmlformats.org/drawingml/2006/main">
            <a:off x="6800850" y="5219700"/>
            <a:ext cx="4762500" cy="762000"/>
          </a:xfrm>
          <a:prstGeom xmlns:a="http://schemas.openxmlformats.org/drawingml/2006/main" prst="roundRect">
            <a:avLst>
              <a:gd name="adj" fmla="val 17500"/>
            </a:avLst>
          </a:prstGeom>
          <a:solidFill xmlns:a="http://schemas.openxmlformats.org/drawingml/2006/main">
            <a:srgbClr val="0F1519"/>
          </a:solidFill>
          <a:ln xmlns:a="http://schemas.openxmlformats.org/drawingml/2006/main" w="9525">
            <a:solidFill>
              <a:srgbClr val="35414B"/>
            </a:solidFill>
            <a:prstDash val="solid"/>
          </a:ln>
        </p:spPr>
      </p:sp>
      <p:sp>
        <p:nvSpPr>
          <p:cNvPr id="37" name="">
            <a:extLst xmlns:a="http://schemas.openxmlformats.org/drawingml/2006/main">
              <a:ext uri="{FF2B5EF4-FFF2-40B4-BE49-F238E27FC236}">
                <a16:creationId xmlns:a16="http://schemas.microsoft.com/office/drawing/2014/main" id="{D54ECD88-75B2-4D61-8A50-BF9ED451A04C}"/>
              </a:ext>
            </a:extLst>
          </p:cNvPr>
          <p:cNvSpPr>
            <a:spLocks xmlns:a="http://schemas.openxmlformats.org/drawingml/2006/main" noGrp="1"/>
          </p:cNvSpPr>
          <p:nvPr/>
        </p:nvSpPr>
        <p:spPr>
          <a:xfrm xmlns:a="http://schemas.openxmlformats.org/drawingml/2006/main">
            <a:off x="7029450" y="5467350"/>
            <a:ext cx="430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5000"/>
              </a:lnSpc>
              <a:buNone/>
              <a:defRPr sz="975" b="1">
                <a:solidFill>
                  <a:srgbClr val="39D7FF"/>
                </a:solidFill>
                <a:latin typeface="DejaVu Sans Mono"/>
                <a:ea typeface="DejaVu Sans Mono"/>
                <a:cs typeface="DejaVu Sans Mono"/>
              </a:defRPr>
            </a:pPr>
            <a:r>
              <a:rPr sz="975" b="1">
                <a:solidFill>
                  <a:srgbClr val="39D7FF"/>
                </a:solidFill>
                <a:latin typeface="DejaVu Sans Mono"/>
                <a:ea typeface="DejaVu Sans Mono"/>
                <a:cs typeface="DejaVu Sans Mono"/>
              </a:rPr>
              <a:t>CHATBOT  →  AGENT  →  HARNESS  →  ECOSYSTEM  →  LEARNING ORG</a:t>
            </a:r>
          </a:p>
        </p:txBody>
      </p:sp>
      <p:sp>
        <p:nvSpPr>
          <p:cNvPr id="38" name="">
            <a:extLst xmlns:a="http://schemas.openxmlformats.org/drawingml/2006/main">
              <a:ext uri="{FF2B5EF4-FFF2-40B4-BE49-F238E27FC236}">
                <a16:creationId xmlns:a16="http://schemas.microsoft.com/office/drawing/2014/main" id="{35A2DD93-B12F-497B-A7BE-6E0A27090000}"/>
              </a:ext>
            </a:extLst>
          </p:cNvPr>
          <p:cNvSpPr>
            <a:spLocks xmlns:a="http://schemas.openxmlformats.org/drawingml/2006/main" noGrp="1"/>
          </p:cNvSpPr>
          <p:nvPr/>
        </p:nvSpPr>
        <p:spPr>
          <a:xfrm xmlns:a="http://schemas.openxmlformats.org/drawingml/2006/main">
            <a:off x="0" y="6400800"/>
            <a:ext cx="12192000" cy="457200"/>
          </a:xfrm>
          <a:prstGeom xmlns:a="http://schemas.openxmlformats.org/drawingml/2006/main" prst="rect">
            <a:avLst/>
          </a:prstGeom>
          <a:solidFill xmlns:a="http://schemas.openxmlformats.org/drawingml/2006/main">
            <a:srgbClr val="07090C">
              <a:alpha val="76000"/>
            </a:srgbClr>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717F724D-772E-46F5-8B0F-F4D8D5616846}"/>
              </a:ext>
            </a:extLst>
          </p:cNvPr>
          <p:cNvSpPr>
            <a:spLocks xmlns:a="http://schemas.openxmlformats.org/drawingml/2006/main" noGrp="1"/>
          </p:cNvSpPr>
          <p:nvPr/>
        </p:nvSpPr>
        <p:spPr>
          <a:xfrm xmlns:a="http://schemas.openxmlformats.org/drawingml/2006/main">
            <a:off x="609600" y="6553200"/>
            <a:ext cx="6858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MARS SOCIETY 2026  •  HARNESSED AGENTIC SCIENCE + ENGINEERING</a:t>
            </a:r>
          </a:p>
        </p:txBody>
      </p:sp>
      <p:sp>
        <p:nvSpPr>
          <p:cNvPr id="40" name="">
            <a:extLst xmlns:a="http://schemas.openxmlformats.org/drawingml/2006/main">
              <a:ext uri="{FF2B5EF4-FFF2-40B4-BE49-F238E27FC236}">
                <a16:creationId xmlns:a16="http://schemas.microsoft.com/office/drawing/2014/main" id="{D994E301-D4AE-4DDE-8126-85C8AD5DCC40}"/>
              </a:ext>
            </a:extLst>
          </p:cNvPr>
          <p:cNvSpPr>
            <a:spLocks xmlns:a="http://schemas.openxmlformats.org/drawingml/2006/main" noGrp="1"/>
          </p:cNvSpPr>
          <p:nvPr/>
        </p:nvSpPr>
        <p:spPr>
          <a:xfrm xmlns:a="http://schemas.openxmlformats.org/drawingml/2006/main">
            <a:off x="9525000" y="6553200"/>
            <a:ext cx="2057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BOB J MILLS     19</a:t>
            </a:r>
          </a:p>
        </p:txBody>
      </p:sp>
    </p:spTree>
    <p:extLst>
      <p:ext uri="{BB962C8B-B14F-4D97-AF65-F5344CB8AC3E}">
        <p14:creationId xmlns:p14="http://schemas.microsoft.com/office/powerpoint/2010/main" val="1611646966"/>
      </p:ext>
    </p:extLst>
  </p:cSld>
</p:sld>
</file>

<file path=ppt/slides/slide20.xml><?xml version="1.0" encoding="utf-8"?>
<p:sld xmlns:p="http://schemas.openxmlformats.org/presentationml/2006/main">
  <p:cSld>
    <p:bg>
      <p:bgPr>
        <a:solidFill xmlns:a="http://schemas.openxmlformats.org/drawingml/2006/main">
          <a:srgbClr val="07090C"/>
        </a:solidFill>
      </p:bgPr>
    </p:bg>
    <p:spTree>
      <p:nvGrpSpPr>
        <p:cNvPr id="1" name=""/>
        <p:cNvGrpSpPr/>
        <p:nvPr/>
      </p:nvGrpSpPr>
      <p:grpSpPr>
        <a:xfrm xmlns:a="http://schemas.openxmlformats.org/drawingml/2006/main"/>
      </p:grpSpPr>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4a12e2ba53924c9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0442940-439B-4DA1-9667-04595EA7A30C}"/>
              </a:ext>
            </a:extLst>
          </p:cNvPr>
          <p:cNvSpPr>
            <a:spLocks xmlns:a="http://schemas.openxmlformats.org/drawingml/2006/main" noGrp="1"/>
          </p:cNvSpPr>
          <p:nvPr/>
        </p:nvSpPr>
        <p:spPr>
          <a:xfrm xmlns:a="http://schemas.openxmlformats.org/drawingml/2006/main">
            <a:off x="0" y="0"/>
            <a:ext cx="8858250" cy="6858000"/>
          </a:xfrm>
          <a:prstGeom xmlns:a="http://schemas.openxmlformats.org/drawingml/2006/main" prst="rect">
            <a:avLst/>
          </a:prstGeom>
          <a:gradFill xmlns:a="http://schemas.openxmlformats.org/drawingml/2006/main">
            <a:gsLst>
              <a:gs pos="0">
                <a:srgbClr val="07090C"/>
              </a:gs>
              <a:gs pos="60000">
                <a:srgbClr val="07090C">
                  <a:alpha val="97000"/>
                </a:srgbClr>
              </a:gs>
              <a:gs pos="100000">
                <a:srgbClr val="07090C">
                  <a:alpha val="0"/>
                </a:srgbClr>
              </a:gs>
            </a:gsLst>
            <a:lin ang="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4D20AB2-ED38-4E04-A9DA-82A75170BF08}"/>
              </a:ext>
            </a:extLst>
          </p:cNvPr>
          <p:cNvSpPr>
            <a:spLocks xmlns:a="http://schemas.openxmlformats.org/drawingml/2006/main" noGrp="1"/>
          </p:cNvSpPr>
          <p:nvPr/>
        </p:nvSpPr>
        <p:spPr>
          <a:xfrm xmlns:a="http://schemas.openxmlformats.org/drawingml/2006/main">
            <a:off x="609600" y="40005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975" b="1">
                <a:solidFill>
                  <a:srgbClr val="F26B38"/>
                </a:solidFill>
                <a:latin typeface="DejaVu Sans Mono"/>
                <a:ea typeface="DejaVu Sans Mono"/>
                <a:cs typeface="DejaVu Sans Mono"/>
              </a:defRPr>
            </a:pPr>
            <a:r>
              <a:rPr sz="975" b="1">
                <a:solidFill>
                  <a:srgbClr val="F26B38"/>
                </a:solidFill>
                <a:latin typeface="DejaVu Sans Mono"/>
                <a:ea typeface="DejaVu Sans Mono"/>
                <a:cs typeface="DejaVu Sans Mono"/>
              </a:rPr>
              <a:t>20  /  CALL TO ACTION</a:t>
            </a:r>
          </a:p>
        </p:txBody>
      </p:sp>
      <p:sp>
        <p:nvSpPr>
          <p:cNvPr id="4" name="">
            <a:extLst xmlns:a="http://schemas.openxmlformats.org/drawingml/2006/main">
              <a:ext uri="{FF2B5EF4-FFF2-40B4-BE49-F238E27FC236}">
                <a16:creationId xmlns:a16="http://schemas.microsoft.com/office/drawing/2014/main" id="{AAB6B8E1-2334-4138-8458-843E616069BB}"/>
              </a:ext>
            </a:extLst>
          </p:cNvPr>
          <p:cNvSpPr>
            <a:spLocks xmlns:a="http://schemas.openxmlformats.org/drawingml/2006/main" noGrp="1"/>
          </p:cNvSpPr>
          <p:nvPr/>
        </p:nvSpPr>
        <p:spPr>
          <a:xfrm xmlns:a="http://schemas.openxmlformats.org/drawingml/2006/main">
            <a:off x="609600" y="1123950"/>
            <a:ext cx="666750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86000"/>
              </a:lnSpc>
              <a:buNone/>
              <a:defRPr sz="4200" b="1">
                <a:solidFill>
                  <a:srgbClr val="F4F6F8"/>
                </a:solidFill>
                <a:latin typeface="DejaVu Sans"/>
                <a:ea typeface="DejaVu Sans"/>
                <a:cs typeface="DejaVu Sans"/>
              </a:defRPr>
            </a:pPr>
            <a:r>
              <a:rPr sz="4200" b="1">
                <a:solidFill>
                  <a:srgbClr val="F4F6F8"/>
                </a:solidFill>
                <a:latin typeface="DejaVu Sans"/>
                <a:ea typeface="DejaVu Sans"/>
                <a:cs typeface="DejaVu Sans"/>
              </a:rPr>
              <a:t>MAKE ENGINEERING</a:t>
            </a:r>
          </a:p>
          <a:p xmlns:a="http://schemas.openxmlformats.org/drawingml/2006/main">
            <a:pPr algn="l">
              <a:lnSpc>
                <a:spcPct val="86000"/>
              </a:lnSpc>
              <a:buNone/>
              <a:defRPr sz="4200" b="1">
                <a:solidFill>
                  <a:srgbClr val="F4F6F8"/>
                </a:solidFill>
                <a:latin typeface="DejaVu Sans"/>
                <a:ea typeface="DejaVu Sans"/>
                <a:cs typeface="DejaVu Sans"/>
              </a:defRPr>
            </a:pPr>
            <a:r>
              <a:rPr sz="4200" b="1">
                <a:solidFill>
                  <a:srgbClr val="F4F6F8"/>
                </a:solidFill>
                <a:latin typeface="DejaVu Sans"/>
                <a:ea typeface="DejaVu Sans"/>
                <a:cs typeface="DejaVu Sans"/>
              </a:rPr>
              <a:t>A LEARNING SYSTEM</a:t>
            </a:r>
          </a:p>
        </p:txBody>
      </p:sp>
      <p:sp>
        <p:nvSpPr>
          <p:cNvPr id="5" name="">
            <a:extLst xmlns:a="http://schemas.openxmlformats.org/drawingml/2006/main">
              <a:ext uri="{FF2B5EF4-FFF2-40B4-BE49-F238E27FC236}">
                <a16:creationId xmlns:a16="http://schemas.microsoft.com/office/drawing/2014/main" id="{40ABF4AE-FC12-49BD-951B-5ACC5D69AA34}"/>
              </a:ext>
            </a:extLst>
          </p:cNvPr>
          <p:cNvSpPr>
            <a:spLocks xmlns:a="http://schemas.openxmlformats.org/drawingml/2006/main" noGrp="1"/>
          </p:cNvSpPr>
          <p:nvPr/>
        </p:nvSpPr>
        <p:spPr>
          <a:xfrm xmlns:a="http://schemas.openxmlformats.org/drawingml/2006/main">
            <a:off x="647700" y="2857500"/>
            <a:ext cx="590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0">
                <a:solidFill>
                  <a:srgbClr val="D8DEE3"/>
                </a:solidFill>
                <a:latin typeface="DejaVu Sans"/>
                <a:ea typeface="DejaVu Sans"/>
                <a:cs typeface="DejaVu Sans"/>
              </a:defRPr>
            </a:pPr>
            <a:r>
              <a:rPr sz="1725" b="0">
                <a:solidFill>
                  <a:srgbClr val="D8DEE3"/>
                </a:solidFill>
                <a:latin typeface="DejaVu Sans"/>
                <a:ea typeface="DejaVu Sans"/>
                <a:cs typeface="DejaVu Sans"/>
              </a:rPr>
              <a:t>Mars will reward teams that learn faster without losing discipline.</a:t>
            </a:r>
          </a:p>
        </p:txBody>
      </p:sp>
      <p:sp>
        <p:nvSpPr>
          <p:cNvPr id="6" name="">
            <a:extLst xmlns:a="http://schemas.openxmlformats.org/drawingml/2006/main">
              <a:ext uri="{FF2B5EF4-FFF2-40B4-BE49-F238E27FC236}">
                <a16:creationId xmlns:a16="http://schemas.microsoft.com/office/drawing/2014/main" id="{E4556C43-632B-477E-898F-C63D9D2F8075}"/>
              </a:ext>
            </a:extLst>
          </p:cNvPr>
          <p:cNvSpPr>
            <a:spLocks xmlns:a="http://schemas.openxmlformats.org/drawingml/2006/main" noGrp="1"/>
          </p:cNvSpPr>
          <p:nvPr/>
        </p:nvSpPr>
        <p:spPr>
          <a:xfrm xmlns:a="http://schemas.openxmlformats.org/drawingml/2006/main">
            <a:off x="742950" y="4038600"/>
            <a:ext cx="1485900" cy="533400"/>
          </a:xfrm>
          <a:prstGeom xmlns:a="http://schemas.openxmlformats.org/drawingml/2006/main" prst="roundRect">
            <a:avLst>
              <a:gd name="adj" fmla="val 28571"/>
            </a:avLst>
          </a:prstGeom>
          <a:solidFill xmlns:a="http://schemas.openxmlformats.org/drawingml/2006/main">
            <a:srgbClr val="0D1216">
              <a:alpha val="94000"/>
            </a:srgbClr>
          </a:solidFill>
          <a:ln xmlns:a="http://schemas.openxmlformats.org/drawingml/2006/main" w="14288">
            <a:solidFill>
              <a:srgbClr val="39D7FF"/>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125" b="1">
                <a:solidFill>
                  <a:srgbClr val="39D7FF"/>
                </a:solidFill>
                <a:latin typeface="DejaVu Sans Mono"/>
                <a:ea typeface="DejaVu Sans Mono"/>
                <a:cs typeface="DejaVu Sans Mono"/>
              </a:defRPr>
            </a:pPr>
            <a:r>
              <a:rPr sz="1125" b="1">
                <a:solidFill>
                  <a:srgbClr val="39D7FF"/>
                </a:solidFill>
                <a:latin typeface="DejaVu Sans Mono"/>
                <a:ea typeface="DejaVu Sans Mono"/>
                <a:cs typeface="DejaVu Sans Mono"/>
              </a:rPr>
              <a:t>SCIENCE</a:t>
            </a:r>
          </a:p>
        </p:txBody>
      </p:sp>
      <p:sp>
        <p:nvSpPr>
          <p:cNvPr id="7" name="">
            <a:extLst xmlns:a="http://schemas.openxmlformats.org/drawingml/2006/main">
              <a:ext uri="{FF2B5EF4-FFF2-40B4-BE49-F238E27FC236}">
                <a16:creationId xmlns:a16="http://schemas.microsoft.com/office/drawing/2014/main" id="{EF19FF5D-4BAB-4848-8365-BBF53856A8FC}"/>
              </a:ext>
            </a:extLst>
          </p:cNvPr>
          <p:cNvSpPr>
            <a:spLocks xmlns:a="http://schemas.openxmlformats.org/drawingml/2006/main" noGrp="1"/>
          </p:cNvSpPr>
          <p:nvPr/>
        </p:nvSpPr>
        <p:spPr>
          <a:xfrm xmlns:a="http://schemas.openxmlformats.org/drawingml/2006/main" rot="0">
            <a:off x="2286000" y="4229100"/>
            <a:ext cx="685800" cy="152400"/>
          </a:xfrm>
          <a:prstGeom xmlns:a="http://schemas.openxmlformats.org/drawingml/2006/main" prst="rightArrow">
            <a:avLst/>
          </a:prstGeom>
          <a:solidFill xmlns:a="http://schemas.openxmlformats.org/drawingml/2006/main">
            <a:srgbClr val="39D7FF">
              <a:alpha val="65000"/>
            </a:srgbClr>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B3434EA-4A13-4F7C-90BE-A2E5251AA7BB}"/>
              </a:ext>
            </a:extLst>
          </p:cNvPr>
          <p:cNvSpPr>
            <a:spLocks xmlns:a="http://schemas.openxmlformats.org/drawingml/2006/main" noGrp="1"/>
          </p:cNvSpPr>
          <p:nvPr/>
        </p:nvSpPr>
        <p:spPr>
          <a:xfrm xmlns:a="http://schemas.openxmlformats.org/drawingml/2006/main">
            <a:off x="2400300" y="4038600"/>
            <a:ext cx="1485900" cy="533400"/>
          </a:xfrm>
          <a:prstGeom xmlns:a="http://schemas.openxmlformats.org/drawingml/2006/main" prst="roundRect">
            <a:avLst>
              <a:gd name="adj" fmla="val 28571"/>
            </a:avLst>
          </a:prstGeom>
          <a:solidFill xmlns:a="http://schemas.openxmlformats.org/drawingml/2006/main">
            <a:srgbClr val="0D1216">
              <a:alpha val="94000"/>
            </a:srgbClr>
          </a:solidFill>
          <a:ln xmlns:a="http://schemas.openxmlformats.org/drawingml/2006/main" w="14288">
            <a:solidFill>
              <a:srgbClr val="F26B38"/>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125" b="1">
                <a:solidFill>
                  <a:srgbClr val="F26B38"/>
                </a:solidFill>
                <a:latin typeface="DejaVu Sans Mono"/>
                <a:ea typeface="DejaVu Sans Mono"/>
                <a:cs typeface="DejaVu Sans Mono"/>
              </a:defRPr>
            </a:pPr>
            <a:r>
              <a:rPr sz="1125" b="1">
                <a:solidFill>
                  <a:srgbClr val="F26B38"/>
                </a:solidFill>
                <a:latin typeface="DejaVu Sans Mono"/>
                <a:ea typeface="DejaVu Sans Mono"/>
                <a:cs typeface="DejaVu Sans Mono"/>
              </a:rPr>
              <a:t>ENGINEERING</a:t>
            </a:r>
          </a:p>
        </p:txBody>
      </p:sp>
      <p:sp>
        <p:nvSpPr>
          <p:cNvPr id="9" name="">
            <a:extLst xmlns:a="http://schemas.openxmlformats.org/drawingml/2006/main">
              <a:ext uri="{FF2B5EF4-FFF2-40B4-BE49-F238E27FC236}">
                <a16:creationId xmlns:a16="http://schemas.microsoft.com/office/drawing/2014/main" id="{A80727A7-17A8-4196-A8B1-D2961CEEC671}"/>
              </a:ext>
            </a:extLst>
          </p:cNvPr>
          <p:cNvSpPr>
            <a:spLocks xmlns:a="http://schemas.openxmlformats.org/drawingml/2006/main" noGrp="1"/>
          </p:cNvSpPr>
          <p:nvPr/>
        </p:nvSpPr>
        <p:spPr>
          <a:xfrm xmlns:a="http://schemas.openxmlformats.org/drawingml/2006/main" rot="0">
            <a:off x="3943350" y="4229100"/>
            <a:ext cx="685800" cy="152400"/>
          </a:xfrm>
          <a:prstGeom xmlns:a="http://schemas.openxmlformats.org/drawingml/2006/main" prst="rightArrow">
            <a:avLst/>
          </a:prstGeom>
          <a:solidFill xmlns:a="http://schemas.openxmlformats.org/drawingml/2006/main">
            <a:srgbClr val="F26B38">
              <a:alpha val="65000"/>
            </a:srgbClr>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1F3D6CC-DAC7-4D55-B15E-91BA65651702}"/>
              </a:ext>
            </a:extLst>
          </p:cNvPr>
          <p:cNvSpPr>
            <a:spLocks xmlns:a="http://schemas.openxmlformats.org/drawingml/2006/main" noGrp="1"/>
          </p:cNvSpPr>
          <p:nvPr/>
        </p:nvSpPr>
        <p:spPr>
          <a:xfrm xmlns:a="http://schemas.openxmlformats.org/drawingml/2006/main">
            <a:off x="4438650" y="4038600"/>
            <a:ext cx="1485900" cy="533400"/>
          </a:xfrm>
          <a:prstGeom xmlns:a="http://schemas.openxmlformats.org/drawingml/2006/main" prst="roundRect">
            <a:avLst>
              <a:gd name="adj" fmla="val 28571"/>
            </a:avLst>
          </a:prstGeom>
          <a:solidFill xmlns:a="http://schemas.openxmlformats.org/drawingml/2006/main">
            <a:srgbClr val="0D1216">
              <a:alpha val="94000"/>
            </a:srgbClr>
          </a:solidFill>
          <a:ln xmlns:a="http://schemas.openxmlformats.org/drawingml/2006/main" w="14288">
            <a:solidFill>
              <a:srgbClr val="62D6A7"/>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125" b="1">
                <a:solidFill>
                  <a:srgbClr val="62D6A7"/>
                </a:solidFill>
                <a:latin typeface="DejaVu Sans Mono"/>
                <a:ea typeface="DejaVu Sans Mono"/>
                <a:cs typeface="DejaVu Sans Mono"/>
              </a:defRPr>
            </a:pPr>
            <a:r>
              <a:rPr sz="1125" b="1">
                <a:solidFill>
                  <a:srgbClr val="62D6A7"/>
                </a:solidFill>
                <a:latin typeface="DejaVu Sans Mono"/>
                <a:ea typeface="DejaVu Sans Mono"/>
                <a:cs typeface="DejaVu Sans Mono"/>
              </a:rPr>
              <a:t>VERIFICATION</a:t>
            </a:r>
          </a:p>
        </p:txBody>
      </p:sp>
      <p:sp>
        <p:nvSpPr>
          <p:cNvPr id="11" name="">
            <a:extLst xmlns:a="http://schemas.openxmlformats.org/drawingml/2006/main">
              <a:ext uri="{FF2B5EF4-FFF2-40B4-BE49-F238E27FC236}">
                <a16:creationId xmlns:a16="http://schemas.microsoft.com/office/drawing/2014/main" id="{560DD70F-3EA4-453B-9E14-28AA15A8C7DF}"/>
              </a:ext>
            </a:extLst>
          </p:cNvPr>
          <p:cNvSpPr>
            <a:spLocks xmlns:a="http://schemas.openxmlformats.org/drawingml/2006/main" noGrp="1"/>
          </p:cNvSpPr>
          <p:nvPr/>
        </p:nvSpPr>
        <p:spPr>
          <a:xfrm xmlns:a="http://schemas.openxmlformats.org/drawingml/2006/main" rot="0">
            <a:off x="5981700" y="4229100"/>
            <a:ext cx="685800" cy="152400"/>
          </a:xfrm>
          <a:prstGeom xmlns:a="http://schemas.openxmlformats.org/drawingml/2006/main" prst="rightArrow">
            <a:avLst/>
          </a:prstGeom>
          <a:solidFill xmlns:a="http://schemas.openxmlformats.org/drawingml/2006/main">
            <a:srgbClr val="62D6A7">
              <a:alpha val="65000"/>
            </a:srgbClr>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3EDEF97-008C-4EB5-A111-431E9FCF0C0E}"/>
              </a:ext>
            </a:extLst>
          </p:cNvPr>
          <p:cNvSpPr>
            <a:spLocks xmlns:a="http://schemas.openxmlformats.org/drawingml/2006/main" noGrp="1"/>
          </p:cNvSpPr>
          <p:nvPr/>
        </p:nvSpPr>
        <p:spPr>
          <a:xfrm xmlns:a="http://schemas.openxmlformats.org/drawingml/2006/main">
            <a:off x="6534150" y="4038600"/>
            <a:ext cx="1485900" cy="533400"/>
          </a:xfrm>
          <a:prstGeom xmlns:a="http://schemas.openxmlformats.org/drawingml/2006/main" prst="roundRect">
            <a:avLst>
              <a:gd name="adj" fmla="val 28571"/>
            </a:avLst>
          </a:prstGeom>
          <a:solidFill xmlns:a="http://schemas.openxmlformats.org/drawingml/2006/main">
            <a:srgbClr val="0D1216">
              <a:alpha val="94000"/>
            </a:srgbClr>
          </a:solidFill>
          <a:ln xmlns:a="http://schemas.openxmlformats.org/drawingml/2006/main" w="14288">
            <a:solidFill>
              <a:srgbClr val="FFC857"/>
            </a:solidFill>
            <a:prstDash val="solid"/>
          </a:ln>
        </p:spPr>
        <p:txBody>
          <a:bodyPr xmlns:a="http://schemas.openxmlformats.org/drawingml/2006/main" lIns="95250" tIns="76200" rIns="95250" bIns="76200" anchor="ctr">
            <a:noAutofit/>
          </a:bodyPr>
          <a:lstStyle xmlns:a="http://schemas.openxmlformats.org/drawingml/2006/main"/>
          <a:p xmlns:a="http://schemas.openxmlformats.org/drawingml/2006/main">
            <a:pPr algn="ctr">
              <a:lnSpc>
                <a:spcPct val="90000"/>
              </a:lnSpc>
              <a:buNone/>
              <a:defRPr sz="1125" b="1">
                <a:solidFill>
                  <a:srgbClr val="FFC857"/>
                </a:solidFill>
                <a:latin typeface="DejaVu Sans Mono"/>
                <a:ea typeface="DejaVu Sans Mono"/>
                <a:cs typeface="DejaVu Sans Mono"/>
              </a:defRPr>
            </a:pPr>
            <a:r>
              <a:rPr sz="1125" b="1">
                <a:solidFill>
                  <a:srgbClr val="FFC857"/>
                </a:solidFill>
                <a:latin typeface="DejaVu Sans Mono"/>
                <a:ea typeface="DejaVu Sans Mono"/>
                <a:cs typeface="DejaVu Sans Mono"/>
              </a:rPr>
              <a:t>OPERATIONS</a:t>
            </a:r>
          </a:p>
        </p:txBody>
      </p:sp>
      <p:sp>
        <p:nvSpPr>
          <p:cNvPr id="13" name="">
            <a:extLst xmlns:a="http://schemas.openxmlformats.org/drawingml/2006/main">
              <a:ext uri="{FF2B5EF4-FFF2-40B4-BE49-F238E27FC236}">
                <a16:creationId xmlns:a16="http://schemas.microsoft.com/office/drawing/2014/main" id="{1870DA3A-7D89-4300-8266-1351063F5BA1}"/>
              </a:ext>
            </a:extLst>
          </p:cNvPr>
          <p:cNvSpPr>
            <a:spLocks xmlns:a="http://schemas.openxmlformats.org/drawingml/2006/main" noGrp="1"/>
          </p:cNvSpPr>
          <p:nvPr/>
        </p:nvSpPr>
        <p:spPr>
          <a:xfrm xmlns:a="http://schemas.openxmlformats.org/drawingml/2006/main">
            <a:off x="7239000" y="4762500"/>
            <a:ext cx="0" cy="781050"/>
          </a:xfrm>
          <a:prstGeom xmlns:a="http://schemas.openxmlformats.org/drawingml/2006/main" prst="line">
            <a:avLst/>
          </a:prstGeom>
          <a:noFill xmlns:a="http://schemas.openxmlformats.org/drawingml/2006/main"/>
          <a:ln xmlns:a="http://schemas.openxmlformats.org/drawingml/2006/main" w="28575">
            <a:solidFill>
              <a:srgbClr val="39D7FF">
                <a:alpha val="70000"/>
              </a:srgbClr>
            </a:solidFill>
            <a:prstDash val="dash"/>
          </a:ln>
        </p:spPr>
      </p:sp>
      <p:sp>
        <p:nvSpPr>
          <p:cNvPr id="14" name="">
            <a:extLst xmlns:a="http://schemas.openxmlformats.org/drawingml/2006/main">
              <a:ext uri="{FF2B5EF4-FFF2-40B4-BE49-F238E27FC236}">
                <a16:creationId xmlns:a16="http://schemas.microsoft.com/office/drawing/2014/main" id="{7975EB7D-403D-4721-8AC9-58D3D068BCDB}"/>
              </a:ext>
            </a:extLst>
          </p:cNvPr>
          <p:cNvSpPr>
            <a:spLocks xmlns:a="http://schemas.openxmlformats.org/drawingml/2006/main" noGrp="1"/>
          </p:cNvSpPr>
          <p:nvPr/>
        </p:nvSpPr>
        <p:spPr>
          <a:xfrm xmlns:a="http://schemas.openxmlformats.org/drawingml/2006/main">
            <a:off x="1752600" y="5543550"/>
            <a:ext cx="5486400" cy="0"/>
          </a:xfrm>
          <a:prstGeom xmlns:a="http://schemas.openxmlformats.org/drawingml/2006/main" prst="line">
            <a:avLst/>
          </a:prstGeom>
          <a:noFill xmlns:a="http://schemas.openxmlformats.org/drawingml/2006/main"/>
          <a:ln xmlns:a="http://schemas.openxmlformats.org/drawingml/2006/main" w="28575">
            <a:solidFill>
              <a:srgbClr val="39D7FF">
                <a:alpha val="70000"/>
              </a:srgbClr>
            </a:solidFill>
            <a:prstDash val="dash"/>
          </a:ln>
        </p:spPr>
      </p:sp>
      <p:sp>
        <p:nvSpPr>
          <p:cNvPr id="15" name="">
            <a:extLst xmlns:a="http://schemas.openxmlformats.org/drawingml/2006/main">
              <a:ext uri="{FF2B5EF4-FFF2-40B4-BE49-F238E27FC236}">
                <a16:creationId xmlns:a16="http://schemas.microsoft.com/office/drawing/2014/main" id="{C860BC81-40B9-46CD-A23D-F2C8FE950A4B}"/>
              </a:ext>
            </a:extLst>
          </p:cNvPr>
          <p:cNvSpPr>
            <a:spLocks xmlns:a="http://schemas.openxmlformats.org/drawingml/2006/main" noGrp="1"/>
          </p:cNvSpPr>
          <p:nvPr/>
        </p:nvSpPr>
        <p:spPr>
          <a:xfrm xmlns:a="http://schemas.openxmlformats.org/drawingml/2006/main" rot="10800000">
            <a:off x="1657350" y="5391150"/>
            <a:ext cx="514350" cy="171450"/>
          </a:xfrm>
          <a:prstGeom xmlns:a="http://schemas.openxmlformats.org/drawingml/2006/main" prst="rightArrow">
            <a:avLst/>
          </a:prstGeom>
          <a:solidFill xmlns:a="http://schemas.openxmlformats.org/drawingml/2006/main">
            <a:srgbClr val="39D7FF">
              <a:alpha val="70000"/>
            </a:srgbClr>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E6031D1-64E8-42D8-B9B5-506D2CE2CB29}"/>
              </a:ext>
            </a:extLst>
          </p:cNvPr>
          <p:cNvSpPr>
            <a:spLocks xmlns:a="http://schemas.openxmlformats.org/drawingml/2006/main" noGrp="1"/>
          </p:cNvSpPr>
          <p:nvPr/>
        </p:nvSpPr>
        <p:spPr>
          <a:xfrm xmlns:a="http://schemas.openxmlformats.org/drawingml/2006/main">
            <a:off x="647700" y="5829300"/>
            <a:ext cx="723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500" b="1">
                <a:solidFill>
                  <a:srgbClr val="F4F6F8"/>
                </a:solidFill>
                <a:latin typeface="DejaVu Sans"/>
                <a:ea typeface="DejaVu Sans"/>
                <a:cs typeface="DejaVu Sans"/>
              </a:defRPr>
            </a:pPr>
            <a:r>
              <a:rPr sz="1500" b="1">
                <a:solidFill>
                  <a:srgbClr val="F4F6F8"/>
                </a:solidFill>
                <a:latin typeface="DejaVu Sans"/>
                <a:ea typeface="DejaVu Sans"/>
                <a:cs typeface="DejaVu Sans"/>
              </a:rPr>
              <a:t>Build the intelligence layer now—so every stronger model inherits a mission-ready way to work.</a:t>
            </a:r>
          </a:p>
        </p:txBody>
      </p:sp>
      <p:sp>
        <p:nvSpPr>
          <p:cNvPr id="17" name="">
            <a:extLst xmlns:a="http://schemas.openxmlformats.org/drawingml/2006/main">
              <a:ext uri="{FF2B5EF4-FFF2-40B4-BE49-F238E27FC236}">
                <a16:creationId xmlns:a16="http://schemas.microsoft.com/office/drawing/2014/main" id="{15BEEABA-5BA0-458D-B21D-D73567E5A15B}"/>
              </a:ext>
            </a:extLst>
          </p:cNvPr>
          <p:cNvSpPr>
            <a:spLocks xmlns:a="http://schemas.openxmlformats.org/drawingml/2006/main" noGrp="1"/>
          </p:cNvSpPr>
          <p:nvPr/>
        </p:nvSpPr>
        <p:spPr>
          <a:xfrm xmlns:a="http://schemas.openxmlformats.org/drawingml/2006/main">
            <a:off x="0" y="6400800"/>
            <a:ext cx="12192000" cy="457200"/>
          </a:xfrm>
          <a:prstGeom xmlns:a="http://schemas.openxmlformats.org/drawingml/2006/main" prst="rect">
            <a:avLst/>
          </a:prstGeom>
          <a:solidFill xmlns:a="http://schemas.openxmlformats.org/drawingml/2006/main">
            <a:srgbClr val="07090C">
              <a:alpha val="76000"/>
            </a:srgbClr>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3F3ABB8-5FF0-406D-8380-F04362239B64}"/>
              </a:ext>
            </a:extLst>
          </p:cNvPr>
          <p:cNvSpPr>
            <a:spLocks xmlns:a="http://schemas.openxmlformats.org/drawingml/2006/main" noGrp="1"/>
          </p:cNvSpPr>
          <p:nvPr/>
        </p:nvSpPr>
        <p:spPr>
          <a:xfrm xmlns:a="http://schemas.openxmlformats.org/drawingml/2006/main">
            <a:off x="609600" y="6553200"/>
            <a:ext cx="6858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MARS SOCIETY 2026  •  HARNESSED AGENTIC SCIENCE + ENGINEERING</a:t>
            </a:r>
          </a:p>
        </p:txBody>
      </p:sp>
      <p:sp>
        <p:nvSpPr>
          <p:cNvPr id="19" name="">
            <a:extLst xmlns:a="http://schemas.openxmlformats.org/drawingml/2006/main">
              <a:ext uri="{FF2B5EF4-FFF2-40B4-BE49-F238E27FC236}">
                <a16:creationId xmlns:a16="http://schemas.microsoft.com/office/drawing/2014/main" id="{35333376-E4E8-45FA-98DC-93E154A53EDF}"/>
              </a:ext>
            </a:extLst>
          </p:cNvPr>
          <p:cNvSpPr>
            <a:spLocks xmlns:a="http://schemas.openxmlformats.org/drawingml/2006/main" noGrp="1"/>
          </p:cNvSpPr>
          <p:nvPr/>
        </p:nvSpPr>
        <p:spPr>
          <a:xfrm xmlns:a="http://schemas.openxmlformats.org/drawingml/2006/main">
            <a:off x="9525000" y="6553200"/>
            <a:ext cx="2057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95000"/>
              </a:lnSpc>
              <a:buNone/>
              <a:defRPr sz="825" b="1">
                <a:solidFill>
                  <a:srgbClr val="65717A"/>
                </a:solidFill>
                <a:latin typeface="DejaVu Sans Mono"/>
                <a:ea typeface="DejaVu Sans Mono"/>
                <a:cs typeface="DejaVu Sans Mono"/>
              </a:defRPr>
            </a:pPr>
            <a:r>
              <a:rPr sz="825" b="1">
                <a:solidFill>
                  <a:srgbClr val="65717A"/>
                </a:solidFill>
                <a:latin typeface="DejaVu Sans Mono"/>
                <a:ea typeface="DejaVu Sans Mono"/>
                <a:cs typeface="DejaVu Sans Mono"/>
              </a:rPr>
              <a:t>BOB J MILLS     20</a:t>
            </a:r>
          </a:p>
        </p:txBody>
      </p:sp>
    </p:spTree>
    <p:extLst>
      <p:ext uri="{BB962C8B-B14F-4D97-AF65-F5344CB8AC3E}">
        <p14:creationId xmlns:p14="http://schemas.microsoft.com/office/powerpoint/2010/main" val="7493146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2026-09-04T11:30:39.0340000Z</dcterms:created>
  <dcterms:modified xsi:type="dcterms:W3CDTF">2026-09-04T11:30:39.0340000Z</dcterms:modified>
</coreProperties>
</file>